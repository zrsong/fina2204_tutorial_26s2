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aveSubsetFonts="1" autoCompressPictures="0">
  <p:sldMasterIdLst>
    <p:sldMasterId id="2147483648" r:id="rId1"/>
  </p:sldMasterIdLst>
  <p:notesMasterIdLst>
    <p:notesMasterId r:id="rId56"/>
  </p:notesMasterIdLst>
  <p:sldIdLst>
    <p:sldId id="256" r:id="rId2"/>
    <p:sldId id="257" r:id="rId3"/>
    <p:sldId id="278" r:id="rId4"/>
    <p:sldId id="280" r:id="rId5"/>
    <p:sldId id="314" r:id="rId6"/>
    <p:sldId id="315" r:id="rId7"/>
    <p:sldId id="287" r:id="rId8"/>
    <p:sldId id="312" r:id="rId9"/>
    <p:sldId id="288" r:id="rId10"/>
    <p:sldId id="290" r:id="rId11"/>
    <p:sldId id="317" r:id="rId12"/>
    <p:sldId id="289" r:id="rId13"/>
    <p:sldId id="318" r:id="rId14"/>
    <p:sldId id="311" r:id="rId15"/>
    <p:sldId id="310" r:id="rId16"/>
    <p:sldId id="319" r:id="rId17"/>
    <p:sldId id="321" r:id="rId18"/>
    <p:sldId id="320" r:id="rId19"/>
    <p:sldId id="322" r:id="rId20"/>
    <p:sldId id="323" r:id="rId21"/>
    <p:sldId id="324" r:id="rId22"/>
    <p:sldId id="325" r:id="rId23"/>
    <p:sldId id="326" r:id="rId24"/>
    <p:sldId id="305" r:id="rId25"/>
    <p:sldId id="308" r:id="rId26"/>
    <p:sldId id="306" r:id="rId27"/>
    <p:sldId id="307" r:id="rId28"/>
    <p:sldId id="347" r:id="rId29"/>
    <p:sldId id="348" r:id="rId30"/>
    <p:sldId id="328" r:id="rId31"/>
    <p:sldId id="346" r:id="rId32"/>
    <p:sldId id="352" r:id="rId33"/>
    <p:sldId id="356" r:id="rId34"/>
    <p:sldId id="357" r:id="rId35"/>
    <p:sldId id="262" r:id="rId36"/>
    <p:sldId id="329" r:id="rId37"/>
    <p:sldId id="330" r:id="rId38"/>
    <p:sldId id="350" r:id="rId39"/>
    <p:sldId id="331" r:id="rId40"/>
    <p:sldId id="266" r:id="rId41"/>
    <p:sldId id="332" r:id="rId42"/>
    <p:sldId id="345" r:id="rId43"/>
    <p:sldId id="355" r:id="rId44"/>
    <p:sldId id="335" r:id="rId45"/>
    <p:sldId id="339" r:id="rId46"/>
    <p:sldId id="349" r:id="rId47"/>
    <p:sldId id="338" r:id="rId48"/>
    <p:sldId id="337" r:id="rId49"/>
    <p:sldId id="336" r:id="rId50"/>
    <p:sldId id="340" r:id="rId51"/>
    <p:sldId id="341" r:id="rId52"/>
    <p:sldId id="342" r:id="rId53"/>
    <p:sldId id="343" r:id="rId54"/>
    <p:sldId id="344" r:id="rId5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5486"/>
    <p:restoredTop sz="68377"/>
  </p:normalViewPr>
  <p:slideViewPr>
    <p:cSldViewPr snapToGrid="0">
      <p:cViewPr varScale="1">
        <p:scale>
          <a:sx n="83" d="100"/>
          <a:sy n="83" d="100"/>
        </p:scale>
        <p:origin x="1064" y="20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viewProps" Target="viewProp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0450785-E14B-114A-86DF-383D97E43831}" type="datetimeFigureOut">
              <a:rPr lang="en-US" smtClean="0"/>
              <a:t>8/28/26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C81A5F8-0CF8-E744-995E-5E94AC608863}" type="slidenum">
              <a:rPr lang="en-US" smtClean="0"/>
              <a:t>‹#›</a:t>
            </a:fld>
            <a:endParaRPr lang="en-US"/>
          </a:p>
        </p:txBody>
      </p:sp>
    </p:spTree>
    <p:extLst>
      <p:ext uri="{BB962C8B-B14F-4D97-AF65-F5344CB8AC3E}">
        <p14:creationId xmlns:p14="http://schemas.microsoft.com/office/powerpoint/2010/main" val="36882633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sz="1200" b="0" i="0" u="none" strike="noStrike" kern="1200" dirty="0" err="1">
                <a:solidFill>
                  <a:schemeClr val="tx1"/>
                </a:solidFill>
                <a:effectLst/>
                <a:latin typeface="+mn-lt"/>
                <a:ea typeface="+mn-ea"/>
                <a:cs typeface="+mn-cs"/>
              </a:rPr>
              <a:t>playn</a:t>
            </a:r>
            <a:r>
              <a:rPr lang="en-AU" sz="1200" b="0" i="0" u="none" strike="noStrike" kern="1200" dirty="0">
                <a:solidFill>
                  <a:schemeClr val="tx1"/>
                </a:solidFill>
                <a:effectLst/>
                <a:latin typeface="+mn-lt"/>
                <a:ea typeface="+mn-ea"/>
                <a:cs typeface="+mn-cs"/>
              </a:rPr>
              <a:t> </a:t>
            </a:r>
            <a:r>
              <a:rPr lang="en-AU" sz="1200" b="0" i="0" kern="1200" dirty="0" err="1">
                <a:solidFill>
                  <a:schemeClr val="tx1"/>
                </a:solidFill>
                <a:effectLst/>
                <a:latin typeface="+mn-lt"/>
                <a:ea typeface="+mn-ea"/>
                <a:cs typeface="+mn-cs"/>
              </a:rPr>
              <a:t>vuh·</a:t>
            </a:r>
            <a:r>
              <a:rPr lang="en-AU" sz="1200" b="1" i="0" kern="1200" dirty="0" err="1">
                <a:solidFill>
                  <a:schemeClr val="tx1"/>
                </a:solidFill>
                <a:effectLst/>
                <a:latin typeface="+mn-lt"/>
                <a:ea typeface="+mn-ea"/>
                <a:cs typeface="+mn-cs"/>
              </a:rPr>
              <a:t>ni</a:t>
            </a:r>
            <a:r>
              <a:rPr lang="en-AU" sz="1200" b="0" i="0" kern="1200" dirty="0" err="1">
                <a:solidFill>
                  <a:schemeClr val="tx1"/>
                </a:solidFill>
                <a:effectLst/>
                <a:latin typeface="+mn-lt"/>
                <a:ea typeface="+mn-ea"/>
                <a:cs typeface="+mn-cs"/>
              </a:rPr>
              <a:t>·luh</a:t>
            </a:r>
            <a:endParaRPr lang="en-AU" sz="1200" b="0" i="0" kern="1200" dirty="0">
              <a:solidFill>
                <a:schemeClr val="tx1"/>
              </a:solidFill>
              <a:effectLst/>
              <a:latin typeface="+mn-lt"/>
              <a:ea typeface="+mn-ea"/>
              <a:cs typeface="+mn-cs"/>
            </a:endParaRPr>
          </a:p>
          <a:p>
            <a:endParaRPr lang="en-AU" sz="1200" b="0" i="0" kern="1200" dirty="0">
              <a:solidFill>
                <a:schemeClr val="tx1"/>
              </a:solidFill>
              <a:effectLst/>
              <a:latin typeface="+mn-lt"/>
              <a:ea typeface="+mn-ea"/>
              <a:cs typeface="+mn-cs"/>
            </a:endParaRPr>
          </a:p>
          <a:p>
            <a:r>
              <a:rPr lang="en-AU" sz="1200" b="1" i="0" kern="1200" dirty="0" err="1">
                <a:solidFill>
                  <a:schemeClr val="tx1"/>
                </a:solidFill>
                <a:effectLst/>
                <a:latin typeface="+mn-lt"/>
                <a:ea typeface="+mn-ea"/>
                <a:cs typeface="+mn-cs"/>
              </a:rPr>
              <a:t>lai</a:t>
            </a:r>
            <a:r>
              <a:rPr lang="en-AU" sz="1200" b="0" i="0" kern="1200" dirty="0" err="1">
                <a:solidFill>
                  <a:schemeClr val="tx1"/>
                </a:solidFill>
                <a:effectLst/>
                <a:latin typeface="+mn-lt"/>
                <a:ea typeface="+mn-ea"/>
                <a:cs typeface="+mn-cs"/>
              </a:rPr>
              <a:t>·buh</a:t>
            </a:r>
            <a:br>
              <a:rPr lang="en-AU" dirty="0"/>
            </a:br>
            <a:endParaRPr lang="en-US" dirty="0"/>
          </a:p>
        </p:txBody>
      </p:sp>
      <p:sp>
        <p:nvSpPr>
          <p:cNvPr id="4" name="Slide Number Placeholder 3"/>
          <p:cNvSpPr>
            <a:spLocks noGrp="1"/>
          </p:cNvSpPr>
          <p:nvPr>
            <p:ph type="sldNum" sz="quarter" idx="5"/>
          </p:nvPr>
        </p:nvSpPr>
        <p:spPr/>
        <p:txBody>
          <a:bodyPr/>
          <a:lstStyle/>
          <a:p>
            <a:fld id="{6C81A5F8-0CF8-E744-995E-5E94AC608863}" type="slidenum">
              <a:rPr lang="en-US" smtClean="0"/>
              <a:t>2</a:t>
            </a:fld>
            <a:endParaRPr lang="en-US"/>
          </a:p>
        </p:txBody>
      </p:sp>
    </p:spTree>
    <p:extLst>
      <p:ext uri="{BB962C8B-B14F-4D97-AF65-F5344CB8AC3E}">
        <p14:creationId xmlns:p14="http://schemas.microsoft.com/office/powerpoint/2010/main" val="87771514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Alternatively, in Australia, we now use Bank bill swap rates (BBSW)</a:t>
            </a:r>
            <a:r>
              <a:rPr lang="en-AU" dirty="0"/>
              <a:t>, which</a:t>
            </a:r>
            <a:r>
              <a:rPr lang="en-US" dirty="0"/>
              <a:t> </a:t>
            </a:r>
            <a:r>
              <a:rPr lang="en-AU" dirty="0"/>
              <a:t>closely tracks the RBA’s cash rate. For example, as shown in the 10-day history from ASX, the 3m BBSW in mid-June 2024 was around 4.4%, while the 6m BBSW was slightly higher, around 4.6%, reflecting the upward term structure of Australian money market.</a:t>
            </a:r>
            <a:endParaRPr lang="en-US" dirty="0"/>
          </a:p>
        </p:txBody>
      </p:sp>
      <p:sp>
        <p:nvSpPr>
          <p:cNvPr id="4" name="Slide Number Placeholder 3"/>
          <p:cNvSpPr>
            <a:spLocks noGrp="1"/>
          </p:cNvSpPr>
          <p:nvPr>
            <p:ph type="sldNum" sz="quarter" idx="5"/>
          </p:nvPr>
        </p:nvSpPr>
        <p:spPr/>
        <p:txBody>
          <a:bodyPr/>
          <a:lstStyle/>
          <a:p>
            <a:fld id="{6C81A5F8-0CF8-E744-995E-5E94AC608863}" type="slidenum">
              <a:rPr lang="en-US" smtClean="0"/>
              <a:t>3</a:t>
            </a:fld>
            <a:endParaRPr lang="en-US"/>
          </a:p>
        </p:txBody>
      </p:sp>
    </p:spTree>
    <p:extLst>
      <p:ext uri="{BB962C8B-B14F-4D97-AF65-F5344CB8AC3E}">
        <p14:creationId xmlns:p14="http://schemas.microsoft.com/office/powerpoint/2010/main" val="66846538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sz="1200" b="0" i="0" u="none" strike="noStrike" kern="1200" dirty="0">
                <a:solidFill>
                  <a:schemeClr val="tx1"/>
                </a:solidFill>
                <a:effectLst/>
                <a:latin typeface="+mn-lt"/>
                <a:ea typeface="+mn-ea"/>
                <a:cs typeface="+mn-cs"/>
              </a:rPr>
              <a:t>So why would a firm use a swap in the first place?</a:t>
            </a:r>
          </a:p>
          <a:p>
            <a:endParaRPr lang="en-AU" sz="1200" b="0" i="0" u="none" strike="noStrike" kern="1200" dirty="0">
              <a:solidFill>
                <a:schemeClr val="tx1"/>
              </a:solidFill>
              <a:effectLst/>
              <a:latin typeface="+mn-lt"/>
              <a:ea typeface="+mn-ea"/>
              <a:cs typeface="+mn-cs"/>
            </a:endParaRPr>
          </a:p>
          <a:p>
            <a:r>
              <a:rPr lang="en-AU" sz="1200" b="0" i="0" u="none" strike="noStrike" kern="1200" dirty="0">
                <a:solidFill>
                  <a:schemeClr val="tx1"/>
                </a:solidFill>
                <a:effectLst/>
                <a:latin typeface="+mn-lt"/>
                <a:ea typeface="+mn-ea"/>
                <a:cs typeface="+mn-cs"/>
              </a:rPr>
              <a:t>It may prefer the certainty of a fixed borrowing cost. A swap can create that fixed exposure.</a:t>
            </a:r>
          </a:p>
          <a:p>
            <a:endParaRPr lang="en-AU" sz="1200" b="0" i="0" u="none" strike="noStrike" kern="1200" dirty="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dirty="0"/>
              <a:t>Instead, the combined cash flows of the loan and the swap create the economic exposure the company wants.</a:t>
            </a:r>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indent="0" algn="l" defTabSz="914400" rtl="0" eaLnBrk="1" fontAlgn="auto" latinLnBrk="0" hangingPunct="1">
              <a:lnSpc>
                <a:spcPct val="100000"/>
              </a:lnSpc>
              <a:spcBef>
                <a:spcPts val="0"/>
              </a:spcBef>
              <a:spcAft>
                <a:spcPts val="0"/>
              </a:spcAft>
              <a:buClrTx/>
              <a:buSzTx/>
              <a:buFontTx/>
              <a:buNone/>
              <a:tabLst/>
              <a:defRPr/>
            </a:pPr>
            <a:r>
              <a:rPr lang="en-US" dirty="0"/>
              <a:t>It can avoid early-redemption penalties and new issuance costs.</a:t>
            </a:r>
          </a:p>
        </p:txBody>
      </p:sp>
      <p:sp>
        <p:nvSpPr>
          <p:cNvPr id="4" name="Slide Number Placeholder 3"/>
          <p:cNvSpPr>
            <a:spLocks noGrp="1"/>
          </p:cNvSpPr>
          <p:nvPr>
            <p:ph type="sldNum" sz="quarter" idx="5"/>
          </p:nvPr>
        </p:nvSpPr>
        <p:spPr/>
        <p:txBody>
          <a:bodyPr/>
          <a:lstStyle/>
          <a:p>
            <a:fld id="{6C81A5F8-0CF8-E744-995E-5E94AC608863}" type="slidenum">
              <a:rPr lang="en-US" smtClean="0"/>
              <a:t>4</a:t>
            </a:fld>
            <a:endParaRPr lang="en-US"/>
          </a:p>
        </p:txBody>
      </p:sp>
    </p:spTree>
    <p:extLst>
      <p:ext uri="{BB962C8B-B14F-4D97-AF65-F5344CB8AC3E}">
        <p14:creationId xmlns:p14="http://schemas.microsoft.com/office/powerpoint/2010/main" val="55781233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But for our calculations, I want you to focus on these four basic cases.</a:t>
            </a:r>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indent="0" algn="l" defTabSz="914400" rtl="0" eaLnBrk="1" fontAlgn="auto" latinLnBrk="0" hangingPunct="1">
              <a:lnSpc>
                <a:spcPct val="100000"/>
              </a:lnSpc>
              <a:spcBef>
                <a:spcPts val="0"/>
              </a:spcBef>
              <a:spcAft>
                <a:spcPts val="0"/>
              </a:spcAft>
              <a:buClrTx/>
              <a:buSzTx/>
              <a:buFontTx/>
              <a:buNone/>
              <a:tabLst/>
              <a:defRPr/>
            </a:pPr>
            <a:r>
              <a:rPr lang="en-AU" sz="1200" b="0" i="0" u="none" strike="noStrike" kern="1200" dirty="0">
                <a:solidFill>
                  <a:schemeClr val="tx1"/>
                </a:solidFill>
                <a:effectLst/>
                <a:latin typeface="+mn-lt"/>
                <a:ea typeface="+mn-ea"/>
                <a:cs typeface="+mn-cs"/>
              </a:rPr>
              <a:t>For liabilities, we can go from floating to fixed, or fixed to floating.</a:t>
            </a:r>
            <a:endParaRPr lang="en-US" dirty="0"/>
          </a:p>
        </p:txBody>
      </p:sp>
      <p:sp>
        <p:nvSpPr>
          <p:cNvPr id="4" name="Slide Number Placeholder 3"/>
          <p:cNvSpPr>
            <a:spLocks noGrp="1"/>
          </p:cNvSpPr>
          <p:nvPr>
            <p:ph type="sldNum" sz="quarter" idx="5"/>
          </p:nvPr>
        </p:nvSpPr>
        <p:spPr/>
        <p:txBody>
          <a:bodyPr/>
          <a:lstStyle/>
          <a:p>
            <a:fld id="{6C81A5F8-0CF8-E744-995E-5E94AC608863}" type="slidenum">
              <a:rPr lang="en-US" smtClean="0"/>
              <a:t>5</a:t>
            </a:fld>
            <a:endParaRPr lang="en-US"/>
          </a:p>
        </p:txBody>
      </p:sp>
    </p:spTree>
    <p:extLst>
      <p:ext uri="{BB962C8B-B14F-4D97-AF65-F5344CB8AC3E}">
        <p14:creationId xmlns:p14="http://schemas.microsoft.com/office/powerpoint/2010/main" val="418555344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Start with the first case: a floating-rate liability that we want to turn into fixed.</a:t>
            </a:r>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indent="0" algn="l" defTabSz="914400" rtl="0" eaLnBrk="1" fontAlgn="auto" latinLnBrk="0" hangingPunct="1">
              <a:lnSpc>
                <a:spcPct val="100000"/>
              </a:lnSpc>
              <a:spcBef>
                <a:spcPts val="0"/>
              </a:spcBef>
              <a:spcAft>
                <a:spcPts val="0"/>
              </a:spcAft>
              <a:buClrTx/>
              <a:buSzTx/>
              <a:buFontTx/>
              <a:buNone/>
              <a:tabLst/>
              <a:defRPr/>
            </a:pPr>
            <a:r>
              <a:rPr lang="en-AU" sz="1200" b="0" i="0" u="none" strike="noStrike" kern="1200" dirty="0">
                <a:solidFill>
                  <a:schemeClr val="tx1"/>
                </a:solidFill>
                <a:effectLst/>
                <a:latin typeface="+mn-lt"/>
                <a:ea typeface="+mn-ea"/>
                <a:cs typeface="+mn-cs"/>
              </a:rPr>
              <a:t>What is the unwanted part of that borrowing cost?</a:t>
            </a:r>
          </a:p>
          <a:p>
            <a:pPr marL="0" marR="0" indent="0" algn="l" defTabSz="914400" rtl="0" eaLnBrk="1" fontAlgn="auto" latinLnBrk="0" hangingPunct="1">
              <a:lnSpc>
                <a:spcPct val="100000"/>
              </a:lnSpc>
              <a:spcBef>
                <a:spcPts val="0"/>
              </a:spcBef>
              <a:spcAft>
                <a:spcPts val="0"/>
              </a:spcAft>
              <a:buClrTx/>
              <a:buSzTx/>
              <a:buFontTx/>
              <a:buNone/>
              <a:tabLst/>
              <a:defRPr/>
            </a:pPr>
            <a:endParaRPr lang="en-AU" sz="1200" b="0" i="0" u="none" strike="noStrike" kern="1200" dirty="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AU" sz="1200" b="0" i="0" u="none" strike="noStrike" kern="1200" dirty="0">
                <a:solidFill>
                  <a:schemeClr val="tx1"/>
                </a:solidFill>
                <a:effectLst/>
                <a:latin typeface="+mn-lt"/>
                <a:ea typeface="+mn-ea"/>
                <a:cs typeface="+mn-cs"/>
              </a:rPr>
              <a:t>The LIBOR component, because LIBOR moves over time.</a:t>
            </a:r>
            <a:br>
              <a:rPr lang="en-AU" sz="1200" b="0" i="0" u="none" strike="noStrike" kern="1200" dirty="0">
                <a:solidFill>
                  <a:schemeClr val="tx1"/>
                </a:solidFill>
                <a:effectLst/>
                <a:latin typeface="+mn-lt"/>
                <a:ea typeface="+mn-ea"/>
                <a:cs typeface="+mn-cs"/>
              </a:rPr>
            </a:br>
            <a:br>
              <a:rPr lang="en-AU" sz="1200" b="0" i="0" u="none" strike="noStrike" kern="1200" dirty="0">
                <a:solidFill>
                  <a:schemeClr val="tx1"/>
                </a:solidFill>
                <a:effectLst/>
                <a:latin typeface="+mn-lt"/>
                <a:ea typeface="+mn-ea"/>
                <a:cs typeface="+mn-cs"/>
              </a:rPr>
            </a:br>
            <a:r>
              <a:rPr lang="en-AU" sz="1200" b="0" i="0" u="none" strike="noStrike" kern="1200" dirty="0">
                <a:solidFill>
                  <a:schemeClr val="tx1"/>
                </a:solidFill>
                <a:effectLst/>
                <a:latin typeface="+mn-lt"/>
                <a:ea typeface="+mn-ea"/>
                <a:cs typeface="+mn-cs"/>
              </a:rPr>
              <a:t>So if we want to remove that floating exposure, the swap should give Apple a LIBOR receipt. That receipt cancels the LIBOR Apple pays on its loan.</a:t>
            </a:r>
            <a:endParaRPr lang="en-US" dirty="0"/>
          </a:p>
        </p:txBody>
      </p:sp>
      <p:sp>
        <p:nvSpPr>
          <p:cNvPr id="4" name="Slide Number Placeholder 3"/>
          <p:cNvSpPr>
            <a:spLocks noGrp="1"/>
          </p:cNvSpPr>
          <p:nvPr>
            <p:ph type="sldNum" sz="quarter" idx="5"/>
          </p:nvPr>
        </p:nvSpPr>
        <p:spPr/>
        <p:txBody>
          <a:bodyPr/>
          <a:lstStyle/>
          <a:p>
            <a:fld id="{6C81A5F8-0CF8-E744-995E-5E94AC608863}" type="slidenum">
              <a:rPr lang="en-US" smtClean="0"/>
              <a:t>6</a:t>
            </a:fld>
            <a:endParaRPr lang="en-US"/>
          </a:p>
        </p:txBody>
      </p:sp>
    </p:spTree>
    <p:extLst>
      <p:ext uri="{BB962C8B-B14F-4D97-AF65-F5344CB8AC3E}">
        <p14:creationId xmlns:p14="http://schemas.microsoft.com/office/powerpoint/2010/main" val="151796040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sz="1200" b="0" i="0" u="none" strike="noStrike" kern="1200" dirty="0">
                <a:solidFill>
                  <a:schemeClr val="tx1"/>
                </a:solidFill>
                <a:effectLst/>
                <a:latin typeface="+mn-lt"/>
                <a:ea typeface="+mn-ea"/>
                <a:cs typeface="+mn-cs"/>
              </a:rPr>
              <a:t>Now let’s combine the cash flows.</a:t>
            </a:r>
          </a:p>
          <a:p>
            <a:endParaRPr lang="en-AU" sz="1200" b="0" i="0" u="none" strike="noStrike" kern="1200" dirty="0">
              <a:solidFill>
                <a:schemeClr val="tx1"/>
              </a:solidFill>
              <a:effectLst/>
              <a:latin typeface="+mn-lt"/>
              <a:ea typeface="+mn-ea"/>
              <a:cs typeface="+mn-cs"/>
            </a:endParaRPr>
          </a:p>
          <a:p>
            <a:r>
              <a:rPr lang="en-AU" sz="1200" b="0" i="0" u="none" strike="noStrike" kern="1200" dirty="0">
                <a:solidFill>
                  <a:schemeClr val="tx1"/>
                </a:solidFill>
                <a:effectLst/>
                <a:latin typeface="+mn-lt"/>
                <a:ea typeface="+mn-ea"/>
                <a:cs typeface="+mn-cs"/>
              </a:rPr>
              <a:t>The two LIBOR terms cancel.</a:t>
            </a:r>
          </a:p>
          <a:p>
            <a:endParaRPr lang="en-AU" sz="1200" b="0" i="0" u="none" strike="noStrike" kern="1200" dirty="0">
              <a:solidFill>
                <a:schemeClr val="tx1"/>
              </a:solidFill>
              <a:effectLst/>
              <a:latin typeface="+mn-lt"/>
              <a:ea typeface="+mn-ea"/>
              <a:cs typeface="+mn-cs"/>
            </a:endParaRPr>
          </a:p>
          <a:p>
            <a:r>
              <a:rPr lang="en-AU" sz="1200" b="0" i="0" u="none" strike="noStrike" kern="1200" dirty="0">
                <a:solidFill>
                  <a:schemeClr val="tx1"/>
                </a:solidFill>
                <a:effectLst/>
                <a:latin typeface="+mn-lt"/>
                <a:ea typeface="+mn-ea"/>
                <a:cs typeface="+mn-cs"/>
              </a:rPr>
              <a:t>So the underlying loan has not changed at all. It is still legally a floating-rate loan. But economically, after adding the swap, Apple has created a fixed borrowing cost of 3.1%.</a:t>
            </a:r>
            <a:endParaRPr lang="en-US" dirty="0"/>
          </a:p>
        </p:txBody>
      </p:sp>
      <p:sp>
        <p:nvSpPr>
          <p:cNvPr id="4" name="Slide Number Placeholder 3"/>
          <p:cNvSpPr>
            <a:spLocks noGrp="1"/>
          </p:cNvSpPr>
          <p:nvPr>
            <p:ph type="sldNum" sz="quarter" idx="5"/>
          </p:nvPr>
        </p:nvSpPr>
        <p:spPr/>
        <p:txBody>
          <a:bodyPr/>
          <a:lstStyle/>
          <a:p>
            <a:fld id="{6C81A5F8-0CF8-E744-995E-5E94AC608863}" type="slidenum">
              <a:rPr lang="en-US" smtClean="0"/>
              <a:t>7</a:t>
            </a:fld>
            <a:endParaRPr lang="en-US"/>
          </a:p>
        </p:txBody>
      </p:sp>
    </p:spTree>
    <p:extLst>
      <p:ext uri="{BB962C8B-B14F-4D97-AF65-F5344CB8AC3E}">
        <p14:creationId xmlns:p14="http://schemas.microsoft.com/office/powerpoint/2010/main" val="111124219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reverse the situation.</a:t>
            </a:r>
          </a:p>
          <a:p>
            <a:endParaRPr lang="en-US" dirty="0"/>
          </a:p>
          <a:p>
            <a:pPr marL="0" marR="0" indent="0" algn="l" defTabSz="914400" rtl="0" eaLnBrk="1" fontAlgn="auto" latinLnBrk="0" hangingPunct="1">
              <a:lnSpc>
                <a:spcPct val="100000"/>
              </a:lnSpc>
              <a:spcBef>
                <a:spcPts val="0"/>
              </a:spcBef>
              <a:spcAft>
                <a:spcPts val="0"/>
              </a:spcAft>
              <a:buClrTx/>
              <a:buSzTx/>
              <a:buFontTx/>
              <a:buNone/>
              <a:tabLst/>
              <a:defRPr/>
            </a:pPr>
            <a:r>
              <a:rPr lang="en-US" dirty="0"/>
              <a:t>The unwanted cash flow is now the fixed 3.2%.</a:t>
            </a:r>
          </a:p>
        </p:txBody>
      </p:sp>
      <p:sp>
        <p:nvSpPr>
          <p:cNvPr id="4" name="Slide Number Placeholder 3"/>
          <p:cNvSpPr>
            <a:spLocks noGrp="1"/>
          </p:cNvSpPr>
          <p:nvPr>
            <p:ph type="sldNum" sz="quarter" idx="5"/>
          </p:nvPr>
        </p:nvSpPr>
        <p:spPr/>
        <p:txBody>
          <a:bodyPr/>
          <a:lstStyle/>
          <a:p>
            <a:fld id="{6C81A5F8-0CF8-E744-995E-5E94AC608863}" type="slidenum">
              <a:rPr lang="en-US" smtClean="0"/>
              <a:t>8</a:t>
            </a:fld>
            <a:endParaRPr lang="en-US"/>
          </a:p>
        </p:txBody>
      </p:sp>
    </p:spTree>
    <p:extLst>
      <p:ext uri="{BB962C8B-B14F-4D97-AF65-F5344CB8AC3E}">
        <p14:creationId xmlns:p14="http://schemas.microsoft.com/office/powerpoint/2010/main" val="299945763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let’s switch from liabilities to assets.</a:t>
            </a:r>
          </a:p>
          <a:p>
            <a:endParaRPr lang="en-US" dirty="0"/>
          </a:p>
        </p:txBody>
      </p:sp>
      <p:sp>
        <p:nvSpPr>
          <p:cNvPr id="4" name="Slide Number Placeholder 3"/>
          <p:cNvSpPr>
            <a:spLocks noGrp="1"/>
          </p:cNvSpPr>
          <p:nvPr>
            <p:ph type="sldNum" sz="quarter" idx="5"/>
          </p:nvPr>
        </p:nvSpPr>
        <p:spPr/>
        <p:txBody>
          <a:bodyPr/>
          <a:lstStyle/>
          <a:p>
            <a:fld id="{6C81A5F8-0CF8-E744-995E-5E94AC608863}" type="slidenum">
              <a:rPr lang="en-US" smtClean="0"/>
              <a:t>9</a:t>
            </a:fld>
            <a:endParaRPr lang="en-US"/>
          </a:p>
        </p:txBody>
      </p:sp>
    </p:spTree>
    <p:extLst>
      <p:ext uri="{BB962C8B-B14F-4D97-AF65-F5344CB8AC3E}">
        <p14:creationId xmlns:p14="http://schemas.microsoft.com/office/powerpoint/2010/main" val="357514415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sz="1200" b="0" i="0" u="none" strike="noStrike" kern="1200" dirty="0">
                <a:solidFill>
                  <a:schemeClr val="tx1"/>
                </a:solidFill>
                <a:effectLst/>
                <a:latin typeface="+mn-lt"/>
                <a:ea typeface="+mn-ea"/>
                <a:cs typeface="+mn-cs"/>
              </a:rPr>
              <a:t>Let’s put the cash flows together.</a:t>
            </a:r>
            <a:endParaRPr lang="en-US" dirty="0"/>
          </a:p>
        </p:txBody>
      </p:sp>
      <p:sp>
        <p:nvSpPr>
          <p:cNvPr id="4" name="Slide Number Placeholder 3"/>
          <p:cNvSpPr>
            <a:spLocks noGrp="1"/>
          </p:cNvSpPr>
          <p:nvPr>
            <p:ph type="sldNum" sz="quarter" idx="5"/>
          </p:nvPr>
        </p:nvSpPr>
        <p:spPr/>
        <p:txBody>
          <a:bodyPr/>
          <a:lstStyle/>
          <a:p>
            <a:fld id="{6C81A5F8-0CF8-E744-995E-5E94AC608863}" type="slidenum">
              <a:rPr lang="en-US" smtClean="0"/>
              <a:t>10</a:t>
            </a:fld>
            <a:endParaRPr lang="en-US"/>
          </a:p>
        </p:txBody>
      </p:sp>
    </p:spTree>
    <p:extLst>
      <p:ext uri="{BB962C8B-B14F-4D97-AF65-F5344CB8AC3E}">
        <p14:creationId xmlns:p14="http://schemas.microsoft.com/office/powerpoint/2010/main" val="401080567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sz="1200" b="0" i="0" u="none" strike="noStrike" kern="1200" dirty="0">
                <a:solidFill>
                  <a:schemeClr val="tx1"/>
                </a:solidFill>
                <a:effectLst/>
                <a:latin typeface="+mn-lt"/>
                <a:ea typeface="+mn-ea"/>
                <a:cs typeface="+mn-cs"/>
              </a:rPr>
              <a:t>And now the final of our four cases.</a:t>
            </a:r>
            <a:endParaRPr lang="en-US" dirty="0"/>
          </a:p>
        </p:txBody>
      </p:sp>
      <p:sp>
        <p:nvSpPr>
          <p:cNvPr id="4" name="Slide Number Placeholder 3"/>
          <p:cNvSpPr>
            <a:spLocks noGrp="1"/>
          </p:cNvSpPr>
          <p:nvPr>
            <p:ph type="sldNum" sz="quarter" idx="5"/>
          </p:nvPr>
        </p:nvSpPr>
        <p:spPr/>
        <p:txBody>
          <a:bodyPr/>
          <a:lstStyle/>
          <a:p>
            <a:fld id="{6C81A5F8-0CF8-E744-995E-5E94AC608863}" type="slidenum">
              <a:rPr lang="en-US" smtClean="0"/>
              <a:t>11</a:t>
            </a:fld>
            <a:endParaRPr lang="en-US"/>
          </a:p>
        </p:txBody>
      </p:sp>
    </p:spTree>
    <p:extLst>
      <p:ext uri="{BB962C8B-B14F-4D97-AF65-F5344CB8AC3E}">
        <p14:creationId xmlns:p14="http://schemas.microsoft.com/office/powerpoint/2010/main" val="20932164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0" i="0" u="none" strike="noStrike" kern="1200" dirty="0">
                <a:solidFill>
                  <a:schemeClr val="tx1"/>
                </a:solidFill>
                <a:effectLst/>
                <a:latin typeface="+mn-lt"/>
                <a:ea typeface="+mn-ea"/>
                <a:cs typeface="+mn-cs"/>
              </a:rPr>
              <a:t>So from the dealer’s perspective, there is a spread.</a:t>
            </a:r>
          </a:p>
          <a:p>
            <a:pPr marL="0" marR="0" indent="0" algn="l" defTabSz="914400" rtl="0" eaLnBrk="1" fontAlgn="auto" latinLnBrk="0" hangingPunct="1">
              <a:lnSpc>
                <a:spcPct val="100000"/>
              </a:lnSpc>
              <a:spcBef>
                <a:spcPts val="0"/>
              </a:spcBef>
              <a:spcAft>
                <a:spcPts val="0"/>
              </a:spcAft>
              <a:buClrTx/>
              <a:buSzTx/>
              <a:buFontTx/>
              <a:buNone/>
              <a:tabLst/>
              <a:defRPr/>
            </a:pPr>
            <a:endParaRPr lang="en-AU" sz="1200" b="0" i="0" u="none" strike="noStrike" kern="1200" dirty="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AU" sz="1200" b="0" i="0" u="none" strike="noStrike" kern="1200" dirty="0">
                <a:solidFill>
                  <a:schemeClr val="tx1"/>
                </a:solidFill>
                <a:effectLst/>
                <a:latin typeface="+mn-lt"/>
                <a:ea typeface="+mn-ea"/>
                <a:cs typeface="+mn-cs"/>
              </a:rPr>
              <a:t>The dealer pays the lower fixed rate and receives the higher fixed rate.</a:t>
            </a:r>
            <a:endParaRPr lang="en-US" dirty="0"/>
          </a:p>
        </p:txBody>
      </p:sp>
      <p:sp>
        <p:nvSpPr>
          <p:cNvPr id="4" name="Slide Number Placeholder 3"/>
          <p:cNvSpPr>
            <a:spLocks noGrp="1"/>
          </p:cNvSpPr>
          <p:nvPr>
            <p:ph type="sldNum" sz="quarter" idx="5"/>
          </p:nvPr>
        </p:nvSpPr>
        <p:spPr/>
        <p:txBody>
          <a:bodyPr/>
          <a:lstStyle/>
          <a:p>
            <a:fld id="{6C81A5F8-0CF8-E744-995E-5E94AC608863}" type="slidenum">
              <a:rPr lang="en-US" smtClean="0"/>
              <a:t>13</a:t>
            </a:fld>
            <a:endParaRPr lang="en-US"/>
          </a:p>
        </p:txBody>
      </p:sp>
    </p:spTree>
    <p:extLst>
      <p:ext uri="{BB962C8B-B14F-4D97-AF65-F5344CB8AC3E}">
        <p14:creationId xmlns:p14="http://schemas.microsoft.com/office/powerpoint/2010/main" val="175658653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AU" sz="1200" b="0" i="0" kern="1200" dirty="0">
                    <a:solidFill>
                      <a:schemeClr val="tx1"/>
                    </a:solidFill>
                    <a:effectLst/>
                    <a:latin typeface="+mn-lt"/>
                    <a:ea typeface="+mn-ea"/>
                    <a:cs typeface="+mn-cs"/>
                  </a:rPr>
                  <a:t>Let’s make the terminology precise.</a:t>
                </a:r>
              </a:p>
              <a:p>
                <a:pPr marL="0" marR="0" indent="0" algn="l" defTabSz="914400" rtl="0" eaLnBrk="1" fontAlgn="auto" latinLnBrk="0" hangingPunct="1">
                  <a:lnSpc>
                    <a:spcPct val="100000"/>
                  </a:lnSpc>
                  <a:spcBef>
                    <a:spcPts val="0"/>
                  </a:spcBef>
                  <a:spcAft>
                    <a:spcPts val="0"/>
                  </a:spcAft>
                  <a:buClrTx/>
                  <a:buSzTx/>
                  <a:buFontTx/>
                  <a:buNone/>
                  <a:tabLst/>
                  <a:defRPr/>
                </a:pPr>
                <a:endParaRPr lang="en-AU" sz="1200" b="0" i="0" u="none" strike="noStrike" kern="1200" dirty="0">
                  <a:solidFill>
                    <a:schemeClr val="tx1"/>
                  </a:solidFill>
                  <a:effectLst/>
                  <a:latin typeface="+mn-lt"/>
                  <a:ea typeface="+mn-ea"/>
                  <a:cs typeface="+mn-cs"/>
                </a:endParaRPr>
              </a:p>
            </p:txBody>
          </p:sp>
        </mc:Choice>
        <mc:Fallback xmlns="">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Usually, we use the benchmark swap rate (the last column) to value swaps, construct the swap yield curve, and design hedging strategies. However, when actually entering into a swap transaction with a dealer, we must look at the bid and offer rates. The benchmark rate is simply the midpoint between these two quotes, while the difference between the bid and offer reflects the dealer’s spread (transaction cost).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indent="0" algn="l" defTabSz="914400" rtl="0" eaLnBrk="1" fontAlgn="auto" latinLnBrk="0" hangingPunct="1">
                  <a:lnSpc>
                    <a:spcPct val="100000"/>
                  </a:lnSpc>
                  <a:spcBef>
                    <a:spcPts val="0"/>
                  </a:spcBef>
                  <a:spcAft>
                    <a:spcPts val="0"/>
                  </a:spcAft>
                  <a:buClrTx/>
                  <a:buSzTx/>
                  <a:buFontTx/>
                  <a:buNone/>
                  <a:tabLst/>
                  <a:defRPr/>
                </a:pPr>
                <a:r>
                  <a:rPr lang="en-US" dirty="0"/>
                  <a:t>Dealers always quote two rates: a bid (if you want to receive fixed) and an offer (if you want to pay fixed). </a:t>
                </a:r>
              </a:p>
              <a:p>
                <a:pPr marL="0" marR="0" indent="0" algn="l" defTabSz="914400" rtl="0" eaLnBrk="1" fontAlgn="auto" latinLnBrk="0" hangingPunct="1">
                  <a:lnSpc>
                    <a:spcPct val="100000"/>
                  </a:lnSpc>
                  <a:spcBef>
                    <a:spcPts val="0"/>
                  </a:spcBef>
                  <a:spcAft>
                    <a:spcPts val="0"/>
                  </a:spcAft>
                  <a:buClrTx/>
                  <a:buSzTx/>
                  <a:buFontTx/>
                  <a:buNone/>
                  <a:tabLst/>
                  <a:defRPr/>
                </a:pPr>
                <a:r>
                  <a:rPr lang="en-US" dirty="0"/>
                  <a:t>Like a casino, the dealer never loses, always “buys low and sells high”. Specifically speaking, they pay low (bid) and receive high on the fixed rate (offer).</a:t>
                </a:r>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indent="0" algn="l" defTabSz="914400" rtl="0" eaLnBrk="1" fontAlgn="auto" latinLnBrk="0" hangingPunct="1">
                  <a:lnSpc>
                    <a:spcPct val="100000"/>
                  </a:lnSpc>
                  <a:spcBef>
                    <a:spcPts val="0"/>
                  </a:spcBef>
                  <a:spcAft>
                    <a:spcPts val="0"/>
                  </a:spcAft>
                  <a:buClrTx/>
                  <a:buSzTx/>
                  <a:buFontTx/>
                  <a:buNone/>
                  <a:tabLst/>
                  <a:defRPr/>
                </a:pPr>
                <a:r>
                  <a:rPr lang="en-US" dirty="0"/>
                  <a:t>he swap rate shown in the last column is the midpoint between bid and offer.</a:t>
                </a:r>
                <a:r>
                  <a:rPr lang="en-US" i="0">
                    <a:latin typeface="Cambria Math" panose="02040503050406030204" pitchFamily="18" charset="0"/>
                  </a:rPr>
                  <a:t>"Type equation here."</a:t>
                </a:r>
                <a:endParaRPr lang="en-US" dirty="0"/>
              </a:p>
              <a:p>
                <a:pPr marL="0" marR="0" indent="0" algn="l" defTabSz="914400" rtl="0" eaLnBrk="1" fontAlgn="auto" latinLnBrk="0" hangingPunct="1">
                  <a:lnSpc>
                    <a:spcPct val="100000"/>
                  </a:lnSpc>
                  <a:spcBef>
                    <a:spcPts val="0"/>
                  </a:spcBef>
                  <a:spcAft>
                    <a:spcPts val="0"/>
                  </a:spcAft>
                  <a:buClrTx/>
                  <a:buSzTx/>
                  <a:buFontTx/>
                  <a:buNone/>
                  <a:tabLst/>
                  <a:defRPr/>
                </a:pPr>
                <a:r>
                  <a:rPr lang="en-US" dirty="0"/>
                  <a:t>1. The so called ‘fair’ swap rate is used to calculate the present value of cash flows in swaps.</a:t>
                </a:r>
              </a:p>
              <a:p>
                <a:pPr marL="0" marR="0" indent="0" algn="l" defTabSz="914400" rtl="0" eaLnBrk="1" fontAlgn="auto" latinLnBrk="0" hangingPunct="1">
                  <a:lnSpc>
                    <a:spcPct val="100000"/>
                  </a:lnSpc>
                  <a:spcBef>
                    <a:spcPts val="0"/>
                  </a:spcBef>
                  <a:spcAft>
                    <a:spcPts val="0"/>
                  </a:spcAft>
                  <a:buClrTx/>
                  <a:buSzTx/>
                  <a:buFontTx/>
                  <a:buNone/>
                  <a:tabLst/>
                  <a:defRPr/>
                </a:pPr>
                <a:r>
                  <a:rPr lang="en-US" dirty="0"/>
                  <a:t>2. Swap rates are widely used to build the swap yield curve (</a:t>
                </a:r>
                <a:r>
                  <a:rPr lang="en-AU" sz="1200" b="0" i="0" u="none" strike="noStrike" kern="1200" dirty="0">
                    <a:solidFill>
                      <a:schemeClr val="tx1"/>
                    </a:solidFill>
                    <a:effectLst/>
                    <a:latin typeface="+mn-lt"/>
                    <a:ea typeface="+mn-ea"/>
                    <a:cs typeface="+mn-cs"/>
                  </a:rPr>
                  <a:t>a key benchmark curve in financial markets).</a:t>
                </a:r>
              </a:p>
              <a:p>
                <a:pPr marL="0" marR="0" indent="0" algn="l" defTabSz="914400" rtl="0" eaLnBrk="1" fontAlgn="auto" latinLnBrk="0" hangingPunct="1">
                  <a:lnSpc>
                    <a:spcPct val="100000"/>
                  </a:lnSpc>
                  <a:spcBef>
                    <a:spcPts val="0"/>
                  </a:spcBef>
                  <a:spcAft>
                    <a:spcPts val="0"/>
                  </a:spcAft>
                  <a:buClrTx/>
                  <a:buSzTx/>
                  <a:buFontTx/>
                  <a:buNone/>
                  <a:tabLst/>
                  <a:defRPr/>
                </a:pPr>
                <a:endParaRPr lang="en-AU" sz="1200" b="0" i="0" u="none" strike="noStrike" kern="1200" dirty="0">
                  <a:solidFill>
                    <a:schemeClr val="tx1"/>
                  </a:solidFill>
                  <a:effectLst/>
                  <a:latin typeface="+mn-lt"/>
                  <a:ea typeface="+mn-ea"/>
                  <a:cs typeface="+mn-cs"/>
                </a:endParaRPr>
              </a:p>
            </p:txBody>
          </p:sp>
        </mc:Fallback>
      </mc:AlternateContent>
      <p:sp>
        <p:nvSpPr>
          <p:cNvPr id="4" name="Slide Number Placeholder 3"/>
          <p:cNvSpPr>
            <a:spLocks noGrp="1"/>
          </p:cNvSpPr>
          <p:nvPr>
            <p:ph type="sldNum" sz="quarter" idx="5"/>
          </p:nvPr>
        </p:nvSpPr>
        <p:spPr/>
        <p:txBody>
          <a:bodyPr/>
          <a:lstStyle/>
          <a:p>
            <a:fld id="{6C81A5F8-0CF8-E744-995E-5E94AC608863}" type="slidenum">
              <a:rPr lang="en-US" smtClean="0"/>
              <a:t>14</a:t>
            </a:fld>
            <a:endParaRPr lang="en-US"/>
          </a:p>
        </p:txBody>
      </p:sp>
    </p:spTree>
    <p:extLst>
      <p:ext uri="{BB962C8B-B14F-4D97-AF65-F5344CB8AC3E}">
        <p14:creationId xmlns:p14="http://schemas.microsoft.com/office/powerpoint/2010/main" val="403871677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To remove the fixed exposure, Company A needs to receive fixed and pay BBSW under the swap.</a:t>
            </a:r>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indent="0" algn="l" defTabSz="914400" rtl="0" eaLnBrk="1" fontAlgn="auto" latinLnBrk="0" hangingPunct="1">
              <a:lnSpc>
                <a:spcPct val="100000"/>
              </a:lnSpc>
              <a:spcBef>
                <a:spcPts val="0"/>
              </a:spcBef>
              <a:spcAft>
                <a:spcPts val="0"/>
              </a:spcAft>
              <a:buClrTx/>
              <a:buSzTx/>
              <a:buFontTx/>
              <a:buNone/>
              <a:tabLst/>
              <a:defRPr/>
            </a:pPr>
            <a:r>
              <a:rPr lang="en-US" dirty="0"/>
              <a:t>Now think from the dealer’s perspective.</a:t>
            </a:r>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indent="0" algn="l" defTabSz="914400" rtl="0" eaLnBrk="1" fontAlgn="auto" latinLnBrk="0" hangingPunct="1">
              <a:lnSpc>
                <a:spcPct val="100000"/>
              </a:lnSpc>
              <a:spcBef>
                <a:spcPts val="0"/>
              </a:spcBef>
              <a:spcAft>
                <a:spcPts val="0"/>
              </a:spcAft>
              <a:buClrTx/>
              <a:buSzTx/>
              <a:buFontTx/>
              <a:buNone/>
              <a:tabLst/>
              <a:defRPr/>
            </a:pPr>
            <a:r>
              <a:rPr lang="en-US" dirty="0"/>
              <a:t>If Company A receives fixed, the dealer is paying fixed.</a:t>
            </a:r>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indent="0" algn="l" defTabSz="914400" rtl="0" eaLnBrk="1" fontAlgn="auto" latinLnBrk="0" hangingPunct="1">
              <a:lnSpc>
                <a:spcPct val="100000"/>
              </a:lnSpc>
              <a:spcBef>
                <a:spcPts val="0"/>
              </a:spcBef>
              <a:spcAft>
                <a:spcPts val="0"/>
              </a:spcAft>
              <a:buClrTx/>
              <a:buSzTx/>
              <a:buFontTx/>
              <a:buNone/>
              <a:tabLst/>
              <a:defRPr/>
            </a:pPr>
            <a:r>
              <a:rPr lang="en-US" dirty="0"/>
              <a:t>And when the dealer pays fixed, which quote do we use?</a:t>
            </a:r>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indent="0" algn="l" defTabSz="914400" rtl="0" eaLnBrk="1" fontAlgn="auto" latinLnBrk="0" hangingPunct="1">
              <a:lnSpc>
                <a:spcPct val="100000"/>
              </a:lnSpc>
              <a:spcBef>
                <a:spcPts val="0"/>
              </a:spcBef>
              <a:spcAft>
                <a:spcPts val="0"/>
              </a:spcAft>
              <a:buClrTx/>
              <a:buSzTx/>
              <a:buFontTx/>
              <a:buNone/>
              <a:tabLst/>
              <a:defRPr/>
            </a:pPr>
            <a:r>
              <a:rPr lang="en-US" dirty="0"/>
              <a:t>The bid, the lower quote.</a:t>
            </a:r>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indent="0" algn="l" defTabSz="914400" rtl="0" eaLnBrk="1" fontAlgn="auto" latinLnBrk="0" hangingPunct="1">
              <a:lnSpc>
                <a:spcPct val="100000"/>
              </a:lnSpc>
              <a:spcBef>
                <a:spcPts val="0"/>
              </a:spcBef>
              <a:spcAft>
                <a:spcPts val="0"/>
              </a:spcAft>
              <a:buClrTx/>
              <a:buSzTx/>
              <a:buFontTx/>
              <a:buNone/>
              <a:tabLst/>
              <a:defRPr/>
            </a:pPr>
            <a:r>
              <a:rPr lang="en-AU" sz="1200" b="0" i="0" u="none" strike="noStrike" kern="1200" dirty="0">
                <a:solidFill>
                  <a:schemeClr val="tx1"/>
                </a:solidFill>
                <a:effectLst/>
                <a:latin typeface="+mn-lt"/>
                <a:ea typeface="+mn-ea"/>
                <a:cs typeface="+mn-cs"/>
              </a:rPr>
              <a:t>So we now know exactly which swap to enter.</a:t>
            </a:r>
            <a:endParaRPr lang="en-US" dirty="0"/>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6C81A5F8-0CF8-E744-995E-5E94AC608863}" type="slidenum">
              <a:rPr lang="en-US" smtClean="0"/>
              <a:t>15</a:t>
            </a:fld>
            <a:endParaRPr lang="en-US"/>
          </a:p>
        </p:txBody>
      </p:sp>
    </p:spTree>
    <p:extLst>
      <p:ext uri="{BB962C8B-B14F-4D97-AF65-F5344CB8AC3E}">
        <p14:creationId xmlns:p14="http://schemas.microsoft.com/office/powerpoint/2010/main" val="82454229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sz="1200" b="0" i="0" u="none" strike="noStrike" kern="1200" dirty="0">
                <a:solidFill>
                  <a:schemeClr val="tx1"/>
                </a:solidFill>
                <a:effectLst/>
                <a:latin typeface="+mn-lt"/>
                <a:ea typeface="+mn-ea"/>
                <a:cs typeface="+mn-cs"/>
              </a:rPr>
              <a:t>Now Company B has the opposite problem.</a:t>
            </a:r>
          </a:p>
          <a:p>
            <a:endParaRPr lang="en-AU" sz="1200" b="0" i="0" u="none" strike="noStrike" kern="1200" dirty="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dirty="0"/>
              <a:t>It is already borrowing at BBSW plus 75 basis points, and wants to turn that floating liability into fixed.</a:t>
            </a:r>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indent="0" algn="l" defTabSz="914400" rtl="0" eaLnBrk="1" fontAlgn="auto" latinLnBrk="0" hangingPunct="1">
              <a:lnSpc>
                <a:spcPct val="100000"/>
              </a:lnSpc>
              <a:spcBef>
                <a:spcPts val="0"/>
              </a:spcBef>
              <a:spcAft>
                <a:spcPts val="0"/>
              </a:spcAft>
              <a:buClrTx/>
              <a:buSzTx/>
              <a:buFontTx/>
              <a:buNone/>
              <a:tabLst/>
              <a:defRPr/>
            </a:pPr>
            <a:r>
              <a:rPr lang="en-AU" sz="1200" b="0" i="0" u="none" strike="noStrike" kern="1200" dirty="0">
                <a:solidFill>
                  <a:schemeClr val="tx1"/>
                </a:solidFill>
                <a:effectLst/>
                <a:latin typeface="+mn-lt"/>
                <a:ea typeface="+mn-ea"/>
                <a:cs typeface="+mn-cs"/>
              </a:rPr>
              <a:t>So we need a swap that provides a BBSW receipt to cancel the BBSW payment on the loan.</a:t>
            </a:r>
            <a:endParaRPr lang="en-US" dirty="0"/>
          </a:p>
        </p:txBody>
      </p:sp>
      <p:sp>
        <p:nvSpPr>
          <p:cNvPr id="4" name="Slide Number Placeholder 3"/>
          <p:cNvSpPr>
            <a:spLocks noGrp="1"/>
          </p:cNvSpPr>
          <p:nvPr>
            <p:ph type="sldNum" sz="quarter" idx="5"/>
          </p:nvPr>
        </p:nvSpPr>
        <p:spPr/>
        <p:txBody>
          <a:bodyPr/>
          <a:lstStyle/>
          <a:p>
            <a:fld id="{6C81A5F8-0CF8-E744-995E-5E94AC608863}" type="slidenum">
              <a:rPr lang="en-US" smtClean="0"/>
              <a:t>17</a:t>
            </a:fld>
            <a:endParaRPr lang="en-US"/>
          </a:p>
        </p:txBody>
      </p:sp>
    </p:spTree>
    <p:extLst>
      <p:ext uri="{BB962C8B-B14F-4D97-AF65-F5344CB8AC3E}">
        <p14:creationId xmlns:p14="http://schemas.microsoft.com/office/powerpoint/2010/main" val="395727300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Problem 7.20 changes from liabilities to assets.</a:t>
            </a:r>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indent="0" algn="l" defTabSz="914400" rtl="0" eaLnBrk="1" fontAlgn="auto" latinLnBrk="0" hangingPunct="1">
              <a:lnSpc>
                <a:spcPct val="100000"/>
              </a:lnSpc>
              <a:spcBef>
                <a:spcPts val="0"/>
              </a:spcBef>
              <a:spcAft>
                <a:spcPts val="0"/>
              </a:spcAft>
              <a:buClrTx/>
              <a:buSzTx/>
              <a:buFontTx/>
              <a:buNone/>
              <a:tabLst/>
              <a:defRPr/>
            </a:pPr>
            <a:r>
              <a:rPr lang="en-AU" sz="1200" b="0" i="0" u="none" strike="noStrike" kern="1200" dirty="0">
                <a:solidFill>
                  <a:schemeClr val="tx1"/>
                </a:solidFill>
                <a:effectLst/>
                <a:latin typeface="+mn-lt"/>
                <a:ea typeface="+mn-ea"/>
                <a:cs typeface="+mn-cs"/>
              </a:rPr>
              <a:t>So the asset is currently fixed, and we want floating.</a:t>
            </a:r>
          </a:p>
          <a:p>
            <a:pPr marL="0" marR="0" indent="0" algn="l" defTabSz="914400" rtl="0" eaLnBrk="1" fontAlgn="auto" latinLnBrk="0" hangingPunct="1">
              <a:lnSpc>
                <a:spcPct val="100000"/>
              </a:lnSpc>
              <a:spcBef>
                <a:spcPts val="0"/>
              </a:spcBef>
              <a:spcAft>
                <a:spcPts val="0"/>
              </a:spcAft>
              <a:buClrTx/>
              <a:buSzTx/>
              <a:buFontTx/>
              <a:buNone/>
              <a:tabLst/>
              <a:defRPr/>
            </a:pPr>
            <a:endParaRPr lang="en-AU" sz="1200" b="0" i="0" u="none" strike="noStrike" kern="1200" dirty="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dirty="0"/>
              <a:t>What is the exact direction of the swap for Company Y—meaning, are they the fixed-rate payer or the fixed-rate receiver?</a:t>
            </a:r>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indent="0" algn="l" defTabSz="914400" rtl="0" eaLnBrk="1" fontAlgn="auto" latinLnBrk="0" hangingPunct="1">
              <a:lnSpc>
                <a:spcPct val="100000"/>
              </a:lnSpc>
              <a:spcBef>
                <a:spcPts val="0"/>
              </a:spcBef>
              <a:spcAft>
                <a:spcPts val="0"/>
              </a:spcAft>
              <a:buClrTx/>
              <a:buSzTx/>
              <a:buFontTx/>
              <a:buNone/>
              <a:tabLst/>
              <a:defRPr/>
            </a:pPr>
            <a:r>
              <a:rPr lang="en-US" dirty="0"/>
              <a:t>Based on that direction, which side of the dealer's quote do we cross: the bid or the offer?"</a:t>
            </a:r>
          </a:p>
        </p:txBody>
      </p:sp>
      <p:sp>
        <p:nvSpPr>
          <p:cNvPr id="4" name="Slide Number Placeholder 3"/>
          <p:cNvSpPr>
            <a:spLocks noGrp="1"/>
          </p:cNvSpPr>
          <p:nvPr>
            <p:ph type="sldNum" sz="quarter" idx="5"/>
          </p:nvPr>
        </p:nvSpPr>
        <p:spPr/>
        <p:txBody>
          <a:bodyPr/>
          <a:lstStyle/>
          <a:p>
            <a:fld id="{6C81A5F8-0CF8-E744-995E-5E94AC608863}" type="slidenum">
              <a:rPr lang="en-US" smtClean="0"/>
              <a:t>19</a:t>
            </a:fld>
            <a:endParaRPr lang="en-US"/>
          </a:p>
        </p:txBody>
      </p:sp>
    </p:spTree>
    <p:extLst>
      <p:ext uri="{BB962C8B-B14F-4D97-AF65-F5344CB8AC3E}">
        <p14:creationId xmlns:p14="http://schemas.microsoft.com/office/powerpoint/2010/main" val="41105578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Looking at it from the dealer’s side, the dealer does the opposite: it receives floating and pays fixed.</a:t>
            </a:r>
          </a:p>
        </p:txBody>
      </p:sp>
      <p:sp>
        <p:nvSpPr>
          <p:cNvPr id="4" name="Slide Number Placeholder 3"/>
          <p:cNvSpPr>
            <a:spLocks noGrp="1"/>
          </p:cNvSpPr>
          <p:nvPr>
            <p:ph type="sldNum" sz="quarter" idx="5"/>
          </p:nvPr>
        </p:nvSpPr>
        <p:spPr/>
        <p:txBody>
          <a:bodyPr/>
          <a:lstStyle/>
          <a:p>
            <a:fld id="{6C81A5F8-0CF8-E744-995E-5E94AC608863}" type="slidenum">
              <a:rPr lang="en-US" smtClean="0"/>
              <a:t>21</a:t>
            </a:fld>
            <a:endParaRPr lang="en-US"/>
          </a:p>
        </p:txBody>
      </p:sp>
    </p:spTree>
    <p:extLst>
      <p:ext uri="{BB962C8B-B14F-4D97-AF65-F5344CB8AC3E}">
        <p14:creationId xmlns:p14="http://schemas.microsoft.com/office/powerpoint/2010/main" val="401192368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sz="1200" b="0" i="0" u="none" strike="noStrike" kern="1200" dirty="0">
                <a:solidFill>
                  <a:schemeClr val="tx1"/>
                </a:solidFill>
                <a:effectLst/>
                <a:latin typeface="+mn-lt"/>
                <a:ea typeface="+mn-ea"/>
                <a:cs typeface="+mn-cs"/>
              </a:rPr>
              <a:t>We have just seen how an individual firm can transform its assets or liabilities.</a:t>
            </a:r>
          </a:p>
          <a:p>
            <a:endParaRPr lang="en-AU" sz="1200" b="0" i="0" u="none" strike="noStrike" kern="1200" dirty="0">
              <a:solidFill>
                <a:schemeClr val="tx1"/>
              </a:solidFill>
              <a:effectLst/>
              <a:latin typeface="+mn-lt"/>
              <a:ea typeface="+mn-ea"/>
              <a:cs typeface="+mn-cs"/>
            </a:endParaRPr>
          </a:p>
          <a:p>
            <a:r>
              <a:rPr lang="en-AU" sz="1200" b="0" i="0" u="none" strike="noStrike" kern="1200" dirty="0">
                <a:solidFill>
                  <a:schemeClr val="tx1"/>
                </a:solidFill>
                <a:effectLst/>
                <a:latin typeface="+mn-lt"/>
                <a:ea typeface="+mn-ea"/>
                <a:cs typeface="+mn-cs"/>
              </a:rPr>
              <a:t>Now let’s apply exactly the same thinking to a bank.</a:t>
            </a:r>
          </a:p>
          <a:p>
            <a:endParaRPr lang="en-AU" sz="1200" b="0" i="0" u="none" strike="noStrike" kern="1200" dirty="0">
              <a:solidFill>
                <a:schemeClr val="tx1"/>
              </a:solidFill>
              <a:effectLst/>
              <a:latin typeface="+mn-lt"/>
              <a:ea typeface="+mn-ea"/>
              <a:cs typeface="+mn-cs"/>
            </a:endParaRPr>
          </a:p>
          <a:p>
            <a:r>
              <a:rPr lang="en-AU" sz="1200" b="0" i="0" u="none" strike="noStrike" kern="1200" dirty="0">
                <a:solidFill>
                  <a:schemeClr val="tx1"/>
                </a:solidFill>
                <a:effectLst/>
                <a:latin typeface="+mn-lt"/>
                <a:ea typeface="+mn-ea"/>
                <a:cs typeface="+mn-cs"/>
              </a:rPr>
              <a:t>If BBSW rises significantly, the bank's funding cost increases while the income on the fixed loan does not.</a:t>
            </a:r>
            <a:endParaRPr lang="en-US" dirty="0"/>
          </a:p>
        </p:txBody>
      </p:sp>
      <p:sp>
        <p:nvSpPr>
          <p:cNvPr id="4" name="Slide Number Placeholder 3"/>
          <p:cNvSpPr>
            <a:spLocks noGrp="1"/>
          </p:cNvSpPr>
          <p:nvPr>
            <p:ph type="sldNum" sz="quarter" idx="5"/>
          </p:nvPr>
        </p:nvSpPr>
        <p:spPr/>
        <p:txBody>
          <a:bodyPr/>
          <a:lstStyle/>
          <a:p>
            <a:fld id="{6C81A5F8-0CF8-E744-995E-5E94AC608863}" type="slidenum">
              <a:rPr lang="en-US" smtClean="0"/>
              <a:t>23</a:t>
            </a:fld>
            <a:endParaRPr lang="en-US"/>
          </a:p>
        </p:txBody>
      </p:sp>
    </p:spTree>
    <p:extLst>
      <p:ext uri="{BB962C8B-B14F-4D97-AF65-F5344CB8AC3E}">
        <p14:creationId xmlns:p14="http://schemas.microsoft.com/office/powerpoint/2010/main" val="264000339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sz="1200" b="0" i="0" u="none" strike="noStrike" kern="1200" dirty="0">
                <a:solidFill>
                  <a:schemeClr val="tx1"/>
                </a:solidFill>
                <a:effectLst/>
                <a:latin typeface="+mn-lt"/>
                <a:ea typeface="+mn-ea"/>
                <a:cs typeface="+mn-cs"/>
              </a:rPr>
              <a:t>This diagram shows the mechanics.</a:t>
            </a:r>
          </a:p>
          <a:p>
            <a:endParaRPr lang="en-AU" sz="1200" b="0" i="0" u="none" strike="noStrike" kern="1200" dirty="0">
              <a:solidFill>
                <a:schemeClr val="tx1"/>
              </a:solidFill>
              <a:effectLst/>
              <a:latin typeface="+mn-lt"/>
              <a:ea typeface="+mn-ea"/>
              <a:cs typeface="+mn-cs"/>
            </a:endParaRPr>
          </a:p>
          <a:p>
            <a:r>
              <a:rPr lang="en-AU" sz="1200" b="0" i="0" u="none" strike="noStrike" kern="1200" dirty="0">
                <a:solidFill>
                  <a:schemeClr val="tx1"/>
                </a:solidFill>
                <a:effectLst/>
                <a:latin typeface="+mn-lt"/>
                <a:ea typeface="+mn-ea"/>
                <a:cs typeface="+mn-cs"/>
              </a:rPr>
              <a:t>Now the bank enters a swap.</a:t>
            </a:r>
            <a:endParaRPr lang="en-US" dirty="0"/>
          </a:p>
        </p:txBody>
      </p:sp>
      <p:sp>
        <p:nvSpPr>
          <p:cNvPr id="4" name="Slide Number Placeholder 3"/>
          <p:cNvSpPr>
            <a:spLocks noGrp="1"/>
          </p:cNvSpPr>
          <p:nvPr>
            <p:ph type="sldNum" sz="quarter" idx="5"/>
          </p:nvPr>
        </p:nvSpPr>
        <p:spPr/>
        <p:txBody>
          <a:bodyPr/>
          <a:lstStyle/>
          <a:p>
            <a:fld id="{6C81A5F8-0CF8-E744-995E-5E94AC608863}" type="slidenum">
              <a:rPr lang="en-US" smtClean="0"/>
              <a:t>24</a:t>
            </a:fld>
            <a:endParaRPr lang="en-US"/>
          </a:p>
        </p:txBody>
      </p:sp>
    </p:spTree>
    <p:extLst>
      <p:ext uri="{BB962C8B-B14F-4D97-AF65-F5344CB8AC3E}">
        <p14:creationId xmlns:p14="http://schemas.microsoft.com/office/powerpoint/2010/main" val="146353767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sz="1200" b="0" i="0" u="none" strike="noStrike" kern="1200" dirty="0">
                <a:solidFill>
                  <a:schemeClr val="tx1"/>
                </a:solidFill>
                <a:effectLst/>
                <a:latin typeface="+mn-lt"/>
                <a:ea typeface="+mn-ea"/>
                <a:cs typeface="+mn-cs"/>
              </a:rPr>
              <a:t>What is the risk?</a:t>
            </a:r>
          </a:p>
          <a:p>
            <a:endParaRPr lang="en-AU" sz="1200" b="0" i="0" u="none" strike="noStrike" kern="1200" dirty="0">
              <a:solidFill>
                <a:schemeClr val="tx1"/>
              </a:solidFill>
              <a:effectLst/>
              <a:latin typeface="+mn-lt"/>
              <a:ea typeface="+mn-ea"/>
              <a:cs typeface="+mn-cs"/>
            </a:endParaRPr>
          </a:p>
          <a:p>
            <a:r>
              <a:rPr lang="en-AU" sz="1200" b="0" i="0" u="none" strike="noStrike" kern="1200" dirty="0">
                <a:solidFill>
                  <a:schemeClr val="tx1"/>
                </a:solidFill>
                <a:effectLst/>
                <a:latin typeface="+mn-lt"/>
                <a:ea typeface="+mn-ea"/>
                <a:cs typeface="+mn-cs"/>
              </a:rPr>
              <a:t>If floating rates rise, the cost of the deposits increases, but the income from the fixed loans stays unchanged.</a:t>
            </a:r>
            <a:endParaRPr lang="en-US" dirty="0"/>
          </a:p>
        </p:txBody>
      </p:sp>
      <p:sp>
        <p:nvSpPr>
          <p:cNvPr id="4" name="Slide Number Placeholder 3"/>
          <p:cNvSpPr>
            <a:spLocks noGrp="1"/>
          </p:cNvSpPr>
          <p:nvPr>
            <p:ph type="sldNum" sz="quarter" idx="5"/>
          </p:nvPr>
        </p:nvSpPr>
        <p:spPr/>
        <p:txBody>
          <a:bodyPr/>
          <a:lstStyle/>
          <a:p>
            <a:fld id="{6C81A5F8-0CF8-E744-995E-5E94AC608863}" type="slidenum">
              <a:rPr lang="en-US" smtClean="0"/>
              <a:t>25</a:t>
            </a:fld>
            <a:endParaRPr lang="en-US"/>
          </a:p>
        </p:txBody>
      </p:sp>
    </p:spTree>
    <p:extLst>
      <p:ext uri="{BB962C8B-B14F-4D97-AF65-F5344CB8AC3E}">
        <p14:creationId xmlns:p14="http://schemas.microsoft.com/office/powerpoint/2010/main" val="395607158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0" i="0" u="none" strike="noStrike" kern="1200" dirty="0">
                <a:solidFill>
                  <a:schemeClr val="tx1"/>
                </a:solidFill>
                <a:effectLst/>
                <a:latin typeface="+mn-lt"/>
                <a:ea typeface="+mn-ea"/>
                <a:cs typeface="+mn-cs"/>
              </a:rPr>
              <a:t>The part now moves from using swaps to valuing an existing swap, using the bond-portfolio approach.</a:t>
            </a:r>
          </a:p>
          <a:p>
            <a:endParaRPr lang="en-AU" sz="1200" b="0" i="0" u="none" strike="noStrike" kern="1200" dirty="0">
              <a:solidFill>
                <a:schemeClr val="tx1"/>
              </a:solidFill>
              <a:effectLst/>
              <a:latin typeface="+mn-lt"/>
              <a:ea typeface="+mn-ea"/>
              <a:cs typeface="+mn-cs"/>
            </a:endParaRPr>
          </a:p>
          <a:p>
            <a:r>
              <a:rPr lang="en-AU" sz="1200" b="0" i="0" u="none" strike="noStrike" kern="1200" dirty="0">
                <a:solidFill>
                  <a:schemeClr val="tx1"/>
                </a:solidFill>
                <a:effectLst/>
                <a:latin typeface="+mn-lt"/>
                <a:ea typeface="+mn-ea"/>
                <a:cs typeface="+mn-cs"/>
              </a:rPr>
              <a:t>What is that swap worth today?</a:t>
            </a:r>
          </a:p>
          <a:p>
            <a:endParaRPr lang="en-AU" sz="1200" b="0" i="0" u="none" strike="noStrike" kern="1200" dirty="0">
              <a:solidFill>
                <a:schemeClr val="tx1"/>
              </a:solidFill>
              <a:effectLst/>
              <a:latin typeface="+mn-lt"/>
              <a:ea typeface="+mn-ea"/>
              <a:cs typeface="+mn-cs"/>
            </a:endParaRPr>
          </a:p>
          <a:p>
            <a:r>
              <a:rPr lang="en-AU" sz="1200" b="0" i="0" u="none" strike="noStrike" kern="1200" dirty="0">
                <a:solidFill>
                  <a:schemeClr val="tx1"/>
                </a:solidFill>
                <a:effectLst/>
                <a:latin typeface="+mn-lt"/>
                <a:ea typeface="+mn-ea"/>
                <a:cs typeface="+mn-cs"/>
              </a:rPr>
              <a:t>Does that change the value of the swap?</a:t>
            </a:r>
          </a:p>
          <a:p>
            <a:endParaRPr lang="en-AU" sz="1200" b="0" i="0" u="none" strike="noStrike" kern="1200" dirty="0">
              <a:solidFill>
                <a:schemeClr val="tx1"/>
              </a:solidFill>
              <a:effectLst/>
              <a:latin typeface="+mn-lt"/>
              <a:ea typeface="+mn-ea"/>
              <a:cs typeface="+mn-cs"/>
            </a:endParaRPr>
          </a:p>
          <a:p>
            <a:r>
              <a:rPr lang="en-AU" sz="1200" b="0" i="0" u="none" strike="noStrike" kern="1200" dirty="0">
                <a:solidFill>
                  <a:schemeClr val="tx1"/>
                </a:solidFill>
                <a:effectLst/>
                <a:latin typeface="+mn-lt"/>
                <a:ea typeface="+mn-ea"/>
                <a:cs typeface="+mn-cs"/>
              </a:rPr>
              <a:t>But doing this gives us a very useful interpretation.</a:t>
            </a:r>
            <a:endParaRPr lang="en-US" dirty="0"/>
          </a:p>
        </p:txBody>
      </p:sp>
      <p:sp>
        <p:nvSpPr>
          <p:cNvPr id="4" name="Slide Number Placeholder 3"/>
          <p:cNvSpPr>
            <a:spLocks noGrp="1"/>
          </p:cNvSpPr>
          <p:nvPr>
            <p:ph type="sldNum" sz="quarter" idx="5"/>
          </p:nvPr>
        </p:nvSpPr>
        <p:spPr/>
        <p:txBody>
          <a:bodyPr/>
          <a:lstStyle/>
          <a:p>
            <a:fld id="{6C81A5F8-0CF8-E744-995E-5E94AC608863}" type="slidenum">
              <a:rPr lang="en-US" smtClean="0"/>
              <a:t>27</a:t>
            </a:fld>
            <a:endParaRPr lang="en-US"/>
          </a:p>
        </p:txBody>
      </p:sp>
    </p:spTree>
    <p:extLst>
      <p:ext uri="{BB962C8B-B14F-4D97-AF65-F5344CB8AC3E}">
        <p14:creationId xmlns:p14="http://schemas.microsoft.com/office/powerpoint/2010/main" val="40793978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sz="1200" b="0" i="0" u="none" strike="noStrike" kern="1200" dirty="0">
                <a:solidFill>
                  <a:schemeClr val="tx1"/>
                </a:solidFill>
                <a:effectLst/>
                <a:latin typeface="+mn-lt"/>
                <a:ea typeface="+mn-ea"/>
                <a:cs typeface="+mn-cs"/>
              </a:rPr>
              <a:t>Once we see the two legs as bonds, the valuation formula becomes very simple.</a:t>
            </a:r>
            <a:endParaRPr lang="en-US" dirty="0"/>
          </a:p>
        </p:txBody>
      </p:sp>
      <p:sp>
        <p:nvSpPr>
          <p:cNvPr id="4" name="Slide Number Placeholder 3"/>
          <p:cNvSpPr>
            <a:spLocks noGrp="1"/>
          </p:cNvSpPr>
          <p:nvPr>
            <p:ph type="sldNum" sz="quarter" idx="5"/>
          </p:nvPr>
        </p:nvSpPr>
        <p:spPr/>
        <p:txBody>
          <a:bodyPr/>
          <a:lstStyle/>
          <a:p>
            <a:fld id="{6C81A5F8-0CF8-E744-995E-5E94AC608863}" type="slidenum">
              <a:rPr lang="en-US" smtClean="0"/>
              <a:t>28</a:t>
            </a:fld>
            <a:endParaRPr lang="en-US"/>
          </a:p>
        </p:txBody>
      </p:sp>
    </p:spTree>
    <p:extLst>
      <p:ext uri="{BB962C8B-B14F-4D97-AF65-F5344CB8AC3E}">
        <p14:creationId xmlns:p14="http://schemas.microsoft.com/office/powerpoint/2010/main" val="396534510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sz="1200" b="0" i="0" u="none" strike="noStrike" kern="1200" dirty="0">
                <a:solidFill>
                  <a:schemeClr val="tx1"/>
                </a:solidFill>
                <a:effectLst/>
                <a:latin typeface="+mn-lt"/>
                <a:ea typeface="+mn-ea"/>
                <a:cs typeface="+mn-cs"/>
              </a:rPr>
              <a:t>The floating-rate bond has an extremely useful shortcut.</a:t>
            </a:r>
          </a:p>
          <a:p>
            <a:endParaRPr lang="en-AU" sz="1200" b="0" i="0" u="none" strike="noStrike" kern="1200" dirty="0">
              <a:solidFill>
                <a:schemeClr val="tx1"/>
              </a:solidFill>
              <a:effectLst/>
              <a:latin typeface="+mn-lt"/>
              <a:ea typeface="+mn-ea"/>
              <a:cs typeface="+mn-cs"/>
            </a:endParaRPr>
          </a:p>
          <a:p>
            <a:r>
              <a:rPr lang="en-AU" sz="1200" b="0" i="0" u="none" strike="noStrike" kern="1200" dirty="0">
                <a:solidFill>
                  <a:schemeClr val="tx1"/>
                </a:solidFill>
                <a:effectLst/>
                <a:latin typeface="+mn-lt"/>
                <a:ea typeface="+mn-ea"/>
                <a:cs typeface="+mn-cs"/>
              </a:rPr>
              <a:t>The floating coupon for the next period is reset to the current market rate.</a:t>
            </a:r>
          </a:p>
          <a:p>
            <a:endParaRPr lang="en-AU" sz="1200" b="0" i="0" u="none" strike="noStrike" kern="1200" dirty="0">
              <a:solidFill>
                <a:schemeClr val="tx1"/>
              </a:solidFill>
              <a:effectLst/>
              <a:latin typeface="+mn-lt"/>
              <a:ea typeface="+mn-ea"/>
              <a:cs typeface="+mn-cs"/>
            </a:endParaRPr>
          </a:p>
          <a:p>
            <a:r>
              <a:rPr lang="en-AU" sz="1200" b="0" i="0" u="none" strike="noStrike" kern="1200" dirty="0">
                <a:solidFill>
                  <a:schemeClr val="tx1"/>
                </a:solidFill>
                <a:effectLst/>
                <a:latin typeface="+mn-lt"/>
                <a:ea typeface="+mn-ea"/>
                <a:cs typeface="+mn-cs"/>
              </a:rPr>
              <a:t>That is why we can write, under the continuous-compounding setup shown here,</a:t>
            </a:r>
            <a:endParaRPr lang="en-US" dirty="0"/>
          </a:p>
        </p:txBody>
      </p:sp>
      <p:sp>
        <p:nvSpPr>
          <p:cNvPr id="4" name="Slide Number Placeholder 3"/>
          <p:cNvSpPr>
            <a:spLocks noGrp="1"/>
          </p:cNvSpPr>
          <p:nvPr>
            <p:ph type="sldNum" sz="quarter" idx="5"/>
          </p:nvPr>
        </p:nvSpPr>
        <p:spPr/>
        <p:txBody>
          <a:bodyPr/>
          <a:lstStyle/>
          <a:p>
            <a:fld id="{6C81A5F8-0CF8-E744-995E-5E94AC608863}" type="slidenum">
              <a:rPr lang="en-US" smtClean="0"/>
              <a:t>29</a:t>
            </a:fld>
            <a:endParaRPr lang="en-US"/>
          </a:p>
        </p:txBody>
      </p:sp>
    </p:spTree>
    <p:extLst>
      <p:ext uri="{BB962C8B-B14F-4D97-AF65-F5344CB8AC3E}">
        <p14:creationId xmlns:p14="http://schemas.microsoft.com/office/powerpoint/2010/main" val="362542299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sz="1200" b="0" i="0" u="none" strike="noStrike" kern="1200" dirty="0">
                <a:solidFill>
                  <a:schemeClr val="tx1"/>
                </a:solidFill>
                <a:effectLst/>
                <a:latin typeface="+mn-lt"/>
                <a:ea typeface="+mn-ea"/>
                <a:cs typeface="+mn-cs"/>
              </a:rPr>
              <a:t>The fixed-rate bond is different.</a:t>
            </a:r>
            <a:endParaRPr lang="en-US" dirty="0"/>
          </a:p>
        </p:txBody>
      </p:sp>
      <p:sp>
        <p:nvSpPr>
          <p:cNvPr id="4" name="Slide Number Placeholder 3"/>
          <p:cNvSpPr>
            <a:spLocks noGrp="1"/>
          </p:cNvSpPr>
          <p:nvPr>
            <p:ph type="sldNum" sz="quarter" idx="5"/>
          </p:nvPr>
        </p:nvSpPr>
        <p:spPr/>
        <p:txBody>
          <a:bodyPr/>
          <a:lstStyle/>
          <a:p>
            <a:fld id="{6C81A5F8-0CF8-E744-995E-5E94AC608863}" type="slidenum">
              <a:rPr lang="en-US" smtClean="0"/>
              <a:t>30</a:t>
            </a:fld>
            <a:endParaRPr lang="en-US"/>
          </a:p>
        </p:txBody>
      </p:sp>
    </p:spTree>
    <p:extLst>
      <p:ext uri="{BB962C8B-B14F-4D97-AF65-F5344CB8AC3E}">
        <p14:creationId xmlns:p14="http://schemas.microsoft.com/office/powerpoint/2010/main" val="330177635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6DDBF1-0A1E-1922-9144-E8E8AC6C323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8FF6A8A-0075-B639-8524-A6E46672928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BE6D881-3459-D9E3-083B-9F7016BE7D42}"/>
              </a:ext>
            </a:extLst>
          </p:cNvPr>
          <p:cNvSpPr>
            <a:spLocks noGrp="1"/>
          </p:cNvSpPr>
          <p:nvPr>
            <p:ph type="body" idx="1"/>
          </p:nvPr>
        </p:nvSpPr>
        <p:spPr/>
        <p:txBody>
          <a:bodyPr/>
          <a:lstStyle/>
          <a:p>
            <a:r>
              <a:rPr lang="en-US" dirty="0"/>
              <a:t>If you prefer not to use the shortcut, you can simply treat this floating</a:t>
            </a:r>
          </a:p>
          <a:p>
            <a:endParaRPr lang="en-US" dirty="0"/>
          </a:p>
          <a:p>
            <a:r>
              <a:rPr lang="en-US" dirty="0"/>
              <a:t>Either method works – they both give you the same answer.</a:t>
            </a:r>
          </a:p>
          <a:p>
            <a:endParaRPr lang="en-US" dirty="0"/>
          </a:p>
          <a:p>
            <a:r>
              <a:rPr lang="en-US" dirty="0"/>
              <a:t>You can choose whichever one you prefer.</a:t>
            </a:r>
          </a:p>
          <a:p>
            <a:endParaRPr lang="en-US" dirty="0"/>
          </a:p>
        </p:txBody>
      </p:sp>
      <p:sp>
        <p:nvSpPr>
          <p:cNvPr id="4" name="Slide Number Placeholder 3">
            <a:extLst>
              <a:ext uri="{FF2B5EF4-FFF2-40B4-BE49-F238E27FC236}">
                <a16:creationId xmlns:a16="http://schemas.microsoft.com/office/drawing/2014/main" id="{1330BFD8-0A05-D19E-C67C-A48BC23FB2AE}"/>
              </a:ext>
            </a:extLst>
          </p:cNvPr>
          <p:cNvSpPr>
            <a:spLocks noGrp="1"/>
          </p:cNvSpPr>
          <p:nvPr>
            <p:ph type="sldNum" sz="quarter" idx="5"/>
          </p:nvPr>
        </p:nvSpPr>
        <p:spPr/>
        <p:txBody>
          <a:bodyPr/>
          <a:lstStyle/>
          <a:p>
            <a:fld id="{6C81A5F8-0CF8-E744-995E-5E94AC608863}" type="slidenum">
              <a:rPr lang="en-US" smtClean="0"/>
              <a:t>31</a:t>
            </a:fld>
            <a:endParaRPr lang="en-US"/>
          </a:p>
        </p:txBody>
      </p:sp>
    </p:spTree>
    <p:extLst>
      <p:ext uri="{BB962C8B-B14F-4D97-AF65-F5344CB8AC3E}">
        <p14:creationId xmlns:p14="http://schemas.microsoft.com/office/powerpoint/2010/main" val="206351827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12A266-BEB8-5336-A478-3DF5C90701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8C340EB-5DBE-573D-9738-3E4FE51D3D0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3653CDA-7179-522D-EE05-0017533E20EE}"/>
              </a:ext>
            </a:extLst>
          </p:cNvPr>
          <p:cNvSpPr>
            <a:spLocks noGrp="1"/>
          </p:cNvSpPr>
          <p:nvPr>
            <p:ph type="body" idx="1"/>
          </p:nvPr>
        </p:nvSpPr>
        <p:spPr/>
        <p:txBody>
          <a:bodyPr/>
          <a:lstStyle/>
          <a:p>
            <a:r>
              <a:rPr lang="en-US" dirty="0"/>
              <a:t>If you prefer not to use the shortcut, you can simply treat this floating</a:t>
            </a:r>
          </a:p>
          <a:p>
            <a:endParaRPr lang="en-US" dirty="0"/>
          </a:p>
          <a:p>
            <a:r>
              <a:rPr lang="en-US" dirty="0"/>
              <a:t>Either method works – they both give you the same answer.</a:t>
            </a:r>
          </a:p>
          <a:p>
            <a:endParaRPr lang="en-US" dirty="0"/>
          </a:p>
          <a:p>
            <a:r>
              <a:rPr lang="en-US" dirty="0"/>
              <a:t>You can choose whichever one you prefer.</a:t>
            </a:r>
          </a:p>
          <a:p>
            <a:endParaRPr lang="en-US" dirty="0"/>
          </a:p>
        </p:txBody>
      </p:sp>
      <p:sp>
        <p:nvSpPr>
          <p:cNvPr id="4" name="Slide Number Placeholder 3">
            <a:extLst>
              <a:ext uri="{FF2B5EF4-FFF2-40B4-BE49-F238E27FC236}">
                <a16:creationId xmlns:a16="http://schemas.microsoft.com/office/drawing/2014/main" id="{9D86825D-EF24-E779-B5B4-E71C4120A121}"/>
              </a:ext>
            </a:extLst>
          </p:cNvPr>
          <p:cNvSpPr>
            <a:spLocks noGrp="1"/>
          </p:cNvSpPr>
          <p:nvPr>
            <p:ph type="sldNum" sz="quarter" idx="5"/>
          </p:nvPr>
        </p:nvSpPr>
        <p:spPr/>
        <p:txBody>
          <a:bodyPr/>
          <a:lstStyle/>
          <a:p>
            <a:fld id="{6C81A5F8-0CF8-E744-995E-5E94AC608863}" type="slidenum">
              <a:rPr lang="en-US" smtClean="0"/>
              <a:t>32</a:t>
            </a:fld>
            <a:endParaRPr lang="en-US"/>
          </a:p>
        </p:txBody>
      </p:sp>
    </p:spTree>
    <p:extLst>
      <p:ext uri="{BB962C8B-B14F-4D97-AF65-F5344CB8AC3E}">
        <p14:creationId xmlns:p14="http://schemas.microsoft.com/office/powerpoint/2010/main" val="393253090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 annum simply means “for the year”.</a:t>
            </a:r>
          </a:p>
          <a:p>
            <a:endParaRPr lang="en-US" dirty="0"/>
          </a:p>
          <a:p>
            <a:r>
              <a:rPr lang="en-US" dirty="0"/>
              <a:t>If you are dealing with regular intervals, like monthly, quarterly, or semi-annually, you will use the first formula.</a:t>
            </a:r>
          </a:p>
          <a:p>
            <a:endParaRPr lang="en-US" dirty="0"/>
          </a:p>
          <a:p>
            <a:r>
              <a:rPr lang="en-US" dirty="0"/>
              <a:t>If the problem is related to an infinite number of times, you will use the second formula involving e.</a:t>
            </a:r>
          </a:p>
          <a:p>
            <a:endParaRPr lang="en-US" dirty="0"/>
          </a:p>
          <a:p>
            <a:r>
              <a:rPr lang="en-US" dirty="0"/>
              <a:t>By setting the two formulas equal to each other, you can always find an equivalent rate between them.</a:t>
            </a:r>
          </a:p>
        </p:txBody>
      </p:sp>
      <p:sp>
        <p:nvSpPr>
          <p:cNvPr id="4" name="Slide Number Placeholder 3"/>
          <p:cNvSpPr>
            <a:spLocks noGrp="1"/>
          </p:cNvSpPr>
          <p:nvPr>
            <p:ph type="sldNum" sz="quarter" idx="5"/>
          </p:nvPr>
        </p:nvSpPr>
        <p:spPr/>
        <p:txBody>
          <a:bodyPr/>
          <a:lstStyle/>
          <a:p>
            <a:fld id="{6C81A5F8-0CF8-E744-995E-5E94AC608863}" type="slidenum">
              <a:rPr lang="en-US" smtClean="0"/>
              <a:t>33</a:t>
            </a:fld>
            <a:endParaRPr lang="en-US"/>
          </a:p>
        </p:txBody>
      </p:sp>
    </p:spTree>
    <p:extLst>
      <p:ext uri="{BB962C8B-B14F-4D97-AF65-F5344CB8AC3E}">
        <p14:creationId xmlns:p14="http://schemas.microsoft.com/office/powerpoint/2010/main" val="299494069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0" i="0" u="none" strike="noStrike" kern="1200" dirty="0">
                <a:solidFill>
                  <a:schemeClr val="tx1"/>
                </a:solidFill>
                <a:effectLst/>
                <a:latin typeface="+mn-lt"/>
                <a:ea typeface="+mn-ea"/>
                <a:cs typeface="+mn-cs"/>
              </a:rPr>
              <a:t>How do we find the number of payment dates and when the next one is? </a:t>
            </a:r>
          </a:p>
          <a:p>
            <a:pPr marL="0" marR="0" indent="0" algn="l" defTabSz="914400" rtl="0" eaLnBrk="1" fontAlgn="auto" latinLnBrk="0" hangingPunct="1">
              <a:lnSpc>
                <a:spcPct val="100000"/>
              </a:lnSpc>
              <a:spcBef>
                <a:spcPts val="0"/>
              </a:spcBef>
              <a:spcAft>
                <a:spcPts val="0"/>
              </a:spcAft>
              <a:buClrTx/>
              <a:buSzTx/>
              <a:buFontTx/>
              <a:buNone/>
              <a:tabLst/>
              <a:defRPr/>
            </a:pPr>
            <a:endParaRPr lang="en-AU" sz="1200" b="0" i="0" u="none" strike="noStrike" kern="1200" dirty="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AU" sz="1200" b="0" i="0" u="none" strike="noStrike" kern="1200" dirty="0">
                <a:solidFill>
                  <a:schemeClr val="tx1"/>
                </a:solidFill>
                <a:effectLst/>
                <a:latin typeface="+mn-lt"/>
                <a:ea typeface="+mn-ea"/>
                <a:cs typeface="+mn-cs"/>
              </a:rPr>
              <a:t>What is the exact cash flow amount for the fixed payment</a:t>
            </a:r>
            <a:r>
              <a:rPr lang="zh-CN" altLang="en-US" sz="1200" b="0" i="0" u="none" strike="noStrike" kern="1200" dirty="0">
                <a:solidFill>
                  <a:schemeClr val="tx1"/>
                </a:solidFill>
                <a:effectLst/>
                <a:latin typeface="+mn-lt"/>
                <a:ea typeface="+mn-ea"/>
                <a:cs typeface="+mn-cs"/>
              </a:rPr>
              <a:t> </a:t>
            </a:r>
            <a:r>
              <a:rPr lang="en-AU" altLang="zh-CN" sz="1200" b="0" i="0" u="none" strike="noStrike" kern="1200" dirty="0">
                <a:solidFill>
                  <a:schemeClr val="tx1"/>
                </a:solidFill>
                <a:effectLst/>
                <a:latin typeface="+mn-lt"/>
                <a:ea typeface="+mn-ea"/>
                <a:cs typeface="+mn-cs"/>
              </a:rPr>
              <a:t>of the swap</a:t>
            </a:r>
            <a:r>
              <a:rPr lang="en-AU" sz="1200" b="0" i="0" u="none" strike="noStrike" kern="1200" dirty="0">
                <a:solidFill>
                  <a:schemeClr val="tx1"/>
                </a:solidFill>
                <a:effectLst/>
                <a:latin typeface="+mn-lt"/>
                <a:ea typeface="+mn-ea"/>
                <a:cs typeface="+mn-cs"/>
              </a:rPr>
              <a:t>?</a:t>
            </a:r>
            <a:endParaRPr lang="en-US" dirty="0"/>
          </a:p>
        </p:txBody>
      </p:sp>
      <p:sp>
        <p:nvSpPr>
          <p:cNvPr id="4" name="Slide Number Placeholder 3"/>
          <p:cNvSpPr>
            <a:spLocks noGrp="1"/>
          </p:cNvSpPr>
          <p:nvPr>
            <p:ph type="sldNum" sz="quarter" idx="5"/>
          </p:nvPr>
        </p:nvSpPr>
        <p:spPr/>
        <p:txBody>
          <a:bodyPr/>
          <a:lstStyle/>
          <a:p>
            <a:fld id="{6C81A5F8-0CF8-E744-995E-5E94AC608863}" type="slidenum">
              <a:rPr lang="en-US" smtClean="0"/>
              <a:t>34</a:t>
            </a:fld>
            <a:endParaRPr lang="en-US"/>
          </a:p>
        </p:txBody>
      </p:sp>
    </p:spTree>
    <p:extLst>
      <p:ext uri="{BB962C8B-B14F-4D97-AF65-F5344CB8AC3E}">
        <p14:creationId xmlns:p14="http://schemas.microsoft.com/office/powerpoint/2010/main" val="385793214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sz="1200" b="0" i="0" u="none" strike="noStrike" kern="1200" dirty="0">
                <a:solidFill>
                  <a:schemeClr val="tx1"/>
                </a:solidFill>
                <a:effectLst/>
                <a:latin typeface="+mn-lt"/>
                <a:ea typeface="+mn-ea"/>
                <a:cs typeface="+mn-cs"/>
              </a:rPr>
              <a:t>Let’s organise the information before calculating anything.</a:t>
            </a:r>
            <a:endParaRPr lang="en-US" dirty="0"/>
          </a:p>
        </p:txBody>
      </p:sp>
      <p:sp>
        <p:nvSpPr>
          <p:cNvPr id="4" name="Slide Number Placeholder 3"/>
          <p:cNvSpPr>
            <a:spLocks noGrp="1"/>
          </p:cNvSpPr>
          <p:nvPr>
            <p:ph type="sldNum" sz="quarter" idx="5"/>
          </p:nvPr>
        </p:nvSpPr>
        <p:spPr/>
        <p:txBody>
          <a:bodyPr/>
          <a:lstStyle/>
          <a:p>
            <a:fld id="{6C81A5F8-0CF8-E744-995E-5E94AC608863}" type="slidenum">
              <a:rPr lang="en-US" smtClean="0"/>
              <a:t>35</a:t>
            </a:fld>
            <a:endParaRPr lang="en-US"/>
          </a:p>
        </p:txBody>
      </p:sp>
    </p:spTree>
    <p:extLst>
      <p:ext uri="{BB962C8B-B14F-4D97-AF65-F5344CB8AC3E}">
        <p14:creationId xmlns:p14="http://schemas.microsoft.com/office/powerpoint/2010/main" val="184805290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C81A5F8-0CF8-E744-995E-5E94AC608863}" type="slidenum">
              <a:rPr lang="en-US" smtClean="0"/>
              <a:t>36</a:t>
            </a:fld>
            <a:endParaRPr lang="en-US"/>
          </a:p>
        </p:txBody>
      </p:sp>
    </p:spTree>
    <p:extLst>
      <p:ext uri="{BB962C8B-B14F-4D97-AF65-F5344CB8AC3E}">
        <p14:creationId xmlns:p14="http://schemas.microsoft.com/office/powerpoint/2010/main" val="210604205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sz="1200" b="0" i="0" u="none" strike="noStrike" kern="1200" dirty="0">
                <a:solidFill>
                  <a:schemeClr val="tx1"/>
                </a:solidFill>
                <a:effectLst/>
                <a:latin typeface="+mn-lt"/>
                <a:ea typeface="+mn-ea"/>
                <a:cs typeface="+mn-cs"/>
              </a:rPr>
              <a:t>At the time of default, the swap had a positive market value to the financial institution. However, because Company X defaulted, this positive value could not be realized.</a:t>
            </a:r>
          </a:p>
          <a:p>
            <a:endParaRPr lang="en-AU" sz="1200" b="0" i="0" u="none" strike="noStrike" kern="1200" dirty="0">
              <a:solidFill>
                <a:schemeClr val="tx1"/>
              </a:solidFill>
              <a:effectLst/>
              <a:latin typeface="+mn-lt"/>
              <a:ea typeface="+mn-ea"/>
              <a:cs typeface="+mn-cs"/>
            </a:endParaRPr>
          </a:p>
          <a:p>
            <a:r>
              <a:rPr lang="en-AU" sz="1200" b="0" i="0" u="none" strike="noStrike" kern="1200" dirty="0">
                <a:solidFill>
                  <a:schemeClr val="tx1"/>
                </a:solidFill>
                <a:effectLst/>
                <a:latin typeface="+mn-lt"/>
                <a:ea typeface="+mn-ea"/>
                <a:cs typeface="+mn-cs"/>
              </a:rPr>
              <a:t>The tricky part here is the discount rate. You must pay close attention to the compounding frequency, as it determines whether you should use a discrete or continuous compounding formula.</a:t>
            </a:r>
            <a:endParaRPr lang="en-US" dirty="0"/>
          </a:p>
        </p:txBody>
      </p:sp>
      <p:sp>
        <p:nvSpPr>
          <p:cNvPr id="4" name="Slide Number Placeholder 3"/>
          <p:cNvSpPr>
            <a:spLocks noGrp="1"/>
          </p:cNvSpPr>
          <p:nvPr>
            <p:ph type="sldNum" sz="quarter" idx="5"/>
          </p:nvPr>
        </p:nvSpPr>
        <p:spPr/>
        <p:txBody>
          <a:bodyPr/>
          <a:lstStyle/>
          <a:p>
            <a:fld id="{6C81A5F8-0CF8-E744-995E-5E94AC608863}" type="slidenum">
              <a:rPr lang="en-US" smtClean="0"/>
              <a:t>39</a:t>
            </a:fld>
            <a:endParaRPr lang="en-US"/>
          </a:p>
        </p:txBody>
      </p:sp>
    </p:spTree>
    <p:extLst>
      <p:ext uri="{BB962C8B-B14F-4D97-AF65-F5344CB8AC3E}">
        <p14:creationId xmlns:p14="http://schemas.microsoft.com/office/powerpoint/2010/main" val="183183226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sz="1200" b="0" i="0" u="none" strike="noStrike" kern="1200" dirty="0">
                <a:solidFill>
                  <a:schemeClr val="tx1"/>
                </a:solidFill>
                <a:effectLst/>
                <a:latin typeface="+mn-lt"/>
                <a:ea typeface="+mn-ea"/>
                <a:cs typeface="+mn-cs"/>
              </a:rPr>
              <a:t>Let’s organise the problem.</a:t>
            </a:r>
            <a:endParaRPr lang="en-US" dirty="0"/>
          </a:p>
        </p:txBody>
      </p:sp>
      <p:sp>
        <p:nvSpPr>
          <p:cNvPr id="4" name="Slide Number Placeholder 3"/>
          <p:cNvSpPr>
            <a:spLocks noGrp="1"/>
          </p:cNvSpPr>
          <p:nvPr>
            <p:ph type="sldNum" sz="quarter" idx="5"/>
          </p:nvPr>
        </p:nvSpPr>
        <p:spPr/>
        <p:txBody>
          <a:bodyPr/>
          <a:lstStyle/>
          <a:p>
            <a:fld id="{6C81A5F8-0CF8-E744-995E-5E94AC608863}" type="slidenum">
              <a:rPr lang="en-US" smtClean="0"/>
              <a:t>40</a:t>
            </a:fld>
            <a:endParaRPr lang="en-US"/>
          </a:p>
        </p:txBody>
      </p:sp>
    </p:spTree>
    <p:extLst>
      <p:ext uri="{BB962C8B-B14F-4D97-AF65-F5344CB8AC3E}">
        <p14:creationId xmlns:p14="http://schemas.microsoft.com/office/powerpoint/2010/main" val="55325290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C81A5F8-0CF8-E744-995E-5E94AC608863}" type="slidenum">
              <a:rPr lang="en-US" smtClean="0"/>
              <a:t>41</a:t>
            </a:fld>
            <a:endParaRPr lang="en-US"/>
          </a:p>
        </p:txBody>
      </p:sp>
    </p:spTree>
    <p:extLst>
      <p:ext uri="{BB962C8B-B14F-4D97-AF65-F5344CB8AC3E}">
        <p14:creationId xmlns:p14="http://schemas.microsoft.com/office/powerpoint/2010/main" val="294398804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sz="1200" b="0" i="0" u="none" strike="noStrike" kern="1200" dirty="0">
                <a:solidFill>
                  <a:schemeClr val="tx1"/>
                </a:solidFill>
                <a:effectLst/>
                <a:latin typeface="+mn-lt"/>
                <a:ea typeface="+mn-ea"/>
                <a:cs typeface="+mn-cs"/>
              </a:rPr>
              <a:t>I hand you 20 million British Pounds. You are handing me 30 million Australian Dollars. </a:t>
            </a:r>
            <a:endParaRPr lang="en-US" dirty="0"/>
          </a:p>
        </p:txBody>
      </p:sp>
      <p:sp>
        <p:nvSpPr>
          <p:cNvPr id="4" name="Slide Number Placeholder 3"/>
          <p:cNvSpPr>
            <a:spLocks noGrp="1"/>
          </p:cNvSpPr>
          <p:nvPr>
            <p:ph type="sldNum" sz="quarter" idx="5"/>
          </p:nvPr>
        </p:nvSpPr>
        <p:spPr/>
        <p:txBody>
          <a:bodyPr/>
          <a:lstStyle/>
          <a:p>
            <a:fld id="{6C81A5F8-0CF8-E744-995E-5E94AC608863}" type="slidenum">
              <a:rPr lang="en-US" smtClean="0"/>
              <a:t>44</a:t>
            </a:fld>
            <a:endParaRPr lang="en-US"/>
          </a:p>
        </p:txBody>
      </p:sp>
    </p:spTree>
    <p:extLst>
      <p:ext uri="{BB962C8B-B14F-4D97-AF65-F5344CB8AC3E}">
        <p14:creationId xmlns:p14="http://schemas.microsoft.com/office/powerpoint/2010/main" val="375596594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C81A5F8-0CF8-E744-995E-5E94AC608863}" type="slidenum">
              <a:rPr lang="en-US" smtClean="0"/>
              <a:t>45</a:t>
            </a:fld>
            <a:endParaRPr lang="en-US"/>
          </a:p>
        </p:txBody>
      </p:sp>
    </p:spTree>
    <p:extLst>
      <p:ext uri="{BB962C8B-B14F-4D97-AF65-F5344CB8AC3E}">
        <p14:creationId xmlns:p14="http://schemas.microsoft.com/office/powerpoint/2010/main" val="319152188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sz="1200" b="0" i="0" u="none" strike="noStrike" kern="1200" dirty="0">
                <a:solidFill>
                  <a:schemeClr val="tx1"/>
                </a:solidFill>
                <a:effectLst/>
                <a:latin typeface="+mn-lt"/>
                <a:ea typeface="+mn-ea"/>
                <a:cs typeface="+mn-cs"/>
              </a:rPr>
              <a:t>We can write that idea formally.</a:t>
            </a:r>
            <a:endParaRPr lang="en-US" dirty="0"/>
          </a:p>
        </p:txBody>
      </p:sp>
      <p:sp>
        <p:nvSpPr>
          <p:cNvPr id="4" name="Slide Number Placeholder 3"/>
          <p:cNvSpPr>
            <a:spLocks noGrp="1"/>
          </p:cNvSpPr>
          <p:nvPr>
            <p:ph type="sldNum" sz="quarter" idx="5"/>
          </p:nvPr>
        </p:nvSpPr>
        <p:spPr/>
        <p:txBody>
          <a:bodyPr/>
          <a:lstStyle/>
          <a:p>
            <a:fld id="{6C81A5F8-0CF8-E744-995E-5E94AC608863}" type="slidenum">
              <a:rPr lang="en-US" smtClean="0"/>
              <a:t>47</a:t>
            </a:fld>
            <a:endParaRPr lang="en-US"/>
          </a:p>
        </p:txBody>
      </p:sp>
    </p:spTree>
    <p:extLst>
      <p:ext uri="{BB962C8B-B14F-4D97-AF65-F5344CB8AC3E}">
        <p14:creationId xmlns:p14="http://schemas.microsoft.com/office/powerpoint/2010/main" val="35538249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sz="1200" b="0" i="0" u="none" strike="noStrike" kern="1200" dirty="0">
                <a:solidFill>
                  <a:schemeClr val="tx1"/>
                </a:solidFill>
                <a:effectLst/>
                <a:latin typeface="+mn-lt"/>
                <a:ea typeface="+mn-ea"/>
                <a:cs typeface="+mn-cs"/>
              </a:rPr>
              <a:t>So let’s set everything up before calculating.</a:t>
            </a:r>
          </a:p>
          <a:p>
            <a:endParaRPr lang="en-AU" sz="1200" b="0" i="0" u="none" strike="noStrike" kern="1200" dirty="0">
              <a:solidFill>
                <a:schemeClr val="tx1"/>
              </a:solidFill>
              <a:effectLst/>
              <a:latin typeface="+mn-lt"/>
              <a:ea typeface="+mn-ea"/>
              <a:cs typeface="+mn-cs"/>
            </a:endParaRPr>
          </a:p>
          <a:p>
            <a:r>
              <a:rPr lang="en-AU" sz="1200" b="0" i="0" kern="1200" dirty="0">
                <a:solidFill>
                  <a:schemeClr val="tx1"/>
                </a:solidFill>
                <a:effectLst/>
                <a:latin typeface="+mn-lt"/>
                <a:ea typeface="+mn-ea"/>
                <a:cs typeface="+mn-cs"/>
              </a:rPr>
              <a:t>3/12</a:t>
            </a:r>
            <a:r>
              <a:rPr lang="en-AU" sz="1200" b="0" i="0" u="none" strike="noStrike" kern="1200" dirty="0">
                <a:solidFill>
                  <a:schemeClr val="tx1"/>
                </a:solidFill>
                <a:effectLst/>
                <a:latin typeface="+mn-lt"/>
                <a:ea typeface="+mn-ea"/>
                <a:cs typeface="+mn-cs"/>
              </a:rPr>
              <a:t> of a year and </a:t>
            </a:r>
            <a:r>
              <a:rPr lang="en-AU" sz="1200" b="0" i="0" kern="1200" dirty="0">
                <a:solidFill>
                  <a:schemeClr val="tx1"/>
                </a:solidFill>
                <a:effectLst/>
                <a:latin typeface="+mn-lt"/>
                <a:ea typeface="+mn-ea"/>
                <a:cs typeface="+mn-cs"/>
              </a:rPr>
              <a:t>15/12</a:t>
            </a:r>
            <a:r>
              <a:rPr lang="en-AU" sz="1200" b="0" i="0" u="none" strike="noStrike" kern="1200" dirty="0">
                <a:solidFill>
                  <a:schemeClr val="tx1"/>
                </a:solidFill>
                <a:effectLst/>
                <a:latin typeface="+mn-lt"/>
                <a:ea typeface="+mn-ea"/>
                <a:cs typeface="+mn-cs"/>
              </a:rPr>
              <a:t> of a year.</a:t>
            </a:r>
          </a:p>
        </p:txBody>
      </p:sp>
      <p:sp>
        <p:nvSpPr>
          <p:cNvPr id="4" name="Slide Number Placeholder 3"/>
          <p:cNvSpPr>
            <a:spLocks noGrp="1"/>
          </p:cNvSpPr>
          <p:nvPr>
            <p:ph type="sldNum" sz="quarter" idx="5"/>
          </p:nvPr>
        </p:nvSpPr>
        <p:spPr/>
        <p:txBody>
          <a:bodyPr/>
          <a:lstStyle/>
          <a:p>
            <a:fld id="{6C81A5F8-0CF8-E744-995E-5E94AC608863}" type="slidenum">
              <a:rPr lang="en-US" smtClean="0"/>
              <a:t>49</a:t>
            </a:fld>
            <a:endParaRPr lang="en-US"/>
          </a:p>
        </p:txBody>
      </p:sp>
    </p:spTree>
    <p:extLst>
      <p:ext uri="{BB962C8B-B14F-4D97-AF65-F5344CB8AC3E}">
        <p14:creationId xmlns:p14="http://schemas.microsoft.com/office/powerpoint/2010/main" val="97331387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sz="1200" b="0" i="0" u="none" strike="noStrike" kern="1200" dirty="0">
                <a:solidFill>
                  <a:schemeClr val="tx1"/>
                </a:solidFill>
                <a:effectLst/>
                <a:latin typeface="+mn-lt"/>
                <a:ea typeface="+mn-ea"/>
                <a:cs typeface="+mn-cs"/>
              </a:rPr>
              <a:t>The wording “all interest rates are continuously compounded” is slightly loose here; in the textbook solution, it is applied to the market discount rates, not to the contractual coupon payments.</a:t>
            </a:r>
            <a:endParaRPr lang="en-US" dirty="0"/>
          </a:p>
        </p:txBody>
      </p:sp>
      <p:sp>
        <p:nvSpPr>
          <p:cNvPr id="4" name="Slide Number Placeholder 3"/>
          <p:cNvSpPr>
            <a:spLocks noGrp="1"/>
          </p:cNvSpPr>
          <p:nvPr>
            <p:ph type="sldNum" sz="quarter" idx="5"/>
          </p:nvPr>
        </p:nvSpPr>
        <p:spPr/>
        <p:txBody>
          <a:bodyPr/>
          <a:lstStyle/>
          <a:p>
            <a:fld id="{6C81A5F8-0CF8-E744-995E-5E94AC608863}" type="slidenum">
              <a:rPr lang="en-US" smtClean="0"/>
              <a:t>51</a:t>
            </a:fld>
            <a:endParaRPr lang="en-US"/>
          </a:p>
        </p:txBody>
      </p:sp>
    </p:spTree>
    <p:extLst>
      <p:ext uri="{BB962C8B-B14F-4D97-AF65-F5344CB8AC3E}">
        <p14:creationId xmlns:p14="http://schemas.microsoft.com/office/powerpoint/2010/main" val="166960937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499857-3D9C-3F0C-21BB-F6DA3350E6A7}"/>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02C676C5-1E19-720A-53BD-A0BD768AFFA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0F5B58D2-24E2-33D1-08F1-CB9DE55B36A1}"/>
              </a:ext>
            </a:extLst>
          </p:cNvPr>
          <p:cNvSpPr>
            <a:spLocks noGrp="1"/>
          </p:cNvSpPr>
          <p:nvPr>
            <p:ph type="dt" sz="half" idx="10"/>
          </p:nvPr>
        </p:nvSpPr>
        <p:spPr/>
        <p:txBody>
          <a:bodyPr/>
          <a:lstStyle/>
          <a:p>
            <a:fld id="{D783E2C0-9D33-C146-AD1A-2E40176A3169}" type="datetime1">
              <a:rPr lang="en-AU" smtClean="0"/>
              <a:t>28/8/2026</a:t>
            </a:fld>
            <a:endParaRPr lang="en-US"/>
          </a:p>
        </p:txBody>
      </p:sp>
      <p:sp>
        <p:nvSpPr>
          <p:cNvPr id="5" name="Footer Placeholder 4">
            <a:extLst>
              <a:ext uri="{FF2B5EF4-FFF2-40B4-BE49-F238E27FC236}">
                <a16:creationId xmlns:a16="http://schemas.microsoft.com/office/drawing/2014/main" id="{F8C7571F-8BB5-B913-507F-10E9A49EDD9C}"/>
              </a:ext>
            </a:extLst>
          </p:cNvPr>
          <p:cNvSpPr>
            <a:spLocks noGrp="1"/>
          </p:cNvSpPr>
          <p:nvPr>
            <p:ph type="ftr" sz="quarter" idx="11"/>
          </p:nvPr>
        </p:nvSpPr>
        <p:spPr/>
        <p:txBody>
          <a:bodyPr/>
          <a:lstStyle/>
          <a:p>
            <a:r>
              <a:rPr lang="en-US"/>
              <a:t>FINA2204 - Tutorial 5</a:t>
            </a:r>
          </a:p>
        </p:txBody>
      </p:sp>
      <p:sp>
        <p:nvSpPr>
          <p:cNvPr id="6" name="Slide Number Placeholder 5">
            <a:extLst>
              <a:ext uri="{FF2B5EF4-FFF2-40B4-BE49-F238E27FC236}">
                <a16:creationId xmlns:a16="http://schemas.microsoft.com/office/drawing/2014/main" id="{5804A78B-1525-1457-1CDF-0F1350A41BAE}"/>
              </a:ext>
            </a:extLst>
          </p:cNvPr>
          <p:cNvSpPr>
            <a:spLocks noGrp="1"/>
          </p:cNvSpPr>
          <p:nvPr>
            <p:ph type="sldNum" sz="quarter" idx="12"/>
          </p:nvPr>
        </p:nvSpPr>
        <p:spPr/>
        <p:txBody>
          <a:bodyPr/>
          <a:lstStyle/>
          <a:p>
            <a:fld id="{9855740F-6ECD-274F-B089-6B266B6B07F9}" type="slidenum">
              <a:rPr lang="en-US" smtClean="0"/>
              <a:t>‹#›</a:t>
            </a:fld>
            <a:endParaRPr lang="en-US"/>
          </a:p>
        </p:txBody>
      </p:sp>
    </p:spTree>
    <p:extLst>
      <p:ext uri="{BB962C8B-B14F-4D97-AF65-F5344CB8AC3E}">
        <p14:creationId xmlns:p14="http://schemas.microsoft.com/office/powerpoint/2010/main" val="41207374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26F3A7-64D5-C2AB-DBBE-326272AC6F1D}"/>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297722AB-FFFA-0FF8-2A17-34710D02A899}"/>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A10A9342-9872-F865-F37E-3CECED4EBB5F}"/>
              </a:ext>
            </a:extLst>
          </p:cNvPr>
          <p:cNvSpPr>
            <a:spLocks noGrp="1"/>
          </p:cNvSpPr>
          <p:nvPr>
            <p:ph type="dt" sz="half" idx="10"/>
          </p:nvPr>
        </p:nvSpPr>
        <p:spPr/>
        <p:txBody>
          <a:bodyPr/>
          <a:lstStyle/>
          <a:p>
            <a:fld id="{B0E461D4-3839-3748-8B1E-E90BB3DA99FF}" type="datetime1">
              <a:rPr lang="en-AU" smtClean="0"/>
              <a:t>28/8/2026</a:t>
            </a:fld>
            <a:endParaRPr lang="en-US"/>
          </a:p>
        </p:txBody>
      </p:sp>
      <p:sp>
        <p:nvSpPr>
          <p:cNvPr id="5" name="Footer Placeholder 4">
            <a:extLst>
              <a:ext uri="{FF2B5EF4-FFF2-40B4-BE49-F238E27FC236}">
                <a16:creationId xmlns:a16="http://schemas.microsoft.com/office/drawing/2014/main" id="{9E701BE7-C8A7-21C3-2E19-778071722015}"/>
              </a:ext>
            </a:extLst>
          </p:cNvPr>
          <p:cNvSpPr>
            <a:spLocks noGrp="1"/>
          </p:cNvSpPr>
          <p:nvPr>
            <p:ph type="ftr" sz="quarter" idx="11"/>
          </p:nvPr>
        </p:nvSpPr>
        <p:spPr/>
        <p:txBody>
          <a:bodyPr/>
          <a:lstStyle/>
          <a:p>
            <a:r>
              <a:rPr lang="en-US"/>
              <a:t>FINA2204 - Tutorial 5</a:t>
            </a:r>
          </a:p>
        </p:txBody>
      </p:sp>
      <p:sp>
        <p:nvSpPr>
          <p:cNvPr id="6" name="Slide Number Placeholder 5">
            <a:extLst>
              <a:ext uri="{FF2B5EF4-FFF2-40B4-BE49-F238E27FC236}">
                <a16:creationId xmlns:a16="http://schemas.microsoft.com/office/drawing/2014/main" id="{3C662DE6-62F9-8A87-1A14-2AE004824CF6}"/>
              </a:ext>
            </a:extLst>
          </p:cNvPr>
          <p:cNvSpPr>
            <a:spLocks noGrp="1"/>
          </p:cNvSpPr>
          <p:nvPr>
            <p:ph type="sldNum" sz="quarter" idx="12"/>
          </p:nvPr>
        </p:nvSpPr>
        <p:spPr/>
        <p:txBody>
          <a:bodyPr/>
          <a:lstStyle/>
          <a:p>
            <a:fld id="{9855740F-6ECD-274F-B089-6B266B6B07F9}" type="slidenum">
              <a:rPr lang="en-US" smtClean="0"/>
              <a:t>‹#›</a:t>
            </a:fld>
            <a:endParaRPr lang="en-US"/>
          </a:p>
        </p:txBody>
      </p:sp>
    </p:spTree>
    <p:extLst>
      <p:ext uri="{BB962C8B-B14F-4D97-AF65-F5344CB8AC3E}">
        <p14:creationId xmlns:p14="http://schemas.microsoft.com/office/powerpoint/2010/main" val="14130185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E5A169-6CF2-170F-6FDC-E1813DB07D70}"/>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73FF34EE-C404-099C-724B-31B35E5DFFB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E252DE40-75EC-6350-12C9-820E61F2022E}"/>
              </a:ext>
            </a:extLst>
          </p:cNvPr>
          <p:cNvSpPr>
            <a:spLocks noGrp="1"/>
          </p:cNvSpPr>
          <p:nvPr>
            <p:ph type="dt" sz="half" idx="10"/>
          </p:nvPr>
        </p:nvSpPr>
        <p:spPr/>
        <p:txBody>
          <a:bodyPr/>
          <a:lstStyle/>
          <a:p>
            <a:fld id="{D28755A0-2B70-8D48-8805-36AFECDC2817}" type="datetime1">
              <a:rPr lang="en-AU" smtClean="0"/>
              <a:t>28/8/2026</a:t>
            </a:fld>
            <a:endParaRPr lang="en-US"/>
          </a:p>
        </p:txBody>
      </p:sp>
      <p:sp>
        <p:nvSpPr>
          <p:cNvPr id="5" name="Footer Placeholder 4">
            <a:extLst>
              <a:ext uri="{FF2B5EF4-FFF2-40B4-BE49-F238E27FC236}">
                <a16:creationId xmlns:a16="http://schemas.microsoft.com/office/drawing/2014/main" id="{0E2C7B35-52C2-D689-80E3-DF108EA1D400}"/>
              </a:ext>
            </a:extLst>
          </p:cNvPr>
          <p:cNvSpPr>
            <a:spLocks noGrp="1"/>
          </p:cNvSpPr>
          <p:nvPr>
            <p:ph type="ftr" sz="quarter" idx="11"/>
          </p:nvPr>
        </p:nvSpPr>
        <p:spPr/>
        <p:txBody>
          <a:bodyPr/>
          <a:lstStyle/>
          <a:p>
            <a:r>
              <a:rPr lang="en-US"/>
              <a:t>FINA2204 - Tutorial 5</a:t>
            </a:r>
          </a:p>
        </p:txBody>
      </p:sp>
      <p:sp>
        <p:nvSpPr>
          <p:cNvPr id="6" name="Slide Number Placeholder 5">
            <a:extLst>
              <a:ext uri="{FF2B5EF4-FFF2-40B4-BE49-F238E27FC236}">
                <a16:creationId xmlns:a16="http://schemas.microsoft.com/office/drawing/2014/main" id="{719135E7-64B2-8A9D-3CA8-B45D6828459C}"/>
              </a:ext>
            </a:extLst>
          </p:cNvPr>
          <p:cNvSpPr>
            <a:spLocks noGrp="1"/>
          </p:cNvSpPr>
          <p:nvPr>
            <p:ph type="sldNum" sz="quarter" idx="12"/>
          </p:nvPr>
        </p:nvSpPr>
        <p:spPr/>
        <p:txBody>
          <a:bodyPr/>
          <a:lstStyle/>
          <a:p>
            <a:fld id="{9855740F-6ECD-274F-B089-6B266B6B07F9}" type="slidenum">
              <a:rPr lang="en-US" smtClean="0"/>
              <a:t>‹#›</a:t>
            </a:fld>
            <a:endParaRPr lang="en-US"/>
          </a:p>
        </p:txBody>
      </p:sp>
    </p:spTree>
    <p:extLst>
      <p:ext uri="{BB962C8B-B14F-4D97-AF65-F5344CB8AC3E}">
        <p14:creationId xmlns:p14="http://schemas.microsoft.com/office/powerpoint/2010/main" val="14859844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5DC00E-F9F2-239B-999E-65B62D6F9567}"/>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F62C4F65-3EB8-E2FD-4585-F002442BECEC}"/>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2A3735C0-43CB-A20C-ECBD-D01896D76A43}"/>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DB0FB9BA-69CA-C0F9-8438-9F0FDC83EA0C}"/>
              </a:ext>
            </a:extLst>
          </p:cNvPr>
          <p:cNvSpPr>
            <a:spLocks noGrp="1"/>
          </p:cNvSpPr>
          <p:nvPr>
            <p:ph type="dt" sz="half" idx="10"/>
          </p:nvPr>
        </p:nvSpPr>
        <p:spPr/>
        <p:txBody>
          <a:bodyPr/>
          <a:lstStyle/>
          <a:p>
            <a:fld id="{7556D458-E53D-A34D-BA8B-AE5548FB949E}" type="datetime1">
              <a:rPr lang="en-AU" smtClean="0"/>
              <a:t>28/8/2026</a:t>
            </a:fld>
            <a:endParaRPr lang="en-US"/>
          </a:p>
        </p:txBody>
      </p:sp>
      <p:sp>
        <p:nvSpPr>
          <p:cNvPr id="6" name="Footer Placeholder 5">
            <a:extLst>
              <a:ext uri="{FF2B5EF4-FFF2-40B4-BE49-F238E27FC236}">
                <a16:creationId xmlns:a16="http://schemas.microsoft.com/office/drawing/2014/main" id="{A7454BE8-79DF-857C-4531-8B51435ABB93}"/>
              </a:ext>
            </a:extLst>
          </p:cNvPr>
          <p:cNvSpPr>
            <a:spLocks noGrp="1"/>
          </p:cNvSpPr>
          <p:nvPr>
            <p:ph type="ftr" sz="quarter" idx="11"/>
          </p:nvPr>
        </p:nvSpPr>
        <p:spPr/>
        <p:txBody>
          <a:bodyPr/>
          <a:lstStyle/>
          <a:p>
            <a:r>
              <a:rPr lang="en-US"/>
              <a:t>FINA2204 - Tutorial 5</a:t>
            </a:r>
          </a:p>
        </p:txBody>
      </p:sp>
      <p:sp>
        <p:nvSpPr>
          <p:cNvPr id="7" name="Slide Number Placeholder 6">
            <a:extLst>
              <a:ext uri="{FF2B5EF4-FFF2-40B4-BE49-F238E27FC236}">
                <a16:creationId xmlns:a16="http://schemas.microsoft.com/office/drawing/2014/main" id="{81106546-51D4-2897-B55D-516AA744E1A9}"/>
              </a:ext>
            </a:extLst>
          </p:cNvPr>
          <p:cNvSpPr>
            <a:spLocks noGrp="1"/>
          </p:cNvSpPr>
          <p:nvPr>
            <p:ph type="sldNum" sz="quarter" idx="12"/>
          </p:nvPr>
        </p:nvSpPr>
        <p:spPr/>
        <p:txBody>
          <a:bodyPr/>
          <a:lstStyle/>
          <a:p>
            <a:fld id="{9855740F-6ECD-274F-B089-6B266B6B07F9}" type="slidenum">
              <a:rPr lang="en-US" smtClean="0"/>
              <a:t>‹#›</a:t>
            </a:fld>
            <a:endParaRPr lang="en-US"/>
          </a:p>
        </p:txBody>
      </p:sp>
    </p:spTree>
    <p:extLst>
      <p:ext uri="{BB962C8B-B14F-4D97-AF65-F5344CB8AC3E}">
        <p14:creationId xmlns:p14="http://schemas.microsoft.com/office/powerpoint/2010/main" val="6213781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954D0F-143E-2350-8163-F56464E19B03}"/>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36D9F700-4EE5-B70B-9D15-74BA6582728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28B975ED-8E5B-B0D6-B476-4D26C1AA072A}"/>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5F14892D-16E2-1850-F0AB-084460520BD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2EE1C1D4-8CC1-483B-CD5E-15025E5B6291}"/>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2534EC89-7DF6-6F36-EE81-35A2DAE63F45}"/>
              </a:ext>
            </a:extLst>
          </p:cNvPr>
          <p:cNvSpPr>
            <a:spLocks noGrp="1"/>
          </p:cNvSpPr>
          <p:nvPr>
            <p:ph type="dt" sz="half" idx="10"/>
          </p:nvPr>
        </p:nvSpPr>
        <p:spPr/>
        <p:txBody>
          <a:bodyPr/>
          <a:lstStyle/>
          <a:p>
            <a:fld id="{BC397483-C044-5B48-9CD6-ED8CFC5EB3F0}" type="datetime1">
              <a:rPr lang="en-AU" smtClean="0"/>
              <a:t>28/8/2026</a:t>
            </a:fld>
            <a:endParaRPr lang="en-US"/>
          </a:p>
        </p:txBody>
      </p:sp>
      <p:sp>
        <p:nvSpPr>
          <p:cNvPr id="8" name="Footer Placeholder 7">
            <a:extLst>
              <a:ext uri="{FF2B5EF4-FFF2-40B4-BE49-F238E27FC236}">
                <a16:creationId xmlns:a16="http://schemas.microsoft.com/office/drawing/2014/main" id="{306A80E2-F864-6242-2E09-5D2B7DE7E7AB}"/>
              </a:ext>
            </a:extLst>
          </p:cNvPr>
          <p:cNvSpPr>
            <a:spLocks noGrp="1"/>
          </p:cNvSpPr>
          <p:nvPr>
            <p:ph type="ftr" sz="quarter" idx="11"/>
          </p:nvPr>
        </p:nvSpPr>
        <p:spPr/>
        <p:txBody>
          <a:bodyPr/>
          <a:lstStyle/>
          <a:p>
            <a:r>
              <a:rPr lang="en-US"/>
              <a:t>FINA2204 - Tutorial 5</a:t>
            </a:r>
          </a:p>
        </p:txBody>
      </p:sp>
      <p:sp>
        <p:nvSpPr>
          <p:cNvPr id="9" name="Slide Number Placeholder 8">
            <a:extLst>
              <a:ext uri="{FF2B5EF4-FFF2-40B4-BE49-F238E27FC236}">
                <a16:creationId xmlns:a16="http://schemas.microsoft.com/office/drawing/2014/main" id="{61115219-CEC3-745E-2F4C-F18846F22B31}"/>
              </a:ext>
            </a:extLst>
          </p:cNvPr>
          <p:cNvSpPr>
            <a:spLocks noGrp="1"/>
          </p:cNvSpPr>
          <p:nvPr>
            <p:ph type="sldNum" sz="quarter" idx="12"/>
          </p:nvPr>
        </p:nvSpPr>
        <p:spPr/>
        <p:txBody>
          <a:bodyPr/>
          <a:lstStyle/>
          <a:p>
            <a:fld id="{9855740F-6ECD-274F-B089-6B266B6B07F9}" type="slidenum">
              <a:rPr lang="en-US" smtClean="0"/>
              <a:t>‹#›</a:t>
            </a:fld>
            <a:endParaRPr lang="en-US"/>
          </a:p>
        </p:txBody>
      </p:sp>
    </p:spTree>
    <p:extLst>
      <p:ext uri="{BB962C8B-B14F-4D97-AF65-F5344CB8AC3E}">
        <p14:creationId xmlns:p14="http://schemas.microsoft.com/office/powerpoint/2010/main" val="13919357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91D82A-2992-80CB-0F25-B17CAF453BCE}"/>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39DFA29C-E338-37D4-D83F-4274B14439AF}"/>
              </a:ext>
            </a:extLst>
          </p:cNvPr>
          <p:cNvSpPr>
            <a:spLocks noGrp="1"/>
          </p:cNvSpPr>
          <p:nvPr>
            <p:ph type="dt" sz="half" idx="10"/>
          </p:nvPr>
        </p:nvSpPr>
        <p:spPr/>
        <p:txBody>
          <a:bodyPr/>
          <a:lstStyle/>
          <a:p>
            <a:fld id="{F6A817C9-D33E-B846-B867-4CDB6335EE3E}" type="datetime1">
              <a:rPr lang="en-AU" smtClean="0"/>
              <a:t>28/8/2026</a:t>
            </a:fld>
            <a:endParaRPr lang="en-US"/>
          </a:p>
        </p:txBody>
      </p:sp>
      <p:sp>
        <p:nvSpPr>
          <p:cNvPr id="4" name="Footer Placeholder 3">
            <a:extLst>
              <a:ext uri="{FF2B5EF4-FFF2-40B4-BE49-F238E27FC236}">
                <a16:creationId xmlns:a16="http://schemas.microsoft.com/office/drawing/2014/main" id="{59B0A599-7814-6318-A83C-1B2546002FB9}"/>
              </a:ext>
            </a:extLst>
          </p:cNvPr>
          <p:cNvSpPr>
            <a:spLocks noGrp="1"/>
          </p:cNvSpPr>
          <p:nvPr>
            <p:ph type="ftr" sz="quarter" idx="11"/>
          </p:nvPr>
        </p:nvSpPr>
        <p:spPr/>
        <p:txBody>
          <a:bodyPr/>
          <a:lstStyle/>
          <a:p>
            <a:r>
              <a:rPr lang="en-US"/>
              <a:t>FINA2204 - Tutorial 5</a:t>
            </a:r>
          </a:p>
        </p:txBody>
      </p:sp>
      <p:sp>
        <p:nvSpPr>
          <p:cNvPr id="5" name="Slide Number Placeholder 4">
            <a:extLst>
              <a:ext uri="{FF2B5EF4-FFF2-40B4-BE49-F238E27FC236}">
                <a16:creationId xmlns:a16="http://schemas.microsoft.com/office/drawing/2014/main" id="{C779E598-2F89-B22D-C58B-94F45736177F}"/>
              </a:ext>
            </a:extLst>
          </p:cNvPr>
          <p:cNvSpPr>
            <a:spLocks noGrp="1"/>
          </p:cNvSpPr>
          <p:nvPr>
            <p:ph type="sldNum" sz="quarter" idx="12"/>
          </p:nvPr>
        </p:nvSpPr>
        <p:spPr/>
        <p:txBody>
          <a:bodyPr/>
          <a:lstStyle/>
          <a:p>
            <a:fld id="{9855740F-6ECD-274F-B089-6B266B6B07F9}" type="slidenum">
              <a:rPr lang="en-US" smtClean="0"/>
              <a:t>‹#›</a:t>
            </a:fld>
            <a:endParaRPr lang="en-US"/>
          </a:p>
        </p:txBody>
      </p:sp>
    </p:spTree>
    <p:extLst>
      <p:ext uri="{BB962C8B-B14F-4D97-AF65-F5344CB8AC3E}">
        <p14:creationId xmlns:p14="http://schemas.microsoft.com/office/powerpoint/2010/main" val="28198969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83FA658-901D-13CD-6553-BBA7E546D469}"/>
              </a:ext>
            </a:extLst>
          </p:cNvPr>
          <p:cNvSpPr>
            <a:spLocks noGrp="1"/>
          </p:cNvSpPr>
          <p:nvPr>
            <p:ph type="dt" sz="half" idx="10"/>
          </p:nvPr>
        </p:nvSpPr>
        <p:spPr/>
        <p:txBody>
          <a:bodyPr/>
          <a:lstStyle/>
          <a:p>
            <a:fld id="{AE142984-F324-5F41-8633-08A7E59AC880}" type="datetime1">
              <a:rPr lang="en-AU" smtClean="0"/>
              <a:t>28/8/2026</a:t>
            </a:fld>
            <a:endParaRPr lang="en-US"/>
          </a:p>
        </p:txBody>
      </p:sp>
      <p:sp>
        <p:nvSpPr>
          <p:cNvPr id="3" name="Footer Placeholder 2">
            <a:extLst>
              <a:ext uri="{FF2B5EF4-FFF2-40B4-BE49-F238E27FC236}">
                <a16:creationId xmlns:a16="http://schemas.microsoft.com/office/drawing/2014/main" id="{90851BA7-AEF3-8E8E-4EEF-9EB5BC08CE77}"/>
              </a:ext>
            </a:extLst>
          </p:cNvPr>
          <p:cNvSpPr>
            <a:spLocks noGrp="1"/>
          </p:cNvSpPr>
          <p:nvPr>
            <p:ph type="ftr" sz="quarter" idx="11"/>
          </p:nvPr>
        </p:nvSpPr>
        <p:spPr/>
        <p:txBody>
          <a:bodyPr/>
          <a:lstStyle/>
          <a:p>
            <a:r>
              <a:rPr lang="en-US"/>
              <a:t>FINA2204 - Tutorial 5</a:t>
            </a:r>
          </a:p>
        </p:txBody>
      </p:sp>
      <p:sp>
        <p:nvSpPr>
          <p:cNvPr id="4" name="Slide Number Placeholder 3">
            <a:extLst>
              <a:ext uri="{FF2B5EF4-FFF2-40B4-BE49-F238E27FC236}">
                <a16:creationId xmlns:a16="http://schemas.microsoft.com/office/drawing/2014/main" id="{9D05D963-6808-5D5B-3052-7921F2F9733B}"/>
              </a:ext>
            </a:extLst>
          </p:cNvPr>
          <p:cNvSpPr>
            <a:spLocks noGrp="1"/>
          </p:cNvSpPr>
          <p:nvPr>
            <p:ph type="sldNum" sz="quarter" idx="12"/>
          </p:nvPr>
        </p:nvSpPr>
        <p:spPr/>
        <p:txBody>
          <a:bodyPr/>
          <a:lstStyle/>
          <a:p>
            <a:fld id="{9855740F-6ECD-274F-B089-6B266B6B07F9}" type="slidenum">
              <a:rPr lang="en-US" smtClean="0"/>
              <a:t>‹#›</a:t>
            </a:fld>
            <a:endParaRPr lang="en-US"/>
          </a:p>
        </p:txBody>
      </p:sp>
    </p:spTree>
    <p:extLst>
      <p:ext uri="{BB962C8B-B14F-4D97-AF65-F5344CB8AC3E}">
        <p14:creationId xmlns:p14="http://schemas.microsoft.com/office/powerpoint/2010/main" val="33940165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07885A-7E9B-9791-2A96-1BE906342052}"/>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DA663D5C-4B0F-3611-61C1-77E35B653BE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BF49FE69-C4BD-6C96-7833-BB6822A03E6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BCDCE929-74C1-476E-7CB0-7389014E16C8}"/>
              </a:ext>
            </a:extLst>
          </p:cNvPr>
          <p:cNvSpPr>
            <a:spLocks noGrp="1"/>
          </p:cNvSpPr>
          <p:nvPr>
            <p:ph type="dt" sz="half" idx="10"/>
          </p:nvPr>
        </p:nvSpPr>
        <p:spPr/>
        <p:txBody>
          <a:bodyPr/>
          <a:lstStyle/>
          <a:p>
            <a:fld id="{AE532BCB-29D0-8C4C-BC54-3E940C661EA4}" type="datetime1">
              <a:rPr lang="en-AU" smtClean="0"/>
              <a:t>28/8/2026</a:t>
            </a:fld>
            <a:endParaRPr lang="en-US"/>
          </a:p>
        </p:txBody>
      </p:sp>
      <p:sp>
        <p:nvSpPr>
          <p:cNvPr id="6" name="Footer Placeholder 5">
            <a:extLst>
              <a:ext uri="{FF2B5EF4-FFF2-40B4-BE49-F238E27FC236}">
                <a16:creationId xmlns:a16="http://schemas.microsoft.com/office/drawing/2014/main" id="{5577CC7E-6A82-E0E7-B99E-E9C3AA10AACE}"/>
              </a:ext>
            </a:extLst>
          </p:cNvPr>
          <p:cNvSpPr>
            <a:spLocks noGrp="1"/>
          </p:cNvSpPr>
          <p:nvPr>
            <p:ph type="ftr" sz="quarter" idx="11"/>
          </p:nvPr>
        </p:nvSpPr>
        <p:spPr/>
        <p:txBody>
          <a:bodyPr/>
          <a:lstStyle/>
          <a:p>
            <a:r>
              <a:rPr lang="en-US"/>
              <a:t>FINA2204 - Tutorial 5</a:t>
            </a:r>
          </a:p>
        </p:txBody>
      </p:sp>
      <p:sp>
        <p:nvSpPr>
          <p:cNvPr id="7" name="Slide Number Placeholder 6">
            <a:extLst>
              <a:ext uri="{FF2B5EF4-FFF2-40B4-BE49-F238E27FC236}">
                <a16:creationId xmlns:a16="http://schemas.microsoft.com/office/drawing/2014/main" id="{468D3415-7875-096A-3F5F-D0EC85090A74}"/>
              </a:ext>
            </a:extLst>
          </p:cNvPr>
          <p:cNvSpPr>
            <a:spLocks noGrp="1"/>
          </p:cNvSpPr>
          <p:nvPr>
            <p:ph type="sldNum" sz="quarter" idx="12"/>
          </p:nvPr>
        </p:nvSpPr>
        <p:spPr/>
        <p:txBody>
          <a:bodyPr/>
          <a:lstStyle/>
          <a:p>
            <a:fld id="{9855740F-6ECD-274F-B089-6B266B6B07F9}" type="slidenum">
              <a:rPr lang="en-US" smtClean="0"/>
              <a:t>‹#›</a:t>
            </a:fld>
            <a:endParaRPr lang="en-US"/>
          </a:p>
        </p:txBody>
      </p:sp>
    </p:spTree>
    <p:extLst>
      <p:ext uri="{BB962C8B-B14F-4D97-AF65-F5344CB8AC3E}">
        <p14:creationId xmlns:p14="http://schemas.microsoft.com/office/powerpoint/2010/main" val="1514348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6F3E87-DABC-817E-2CDB-0DEB54A2C311}"/>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EAF8F96E-8AA0-4CD4-A39B-D85205288D8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B9BC566-EF44-DA37-9B4E-AD7D1AAD246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9D0CBBB7-F011-340C-DC7F-9083E553B1AF}"/>
              </a:ext>
            </a:extLst>
          </p:cNvPr>
          <p:cNvSpPr>
            <a:spLocks noGrp="1"/>
          </p:cNvSpPr>
          <p:nvPr>
            <p:ph type="dt" sz="half" idx="10"/>
          </p:nvPr>
        </p:nvSpPr>
        <p:spPr/>
        <p:txBody>
          <a:bodyPr/>
          <a:lstStyle/>
          <a:p>
            <a:fld id="{E42A70C6-E9BD-B845-B8B4-E756A0E1143C}" type="datetime1">
              <a:rPr lang="en-AU" smtClean="0"/>
              <a:t>28/8/2026</a:t>
            </a:fld>
            <a:endParaRPr lang="en-US"/>
          </a:p>
        </p:txBody>
      </p:sp>
      <p:sp>
        <p:nvSpPr>
          <p:cNvPr id="6" name="Footer Placeholder 5">
            <a:extLst>
              <a:ext uri="{FF2B5EF4-FFF2-40B4-BE49-F238E27FC236}">
                <a16:creationId xmlns:a16="http://schemas.microsoft.com/office/drawing/2014/main" id="{1FF7FCA7-B8A4-767A-70BE-F15ABD311B82}"/>
              </a:ext>
            </a:extLst>
          </p:cNvPr>
          <p:cNvSpPr>
            <a:spLocks noGrp="1"/>
          </p:cNvSpPr>
          <p:nvPr>
            <p:ph type="ftr" sz="quarter" idx="11"/>
          </p:nvPr>
        </p:nvSpPr>
        <p:spPr/>
        <p:txBody>
          <a:bodyPr/>
          <a:lstStyle/>
          <a:p>
            <a:r>
              <a:rPr lang="en-US"/>
              <a:t>FINA2204 - Tutorial 5</a:t>
            </a:r>
          </a:p>
        </p:txBody>
      </p:sp>
      <p:sp>
        <p:nvSpPr>
          <p:cNvPr id="7" name="Slide Number Placeholder 6">
            <a:extLst>
              <a:ext uri="{FF2B5EF4-FFF2-40B4-BE49-F238E27FC236}">
                <a16:creationId xmlns:a16="http://schemas.microsoft.com/office/drawing/2014/main" id="{50DEBC0F-5AF9-B6AF-5C86-22644E90FB70}"/>
              </a:ext>
            </a:extLst>
          </p:cNvPr>
          <p:cNvSpPr>
            <a:spLocks noGrp="1"/>
          </p:cNvSpPr>
          <p:nvPr>
            <p:ph type="sldNum" sz="quarter" idx="12"/>
          </p:nvPr>
        </p:nvSpPr>
        <p:spPr/>
        <p:txBody>
          <a:bodyPr/>
          <a:lstStyle/>
          <a:p>
            <a:fld id="{9855740F-6ECD-274F-B089-6B266B6B07F9}" type="slidenum">
              <a:rPr lang="en-US" smtClean="0"/>
              <a:t>‹#›</a:t>
            </a:fld>
            <a:endParaRPr lang="en-US"/>
          </a:p>
        </p:txBody>
      </p:sp>
    </p:spTree>
    <p:extLst>
      <p:ext uri="{BB962C8B-B14F-4D97-AF65-F5344CB8AC3E}">
        <p14:creationId xmlns:p14="http://schemas.microsoft.com/office/powerpoint/2010/main" val="1656237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FD3368-EF3F-89C7-1056-174B0B2A330D}"/>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EE8ED07A-8290-4E4A-316F-3A6D7099E91C}"/>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54B2B491-4F5D-F8C6-935A-0A94F81C778E}"/>
              </a:ext>
            </a:extLst>
          </p:cNvPr>
          <p:cNvSpPr>
            <a:spLocks noGrp="1"/>
          </p:cNvSpPr>
          <p:nvPr>
            <p:ph type="dt" sz="half" idx="10"/>
          </p:nvPr>
        </p:nvSpPr>
        <p:spPr/>
        <p:txBody>
          <a:bodyPr/>
          <a:lstStyle/>
          <a:p>
            <a:fld id="{99B5AE07-D2A2-C944-B756-3508C8A6BD9F}" type="datetime1">
              <a:rPr lang="en-AU" smtClean="0"/>
              <a:t>28/8/2026</a:t>
            </a:fld>
            <a:endParaRPr lang="en-US"/>
          </a:p>
        </p:txBody>
      </p:sp>
      <p:sp>
        <p:nvSpPr>
          <p:cNvPr id="5" name="Footer Placeholder 4">
            <a:extLst>
              <a:ext uri="{FF2B5EF4-FFF2-40B4-BE49-F238E27FC236}">
                <a16:creationId xmlns:a16="http://schemas.microsoft.com/office/drawing/2014/main" id="{8368D6CF-CC17-A6D7-49A7-A584E30011B6}"/>
              </a:ext>
            </a:extLst>
          </p:cNvPr>
          <p:cNvSpPr>
            <a:spLocks noGrp="1"/>
          </p:cNvSpPr>
          <p:nvPr>
            <p:ph type="ftr" sz="quarter" idx="11"/>
          </p:nvPr>
        </p:nvSpPr>
        <p:spPr/>
        <p:txBody>
          <a:bodyPr/>
          <a:lstStyle/>
          <a:p>
            <a:r>
              <a:rPr lang="en-US"/>
              <a:t>FINA2204 - Tutorial 5</a:t>
            </a:r>
          </a:p>
        </p:txBody>
      </p:sp>
      <p:sp>
        <p:nvSpPr>
          <p:cNvPr id="6" name="Slide Number Placeholder 5">
            <a:extLst>
              <a:ext uri="{FF2B5EF4-FFF2-40B4-BE49-F238E27FC236}">
                <a16:creationId xmlns:a16="http://schemas.microsoft.com/office/drawing/2014/main" id="{DA1CD017-AF47-DD80-1901-3C8AE9035D78}"/>
              </a:ext>
            </a:extLst>
          </p:cNvPr>
          <p:cNvSpPr>
            <a:spLocks noGrp="1"/>
          </p:cNvSpPr>
          <p:nvPr>
            <p:ph type="sldNum" sz="quarter" idx="12"/>
          </p:nvPr>
        </p:nvSpPr>
        <p:spPr/>
        <p:txBody>
          <a:bodyPr/>
          <a:lstStyle/>
          <a:p>
            <a:fld id="{9855740F-6ECD-274F-B089-6B266B6B07F9}" type="slidenum">
              <a:rPr lang="en-US" smtClean="0"/>
              <a:t>‹#›</a:t>
            </a:fld>
            <a:endParaRPr lang="en-US"/>
          </a:p>
        </p:txBody>
      </p:sp>
    </p:spTree>
    <p:extLst>
      <p:ext uri="{BB962C8B-B14F-4D97-AF65-F5344CB8AC3E}">
        <p14:creationId xmlns:p14="http://schemas.microsoft.com/office/powerpoint/2010/main" val="10300154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542B33B-8EBC-D865-B66C-6587B1C2CF6D}"/>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60C603F8-7C71-4F24-E9E6-0B64D9E53E5C}"/>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FA7652A3-FC13-F867-6BB0-08467DD040F2}"/>
              </a:ext>
            </a:extLst>
          </p:cNvPr>
          <p:cNvSpPr>
            <a:spLocks noGrp="1"/>
          </p:cNvSpPr>
          <p:nvPr>
            <p:ph type="dt" sz="half" idx="10"/>
          </p:nvPr>
        </p:nvSpPr>
        <p:spPr/>
        <p:txBody>
          <a:bodyPr/>
          <a:lstStyle/>
          <a:p>
            <a:fld id="{C1E9C564-CBAC-AB4E-B0BE-41EE9F24F92D}" type="datetime1">
              <a:rPr lang="en-AU" smtClean="0"/>
              <a:t>28/8/2026</a:t>
            </a:fld>
            <a:endParaRPr lang="en-US"/>
          </a:p>
        </p:txBody>
      </p:sp>
      <p:sp>
        <p:nvSpPr>
          <p:cNvPr id="5" name="Footer Placeholder 4">
            <a:extLst>
              <a:ext uri="{FF2B5EF4-FFF2-40B4-BE49-F238E27FC236}">
                <a16:creationId xmlns:a16="http://schemas.microsoft.com/office/drawing/2014/main" id="{FF02F719-0309-3DE8-E639-176FAE5B5999}"/>
              </a:ext>
            </a:extLst>
          </p:cNvPr>
          <p:cNvSpPr>
            <a:spLocks noGrp="1"/>
          </p:cNvSpPr>
          <p:nvPr>
            <p:ph type="ftr" sz="quarter" idx="11"/>
          </p:nvPr>
        </p:nvSpPr>
        <p:spPr/>
        <p:txBody>
          <a:bodyPr/>
          <a:lstStyle/>
          <a:p>
            <a:r>
              <a:rPr lang="en-US"/>
              <a:t>FINA2204 - Tutorial 5</a:t>
            </a:r>
          </a:p>
        </p:txBody>
      </p:sp>
      <p:sp>
        <p:nvSpPr>
          <p:cNvPr id="6" name="Slide Number Placeholder 5">
            <a:extLst>
              <a:ext uri="{FF2B5EF4-FFF2-40B4-BE49-F238E27FC236}">
                <a16:creationId xmlns:a16="http://schemas.microsoft.com/office/drawing/2014/main" id="{E9790294-5972-08FE-D4D6-D2B9A96CB999}"/>
              </a:ext>
            </a:extLst>
          </p:cNvPr>
          <p:cNvSpPr>
            <a:spLocks noGrp="1"/>
          </p:cNvSpPr>
          <p:nvPr>
            <p:ph type="sldNum" sz="quarter" idx="12"/>
          </p:nvPr>
        </p:nvSpPr>
        <p:spPr/>
        <p:txBody>
          <a:bodyPr/>
          <a:lstStyle/>
          <a:p>
            <a:fld id="{9855740F-6ECD-274F-B089-6B266B6B07F9}" type="slidenum">
              <a:rPr lang="en-US" smtClean="0"/>
              <a:t>‹#›</a:t>
            </a:fld>
            <a:endParaRPr lang="en-US"/>
          </a:p>
        </p:txBody>
      </p:sp>
    </p:spTree>
    <p:extLst>
      <p:ext uri="{BB962C8B-B14F-4D97-AF65-F5344CB8AC3E}">
        <p14:creationId xmlns:p14="http://schemas.microsoft.com/office/powerpoint/2010/main" val="1029523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3847AB4-DD51-0AB4-FBE5-3DC71BA6296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2A7DC1E0-1ADA-43DA-17FA-80A482445CA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DEEBB9BA-B374-AFB0-7D22-64FE2677353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6635EA5-9227-4D49-8822-0D3EF3455836}" type="datetime1">
              <a:rPr lang="en-AU" smtClean="0"/>
              <a:t>28/8/2026</a:t>
            </a:fld>
            <a:endParaRPr lang="en-US"/>
          </a:p>
        </p:txBody>
      </p:sp>
      <p:sp>
        <p:nvSpPr>
          <p:cNvPr id="5" name="Footer Placeholder 4">
            <a:extLst>
              <a:ext uri="{FF2B5EF4-FFF2-40B4-BE49-F238E27FC236}">
                <a16:creationId xmlns:a16="http://schemas.microsoft.com/office/drawing/2014/main" id="{1ED85325-EEEE-EAB0-82D2-B61D1D3245D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r>
              <a:rPr lang="en-US"/>
              <a:t>FINA2204 - Tutorial 5</a:t>
            </a:r>
          </a:p>
        </p:txBody>
      </p:sp>
      <p:sp>
        <p:nvSpPr>
          <p:cNvPr id="6" name="Slide Number Placeholder 5">
            <a:extLst>
              <a:ext uri="{FF2B5EF4-FFF2-40B4-BE49-F238E27FC236}">
                <a16:creationId xmlns:a16="http://schemas.microsoft.com/office/drawing/2014/main" id="{2C553288-60EC-50F9-53E7-45B25C08A1C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855740F-6ECD-274F-B089-6B266B6B07F9}" type="slidenum">
              <a:rPr lang="en-US" smtClean="0"/>
              <a:t>‹#›</a:t>
            </a:fld>
            <a:endParaRPr lang="en-US"/>
          </a:p>
        </p:txBody>
      </p:sp>
    </p:spTree>
    <p:extLst>
      <p:ext uri="{BB962C8B-B14F-4D97-AF65-F5344CB8AC3E}">
        <p14:creationId xmlns:p14="http://schemas.microsoft.com/office/powerpoint/2010/main" val="96888217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160.png"/></Relationships>
</file>

<file path=ppt/slides/_rels/slide1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190.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3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2.xml"/><Relationship Id="rId1" Type="http://schemas.openxmlformats.org/officeDocument/2006/relationships/slideLayout" Target="../slideLayouts/slideLayout2.xml"/><Relationship Id="rId5" Type="http://schemas.openxmlformats.org/officeDocument/2006/relationships/image" Target="../media/image25.png"/><Relationship Id="rId4" Type="http://schemas.openxmlformats.org/officeDocument/2006/relationships/image" Target="../media/image24.png"/></Relationships>
</file>

<file path=ppt/slides/_rels/slide31.xml.rels><?xml version="1.0" encoding="UTF-8" standalone="yes"?>
<Relationships xmlns="http://schemas.openxmlformats.org/package/2006/relationships"><Relationship Id="rId3" Type="http://schemas.openxmlformats.org/officeDocument/2006/relationships/image" Target="../media/image260.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4.xml"/><Relationship Id="rId1" Type="http://schemas.openxmlformats.org/officeDocument/2006/relationships/slideLayout" Target="../slideLayouts/slideLayout2.xml"/><Relationship Id="rId5" Type="http://schemas.openxmlformats.org/officeDocument/2006/relationships/image" Target="../media/image28.png"/><Relationship Id="rId4" Type="http://schemas.openxmlformats.org/officeDocument/2006/relationships/image" Target="../media/image27.png"/></Relationships>
</file>

<file path=ppt/slides/_rels/slide3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5.xml"/><Relationship Id="rId1" Type="http://schemas.openxmlformats.org/officeDocument/2006/relationships/slideLayout" Target="../slideLayouts/slideLayout2.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s>
</file>

<file path=ppt/slides/_rels/slide3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70.png"/><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33.png"/></Relationships>
</file>

<file path=ppt/slides/_rels/slide37.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9.xml"/><Relationship Id="rId1" Type="http://schemas.openxmlformats.org/officeDocument/2006/relationships/slideLayout" Target="../slideLayouts/slideLayout2.xml"/><Relationship Id="rId5" Type="http://schemas.openxmlformats.org/officeDocument/2006/relationships/image" Target="../media/image35.png"/><Relationship Id="rId4" Type="http://schemas.openxmlformats.org/officeDocument/2006/relationships/image" Target="../media/image300.png"/></Relationships>
</file>

<file path=ppt/slides/_rels/slide38.xml.rels><?xml version="1.0" encoding="UTF-8" standalone="yes"?>
<Relationships xmlns="http://schemas.openxmlformats.org/package/2006/relationships"><Relationship Id="rId3" Type="http://schemas.openxmlformats.org/officeDocument/2006/relationships/image" Target="../media/image330.png"/><Relationship Id="rId2" Type="http://schemas.openxmlformats.org/officeDocument/2006/relationships/image" Target="../media/image36.png"/><Relationship Id="rId1" Type="http://schemas.openxmlformats.org/officeDocument/2006/relationships/slideLayout" Target="../slideLayouts/slideLayout2.xml"/><Relationship Id="rId4" Type="http://schemas.openxmlformats.org/officeDocument/2006/relationships/image" Target="../media/image340.png"/></Relationships>
</file>

<file path=ppt/slides/_rels/slide39.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380.png"/><Relationship Id="rId2" Type="http://schemas.openxmlformats.org/officeDocument/2006/relationships/notesSlide" Target="../notesSlides/notesSlide32.xml"/><Relationship Id="rId1" Type="http://schemas.openxmlformats.org/officeDocument/2006/relationships/slideLayout" Target="../slideLayouts/slideLayout2.xml"/><Relationship Id="rId4" Type="http://schemas.openxmlformats.org/officeDocument/2006/relationships/image" Target="../media/image390.png"/></Relationships>
</file>

<file path=ppt/slides/_rels/slide43.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400.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33.xml"/><Relationship Id="rId1" Type="http://schemas.openxmlformats.org/officeDocument/2006/relationships/slideLayout" Target="../slideLayouts/slideLayout2.xml"/><Relationship Id="rId6" Type="http://schemas.openxmlformats.org/officeDocument/2006/relationships/image" Target="../media/image49.png"/><Relationship Id="rId5" Type="http://schemas.openxmlformats.org/officeDocument/2006/relationships/image" Target="../media/image48.png"/><Relationship Id="rId4" Type="http://schemas.openxmlformats.org/officeDocument/2006/relationships/image" Target="../media/image47.png"/></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36.xml"/><Relationship Id="rId1" Type="http://schemas.openxmlformats.org/officeDocument/2006/relationships/slideLayout" Target="../slideLayouts/slideLayout2.xml"/><Relationship Id="rId4" Type="http://schemas.openxmlformats.org/officeDocument/2006/relationships/image" Target="../media/image43.png"/></Relationships>
</file>

<file path=ppt/slides/_rels/slide51.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slideLayout" Target="../slideLayouts/slideLayout2.xml"/><Relationship Id="rId5" Type="http://schemas.openxmlformats.org/officeDocument/2006/relationships/image" Target="../media/image56.png"/><Relationship Id="rId4" Type="http://schemas.openxmlformats.org/officeDocument/2006/relationships/image" Target="../media/image55.png"/></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58.png"/><Relationship Id="rId1" Type="http://schemas.openxmlformats.org/officeDocument/2006/relationships/slideLayout" Target="../slideLayouts/slideLayout2.xml"/><Relationship Id="rId4" Type="http://schemas.openxmlformats.org/officeDocument/2006/relationships/image" Target="../media/image6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51D413-710C-5ED7-3333-F4E9C898D6FD}"/>
              </a:ext>
            </a:extLst>
          </p:cNvPr>
          <p:cNvSpPr>
            <a:spLocks noGrp="1"/>
          </p:cNvSpPr>
          <p:nvPr>
            <p:ph type="ctrTitle"/>
          </p:nvPr>
        </p:nvSpPr>
        <p:spPr/>
        <p:txBody>
          <a:bodyPr/>
          <a:lstStyle/>
          <a:p>
            <a:r>
              <a:rPr lang="en-US" dirty="0"/>
              <a:t>FINA2204 Tutorial 5:</a:t>
            </a:r>
            <a:br>
              <a:rPr lang="en-US" dirty="0"/>
            </a:br>
            <a:r>
              <a:rPr lang="en-US" dirty="0"/>
              <a:t>Swaps</a:t>
            </a:r>
          </a:p>
        </p:txBody>
      </p:sp>
      <p:sp>
        <p:nvSpPr>
          <p:cNvPr id="3" name="Subtitle 2">
            <a:extLst>
              <a:ext uri="{FF2B5EF4-FFF2-40B4-BE49-F238E27FC236}">
                <a16:creationId xmlns:a16="http://schemas.microsoft.com/office/drawing/2014/main" id="{AFD1E25E-1C95-E24C-CFD2-6C967D666B09}"/>
              </a:ext>
            </a:extLst>
          </p:cNvPr>
          <p:cNvSpPr>
            <a:spLocks noGrp="1"/>
          </p:cNvSpPr>
          <p:nvPr>
            <p:ph type="subTitle" idx="1"/>
          </p:nvPr>
        </p:nvSpPr>
        <p:spPr/>
        <p:txBody>
          <a:bodyPr/>
          <a:lstStyle/>
          <a:p>
            <a:r>
              <a:rPr lang="en-US" dirty="0"/>
              <a:t>Zirui Song</a:t>
            </a:r>
          </a:p>
          <a:p>
            <a:r>
              <a:rPr lang="en-US" dirty="0"/>
              <a:t>UWA Business School</a:t>
            </a:r>
          </a:p>
          <a:p>
            <a:r>
              <a:rPr lang="en-US" dirty="0"/>
              <a:t>Aug 2026</a:t>
            </a:r>
          </a:p>
        </p:txBody>
      </p:sp>
      <p:sp>
        <p:nvSpPr>
          <p:cNvPr id="4" name="Date Placeholder 3">
            <a:extLst>
              <a:ext uri="{FF2B5EF4-FFF2-40B4-BE49-F238E27FC236}">
                <a16:creationId xmlns:a16="http://schemas.microsoft.com/office/drawing/2014/main" id="{B88FD266-066D-7BE4-87F9-FFCE3B28781E}"/>
              </a:ext>
            </a:extLst>
          </p:cNvPr>
          <p:cNvSpPr>
            <a:spLocks noGrp="1"/>
          </p:cNvSpPr>
          <p:nvPr>
            <p:ph type="dt" sz="half" idx="10"/>
          </p:nvPr>
        </p:nvSpPr>
        <p:spPr/>
        <p:txBody>
          <a:bodyPr/>
          <a:lstStyle/>
          <a:p>
            <a:fld id="{A26B890C-F940-A74F-9ED5-3A6686CA029B}" type="datetime1">
              <a:rPr lang="en-AU" smtClean="0"/>
              <a:t>28/8/2026</a:t>
            </a:fld>
            <a:endParaRPr lang="en-US"/>
          </a:p>
        </p:txBody>
      </p:sp>
      <p:sp>
        <p:nvSpPr>
          <p:cNvPr id="5" name="Footer Placeholder 4">
            <a:extLst>
              <a:ext uri="{FF2B5EF4-FFF2-40B4-BE49-F238E27FC236}">
                <a16:creationId xmlns:a16="http://schemas.microsoft.com/office/drawing/2014/main" id="{92675A95-AF02-02C0-78D2-36E696AD9318}"/>
              </a:ext>
            </a:extLst>
          </p:cNvPr>
          <p:cNvSpPr>
            <a:spLocks noGrp="1"/>
          </p:cNvSpPr>
          <p:nvPr>
            <p:ph type="ftr" sz="quarter" idx="11"/>
          </p:nvPr>
        </p:nvSpPr>
        <p:spPr/>
        <p:txBody>
          <a:bodyPr/>
          <a:lstStyle/>
          <a:p>
            <a:r>
              <a:rPr lang="en-US"/>
              <a:t>FINA2204 - Tutorial 5</a:t>
            </a:r>
          </a:p>
        </p:txBody>
      </p:sp>
    </p:spTree>
    <p:extLst>
      <p:ext uri="{BB962C8B-B14F-4D97-AF65-F5344CB8AC3E}">
        <p14:creationId xmlns:p14="http://schemas.microsoft.com/office/powerpoint/2010/main" val="2954242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CB95BC-EF81-CDEB-2088-11860707434F}"/>
              </a:ext>
            </a:extLst>
          </p:cNvPr>
          <p:cNvSpPr>
            <a:spLocks noGrp="1"/>
          </p:cNvSpPr>
          <p:nvPr>
            <p:ph type="title"/>
          </p:nvPr>
        </p:nvSpPr>
        <p:spPr/>
        <p:txBody>
          <a:bodyPr/>
          <a:lstStyle/>
          <a:p>
            <a:r>
              <a:rPr lang="en-US" dirty="0"/>
              <a:t>Agenda</a:t>
            </a:r>
          </a:p>
        </p:txBody>
      </p:sp>
      <p:sp>
        <p:nvSpPr>
          <p:cNvPr id="3" name="Content Placeholder 2">
            <a:extLst>
              <a:ext uri="{FF2B5EF4-FFF2-40B4-BE49-F238E27FC236}">
                <a16:creationId xmlns:a16="http://schemas.microsoft.com/office/drawing/2014/main" id="{78D1D9AE-80DD-807B-E99C-22EF65004E67}"/>
              </a:ext>
            </a:extLst>
          </p:cNvPr>
          <p:cNvSpPr>
            <a:spLocks noGrp="1"/>
          </p:cNvSpPr>
          <p:nvPr>
            <p:ph idx="1"/>
          </p:nvPr>
        </p:nvSpPr>
        <p:spPr/>
        <p:txBody>
          <a:bodyPr/>
          <a:lstStyle/>
          <a:p>
            <a:r>
              <a:rPr lang="en-US" dirty="0"/>
              <a:t>Problem 7.2</a:t>
            </a:r>
          </a:p>
          <a:p>
            <a:r>
              <a:rPr lang="en-US" dirty="0"/>
              <a:t>Problem 7.</a:t>
            </a:r>
            <a:r>
              <a:rPr lang="en-US" altLang="zh-CN" dirty="0"/>
              <a:t>5</a:t>
            </a:r>
            <a:endParaRPr lang="en-US" dirty="0"/>
          </a:p>
          <a:p>
            <a:r>
              <a:rPr lang="en-US" dirty="0"/>
              <a:t>Problem 7.16</a:t>
            </a:r>
          </a:p>
          <a:p>
            <a:r>
              <a:rPr lang="en-US" dirty="0"/>
              <a:t>Problem 7.1</a:t>
            </a:r>
            <a:r>
              <a:rPr lang="en-US" altLang="zh-CN" dirty="0"/>
              <a:t>9</a:t>
            </a:r>
            <a:endParaRPr lang="en-US" dirty="0"/>
          </a:p>
          <a:p>
            <a:r>
              <a:rPr lang="en-US" dirty="0"/>
              <a:t>Problem 7.20</a:t>
            </a:r>
          </a:p>
          <a:p>
            <a:r>
              <a:rPr lang="en-US" dirty="0"/>
              <a:t>Problem 7.2</a:t>
            </a:r>
            <a:r>
              <a:rPr lang="en-US" altLang="zh-CN" dirty="0"/>
              <a:t>3</a:t>
            </a:r>
          </a:p>
          <a:p>
            <a:r>
              <a:rPr lang="en-US" dirty="0"/>
              <a:t>Problem 7.2</a:t>
            </a:r>
            <a:r>
              <a:rPr lang="en-US" altLang="zh-CN" dirty="0"/>
              <a:t>4</a:t>
            </a:r>
            <a:endParaRPr lang="en-US" dirty="0"/>
          </a:p>
          <a:p>
            <a:endParaRPr lang="en-US" dirty="0"/>
          </a:p>
        </p:txBody>
      </p:sp>
      <p:sp>
        <p:nvSpPr>
          <p:cNvPr id="4" name="Date Placeholder 3">
            <a:extLst>
              <a:ext uri="{FF2B5EF4-FFF2-40B4-BE49-F238E27FC236}">
                <a16:creationId xmlns:a16="http://schemas.microsoft.com/office/drawing/2014/main" id="{C82218D0-53FA-3F9F-9D2C-75789D056B9A}"/>
              </a:ext>
            </a:extLst>
          </p:cNvPr>
          <p:cNvSpPr>
            <a:spLocks noGrp="1"/>
          </p:cNvSpPr>
          <p:nvPr>
            <p:ph type="dt" sz="half" idx="10"/>
          </p:nvPr>
        </p:nvSpPr>
        <p:spPr/>
        <p:txBody>
          <a:bodyPr/>
          <a:lstStyle/>
          <a:p>
            <a:fld id="{09CAC19C-5633-BF4C-8941-C32F6F05F1A0}" type="datetime1">
              <a:rPr lang="en-AU" smtClean="0"/>
              <a:t>28/8/2026</a:t>
            </a:fld>
            <a:endParaRPr lang="en-US"/>
          </a:p>
        </p:txBody>
      </p:sp>
      <p:sp>
        <p:nvSpPr>
          <p:cNvPr id="5" name="Footer Placeholder 4">
            <a:extLst>
              <a:ext uri="{FF2B5EF4-FFF2-40B4-BE49-F238E27FC236}">
                <a16:creationId xmlns:a16="http://schemas.microsoft.com/office/drawing/2014/main" id="{AA780F7B-E562-5BAE-9685-DEB272804751}"/>
              </a:ext>
            </a:extLst>
          </p:cNvPr>
          <p:cNvSpPr>
            <a:spLocks noGrp="1"/>
          </p:cNvSpPr>
          <p:nvPr>
            <p:ph type="ftr" sz="quarter" idx="11"/>
          </p:nvPr>
        </p:nvSpPr>
        <p:spPr/>
        <p:txBody>
          <a:bodyPr/>
          <a:lstStyle/>
          <a:p>
            <a:r>
              <a:rPr lang="en-US"/>
              <a:t>FINA2204 - Tutorial 5</a:t>
            </a:r>
          </a:p>
        </p:txBody>
      </p:sp>
      <p:sp>
        <p:nvSpPr>
          <p:cNvPr id="6" name="Slide Number Placeholder 5">
            <a:extLst>
              <a:ext uri="{FF2B5EF4-FFF2-40B4-BE49-F238E27FC236}">
                <a16:creationId xmlns:a16="http://schemas.microsoft.com/office/drawing/2014/main" id="{90E1E012-AEE4-DDA2-11BF-810B1816192C}"/>
              </a:ext>
            </a:extLst>
          </p:cNvPr>
          <p:cNvSpPr>
            <a:spLocks noGrp="1"/>
          </p:cNvSpPr>
          <p:nvPr>
            <p:ph type="sldNum" sz="quarter" idx="12"/>
          </p:nvPr>
        </p:nvSpPr>
        <p:spPr/>
        <p:txBody>
          <a:bodyPr/>
          <a:lstStyle/>
          <a:p>
            <a:fld id="{9855740F-6ECD-274F-B089-6B266B6B07F9}" type="slidenum">
              <a:rPr lang="en-US" smtClean="0"/>
              <a:t>1</a:t>
            </a:fld>
            <a:endParaRPr lang="en-US"/>
          </a:p>
        </p:txBody>
      </p:sp>
      <p:pic>
        <p:nvPicPr>
          <p:cNvPr id="8" name="Picture 7" descr="A diagram of a currency swap&#10;&#10;AI-generated content may be incorrect.">
            <a:extLst>
              <a:ext uri="{FF2B5EF4-FFF2-40B4-BE49-F238E27FC236}">
                <a16:creationId xmlns:a16="http://schemas.microsoft.com/office/drawing/2014/main" id="{5E3C0776-6DA6-C427-7659-55C4C29D1AA8}"/>
              </a:ext>
            </a:extLst>
          </p:cNvPr>
          <p:cNvPicPr>
            <a:picLocks noChangeAspect="1"/>
          </p:cNvPicPr>
          <p:nvPr/>
        </p:nvPicPr>
        <p:blipFill>
          <a:blip r:embed="rId2"/>
          <a:stretch>
            <a:fillRect/>
          </a:stretch>
        </p:blipFill>
        <p:spPr>
          <a:xfrm>
            <a:off x="3704096" y="1825625"/>
            <a:ext cx="8356427" cy="3194185"/>
          </a:xfrm>
          <a:prstGeom prst="rect">
            <a:avLst/>
          </a:prstGeom>
        </p:spPr>
      </p:pic>
    </p:spTree>
    <p:extLst>
      <p:ext uri="{BB962C8B-B14F-4D97-AF65-F5344CB8AC3E}">
        <p14:creationId xmlns:p14="http://schemas.microsoft.com/office/powerpoint/2010/main" val="30599167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F26DA2-6182-D051-B356-F26546CC14E6}"/>
              </a:ext>
            </a:extLst>
          </p:cNvPr>
          <p:cNvSpPr>
            <a:spLocks noGrp="1"/>
          </p:cNvSpPr>
          <p:nvPr>
            <p:ph type="title"/>
          </p:nvPr>
        </p:nvSpPr>
        <p:spPr/>
        <p:txBody>
          <a:bodyPr/>
          <a:lstStyle/>
          <a:p>
            <a:r>
              <a:rPr lang="en-US" dirty="0"/>
              <a:t>Recap:</a:t>
            </a:r>
            <a:r>
              <a:rPr lang="zh-CN" altLang="en-US" dirty="0"/>
              <a:t> </a:t>
            </a:r>
            <a:r>
              <a:rPr lang="en-AU" altLang="zh-CN" dirty="0"/>
              <a:t>Interest rate swaps</a:t>
            </a:r>
            <a:r>
              <a:rPr lang="en-US" dirty="0"/>
              <a:t> </a:t>
            </a:r>
          </a:p>
        </p:txBody>
      </p:sp>
      <p:sp>
        <p:nvSpPr>
          <p:cNvPr id="3" name="Content Placeholder 2">
            <a:extLst>
              <a:ext uri="{FF2B5EF4-FFF2-40B4-BE49-F238E27FC236}">
                <a16:creationId xmlns:a16="http://schemas.microsoft.com/office/drawing/2014/main" id="{4C463635-A6E9-6C5E-4AAD-BFABC4C94BEE}"/>
              </a:ext>
            </a:extLst>
          </p:cNvPr>
          <p:cNvSpPr>
            <a:spLocks noGrp="1"/>
          </p:cNvSpPr>
          <p:nvPr>
            <p:ph idx="1"/>
          </p:nvPr>
        </p:nvSpPr>
        <p:spPr/>
        <p:txBody>
          <a:bodyPr>
            <a:normAutofit lnSpcReduction="10000"/>
          </a:bodyPr>
          <a:lstStyle/>
          <a:p>
            <a:endParaRPr lang="en-US" dirty="0"/>
          </a:p>
          <a:p>
            <a:endParaRPr lang="en-US" dirty="0"/>
          </a:p>
          <a:p>
            <a:endParaRPr lang="en-US" dirty="0"/>
          </a:p>
          <a:p>
            <a:endParaRPr lang="en-US" dirty="0"/>
          </a:p>
          <a:p>
            <a:r>
              <a:rPr lang="en-US" dirty="0"/>
              <a:t>A forward contract is essentially a swap with </a:t>
            </a:r>
            <a:r>
              <a:rPr lang="en-US" b="1" dirty="0"/>
              <a:t>only one </a:t>
            </a:r>
            <a:r>
              <a:rPr lang="en-US" dirty="0"/>
              <a:t>payment date.</a:t>
            </a:r>
          </a:p>
          <a:p>
            <a:r>
              <a:rPr lang="en-US" dirty="0"/>
              <a:t>A ‘</a:t>
            </a:r>
            <a:r>
              <a:rPr lang="en-US" b="1" i="1" dirty="0"/>
              <a:t>plain vanilla</a:t>
            </a:r>
            <a:r>
              <a:rPr lang="en-US" dirty="0"/>
              <a:t>’ interest rate swap is an exchange of a cash flow based on a </a:t>
            </a:r>
            <a:r>
              <a:rPr lang="en-US" dirty="0">
                <a:solidFill>
                  <a:srgbClr val="FF0000"/>
                </a:solidFill>
              </a:rPr>
              <a:t>fixed </a:t>
            </a:r>
            <a:r>
              <a:rPr lang="en-US" dirty="0"/>
              <a:t>interest rate for a cash flow based on a </a:t>
            </a:r>
            <a:r>
              <a:rPr lang="en-US" dirty="0">
                <a:solidFill>
                  <a:srgbClr val="FF0000"/>
                </a:solidFill>
              </a:rPr>
              <a:t>floating</a:t>
            </a:r>
            <a:r>
              <a:rPr lang="en-US" dirty="0"/>
              <a:t> reference rate </a:t>
            </a:r>
            <a:r>
              <a:rPr lang="en-AU" dirty="0"/>
              <a:t>(e.g., LIBOR, BBSW) </a:t>
            </a:r>
            <a:r>
              <a:rPr lang="en-US" dirty="0"/>
              <a:t>for a predetermined number of years.</a:t>
            </a:r>
          </a:p>
          <a:p>
            <a:endParaRPr lang="en-US" dirty="0"/>
          </a:p>
        </p:txBody>
      </p:sp>
      <p:pic>
        <p:nvPicPr>
          <p:cNvPr id="5" name="Picture 4" descr="A close-up of a message&#10;&#10;AI-generated content may be incorrect.">
            <a:extLst>
              <a:ext uri="{FF2B5EF4-FFF2-40B4-BE49-F238E27FC236}">
                <a16:creationId xmlns:a16="http://schemas.microsoft.com/office/drawing/2014/main" id="{52702599-ADAD-9655-F605-E0AD6D0AFFD1}"/>
              </a:ext>
            </a:extLst>
          </p:cNvPr>
          <p:cNvPicPr>
            <a:picLocks noChangeAspect="1"/>
          </p:cNvPicPr>
          <p:nvPr/>
        </p:nvPicPr>
        <p:blipFill>
          <a:blip r:embed="rId3"/>
          <a:stretch>
            <a:fillRect/>
          </a:stretch>
        </p:blipFill>
        <p:spPr>
          <a:xfrm>
            <a:off x="1418649" y="1668917"/>
            <a:ext cx="9354701" cy="1999970"/>
          </a:xfrm>
          <a:prstGeom prst="rect">
            <a:avLst/>
          </a:prstGeom>
        </p:spPr>
      </p:pic>
      <p:sp>
        <p:nvSpPr>
          <p:cNvPr id="7" name="Date Placeholder 6">
            <a:extLst>
              <a:ext uri="{FF2B5EF4-FFF2-40B4-BE49-F238E27FC236}">
                <a16:creationId xmlns:a16="http://schemas.microsoft.com/office/drawing/2014/main" id="{B7711B7C-BD67-A434-C22C-ECFE6CC8FFE9}"/>
              </a:ext>
            </a:extLst>
          </p:cNvPr>
          <p:cNvSpPr>
            <a:spLocks noGrp="1"/>
          </p:cNvSpPr>
          <p:nvPr>
            <p:ph type="dt" sz="half" idx="10"/>
          </p:nvPr>
        </p:nvSpPr>
        <p:spPr/>
        <p:txBody>
          <a:bodyPr/>
          <a:lstStyle/>
          <a:p>
            <a:fld id="{575C427F-CAD9-754D-A848-2AE5E8F8D3BC}" type="datetime1">
              <a:rPr lang="en-AU" smtClean="0"/>
              <a:t>28/8/2026</a:t>
            </a:fld>
            <a:endParaRPr lang="en-US"/>
          </a:p>
        </p:txBody>
      </p:sp>
      <p:sp>
        <p:nvSpPr>
          <p:cNvPr id="8" name="Footer Placeholder 7">
            <a:extLst>
              <a:ext uri="{FF2B5EF4-FFF2-40B4-BE49-F238E27FC236}">
                <a16:creationId xmlns:a16="http://schemas.microsoft.com/office/drawing/2014/main" id="{F2F53B9C-EA4B-D609-09FB-516C9D6C9DC8}"/>
              </a:ext>
            </a:extLst>
          </p:cNvPr>
          <p:cNvSpPr>
            <a:spLocks noGrp="1"/>
          </p:cNvSpPr>
          <p:nvPr>
            <p:ph type="ftr" sz="quarter" idx="11"/>
          </p:nvPr>
        </p:nvSpPr>
        <p:spPr/>
        <p:txBody>
          <a:bodyPr/>
          <a:lstStyle/>
          <a:p>
            <a:r>
              <a:rPr lang="en-US"/>
              <a:t>FINA2204 - Tutorial 5</a:t>
            </a:r>
          </a:p>
        </p:txBody>
      </p:sp>
      <p:sp>
        <p:nvSpPr>
          <p:cNvPr id="9" name="Slide Number Placeholder 8">
            <a:extLst>
              <a:ext uri="{FF2B5EF4-FFF2-40B4-BE49-F238E27FC236}">
                <a16:creationId xmlns:a16="http://schemas.microsoft.com/office/drawing/2014/main" id="{B8F13D27-58C7-0227-B7FB-AD244D1FE000}"/>
              </a:ext>
            </a:extLst>
          </p:cNvPr>
          <p:cNvSpPr>
            <a:spLocks noGrp="1"/>
          </p:cNvSpPr>
          <p:nvPr>
            <p:ph type="sldNum" sz="quarter" idx="12"/>
          </p:nvPr>
        </p:nvSpPr>
        <p:spPr/>
        <p:txBody>
          <a:bodyPr/>
          <a:lstStyle/>
          <a:p>
            <a:fld id="{9855740F-6ECD-274F-B089-6B266B6B07F9}" type="slidenum">
              <a:rPr lang="en-US" smtClean="0"/>
              <a:t>2</a:t>
            </a:fld>
            <a:endParaRPr lang="en-US"/>
          </a:p>
        </p:txBody>
      </p:sp>
    </p:spTree>
    <p:extLst>
      <p:ext uri="{BB962C8B-B14F-4D97-AF65-F5344CB8AC3E}">
        <p14:creationId xmlns:p14="http://schemas.microsoft.com/office/powerpoint/2010/main" val="36466270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CAC76F-C945-84F7-55C2-95016B5AAD4F}"/>
              </a:ext>
            </a:extLst>
          </p:cNvPr>
          <p:cNvSpPr>
            <a:spLocks noGrp="1"/>
          </p:cNvSpPr>
          <p:nvPr>
            <p:ph type="title"/>
          </p:nvPr>
        </p:nvSpPr>
        <p:spPr/>
        <p:txBody>
          <a:bodyPr/>
          <a:lstStyle/>
          <a:p>
            <a:r>
              <a:rPr lang="en-US" dirty="0"/>
              <a:t>Recap:</a:t>
            </a:r>
            <a:r>
              <a:rPr lang="zh-CN" altLang="en-US" dirty="0"/>
              <a:t> </a:t>
            </a:r>
            <a:r>
              <a:rPr lang="en-AU" altLang="zh-CN" dirty="0"/>
              <a:t>Interest rate swaps</a:t>
            </a:r>
            <a:r>
              <a:rPr lang="en-US" dirty="0"/>
              <a:t> </a:t>
            </a:r>
          </a:p>
        </p:txBody>
      </p:sp>
      <p:sp>
        <p:nvSpPr>
          <p:cNvPr id="3" name="Content Placeholder 2">
            <a:extLst>
              <a:ext uri="{FF2B5EF4-FFF2-40B4-BE49-F238E27FC236}">
                <a16:creationId xmlns:a16="http://schemas.microsoft.com/office/drawing/2014/main" id="{F62D95BA-581D-DDD9-DDAB-49EEBE0F5183}"/>
              </a:ext>
            </a:extLst>
          </p:cNvPr>
          <p:cNvSpPr>
            <a:spLocks noGrp="1"/>
          </p:cNvSpPr>
          <p:nvPr>
            <p:ph idx="1"/>
          </p:nvPr>
        </p:nvSpPr>
        <p:spPr>
          <a:xfrm>
            <a:off x="838200" y="1825625"/>
            <a:ext cx="3912305" cy="4351338"/>
          </a:xfrm>
        </p:spPr>
        <p:txBody>
          <a:bodyPr/>
          <a:lstStyle/>
          <a:p>
            <a:r>
              <a:rPr lang="en-US" dirty="0"/>
              <a:t>BBSW (Bank bill swap rates) is Australia’s primary short-term benchmark interest rate.</a:t>
            </a:r>
          </a:p>
          <a:p>
            <a:r>
              <a:rPr lang="en-US" dirty="0"/>
              <a:t>It represents the average cost for major banks to borrow funds from one another.</a:t>
            </a:r>
          </a:p>
        </p:txBody>
      </p:sp>
      <p:pic>
        <p:nvPicPr>
          <p:cNvPr id="7" name="Picture 6" descr="A screenshot of a graph&#10;&#10;AI-generated content may be incorrect.">
            <a:extLst>
              <a:ext uri="{FF2B5EF4-FFF2-40B4-BE49-F238E27FC236}">
                <a16:creationId xmlns:a16="http://schemas.microsoft.com/office/drawing/2014/main" id="{CA6F4465-5314-D18E-A927-44E33864667F}"/>
              </a:ext>
            </a:extLst>
          </p:cNvPr>
          <p:cNvPicPr>
            <a:picLocks noChangeAspect="1"/>
          </p:cNvPicPr>
          <p:nvPr/>
        </p:nvPicPr>
        <p:blipFill>
          <a:blip r:embed="rId3"/>
          <a:stretch>
            <a:fillRect/>
          </a:stretch>
        </p:blipFill>
        <p:spPr>
          <a:xfrm>
            <a:off x="4750505" y="1586060"/>
            <a:ext cx="7397309" cy="4770290"/>
          </a:xfrm>
          <a:prstGeom prst="rect">
            <a:avLst/>
          </a:prstGeom>
        </p:spPr>
      </p:pic>
      <p:sp>
        <p:nvSpPr>
          <p:cNvPr id="4" name="Date Placeholder 3">
            <a:extLst>
              <a:ext uri="{FF2B5EF4-FFF2-40B4-BE49-F238E27FC236}">
                <a16:creationId xmlns:a16="http://schemas.microsoft.com/office/drawing/2014/main" id="{769A3D84-68C3-F239-CE7C-5095DF1416E7}"/>
              </a:ext>
            </a:extLst>
          </p:cNvPr>
          <p:cNvSpPr>
            <a:spLocks noGrp="1"/>
          </p:cNvSpPr>
          <p:nvPr>
            <p:ph type="dt" sz="half" idx="10"/>
          </p:nvPr>
        </p:nvSpPr>
        <p:spPr/>
        <p:txBody>
          <a:bodyPr/>
          <a:lstStyle/>
          <a:p>
            <a:fld id="{A93C24B0-DA20-E84C-8383-3B4B97B16C5F}" type="datetime1">
              <a:rPr lang="en-AU" smtClean="0"/>
              <a:t>28/8/2026</a:t>
            </a:fld>
            <a:endParaRPr lang="en-US"/>
          </a:p>
        </p:txBody>
      </p:sp>
      <p:sp>
        <p:nvSpPr>
          <p:cNvPr id="5" name="Footer Placeholder 4">
            <a:extLst>
              <a:ext uri="{FF2B5EF4-FFF2-40B4-BE49-F238E27FC236}">
                <a16:creationId xmlns:a16="http://schemas.microsoft.com/office/drawing/2014/main" id="{D879ED88-6C14-3BDB-181C-820A7EBBB0F7}"/>
              </a:ext>
            </a:extLst>
          </p:cNvPr>
          <p:cNvSpPr>
            <a:spLocks noGrp="1"/>
          </p:cNvSpPr>
          <p:nvPr>
            <p:ph type="ftr" sz="quarter" idx="11"/>
          </p:nvPr>
        </p:nvSpPr>
        <p:spPr/>
        <p:txBody>
          <a:bodyPr/>
          <a:lstStyle/>
          <a:p>
            <a:r>
              <a:rPr lang="en-US"/>
              <a:t>FINA2204 - Tutorial 5</a:t>
            </a:r>
          </a:p>
        </p:txBody>
      </p:sp>
      <p:sp>
        <p:nvSpPr>
          <p:cNvPr id="6" name="Slide Number Placeholder 5">
            <a:extLst>
              <a:ext uri="{FF2B5EF4-FFF2-40B4-BE49-F238E27FC236}">
                <a16:creationId xmlns:a16="http://schemas.microsoft.com/office/drawing/2014/main" id="{8B96FDAB-92CA-453C-6CB0-9F2404F8A80B}"/>
              </a:ext>
            </a:extLst>
          </p:cNvPr>
          <p:cNvSpPr>
            <a:spLocks noGrp="1"/>
          </p:cNvSpPr>
          <p:nvPr>
            <p:ph type="sldNum" sz="quarter" idx="12"/>
          </p:nvPr>
        </p:nvSpPr>
        <p:spPr/>
        <p:txBody>
          <a:bodyPr/>
          <a:lstStyle/>
          <a:p>
            <a:fld id="{9855740F-6ECD-274F-B089-6B266B6B07F9}" type="slidenum">
              <a:rPr lang="en-US" smtClean="0"/>
              <a:t>3</a:t>
            </a:fld>
            <a:endParaRPr lang="en-US"/>
          </a:p>
        </p:txBody>
      </p:sp>
    </p:spTree>
    <p:extLst>
      <p:ext uri="{BB962C8B-B14F-4D97-AF65-F5344CB8AC3E}">
        <p14:creationId xmlns:p14="http://schemas.microsoft.com/office/powerpoint/2010/main" val="32124462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38EE59-5BE5-7CE5-9BD5-711DE479E4B1}"/>
              </a:ext>
            </a:extLst>
          </p:cNvPr>
          <p:cNvSpPr>
            <a:spLocks noGrp="1"/>
          </p:cNvSpPr>
          <p:nvPr>
            <p:ph type="title"/>
          </p:nvPr>
        </p:nvSpPr>
        <p:spPr/>
        <p:txBody>
          <a:bodyPr/>
          <a:lstStyle/>
          <a:p>
            <a:r>
              <a:rPr lang="en-US" dirty="0"/>
              <a:t>Recap:</a:t>
            </a:r>
            <a:r>
              <a:rPr lang="zh-CN" altLang="en-US" dirty="0"/>
              <a:t> </a:t>
            </a:r>
            <a:r>
              <a:rPr lang="en-AU" altLang="zh-CN" dirty="0"/>
              <a:t>Interest rate swaps</a:t>
            </a:r>
            <a:r>
              <a:rPr lang="en-US" dirty="0"/>
              <a:t> </a:t>
            </a:r>
          </a:p>
        </p:txBody>
      </p:sp>
      <p:sp>
        <p:nvSpPr>
          <p:cNvPr id="3" name="Content Placeholder 2">
            <a:extLst>
              <a:ext uri="{FF2B5EF4-FFF2-40B4-BE49-F238E27FC236}">
                <a16:creationId xmlns:a16="http://schemas.microsoft.com/office/drawing/2014/main" id="{BAEC21D5-1F04-2167-D1F4-D195BCE3EB5F}"/>
              </a:ext>
            </a:extLst>
          </p:cNvPr>
          <p:cNvSpPr>
            <a:spLocks noGrp="1"/>
          </p:cNvSpPr>
          <p:nvPr>
            <p:ph idx="1"/>
          </p:nvPr>
        </p:nvSpPr>
        <p:spPr/>
        <p:txBody>
          <a:bodyPr>
            <a:normAutofit/>
          </a:bodyPr>
          <a:lstStyle/>
          <a:p>
            <a:pPr marL="0" indent="0">
              <a:buNone/>
            </a:pPr>
            <a:r>
              <a:rPr lang="en-AU" b="1" dirty="0"/>
              <a:t>Why use swaps?</a:t>
            </a:r>
          </a:p>
          <a:p>
            <a:pPr marL="514350" indent="-514350">
              <a:buFont typeface="+mj-lt"/>
              <a:buAutoNum type="arabicPeriod"/>
            </a:pPr>
            <a:r>
              <a:rPr lang="en-AU" u="sng" dirty="0"/>
              <a:t>Risk management</a:t>
            </a:r>
            <a:r>
              <a:rPr lang="en-AU" dirty="0"/>
              <a:t>: To switch between fixed and floating exposure as interest-rate conditions or risk preferences change.</a:t>
            </a:r>
          </a:p>
          <a:p>
            <a:r>
              <a:rPr lang="en-AU" i="1" dirty="0"/>
              <a:t>Example: Suppose a company has floating-rate debt and is worried that interest rates will rise. </a:t>
            </a:r>
          </a:p>
          <a:p>
            <a:pPr marL="514350" indent="-514350">
              <a:buFont typeface="+mj-lt"/>
              <a:buAutoNum type="arabicPeriod" startAt="2"/>
            </a:pPr>
            <a:r>
              <a:rPr lang="en-AU" u="sng" dirty="0"/>
              <a:t>Flexibility</a:t>
            </a:r>
            <a:r>
              <a:rPr lang="en-AU" dirty="0"/>
              <a:t>: To reshape interest-rate exposure without refinancing the original loan.</a:t>
            </a:r>
          </a:p>
          <a:p>
            <a:r>
              <a:rPr lang="en-AU" i="1" dirty="0"/>
              <a:t>Example: A firm uses a swap to make the effective cost of its existing floating-rate loan fixed.</a:t>
            </a:r>
          </a:p>
        </p:txBody>
      </p:sp>
      <p:sp>
        <p:nvSpPr>
          <p:cNvPr id="4" name="Date Placeholder 3">
            <a:extLst>
              <a:ext uri="{FF2B5EF4-FFF2-40B4-BE49-F238E27FC236}">
                <a16:creationId xmlns:a16="http://schemas.microsoft.com/office/drawing/2014/main" id="{5D5CD4B5-9B9E-B5B8-8C0B-01F058850834}"/>
              </a:ext>
            </a:extLst>
          </p:cNvPr>
          <p:cNvSpPr>
            <a:spLocks noGrp="1"/>
          </p:cNvSpPr>
          <p:nvPr>
            <p:ph type="dt" sz="half" idx="10"/>
          </p:nvPr>
        </p:nvSpPr>
        <p:spPr/>
        <p:txBody>
          <a:bodyPr/>
          <a:lstStyle/>
          <a:p>
            <a:fld id="{5FB570EB-A332-BF4F-BCD2-2D6E7D89F626}" type="datetime1">
              <a:rPr lang="en-AU" smtClean="0"/>
              <a:t>28/8/2026</a:t>
            </a:fld>
            <a:endParaRPr lang="en-US"/>
          </a:p>
        </p:txBody>
      </p:sp>
      <p:sp>
        <p:nvSpPr>
          <p:cNvPr id="5" name="Footer Placeholder 4">
            <a:extLst>
              <a:ext uri="{FF2B5EF4-FFF2-40B4-BE49-F238E27FC236}">
                <a16:creationId xmlns:a16="http://schemas.microsoft.com/office/drawing/2014/main" id="{C3F8B52D-A9AB-3FAC-1513-2AA1BEB76312}"/>
              </a:ext>
            </a:extLst>
          </p:cNvPr>
          <p:cNvSpPr>
            <a:spLocks noGrp="1"/>
          </p:cNvSpPr>
          <p:nvPr>
            <p:ph type="ftr" sz="quarter" idx="11"/>
          </p:nvPr>
        </p:nvSpPr>
        <p:spPr/>
        <p:txBody>
          <a:bodyPr/>
          <a:lstStyle/>
          <a:p>
            <a:r>
              <a:rPr lang="en-US"/>
              <a:t>FINA2204 - Tutorial 5</a:t>
            </a:r>
          </a:p>
        </p:txBody>
      </p:sp>
      <p:sp>
        <p:nvSpPr>
          <p:cNvPr id="6" name="Slide Number Placeholder 5">
            <a:extLst>
              <a:ext uri="{FF2B5EF4-FFF2-40B4-BE49-F238E27FC236}">
                <a16:creationId xmlns:a16="http://schemas.microsoft.com/office/drawing/2014/main" id="{70927658-C8ED-C25E-054E-3D33290489B9}"/>
              </a:ext>
            </a:extLst>
          </p:cNvPr>
          <p:cNvSpPr>
            <a:spLocks noGrp="1"/>
          </p:cNvSpPr>
          <p:nvPr>
            <p:ph type="sldNum" sz="quarter" idx="12"/>
          </p:nvPr>
        </p:nvSpPr>
        <p:spPr/>
        <p:txBody>
          <a:bodyPr/>
          <a:lstStyle/>
          <a:p>
            <a:fld id="{9855740F-6ECD-274F-B089-6B266B6B07F9}" type="slidenum">
              <a:rPr lang="en-US" smtClean="0"/>
              <a:t>4</a:t>
            </a:fld>
            <a:endParaRPr lang="en-US" dirty="0"/>
          </a:p>
        </p:txBody>
      </p:sp>
    </p:spTree>
    <p:extLst>
      <p:ext uri="{BB962C8B-B14F-4D97-AF65-F5344CB8AC3E}">
        <p14:creationId xmlns:p14="http://schemas.microsoft.com/office/powerpoint/2010/main" val="42351905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DD7AD3-C42B-4434-A7FA-EF40EFCCC6C1}"/>
              </a:ext>
            </a:extLst>
          </p:cNvPr>
          <p:cNvSpPr>
            <a:spLocks noGrp="1"/>
          </p:cNvSpPr>
          <p:nvPr>
            <p:ph type="title"/>
          </p:nvPr>
        </p:nvSpPr>
        <p:spPr/>
        <p:txBody>
          <a:bodyPr/>
          <a:lstStyle/>
          <a:p>
            <a:r>
              <a:rPr lang="en-US" dirty="0"/>
              <a:t>Recap:</a:t>
            </a:r>
            <a:r>
              <a:rPr lang="zh-CN" altLang="en-US" dirty="0"/>
              <a:t> </a:t>
            </a:r>
            <a:r>
              <a:rPr lang="en-AU" altLang="zh-CN" dirty="0"/>
              <a:t>Interest rate swaps</a:t>
            </a:r>
            <a:r>
              <a:rPr lang="en-US" dirty="0"/>
              <a:t> </a:t>
            </a:r>
          </a:p>
        </p:txBody>
      </p:sp>
      <p:sp>
        <p:nvSpPr>
          <p:cNvPr id="3" name="Content Placeholder 2">
            <a:extLst>
              <a:ext uri="{FF2B5EF4-FFF2-40B4-BE49-F238E27FC236}">
                <a16:creationId xmlns:a16="http://schemas.microsoft.com/office/drawing/2014/main" id="{FE204C92-5A04-653D-2C82-003ECFA0840B}"/>
              </a:ext>
            </a:extLst>
          </p:cNvPr>
          <p:cNvSpPr>
            <a:spLocks noGrp="1"/>
          </p:cNvSpPr>
          <p:nvPr>
            <p:ph idx="1"/>
          </p:nvPr>
        </p:nvSpPr>
        <p:spPr/>
        <p:txBody>
          <a:bodyPr/>
          <a:lstStyle/>
          <a:p>
            <a:r>
              <a:rPr lang="en-AU" u="sng" dirty="0"/>
              <a:t>Comparative advantage</a:t>
            </a:r>
            <a:r>
              <a:rPr lang="en-AU" dirty="0"/>
              <a:t>: To borrow where the firm has a relative cost advantage and then swap into its preferred interest-rate structure.</a:t>
            </a:r>
            <a:endParaRPr lang="en-US" dirty="0"/>
          </a:p>
          <a:p>
            <a:r>
              <a:rPr lang="en-AU" i="1" dirty="0"/>
              <a:t>Example: A company may be able to borrow relatively cheaply in the floating-rate market even though it ultimately wants fixed-rate debt.  </a:t>
            </a:r>
          </a:p>
          <a:p>
            <a:pPr marL="0" indent="0">
              <a:buNone/>
            </a:pPr>
            <a:r>
              <a:rPr lang="en-AU" b="1" dirty="0"/>
              <a:t>Four basic cases</a:t>
            </a:r>
            <a:endParaRPr lang="en-AU" dirty="0"/>
          </a:p>
          <a:p>
            <a:r>
              <a:rPr lang="en-AU" b="1" dirty="0"/>
              <a:t>Liabilities:</a:t>
            </a:r>
            <a:r>
              <a:rPr lang="en-AU" dirty="0"/>
              <a:t> floating → fixed; fixed → floating</a:t>
            </a:r>
          </a:p>
          <a:p>
            <a:r>
              <a:rPr lang="en-AU" b="1" dirty="0"/>
              <a:t>Assets:</a:t>
            </a:r>
            <a:r>
              <a:rPr lang="en-AU" dirty="0"/>
              <a:t> floating → fixed; fixed → floating</a:t>
            </a:r>
          </a:p>
          <a:p>
            <a:endParaRPr lang="en-US" i="1" dirty="0"/>
          </a:p>
        </p:txBody>
      </p:sp>
      <p:sp>
        <p:nvSpPr>
          <p:cNvPr id="4" name="Date Placeholder 3">
            <a:extLst>
              <a:ext uri="{FF2B5EF4-FFF2-40B4-BE49-F238E27FC236}">
                <a16:creationId xmlns:a16="http://schemas.microsoft.com/office/drawing/2014/main" id="{8EE21B1D-D6C6-7440-0072-837460C34A47}"/>
              </a:ext>
            </a:extLst>
          </p:cNvPr>
          <p:cNvSpPr>
            <a:spLocks noGrp="1"/>
          </p:cNvSpPr>
          <p:nvPr>
            <p:ph type="dt" sz="half" idx="10"/>
          </p:nvPr>
        </p:nvSpPr>
        <p:spPr/>
        <p:txBody>
          <a:bodyPr/>
          <a:lstStyle/>
          <a:p>
            <a:fld id="{E6C6EC1C-9A6F-7147-825E-180415D99713}" type="datetime1">
              <a:rPr lang="en-AU" smtClean="0"/>
              <a:t>28/8/2026</a:t>
            </a:fld>
            <a:endParaRPr lang="en-US"/>
          </a:p>
        </p:txBody>
      </p:sp>
      <p:sp>
        <p:nvSpPr>
          <p:cNvPr id="5" name="Footer Placeholder 4">
            <a:extLst>
              <a:ext uri="{FF2B5EF4-FFF2-40B4-BE49-F238E27FC236}">
                <a16:creationId xmlns:a16="http://schemas.microsoft.com/office/drawing/2014/main" id="{BE765679-06F6-E864-22F5-23EDA6B24B1F}"/>
              </a:ext>
            </a:extLst>
          </p:cNvPr>
          <p:cNvSpPr>
            <a:spLocks noGrp="1"/>
          </p:cNvSpPr>
          <p:nvPr>
            <p:ph type="ftr" sz="quarter" idx="11"/>
          </p:nvPr>
        </p:nvSpPr>
        <p:spPr/>
        <p:txBody>
          <a:bodyPr/>
          <a:lstStyle/>
          <a:p>
            <a:r>
              <a:rPr lang="en-US"/>
              <a:t>FINA2204 - Tutorial 5</a:t>
            </a:r>
          </a:p>
        </p:txBody>
      </p:sp>
      <p:sp>
        <p:nvSpPr>
          <p:cNvPr id="6" name="Slide Number Placeholder 5">
            <a:extLst>
              <a:ext uri="{FF2B5EF4-FFF2-40B4-BE49-F238E27FC236}">
                <a16:creationId xmlns:a16="http://schemas.microsoft.com/office/drawing/2014/main" id="{7EA8B68A-F4D6-F79D-7F3C-A023818C45E6}"/>
              </a:ext>
            </a:extLst>
          </p:cNvPr>
          <p:cNvSpPr>
            <a:spLocks noGrp="1"/>
          </p:cNvSpPr>
          <p:nvPr>
            <p:ph type="sldNum" sz="quarter" idx="12"/>
          </p:nvPr>
        </p:nvSpPr>
        <p:spPr/>
        <p:txBody>
          <a:bodyPr/>
          <a:lstStyle/>
          <a:p>
            <a:fld id="{9855740F-6ECD-274F-B089-6B266B6B07F9}" type="slidenum">
              <a:rPr lang="en-US" smtClean="0"/>
              <a:t>5</a:t>
            </a:fld>
            <a:endParaRPr lang="en-US"/>
          </a:p>
        </p:txBody>
      </p:sp>
    </p:spTree>
    <p:extLst>
      <p:ext uri="{BB962C8B-B14F-4D97-AF65-F5344CB8AC3E}">
        <p14:creationId xmlns:p14="http://schemas.microsoft.com/office/powerpoint/2010/main" val="32826259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ED993C-0A96-A0E2-6C9A-7B61826D45A5}"/>
              </a:ext>
            </a:extLst>
          </p:cNvPr>
          <p:cNvSpPr>
            <a:spLocks noGrp="1"/>
          </p:cNvSpPr>
          <p:nvPr>
            <p:ph type="title"/>
          </p:nvPr>
        </p:nvSpPr>
        <p:spPr/>
        <p:txBody>
          <a:bodyPr/>
          <a:lstStyle/>
          <a:p>
            <a:r>
              <a:rPr lang="en-US" dirty="0"/>
              <a:t>Recap: Transforming liabilities (case 1)</a:t>
            </a:r>
          </a:p>
        </p:txBody>
      </p:sp>
      <p:pic>
        <p:nvPicPr>
          <p:cNvPr id="5" name="Content Placeholder 4" descr="A white text on a black background&#10;&#10;AI-generated content may be incorrect.">
            <a:extLst>
              <a:ext uri="{FF2B5EF4-FFF2-40B4-BE49-F238E27FC236}">
                <a16:creationId xmlns:a16="http://schemas.microsoft.com/office/drawing/2014/main" id="{75C5FBBD-EFB8-1B4E-BA56-4B59AB4AAAB7}"/>
              </a:ext>
            </a:extLst>
          </p:cNvPr>
          <p:cNvPicPr>
            <a:picLocks noGrp="1" noChangeAspect="1"/>
          </p:cNvPicPr>
          <p:nvPr>
            <p:ph idx="1"/>
          </p:nvPr>
        </p:nvPicPr>
        <p:blipFill>
          <a:blip r:embed="rId3"/>
          <a:stretch>
            <a:fillRect/>
          </a:stretch>
        </p:blipFill>
        <p:spPr>
          <a:xfrm>
            <a:off x="1846553" y="1612038"/>
            <a:ext cx="8571192" cy="3178638"/>
          </a:xfrm>
        </p:spPr>
      </p:pic>
      <p:pic>
        <p:nvPicPr>
          <p:cNvPr id="7" name="Picture 6" descr="A diagram of a number of objects&#10;&#10;AI-generated content may be incorrect.">
            <a:extLst>
              <a:ext uri="{FF2B5EF4-FFF2-40B4-BE49-F238E27FC236}">
                <a16:creationId xmlns:a16="http://schemas.microsoft.com/office/drawing/2014/main" id="{32AA9100-B6C8-2339-966D-BE7FA1A1A43B}"/>
              </a:ext>
            </a:extLst>
          </p:cNvPr>
          <p:cNvPicPr>
            <a:picLocks noChangeAspect="1"/>
          </p:cNvPicPr>
          <p:nvPr/>
        </p:nvPicPr>
        <p:blipFill>
          <a:blip r:embed="rId4"/>
          <a:stretch>
            <a:fillRect/>
          </a:stretch>
        </p:blipFill>
        <p:spPr>
          <a:xfrm>
            <a:off x="2906031" y="4777342"/>
            <a:ext cx="6379936" cy="2015344"/>
          </a:xfrm>
          <a:prstGeom prst="rect">
            <a:avLst/>
          </a:prstGeom>
        </p:spPr>
      </p:pic>
      <p:cxnSp>
        <p:nvCxnSpPr>
          <p:cNvPr id="4" name="Straight Connector 3">
            <a:extLst>
              <a:ext uri="{FF2B5EF4-FFF2-40B4-BE49-F238E27FC236}">
                <a16:creationId xmlns:a16="http://schemas.microsoft.com/office/drawing/2014/main" id="{449F39B8-5717-5779-D730-1FF3C5CC68AF}"/>
              </a:ext>
            </a:extLst>
          </p:cNvPr>
          <p:cNvCxnSpPr>
            <a:cxnSpLocks/>
          </p:cNvCxnSpPr>
          <p:nvPr/>
        </p:nvCxnSpPr>
        <p:spPr>
          <a:xfrm>
            <a:off x="5529943" y="1948543"/>
            <a:ext cx="4517571" cy="0"/>
          </a:xfrm>
          <a:prstGeom prst="line">
            <a:avLst/>
          </a:prstGeom>
        </p:spPr>
        <p:style>
          <a:lnRef idx="2">
            <a:schemeClr val="accent1"/>
          </a:lnRef>
          <a:fillRef idx="0">
            <a:schemeClr val="accent1"/>
          </a:fillRef>
          <a:effectRef idx="1">
            <a:schemeClr val="accent1"/>
          </a:effectRef>
          <a:fontRef idx="minor">
            <a:schemeClr val="tx1"/>
          </a:fontRef>
        </p:style>
      </p:cxnSp>
      <p:sp>
        <p:nvSpPr>
          <p:cNvPr id="11" name="TextBox 10">
            <a:extLst>
              <a:ext uri="{FF2B5EF4-FFF2-40B4-BE49-F238E27FC236}">
                <a16:creationId xmlns:a16="http://schemas.microsoft.com/office/drawing/2014/main" id="{4C5C5372-C049-931F-0A5A-E8A26CD9C3BF}"/>
              </a:ext>
            </a:extLst>
          </p:cNvPr>
          <p:cNvSpPr txBox="1"/>
          <p:nvPr/>
        </p:nvSpPr>
        <p:spPr>
          <a:xfrm>
            <a:off x="6653893" y="1321356"/>
            <a:ext cx="3061607" cy="369332"/>
          </a:xfrm>
          <a:prstGeom prst="rect">
            <a:avLst/>
          </a:prstGeom>
          <a:noFill/>
        </p:spPr>
        <p:txBody>
          <a:bodyPr wrap="square">
            <a:spAutoFit/>
          </a:bodyPr>
          <a:lstStyle/>
          <a:p>
            <a:r>
              <a:rPr lang="en-AU" dirty="0">
                <a:highlight>
                  <a:srgbClr val="FFFF00"/>
                </a:highlight>
              </a:rPr>
              <a:t>Liabilities: floating → fixed</a:t>
            </a:r>
            <a:endParaRPr lang="en-US" dirty="0">
              <a:highlight>
                <a:srgbClr val="FFFF00"/>
              </a:highlight>
            </a:endParaRPr>
          </a:p>
        </p:txBody>
      </p:sp>
      <p:sp>
        <p:nvSpPr>
          <p:cNvPr id="17" name="TextBox 16">
            <a:extLst>
              <a:ext uri="{FF2B5EF4-FFF2-40B4-BE49-F238E27FC236}">
                <a16:creationId xmlns:a16="http://schemas.microsoft.com/office/drawing/2014/main" id="{39CBB7BF-1144-3E25-427B-87258D047C6A}"/>
              </a:ext>
            </a:extLst>
          </p:cNvPr>
          <p:cNvSpPr txBox="1"/>
          <p:nvPr/>
        </p:nvSpPr>
        <p:spPr>
          <a:xfrm>
            <a:off x="9886644" y="3472191"/>
            <a:ext cx="300082" cy="369332"/>
          </a:xfrm>
          <a:prstGeom prst="rect">
            <a:avLst/>
          </a:prstGeom>
          <a:noFill/>
        </p:spPr>
        <p:txBody>
          <a:bodyPr wrap="none" rtlCol="0">
            <a:spAutoFit/>
          </a:bodyPr>
          <a:lstStyle/>
          <a:p>
            <a:r>
              <a:rPr lang="en-US" dirty="0">
                <a:solidFill>
                  <a:srgbClr val="FF0000"/>
                </a:solidFill>
              </a:rPr>
              <a:t>?</a:t>
            </a:r>
          </a:p>
        </p:txBody>
      </p:sp>
      <p:sp>
        <p:nvSpPr>
          <p:cNvPr id="18" name="Oval 17">
            <a:extLst>
              <a:ext uri="{FF2B5EF4-FFF2-40B4-BE49-F238E27FC236}">
                <a16:creationId xmlns:a16="http://schemas.microsoft.com/office/drawing/2014/main" id="{2E60E4DF-3EE7-FFD7-4E4A-29D748D01659}"/>
              </a:ext>
            </a:extLst>
          </p:cNvPr>
          <p:cNvSpPr/>
          <p:nvPr/>
        </p:nvSpPr>
        <p:spPr>
          <a:xfrm>
            <a:off x="3004457" y="2198914"/>
            <a:ext cx="2982686" cy="315686"/>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CD3BD47B-D575-47ED-F0A7-5BD0376E158E}"/>
              </a:ext>
            </a:extLst>
          </p:cNvPr>
          <p:cNvSpPr txBox="1"/>
          <p:nvPr/>
        </p:nvSpPr>
        <p:spPr>
          <a:xfrm>
            <a:off x="838200" y="2329934"/>
            <a:ext cx="1230202" cy="369332"/>
          </a:xfrm>
          <a:prstGeom prst="rect">
            <a:avLst/>
          </a:prstGeom>
          <a:noFill/>
        </p:spPr>
        <p:txBody>
          <a:bodyPr wrap="square">
            <a:spAutoFit/>
          </a:bodyPr>
          <a:lstStyle/>
          <a:p>
            <a:r>
              <a:rPr lang="en-AU" dirty="0">
                <a:highlight>
                  <a:srgbClr val="FFFF00"/>
                </a:highlight>
              </a:rPr>
              <a:t>floating</a:t>
            </a:r>
            <a:endParaRPr lang="en-US" dirty="0"/>
          </a:p>
        </p:txBody>
      </p:sp>
      <p:cxnSp>
        <p:nvCxnSpPr>
          <p:cNvPr id="22" name="Straight Arrow Connector 21">
            <a:extLst>
              <a:ext uri="{FF2B5EF4-FFF2-40B4-BE49-F238E27FC236}">
                <a16:creationId xmlns:a16="http://schemas.microsoft.com/office/drawing/2014/main" id="{D57FCEFF-5E9F-B334-7707-F5CF77E0A63C}"/>
              </a:ext>
            </a:extLst>
          </p:cNvPr>
          <p:cNvCxnSpPr>
            <a:cxnSpLocks/>
          </p:cNvCxnSpPr>
          <p:nvPr/>
        </p:nvCxnSpPr>
        <p:spPr>
          <a:xfrm flipH="1">
            <a:off x="1748127" y="2482074"/>
            <a:ext cx="1157904" cy="54297"/>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25" name="TextBox 24">
            <a:extLst>
              <a:ext uri="{FF2B5EF4-FFF2-40B4-BE49-F238E27FC236}">
                <a16:creationId xmlns:a16="http://schemas.microsoft.com/office/drawing/2014/main" id="{5A201F01-3232-3B35-B95B-DBF468F1D91D}"/>
              </a:ext>
            </a:extLst>
          </p:cNvPr>
          <p:cNvSpPr txBox="1"/>
          <p:nvPr/>
        </p:nvSpPr>
        <p:spPr>
          <a:xfrm>
            <a:off x="9221214" y="3472191"/>
            <a:ext cx="744946" cy="369332"/>
          </a:xfrm>
          <a:prstGeom prst="rect">
            <a:avLst/>
          </a:prstGeom>
          <a:noFill/>
        </p:spPr>
        <p:txBody>
          <a:bodyPr wrap="square">
            <a:spAutoFit/>
          </a:bodyPr>
          <a:lstStyle/>
          <a:p>
            <a:r>
              <a:rPr lang="en-AU" dirty="0">
                <a:highlight>
                  <a:srgbClr val="FFFF00"/>
                </a:highlight>
              </a:rPr>
              <a:t>fixed</a:t>
            </a:r>
            <a:endParaRPr lang="en-US" dirty="0"/>
          </a:p>
        </p:txBody>
      </p:sp>
      <p:cxnSp>
        <p:nvCxnSpPr>
          <p:cNvPr id="26" name="Straight Arrow Connector 25">
            <a:extLst>
              <a:ext uri="{FF2B5EF4-FFF2-40B4-BE49-F238E27FC236}">
                <a16:creationId xmlns:a16="http://schemas.microsoft.com/office/drawing/2014/main" id="{36CBE693-C0B0-7941-9199-8E5EE9762901}"/>
              </a:ext>
            </a:extLst>
          </p:cNvPr>
          <p:cNvCxnSpPr>
            <a:cxnSpLocks/>
          </p:cNvCxnSpPr>
          <p:nvPr/>
        </p:nvCxnSpPr>
        <p:spPr>
          <a:xfrm flipV="1">
            <a:off x="8585396" y="3660563"/>
            <a:ext cx="592977" cy="234502"/>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29" name="Oval 28">
            <a:extLst>
              <a:ext uri="{FF2B5EF4-FFF2-40B4-BE49-F238E27FC236}">
                <a16:creationId xmlns:a16="http://schemas.microsoft.com/office/drawing/2014/main" id="{E8B2CBF9-445A-686B-DF6C-1A8216D4EB0E}"/>
              </a:ext>
            </a:extLst>
          </p:cNvPr>
          <p:cNvSpPr/>
          <p:nvPr/>
        </p:nvSpPr>
        <p:spPr>
          <a:xfrm>
            <a:off x="6096000" y="3931659"/>
            <a:ext cx="3082373" cy="371076"/>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Date Placeholder 31">
            <a:extLst>
              <a:ext uri="{FF2B5EF4-FFF2-40B4-BE49-F238E27FC236}">
                <a16:creationId xmlns:a16="http://schemas.microsoft.com/office/drawing/2014/main" id="{2AFB70F6-E5E2-DC66-9521-7EA4E2DFEF23}"/>
              </a:ext>
            </a:extLst>
          </p:cNvPr>
          <p:cNvSpPr>
            <a:spLocks noGrp="1"/>
          </p:cNvSpPr>
          <p:nvPr>
            <p:ph type="dt" sz="half" idx="10"/>
          </p:nvPr>
        </p:nvSpPr>
        <p:spPr/>
        <p:txBody>
          <a:bodyPr/>
          <a:lstStyle/>
          <a:p>
            <a:fld id="{0418DFDB-13B3-5E49-8B77-FFC6BA345499}" type="datetime1">
              <a:rPr lang="en-AU" smtClean="0"/>
              <a:t>28/8/2026</a:t>
            </a:fld>
            <a:endParaRPr lang="en-US"/>
          </a:p>
        </p:txBody>
      </p:sp>
      <p:sp>
        <p:nvSpPr>
          <p:cNvPr id="33" name="Footer Placeholder 32">
            <a:extLst>
              <a:ext uri="{FF2B5EF4-FFF2-40B4-BE49-F238E27FC236}">
                <a16:creationId xmlns:a16="http://schemas.microsoft.com/office/drawing/2014/main" id="{4D06FB57-4A6B-2072-B5B9-5CB5D3B8250B}"/>
              </a:ext>
            </a:extLst>
          </p:cNvPr>
          <p:cNvSpPr>
            <a:spLocks noGrp="1"/>
          </p:cNvSpPr>
          <p:nvPr>
            <p:ph type="ftr" sz="quarter" idx="11"/>
          </p:nvPr>
        </p:nvSpPr>
        <p:spPr/>
        <p:txBody>
          <a:bodyPr/>
          <a:lstStyle/>
          <a:p>
            <a:r>
              <a:rPr lang="en-US"/>
              <a:t>FINA2204 - Tutorial 5</a:t>
            </a:r>
          </a:p>
        </p:txBody>
      </p:sp>
      <p:sp>
        <p:nvSpPr>
          <p:cNvPr id="34" name="Slide Number Placeholder 33">
            <a:extLst>
              <a:ext uri="{FF2B5EF4-FFF2-40B4-BE49-F238E27FC236}">
                <a16:creationId xmlns:a16="http://schemas.microsoft.com/office/drawing/2014/main" id="{D6B448F4-85BA-1D8F-C1BC-88EA85FC5ED4}"/>
              </a:ext>
            </a:extLst>
          </p:cNvPr>
          <p:cNvSpPr>
            <a:spLocks noGrp="1"/>
          </p:cNvSpPr>
          <p:nvPr>
            <p:ph type="sldNum" sz="quarter" idx="12"/>
          </p:nvPr>
        </p:nvSpPr>
        <p:spPr/>
        <p:txBody>
          <a:bodyPr/>
          <a:lstStyle/>
          <a:p>
            <a:fld id="{9855740F-6ECD-274F-B089-6B266B6B07F9}" type="slidenum">
              <a:rPr lang="en-US" smtClean="0"/>
              <a:t>6</a:t>
            </a:fld>
            <a:endParaRPr lang="en-US"/>
          </a:p>
        </p:txBody>
      </p:sp>
    </p:spTree>
    <p:extLst>
      <p:ext uri="{BB962C8B-B14F-4D97-AF65-F5344CB8AC3E}">
        <p14:creationId xmlns:p14="http://schemas.microsoft.com/office/powerpoint/2010/main" val="37194839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8"/>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0"/>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9"/>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6"/>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5"/>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7" grpId="0"/>
      <p:bldP spid="18" grpId="0" animBg="1"/>
      <p:bldP spid="20" grpId="0"/>
      <p:bldP spid="25" grpId="0"/>
      <p:bldP spid="29"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34ECEF-A8C5-FB83-7B08-1914A9BC2D09}"/>
              </a:ext>
            </a:extLst>
          </p:cNvPr>
          <p:cNvSpPr>
            <a:spLocks noGrp="1"/>
          </p:cNvSpPr>
          <p:nvPr>
            <p:ph type="title"/>
          </p:nvPr>
        </p:nvSpPr>
        <p:spPr/>
        <p:txBody>
          <a:bodyPr/>
          <a:lstStyle/>
          <a:p>
            <a:r>
              <a:rPr lang="en-US" dirty="0"/>
              <a:t>Recap: Transforming liabilities (case 1)</a:t>
            </a:r>
          </a:p>
        </p:txBody>
      </p:sp>
      <p:graphicFrame>
        <p:nvGraphicFramePr>
          <p:cNvPr id="6" name="Table 5">
            <a:extLst>
              <a:ext uri="{FF2B5EF4-FFF2-40B4-BE49-F238E27FC236}">
                <a16:creationId xmlns:a16="http://schemas.microsoft.com/office/drawing/2014/main" id="{522B34D3-2F93-68CF-D39F-083A6850C60F}"/>
              </a:ext>
            </a:extLst>
          </p:cNvPr>
          <p:cNvGraphicFramePr>
            <a:graphicFrameLocks noGrp="1"/>
          </p:cNvGraphicFramePr>
          <p:nvPr>
            <p:extLst>
              <p:ext uri="{D42A27DB-BD31-4B8C-83A1-F6EECF244321}">
                <p14:modId xmlns:p14="http://schemas.microsoft.com/office/powerpoint/2010/main" val="3756995175"/>
              </p:ext>
            </p:extLst>
          </p:nvPr>
        </p:nvGraphicFramePr>
        <p:xfrm>
          <a:off x="1462314" y="2100348"/>
          <a:ext cx="9267372" cy="2657304"/>
        </p:xfrm>
        <a:graphic>
          <a:graphicData uri="http://schemas.openxmlformats.org/drawingml/2006/table">
            <a:tbl>
              <a:tblPr firstRow="1" bandRow="1">
                <a:tableStyleId>{5C22544A-7EE6-4342-B048-85BDC9FD1C3A}</a:tableStyleId>
              </a:tblPr>
              <a:tblGrid>
                <a:gridCol w="4633686">
                  <a:extLst>
                    <a:ext uri="{9D8B030D-6E8A-4147-A177-3AD203B41FA5}">
                      <a16:colId xmlns:a16="http://schemas.microsoft.com/office/drawing/2014/main" val="2526249316"/>
                    </a:ext>
                  </a:extLst>
                </a:gridCol>
                <a:gridCol w="4633686">
                  <a:extLst>
                    <a:ext uri="{9D8B030D-6E8A-4147-A177-3AD203B41FA5}">
                      <a16:colId xmlns:a16="http://schemas.microsoft.com/office/drawing/2014/main" val="1447776887"/>
                    </a:ext>
                  </a:extLst>
                </a:gridCol>
              </a:tblGrid>
              <a:tr h="504306">
                <a:tc>
                  <a:txBody>
                    <a:bodyPr/>
                    <a:lstStyle/>
                    <a:p>
                      <a:endParaRPr lang="en-US" dirty="0"/>
                    </a:p>
                  </a:txBody>
                  <a:tcPr/>
                </a:tc>
                <a:tc>
                  <a:txBody>
                    <a:bodyPr/>
                    <a:lstStyle/>
                    <a:p>
                      <a:r>
                        <a:rPr lang="en-US" dirty="0"/>
                        <a:t>Apple</a:t>
                      </a:r>
                    </a:p>
                  </a:txBody>
                  <a:tcPr/>
                </a:tc>
                <a:extLst>
                  <a:ext uri="{0D108BD9-81ED-4DB2-BD59-A6C34878D82A}">
                    <a16:rowId xmlns:a16="http://schemas.microsoft.com/office/drawing/2014/main" val="1633824453"/>
                  </a:ext>
                </a:extLst>
              </a:tr>
              <a:tr h="504306">
                <a:tc>
                  <a:txBody>
                    <a:bodyPr/>
                    <a:lstStyle/>
                    <a:p>
                      <a:r>
                        <a:rPr lang="en-US" b="1" dirty="0"/>
                        <a:t>Borrowing</a:t>
                      </a:r>
                      <a:r>
                        <a:rPr lang="en-US" dirty="0"/>
                        <a:t> from its outside lenders</a:t>
                      </a:r>
                      <a:r>
                        <a:rPr lang="zh-CN" altLang="en-US" dirty="0"/>
                        <a:t> </a:t>
                      </a:r>
                      <a:r>
                        <a:rPr lang="en-US" dirty="0"/>
                        <a:t>(+)</a:t>
                      </a:r>
                    </a:p>
                  </a:txBody>
                  <a:tcPr/>
                </a:tc>
                <a:tc>
                  <a:txBody>
                    <a:bodyPr/>
                    <a:lstStyle/>
                    <a:p>
                      <a:r>
                        <a:rPr lang="en-US" dirty="0"/>
                        <a:t>LIBOR+0.1%</a:t>
                      </a:r>
                    </a:p>
                  </a:txBody>
                  <a:tcPr/>
                </a:tc>
                <a:extLst>
                  <a:ext uri="{0D108BD9-81ED-4DB2-BD59-A6C34878D82A}">
                    <a16:rowId xmlns:a16="http://schemas.microsoft.com/office/drawing/2014/main" val="483567150"/>
                  </a:ext>
                </a:extLst>
              </a:tr>
              <a:tr h="504306">
                <a:tc>
                  <a:txBody>
                    <a:bodyPr/>
                    <a:lstStyle/>
                    <a:p>
                      <a:r>
                        <a:rPr lang="en-US" dirty="0"/>
                        <a:t>Swap: </a:t>
                      </a:r>
                      <a:r>
                        <a:rPr lang="en-US" b="1" dirty="0"/>
                        <a:t>Pay</a:t>
                      </a:r>
                      <a:r>
                        <a:rPr lang="en-US" dirty="0"/>
                        <a:t> Citigroup (+)</a:t>
                      </a:r>
                    </a:p>
                  </a:txBody>
                  <a:tcPr/>
                </a:tc>
                <a:tc>
                  <a:txBody>
                    <a:bodyPr/>
                    <a:lstStyle/>
                    <a:p>
                      <a:r>
                        <a:rPr lang="en-US" dirty="0"/>
                        <a:t>3.0%</a:t>
                      </a:r>
                    </a:p>
                  </a:txBody>
                  <a:tcPr/>
                </a:tc>
                <a:extLst>
                  <a:ext uri="{0D108BD9-81ED-4DB2-BD59-A6C34878D82A}">
                    <a16:rowId xmlns:a16="http://schemas.microsoft.com/office/drawing/2014/main" val="2509369450"/>
                  </a:ext>
                </a:extLst>
              </a:tr>
              <a:tr h="504306">
                <a:tc>
                  <a:txBody>
                    <a:bodyPr/>
                    <a:lstStyle/>
                    <a:p>
                      <a:r>
                        <a:rPr lang="en-US" dirty="0"/>
                        <a:t>              </a:t>
                      </a:r>
                      <a:r>
                        <a:rPr lang="en-US" b="1" dirty="0"/>
                        <a:t>Receive</a:t>
                      </a:r>
                      <a:r>
                        <a:rPr lang="en-US" dirty="0"/>
                        <a:t> from Citigroup (-)</a:t>
                      </a:r>
                    </a:p>
                  </a:txBody>
                  <a:tcPr/>
                </a:tc>
                <a:tc>
                  <a:txBody>
                    <a:bodyPr/>
                    <a:lstStyle/>
                    <a:p>
                      <a:r>
                        <a:rPr lang="en-US" dirty="0"/>
                        <a:t>LIBOR</a:t>
                      </a:r>
                    </a:p>
                  </a:txBody>
                  <a:tcPr/>
                </a:tc>
                <a:extLst>
                  <a:ext uri="{0D108BD9-81ED-4DB2-BD59-A6C34878D82A}">
                    <a16:rowId xmlns:a16="http://schemas.microsoft.com/office/drawing/2014/main" val="1821861321"/>
                  </a:ext>
                </a:extLst>
              </a:tr>
              <a:tr h="504306">
                <a:tc>
                  <a:txBody>
                    <a:bodyPr/>
                    <a:lstStyle/>
                    <a:p>
                      <a:r>
                        <a:rPr lang="en-US" dirty="0"/>
                        <a:t>Net </a:t>
                      </a:r>
                      <a:r>
                        <a:rPr lang="en-US" b="1" dirty="0"/>
                        <a:t>cost</a:t>
                      </a:r>
                      <a:r>
                        <a:rPr lang="en-US" dirty="0"/>
                        <a:t> of borrowing</a:t>
                      </a:r>
                    </a:p>
                  </a:txBody>
                  <a:tcPr/>
                </a:tc>
                <a:tc>
                  <a:txBody>
                    <a:bodyPr/>
                    <a:lstStyle/>
                    <a:p>
                      <a:r>
                        <a:rPr lang="en-US" b="1" dirty="0"/>
                        <a:t>3.1%</a:t>
                      </a:r>
                    </a:p>
                    <a:p>
                      <a:r>
                        <a:rPr lang="en-US" dirty="0"/>
                        <a:t>=[(LIBOR+0.1%)+3.0%-(LIBOR)]</a:t>
                      </a:r>
                    </a:p>
                  </a:txBody>
                  <a:tcPr/>
                </a:tc>
                <a:extLst>
                  <a:ext uri="{0D108BD9-81ED-4DB2-BD59-A6C34878D82A}">
                    <a16:rowId xmlns:a16="http://schemas.microsoft.com/office/drawing/2014/main" val="4073212660"/>
                  </a:ext>
                </a:extLst>
              </a:tr>
            </a:tbl>
          </a:graphicData>
        </a:graphic>
      </p:graphicFrame>
      <p:cxnSp>
        <p:nvCxnSpPr>
          <p:cNvPr id="8" name="Straight Connector 7">
            <a:extLst>
              <a:ext uri="{FF2B5EF4-FFF2-40B4-BE49-F238E27FC236}">
                <a16:creationId xmlns:a16="http://schemas.microsoft.com/office/drawing/2014/main" id="{F3DD3C91-59D9-8A10-491D-58A74AF44B39}"/>
              </a:ext>
            </a:extLst>
          </p:cNvPr>
          <p:cNvCxnSpPr/>
          <p:nvPr/>
        </p:nvCxnSpPr>
        <p:spPr>
          <a:xfrm>
            <a:off x="6466114" y="4441371"/>
            <a:ext cx="664028" cy="41365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45048336-9B59-1989-6B77-120BBDAD1D7A}"/>
              </a:ext>
            </a:extLst>
          </p:cNvPr>
          <p:cNvCxnSpPr/>
          <p:nvPr/>
        </p:nvCxnSpPr>
        <p:spPr>
          <a:xfrm>
            <a:off x="8523514" y="4441371"/>
            <a:ext cx="664028" cy="41365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10" name="Date Placeholder 9">
            <a:extLst>
              <a:ext uri="{FF2B5EF4-FFF2-40B4-BE49-F238E27FC236}">
                <a16:creationId xmlns:a16="http://schemas.microsoft.com/office/drawing/2014/main" id="{0C68E6CE-C4CE-B116-5999-F3C4F5A6A856}"/>
              </a:ext>
            </a:extLst>
          </p:cNvPr>
          <p:cNvSpPr>
            <a:spLocks noGrp="1"/>
          </p:cNvSpPr>
          <p:nvPr>
            <p:ph type="dt" sz="half" idx="10"/>
          </p:nvPr>
        </p:nvSpPr>
        <p:spPr/>
        <p:txBody>
          <a:bodyPr/>
          <a:lstStyle/>
          <a:p>
            <a:fld id="{D4E132E5-E3E2-104B-BAC4-E39E3ABFA46E}" type="datetime1">
              <a:rPr lang="en-AU" smtClean="0"/>
              <a:t>28/8/2026</a:t>
            </a:fld>
            <a:endParaRPr lang="en-US"/>
          </a:p>
        </p:txBody>
      </p:sp>
      <p:sp>
        <p:nvSpPr>
          <p:cNvPr id="11" name="Footer Placeholder 10">
            <a:extLst>
              <a:ext uri="{FF2B5EF4-FFF2-40B4-BE49-F238E27FC236}">
                <a16:creationId xmlns:a16="http://schemas.microsoft.com/office/drawing/2014/main" id="{A3C132BA-CEBA-2DA1-08DA-98F267FE3DC4}"/>
              </a:ext>
            </a:extLst>
          </p:cNvPr>
          <p:cNvSpPr>
            <a:spLocks noGrp="1"/>
          </p:cNvSpPr>
          <p:nvPr>
            <p:ph type="ftr" sz="quarter" idx="11"/>
          </p:nvPr>
        </p:nvSpPr>
        <p:spPr/>
        <p:txBody>
          <a:bodyPr/>
          <a:lstStyle/>
          <a:p>
            <a:r>
              <a:rPr lang="en-US"/>
              <a:t>FINA2204 - Tutorial 5</a:t>
            </a:r>
          </a:p>
        </p:txBody>
      </p:sp>
      <p:sp>
        <p:nvSpPr>
          <p:cNvPr id="13" name="Slide Number Placeholder 12">
            <a:extLst>
              <a:ext uri="{FF2B5EF4-FFF2-40B4-BE49-F238E27FC236}">
                <a16:creationId xmlns:a16="http://schemas.microsoft.com/office/drawing/2014/main" id="{A3E1A1C2-B31A-78F9-7D0B-A8A15393B553}"/>
              </a:ext>
            </a:extLst>
          </p:cNvPr>
          <p:cNvSpPr>
            <a:spLocks noGrp="1"/>
          </p:cNvSpPr>
          <p:nvPr>
            <p:ph type="sldNum" sz="quarter" idx="12"/>
          </p:nvPr>
        </p:nvSpPr>
        <p:spPr/>
        <p:txBody>
          <a:bodyPr/>
          <a:lstStyle/>
          <a:p>
            <a:fld id="{9855740F-6ECD-274F-B089-6B266B6B07F9}" type="slidenum">
              <a:rPr lang="en-US" smtClean="0"/>
              <a:t>7</a:t>
            </a:fld>
            <a:endParaRPr lang="en-US"/>
          </a:p>
        </p:txBody>
      </p:sp>
    </p:spTree>
    <p:extLst>
      <p:ext uri="{BB962C8B-B14F-4D97-AF65-F5344CB8AC3E}">
        <p14:creationId xmlns:p14="http://schemas.microsoft.com/office/powerpoint/2010/main" val="12708142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54E616-124B-E358-6366-CCAA50F92CFD}"/>
              </a:ext>
            </a:extLst>
          </p:cNvPr>
          <p:cNvSpPr>
            <a:spLocks noGrp="1"/>
          </p:cNvSpPr>
          <p:nvPr>
            <p:ph type="title"/>
          </p:nvPr>
        </p:nvSpPr>
        <p:spPr/>
        <p:txBody>
          <a:bodyPr/>
          <a:lstStyle/>
          <a:p>
            <a:r>
              <a:rPr lang="en-US" dirty="0"/>
              <a:t>Recap: Transforming liabilities (case 2)</a:t>
            </a:r>
          </a:p>
        </p:txBody>
      </p:sp>
      <p:pic>
        <p:nvPicPr>
          <p:cNvPr id="5" name="Content Placeholder 4" descr="A text on a white background&#10;&#10;AI-generated content may be incorrect.">
            <a:extLst>
              <a:ext uri="{FF2B5EF4-FFF2-40B4-BE49-F238E27FC236}">
                <a16:creationId xmlns:a16="http://schemas.microsoft.com/office/drawing/2014/main" id="{415D46CB-39C1-7735-4D3D-FC52E0A94A57}"/>
              </a:ext>
            </a:extLst>
          </p:cNvPr>
          <p:cNvPicPr>
            <a:picLocks noGrp="1" noChangeAspect="1"/>
          </p:cNvPicPr>
          <p:nvPr>
            <p:ph idx="1"/>
          </p:nvPr>
        </p:nvPicPr>
        <p:blipFill>
          <a:blip r:embed="rId3"/>
          <a:stretch>
            <a:fillRect/>
          </a:stretch>
        </p:blipFill>
        <p:spPr>
          <a:xfrm>
            <a:off x="19912" y="1614921"/>
            <a:ext cx="7841343" cy="2473214"/>
          </a:xfrm>
        </p:spPr>
      </p:pic>
      <p:pic>
        <p:nvPicPr>
          <p:cNvPr id="9" name="Picture 8" descr="A close up of text&#10;&#10;AI-generated content may be incorrect.">
            <a:extLst>
              <a:ext uri="{FF2B5EF4-FFF2-40B4-BE49-F238E27FC236}">
                <a16:creationId xmlns:a16="http://schemas.microsoft.com/office/drawing/2014/main" id="{0282E184-FCE3-6525-FC8E-AA2AE8E9116B}"/>
              </a:ext>
            </a:extLst>
          </p:cNvPr>
          <p:cNvPicPr>
            <a:picLocks noChangeAspect="1"/>
          </p:cNvPicPr>
          <p:nvPr/>
        </p:nvPicPr>
        <p:blipFill>
          <a:blip r:embed="rId4"/>
          <a:stretch>
            <a:fillRect/>
          </a:stretch>
        </p:blipFill>
        <p:spPr>
          <a:xfrm>
            <a:off x="19912" y="4012367"/>
            <a:ext cx="8207102" cy="1194405"/>
          </a:xfrm>
          <a:prstGeom prst="rect">
            <a:avLst/>
          </a:prstGeom>
        </p:spPr>
      </p:pic>
      <p:pic>
        <p:nvPicPr>
          <p:cNvPr id="11" name="Picture 10" descr="A diagram of a machine&#10;&#10;AI-generated content may be incorrect.">
            <a:extLst>
              <a:ext uri="{FF2B5EF4-FFF2-40B4-BE49-F238E27FC236}">
                <a16:creationId xmlns:a16="http://schemas.microsoft.com/office/drawing/2014/main" id="{7DD49F86-B318-DF23-2CD1-A80CBB428873}"/>
              </a:ext>
            </a:extLst>
          </p:cNvPr>
          <p:cNvPicPr>
            <a:picLocks noChangeAspect="1"/>
          </p:cNvPicPr>
          <p:nvPr/>
        </p:nvPicPr>
        <p:blipFill>
          <a:blip r:embed="rId5"/>
          <a:stretch>
            <a:fillRect/>
          </a:stretch>
        </p:blipFill>
        <p:spPr>
          <a:xfrm>
            <a:off x="561364" y="5206772"/>
            <a:ext cx="6802074" cy="1651228"/>
          </a:xfrm>
          <a:prstGeom prst="rect">
            <a:avLst/>
          </a:prstGeom>
        </p:spPr>
      </p:pic>
      <p:sp>
        <p:nvSpPr>
          <p:cNvPr id="3" name="TextBox 2">
            <a:extLst>
              <a:ext uri="{FF2B5EF4-FFF2-40B4-BE49-F238E27FC236}">
                <a16:creationId xmlns:a16="http://schemas.microsoft.com/office/drawing/2014/main" id="{28457262-AB48-B54E-8A8B-3E48670F18F4}"/>
              </a:ext>
            </a:extLst>
          </p:cNvPr>
          <p:cNvSpPr txBox="1"/>
          <p:nvPr/>
        </p:nvSpPr>
        <p:spPr>
          <a:xfrm>
            <a:off x="4837000" y="1245589"/>
            <a:ext cx="3061607" cy="369332"/>
          </a:xfrm>
          <a:prstGeom prst="rect">
            <a:avLst/>
          </a:prstGeom>
          <a:noFill/>
        </p:spPr>
        <p:txBody>
          <a:bodyPr wrap="square">
            <a:spAutoFit/>
          </a:bodyPr>
          <a:lstStyle/>
          <a:p>
            <a:r>
              <a:rPr lang="en-AU" dirty="0">
                <a:highlight>
                  <a:srgbClr val="FFFF00"/>
                </a:highlight>
              </a:rPr>
              <a:t>Liabilities: fixed → floating</a:t>
            </a:r>
            <a:endParaRPr lang="en-US" dirty="0">
              <a:highlight>
                <a:srgbClr val="FFFF00"/>
              </a:highlight>
            </a:endParaRPr>
          </a:p>
        </p:txBody>
      </p:sp>
      <p:cxnSp>
        <p:nvCxnSpPr>
          <p:cNvPr id="6" name="Straight Connector 5">
            <a:extLst>
              <a:ext uri="{FF2B5EF4-FFF2-40B4-BE49-F238E27FC236}">
                <a16:creationId xmlns:a16="http://schemas.microsoft.com/office/drawing/2014/main" id="{4A6266AA-68A3-2EB2-901F-E2BDA847CA91}"/>
              </a:ext>
            </a:extLst>
          </p:cNvPr>
          <p:cNvCxnSpPr>
            <a:cxnSpLocks/>
          </p:cNvCxnSpPr>
          <p:nvPr/>
        </p:nvCxnSpPr>
        <p:spPr>
          <a:xfrm>
            <a:off x="3254829" y="1817914"/>
            <a:ext cx="4288971" cy="0"/>
          </a:xfrm>
          <a:prstGeom prst="line">
            <a:avLst/>
          </a:prstGeom>
        </p:spPr>
        <p:style>
          <a:lnRef idx="2">
            <a:schemeClr val="accent1"/>
          </a:lnRef>
          <a:fillRef idx="0">
            <a:schemeClr val="accent1"/>
          </a:fillRef>
          <a:effectRef idx="1">
            <a:schemeClr val="accent1"/>
          </a:effectRef>
          <a:fontRef idx="minor">
            <a:schemeClr val="tx1"/>
          </a:fontRef>
        </p:style>
      </p:cxnSp>
      <p:graphicFrame>
        <p:nvGraphicFramePr>
          <p:cNvPr id="22" name="Table 21">
            <a:extLst>
              <a:ext uri="{FF2B5EF4-FFF2-40B4-BE49-F238E27FC236}">
                <a16:creationId xmlns:a16="http://schemas.microsoft.com/office/drawing/2014/main" id="{61AC2B17-281C-FAEF-6116-8F00EF0703ED}"/>
              </a:ext>
            </a:extLst>
          </p:cNvPr>
          <p:cNvGraphicFramePr>
            <a:graphicFrameLocks noGrp="1"/>
          </p:cNvGraphicFramePr>
          <p:nvPr>
            <p:extLst>
              <p:ext uri="{D42A27DB-BD31-4B8C-83A1-F6EECF244321}">
                <p14:modId xmlns:p14="http://schemas.microsoft.com/office/powerpoint/2010/main" val="155317342"/>
              </p:ext>
            </p:extLst>
          </p:nvPr>
        </p:nvGraphicFramePr>
        <p:xfrm>
          <a:off x="7898607" y="1690688"/>
          <a:ext cx="4169229" cy="1991925"/>
        </p:xfrm>
        <a:graphic>
          <a:graphicData uri="http://schemas.openxmlformats.org/drawingml/2006/table">
            <a:tbl>
              <a:tblPr firstRow="1" bandRow="1">
                <a:tableStyleId>{5C22544A-7EE6-4342-B048-85BDC9FD1C3A}</a:tableStyleId>
              </a:tblPr>
              <a:tblGrid>
                <a:gridCol w="2464593">
                  <a:extLst>
                    <a:ext uri="{9D8B030D-6E8A-4147-A177-3AD203B41FA5}">
                      <a16:colId xmlns:a16="http://schemas.microsoft.com/office/drawing/2014/main" val="2526249316"/>
                    </a:ext>
                  </a:extLst>
                </a:gridCol>
                <a:gridCol w="1704636">
                  <a:extLst>
                    <a:ext uri="{9D8B030D-6E8A-4147-A177-3AD203B41FA5}">
                      <a16:colId xmlns:a16="http://schemas.microsoft.com/office/drawing/2014/main" val="1447776887"/>
                    </a:ext>
                  </a:extLst>
                </a:gridCol>
              </a:tblGrid>
              <a:tr h="325499">
                <a:tc>
                  <a:txBody>
                    <a:bodyPr/>
                    <a:lstStyle/>
                    <a:p>
                      <a:endParaRPr lang="en-US" sz="1200" dirty="0"/>
                    </a:p>
                  </a:txBody>
                  <a:tcPr/>
                </a:tc>
                <a:tc>
                  <a:txBody>
                    <a:bodyPr/>
                    <a:lstStyle/>
                    <a:p>
                      <a:r>
                        <a:rPr lang="en-US" sz="1200" dirty="0"/>
                        <a:t>Intel</a:t>
                      </a:r>
                    </a:p>
                  </a:txBody>
                  <a:tcPr/>
                </a:tc>
                <a:extLst>
                  <a:ext uri="{0D108BD9-81ED-4DB2-BD59-A6C34878D82A}">
                    <a16:rowId xmlns:a16="http://schemas.microsoft.com/office/drawing/2014/main" val="1633824453"/>
                  </a:ext>
                </a:extLst>
              </a:tr>
              <a:tr h="445162">
                <a:tc>
                  <a:txBody>
                    <a:bodyPr/>
                    <a:lstStyle/>
                    <a:p>
                      <a:r>
                        <a:rPr lang="en-US" sz="1200" b="1" dirty="0"/>
                        <a:t>Borrowing</a:t>
                      </a:r>
                      <a:r>
                        <a:rPr lang="en-US" sz="1200" dirty="0"/>
                        <a:t> from its outside lenders (+)</a:t>
                      </a:r>
                    </a:p>
                  </a:txBody>
                  <a:tcPr/>
                </a:tc>
                <a:tc>
                  <a:txBody>
                    <a:bodyPr/>
                    <a:lstStyle/>
                    <a:p>
                      <a:r>
                        <a:rPr lang="en-US" sz="1200" dirty="0"/>
                        <a:t>3.2%</a:t>
                      </a:r>
                    </a:p>
                  </a:txBody>
                  <a:tcPr/>
                </a:tc>
                <a:extLst>
                  <a:ext uri="{0D108BD9-81ED-4DB2-BD59-A6C34878D82A}">
                    <a16:rowId xmlns:a16="http://schemas.microsoft.com/office/drawing/2014/main" val="483567150"/>
                  </a:ext>
                </a:extLst>
              </a:tr>
              <a:tr h="325499">
                <a:tc>
                  <a:txBody>
                    <a:bodyPr/>
                    <a:lstStyle/>
                    <a:p>
                      <a:r>
                        <a:rPr lang="en-US" sz="1200" dirty="0"/>
                        <a:t>Swap: </a:t>
                      </a:r>
                      <a:r>
                        <a:rPr lang="en-US" sz="1200" b="1" dirty="0"/>
                        <a:t>Pay</a:t>
                      </a:r>
                      <a:r>
                        <a:rPr lang="en-US" sz="1200" dirty="0"/>
                        <a:t> Citigroup (+)</a:t>
                      </a:r>
                    </a:p>
                  </a:txBody>
                  <a:tcPr/>
                </a:tc>
                <a:tc>
                  <a:txBody>
                    <a:bodyPr/>
                    <a:lstStyle/>
                    <a:p>
                      <a:r>
                        <a:rPr lang="en-US" sz="1200" dirty="0"/>
                        <a:t>LIBOR</a:t>
                      </a:r>
                    </a:p>
                  </a:txBody>
                  <a:tcPr/>
                </a:tc>
                <a:extLst>
                  <a:ext uri="{0D108BD9-81ED-4DB2-BD59-A6C34878D82A}">
                    <a16:rowId xmlns:a16="http://schemas.microsoft.com/office/drawing/2014/main" val="2509369450"/>
                  </a:ext>
                </a:extLst>
              </a:tr>
              <a:tr h="426527">
                <a:tc>
                  <a:txBody>
                    <a:bodyPr/>
                    <a:lstStyle/>
                    <a:p>
                      <a:r>
                        <a:rPr lang="en-US" sz="1200" dirty="0"/>
                        <a:t>              </a:t>
                      </a:r>
                      <a:r>
                        <a:rPr lang="en-US" sz="1200" b="1" dirty="0"/>
                        <a:t>Receive</a:t>
                      </a:r>
                      <a:r>
                        <a:rPr lang="en-US" sz="1200" dirty="0"/>
                        <a:t> from Citigroup (-)</a:t>
                      </a:r>
                    </a:p>
                  </a:txBody>
                  <a:tcPr/>
                </a:tc>
                <a:tc>
                  <a:txBody>
                    <a:bodyPr/>
                    <a:lstStyle/>
                    <a:p>
                      <a:r>
                        <a:rPr lang="en-US" sz="1200" dirty="0"/>
                        <a:t>2.97%</a:t>
                      </a:r>
                    </a:p>
                  </a:txBody>
                  <a:tcPr/>
                </a:tc>
                <a:extLst>
                  <a:ext uri="{0D108BD9-81ED-4DB2-BD59-A6C34878D82A}">
                    <a16:rowId xmlns:a16="http://schemas.microsoft.com/office/drawing/2014/main" val="1821861321"/>
                  </a:ext>
                </a:extLst>
              </a:tr>
              <a:tr h="445162">
                <a:tc>
                  <a:txBody>
                    <a:bodyPr/>
                    <a:lstStyle/>
                    <a:p>
                      <a:r>
                        <a:rPr lang="en-US" sz="1200" dirty="0"/>
                        <a:t>Net </a:t>
                      </a:r>
                      <a:r>
                        <a:rPr lang="en-US" sz="1200" b="1" dirty="0"/>
                        <a:t>cost</a:t>
                      </a:r>
                      <a:r>
                        <a:rPr lang="en-US" sz="1200" dirty="0"/>
                        <a:t> of borrowing</a:t>
                      </a:r>
                    </a:p>
                  </a:txBody>
                  <a:tcPr/>
                </a:tc>
                <a:tc>
                  <a:txBody>
                    <a:bodyPr/>
                    <a:lstStyle/>
                    <a:p>
                      <a:r>
                        <a:rPr lang="en-US" sz="1200" b="1" dirty="0"/>
                        <a:t>LIBOR+0.23%</a:t>
                      </a:r>
                    </a:p>
                    <a:p>
                      <a:r>
                        <a:rPr lang="en-US" sz="1200" dirty="0"/>
                        <a:t>=(3.2%+LIBOR-2.97%)</a:t>
                      </a:r>
                    </a:p>
                  </a:txBody>
                  <a:tcPr/>
                </a:tc>
                <a:extLst>
                  <a:ext uri="{0D108BD9-81ED-4DB2-BD59-A6C34878D82A}">
                    <a16:rowId xmlns:a16="http://schemas.microsoft.com/office/drawing/2014/main" val="4073212660"/>
                  </a:ext>
                </a:extLst>
              </a:tr>
            </a:tbl>
          </a:graphicData>
        </a:graphic>
      </p:graphicFrame>
      <p:sp>
        <p:nvSpPr>
          <p:cNvPr id="23" name="Oval 22">
            <a:extLst>
              <a:ext uri="{FF2B5EF4-FFF2-40B4-BE49-F238E27FC236}">
                <a16:creationId xmlns:a16="http://schemas.microsoft.com/office/drawing/2014/main" id="{C6568AAC-8670-4DCB-6C6D-CBA8C551A1C2}"/>
              </a:ext>
            </a:extLst>
          </p:cNvPr>
          <p:cNvSpPr/>
          <p:nvPr/>
        </p:nvSpPr>
        <p:spPr>
          <a:xfrm>
            <a:off x="6858000" y="1817914"/>
            <a:ext cx="805543" cy="272143"/>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BCAF6F02-56D9-482C-1FFF-C28296A3629D}"/>
              </a:ext>
            </a:extLst>
          </p:cNvPr>
          <p:cNvSpPr/>
          <p:nvPr/>
        </p:nvSpPr>
        <p:spPr>
          <a:xfrm>
            <a:off x="5153298" y="2020442"/>
            <a:ext cx="1338943" cy="359229"/>
          </a:xfrm>
          <a:prstGeom prst="ellipse">
            <a:avLst/>
          </a:prstGeom>
          <a:no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9" name="Straight Arrow Connector 28">
            <a:extLst>
              <a:ext uri="{FF2B5EF4-FFF2-40B4-BE49-F238E27FC236}">
                <a16:creationId xmlns:a16="http://schemas.microsoft.com/office/drawing/2014/main" id="{56DA02D4-226F-6D76-FBBD-C0C20D6AAC84}"/>
              </a:ext>
            </a:extLst>
          </p:cNvPr>
          <p:cNvCxnSpPr/>
          <p:nvPr/>
        </p:nvCxnSpPr>
        <p:spPr>
          <a:xfrm>
            <a:off x="7861255" y="1953985"/>
            <a:ext cx="2501945" cy="246071"/>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31" name="Straight Arrow Connector 30">
            <a:extLst>
              <a:ext uri="{FF2B5EF4-FFF2-40B4-BE49-F238E27FC236}">
                <a16:creationId xmlns:a16="http://schemas.microsoft.com/office/drawing/2014/main" id="{DEE9B70C-8DE9-EDEC-D2D8-BFC32F5CAC93}"/>
              </a:ext>
            </a:extLst>
          </p:cNvPr>
          <p:cNvCxnSpPr>
            <a:cxnSpLocks/>
          </p:cNvCxnSpPr>
          <p:nvPr/>
        </p:nvCxnSpPr>
        <p:spPr>
          <a:xfrm>
            <a:off x="6610283" y="2331147"/>
            <a:ext cx="3752917" cy="248767"/>
          </a:xfrm>
          <a:prstGeom prst="straightConnector1">
            <a:avLst/>
          </a:prstGeom>
          <a:ln>
            <a:solidFill>
              <a:srgbClr val="00B050"/>
            </a:solidFill>
            <a:tailEnd type="triangle"/>
          </a:ln>
        </p:spPr>
        <p:style>
          <a:lnRef idx="2">
            <a:schemeClr val="accent1"/>
          </a:lnRef>
          <a:fillRef idx="0">
            <a:schemeClr val="accent1"/>
          </a:fillRef>
          <a:effectRef idx="1">
            <a:schemeClr val="accent1"/>
          </a:effectRef>
          <a:fontRef idx="minor">
            <a:schemeClr val="tx1"/>
          </a:fontRef>
        </p:style>
      </p:cxnSp>
      <p:sp>
        <p:nvSpPr>
          <p:cNvPr id="33" name="Oval 32">
            <a:extLst>
              <a:ext uri="{FF2B5EF4-FFF2-40B4-BE49-F238E27FC236}">
                <a16:creationId xmlns:a16="http://schemas.microsoft.com/office/drawing/2014/main" id="{DAD76CB0-5B72-9678-7AAB-2E1BCCA9ABB4}"/>
              </a:ext>
            </a:extLst>
          </p:cNvPr>
          <p:cNvSpPr/>
          <p:nvPr/>
        </p:nvSpPr>
        <p:spPr>
          <a:xfrm>
            <a:off x="1807029" y="2579914"/>
            <a:ext cx="1687285" cy="271614"/>
          </a:xfrm>
          <a:prstGeom prst="ellipse">
            <a:avLst/>
          </a:prstGeom>
          <a:no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5" name="Straight Arrow Connector 34">
            <a:extLst>
              <a:ext uri="{FF2B5EF4-FFF2-40B4-BE49-F238E27FC236}">
                <a16:creationId xmlns:a16="http://schemas.microsoft.com/office/drawing/2014/main" id="{C9C9D6CA-27E5-CED0-77C3-7D3B559786F8}"/>
              </a:ext>
            </a:extLst>
          </p:cNvPr>
          <p:cNvCxnSpPr/>
          <p:nvPr/>
        </p:nvCxnSpPr>
        <p:spPr>
          <a:xfrm>
            <a:off x="3494314" y="2851528"/>
            <a:ext cx="6868886" cy="20735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7" name="Straight Connector 36">
            <a:extLst>
              <a:ext uri="{FF2B5EF4-FFF2-40B4-BE49-F238E27FC236}">
                <a16:creationId xmlns:a16="http://schemas.microsoft.com/office/drawing/2014/main" id="{3EDBB0C6-6C4A-A8BD-2398-4FFAF975B748}"/>
              </a:ext>
            </a:extLst>
          </p:cNvPr>
          <p:cNvCxnSpPr/>
          <p:nvPr/>
        </p:nvCxnSpPr>
        <p:spPr>
          <a:xfrm>
            <a:off x="1545771" y="4376057"/>
            <a:ext cx="6433458" cy="0"/>
          </a:xfrm>
          <a:prstGeom prst="line">
            <a:avLst/>
          </a:prstGeom>
          <a:ln>
            <a:solidFill>
              <a:srgbClr val="7030A0"/>
            </a:solidFill>
          </a:ln>
        </p:spPr>
        <p:style>
          <a:lnRef idx="2">
            <a:schemeClr val="accent1"/>
          </a:lnRef>
          <a:fillRef idx="0">
            <a:schemeClr val="accent1"/>
          </a:fillRef>
          <a:effectRef idx="1">
            <a:schemeClr val="accent1"/>
          </a:effectRef>
          <a:fontRef idx="minor">
            <a:schemeClr val="tx1"/>
          </a:fontRef>
        </p:style>
      </p:cxnSp>
      <p:cxnSp>
        <p:nvCxnSpPr>
          <p:cNvPr id="39" name="Straight Arrow Connector 38">
            <a:extLst>
              <a:ext uri="{FF2B5EF4-FFF2-40B4-BE49-F238E27FC236}">
                <a16:creationId xmlns:a16="http://schemas.microsoft.com/office/drawing/2014/main" id="{96D3FB83-B945-C0E6-C005-40048BDBC7E2}"/>
              </a:ext>
            </a:extLst>
          </p:cNvPr>
          <p:cNvCxnSpPr/>
          <p:nvPr/>
        </p:nvCxnSpPr>
        <p:spPr>
          <a:xfrm flipV="1">
            <a:off x="7979229" y="3429000"/>
            <a:ext cx="2481942" cy="659135"/>
          </a:xfrm>
          <a:prstGeom prst="straightConnector1">
            <a:avLst/>
          </a:prstGeom>
          <a:ln>
            <a:solidFill>
              <a:srgbClr val="7030A0"/>
            </a:solidFill>
            <a:tailEnd type="triangle"/>
          </a:ln>
        </p:spPr>
        <p:style>
          <a:lnRef idx="2">
            <a:schemeClr val="accent1"/>
          </a:lnRef>
          <a:fillRef idx="0">
            <a:schemeClr val="accent1"/>
          </a:fillRef>
          <a:effectRef idx="1">
            <a:schemeClr val="accent1"/>
          </a:effectRef>
          <a:fontRef idx="minor">
            <a:schemeClr val="tx1"/>
          </a:fontRef>
        </p:style>
      </p:cxnSp>
      <p:sp>
        <p:nvSpPr>
          <p:cNvPr id="40" name="Date Placeholder 39">
            <a:extLst>
              <a:ext uri="{FF2B5EF4-FFF2-40B4-BE49-F238E27FC236}">
                <a16:creationId xmlns:a16="http://schemas.microsoft.com/office/drawing/2014/main" id="{77EA3AFD-BD92-E4C7-92A1-48C27585C9FE}"/>
              </a:ext>
            </a:extLst>
          </p:cNvPr>
          <p:cNvSpPr>
            <a:spLocks noGrp="1"/>
          </p:cNvSpPr>
          <p:nvPr>
            <p:ph type="dt" sz="half" idx="10"/>
          </p:nvPr>
        </p:nvSpPr>
        <p:spPr/>
        <p:txBody>
          <a:bodyPr/>
          <a:lstStyle/>
          <a:p>
            <a:fld id="{D1AEB972-F232-8742-8175-164FCD044F08}" type="datetime1">
              <a:rPr lang="en-AU" smtClean="0"/>
              <a:t>28/8/2026</a:t>
            </a:fld>
            <a:endParaRPr lang="en-US"/>
          </a:p>
        </p:txBody>
      </p:sp>
      <p:sp>
        <p:nvSpPr>
          <p:cNvPr id="41" name="Footer Placeholder 40">
            <a:extLst>
              <a:ext uri="{FF2B5EF4-FFF2-40B4-BE49-F238E27FC236}">
                <a16:creationId xmlns:a16="http://schemas.microsoft.com/office/drawing/2014/main" id="{430D437B-6118-911E-3DD0-F04E2A78A794}"/>
              </a:ext>
            </a:extLst>
          </p:cNvPr>
          <p:cNvSpPr>
            <a:spLocks noGrp="1"/>
          </p:cNvSpPr>
          <p:nvPr>
            <p:ph type="ftr" sz="quarter" idx="11"/>
          </p:nvPr>
        </p:nvSpPr>
        <p:spPr/>
        <p:txBody>
          <a:bodyPr/>
          <a:lstStyle/>
          <a:p>
            <a:r>
              <a:rPr lang="en-US"/>
              <a:t>FINA2204 - Tutorial 5</a:t>
            </a:r>
          </a:p>
        </p:txBody>
      </p:sp>
      <p:sp>
        <p:nvSpPr>
          <p:cNvPr id="42" name="Slide Number Placeholder 41">
            <a:extLst>
              <a:ext uri="{FF2B5EF4-FFF2-40B4-BE49-F238E27FC236}">
                <a16:creationId xmlns:a16="http://schemas.microsoft.com/office/drawing/2014/main" id="{9E574624-07B0-9EBA-F1AF-06045DB97BB7}"/>
              </a:ext>
            </a:extLst>
          </p:cNvPr>
          <p:cNvSpPr>
            <a:spLocks noGrp="1"/>
          </p:cNvSpPr>
          <p:nvPr>
            <p:ph type="sldNum" sz="quarter" idx="12"/>
          </p:nvPr>
        </p:nvSpPr>
        <p:spPr/>
        <p:txBody>
          <a:bodyPr/>
          <a:lstStyle/>
          <a:p>
            <a:fld id="{9855740F-6ECD-274F-B089-6B266B6B07F9}" type="slidenum">
              <a:rPr lang="en-US" smtClean="0"/>
              <a:t>8</a:t>
            </a:fld>
            <a:endParaRPr lang="en-US"/>
          </a:p>
        </p:txBody>
      </p:sp>
    </p:spTree>
    <p:extLst>
      <p:ext uri="{BB962C8B-B14F-4D97-AF65-F5344CB8AC3E}">
        <p14:creationId xmlns:p14="http://schemas.microsoft.com/office/powerpoint/2010/main" val="21123583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3"/>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7"/>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1"/>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5"/>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7"/>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3" grpId="0" animBg="1"/>
      <p:bldP spid="27" grpId="0" animBg="1"/>
      <p:bldP spid="33"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D81A74-8311-2F98-3D16-F7122199C6A1}"/>
              </a:ext>
            </a:extLst>
          </p:cNvPr>
          <p:cNvSpPr>
            <a:spLocks noGrp="1"/>
          </p:cNvSpPr>
          <p:nvPr>
            <p:ph type="title"/>
          </p:nvPr>
        </p:nvSpPr>
        <p:spPr/>
        <p:txBody>
          <a:bodyPr/>
          <a:lstStyle/>
          <a:p>
            <a:r>
              <a:rPr lang="en-US" dirty="0"/>
              <a:t>Recap: Transforming assets (case 3)</a:t>
            </a:r>
          </a:p>
        </p:txBody>
      </p:sp>
      <p:pic>
        <p:nvPicPr>
          <p:cNvPr id="9" name="Content Placeholder 8" descr="A white text with black text&#10;&#10;AI-generated content may be incorrect.">
            <a:extLst>
              <a:ext uri="{FF2B5EF4-FFF2-40B4-BE49-F238E27FC236}">
                <a16:creationId xmlns:a16="http://schemas.microsoft.com/office/drawing/2014/main" id="{D3DE7866-E51F-8ACE-A57C-22315E821A69}"/>
              </a:ext>
            </a:extLst>
          </p:cNvPr>
          <p:cNvPicPr>
            <a:picLocks noGrp="1" noChangeAspect="1"/>
          </p:cNvPicPr>
          <p:nvPr>
            <p:ph idx="1"/>
          </p:nvPr>
        </p:nvPicPr>
        <p:blipFill>
          <a:blip r:embed="rId3"/>
          <a:stretch>
            <a:fillRect/>
          </a:stretch>
        </p:blipFill>
        <p:spPr>
          <a:xfrm>
            <a:off x="1914891" y="1690688"/>
            <a:ext cx="8362218" cy="2403076"/>
          </a:xfrm>
        </p:spPr>
      </p:pic>
      <p:pic>
        <p:nvPicPr>
          <p:cNvPr id="11" name="Picture 10">
            <a:extLst>
              <a:ext uri="{FF2B5EF4-FFF2-40B4-BE49-F238E27FC236}">
                <a16:creationId xmlns:a16="http://schemas.microsoft.com/office/drawing/2014/main" id="{11E3E0D8-11DA-F83F-389A-3468543B9632}"/>
              </a:ext>
            </a:extLst>
          </p:cNvPr>
          <p:cNvPicPr>
            <a:picLocks noChangeAspect="1"/>
          </p:cNvPicPr>
          <p:nvPr/>
        </p:nvPicPr>
        <p:blipFill>
          <a:blip r:embed="rId4"/>
          <a:stretch>
            <a:fillRect/>
          </a:stretch>
        </p:blipFill>
        <p:spPr>
          <a:xfrm>
            <a:off x="2048242" y="4093764"/>
            <a:ext cx="8095516" cy="931342"/>
          </a:xfrm>
          <a:prstGeom prst="rect">
            <a:avLst/>
          </a:prstGeom>
        </p:spPr>
      </p:pic>
      <p:pic>
        <p:nvPicPr>
          <p:cNvPr id="13" name="Picture 12" descr="A diagram of a swap&#10;&#10;AI-generated content may be incorrect.">
            <a:extLst>
              <a:ext uri="{FF2B5EF4-FFF2-40B4-BE49-F238E27FC236}">
                <a16:creationId xmlns:a16="http://schemas.microsoft.com/office/drawing/2014/main" id="{7CE01D7E-23ED-93D7-3B60-620612129651}"/>
              </a:ext>
            </a:extLst>
          </p:cNvPr>
          <p:cNvPicPr>
            <a:picLocks noChangeAspect="1"/>
          </p:cNvPicPr>
          <p:nvPr/>
        </p:nvPicPr>
        <p:blipFill>
          <a:blip r:embed="rId5"/>
          <a:stretch>
            <a:fillRect/>
          </a:stretch>
        </p:blipFill>
        <p:spPr>
          <a:xfrm>
            <a:off x="3071543" y="5025106"/>
            <a:ext cx="6048914" cy="1680849"/>
          </a:xfrm>
          <a:prstGeom prst="rect">
            <a:avLst/>
          </a:prstGeom>
        </p:spPr>
      </p:pic>
      <p:cxnSp>
        <p:nvCxnSpPr>
          <p:cNvPr id="4" name="Straight Connector 3">
            <a:extLst>
              <a:ext uri="{FF2B5EF4-FFF2-40B4-BE49-F238E27FC236}">
                <a16:creationId xmlns:a16="http://schemas.microsoft.com/office/drawing/2014/main" id="{6CF9B01C-E3F4-5205-4665-AD11DF66DF03}"/>
              </a:ext>
            </a:extLst>
          </p:cNvPr>
          <p:cNvCxnSpPr>
            <a:cxnSpLocks/>
          </p:cNvCxnSpPr>
          <p:nvPr/>
        </p:nvCxnSpPr>
        <p:spPr>
          <a:xfrm>
            <a:off x="2982686" y="2231571"/>
            <a:ext cx="6137771" cy="0"/>
          </a:xfrm>
          <a:prstGeom prst="line">
            <a:avLst/>
          </a:prstGeom>
        </p:spPr>
        <p:style>
          <a:lnRef idx="2">
            <a:schemeClr val="accent1"/>
          </a:lnRef>
          <a:fillRef idx="0">
            <a:schemeClr val="accent1"/>
          </a:fillRef>
          <a:effectRef idx="1">
            <a:schemeClr val="accent1"/>
          </a:effectRef>
          <a:fontRef idx="minor">
            <a:schemeClr val="tx1"/>
          </a:fontRef>
        </p:style>
      </p:cxnSp>
      <p:sp>
        <p:nvSpPr>
          <p:cNvPr id="8" name="TextBox 7">
            <a:extLst>
              <a:ext uri="{FF2B5EF4-FFF2-40B4-BE49-F238E27FC236}">
                <a16:creationId xmlns:a16="http://schemas.microsoft.com/office/drawing/2014/main" id="{9BBE56B6-6E5E-9E25-A8A6-50AA92EF49B5}"/>
              </a:ext>
            </a:extLst>
          </p:cNvPr>
          <p:cNvSpPr txBox="1"/>
          <p:nvPr/>
        </p:nvSpPr>
        <p:spPr>
          <a:xfrm>
            <a:off x="6468836" y="1321356"/>
            <a:ext cx="3061607" cy="369332"/>
          </a:xfrm>
          <a:prstGeom prst="rect">
            <a:avLst/>
          </a:prstGeom>
          <a:noFill/>
        </p:spPr>
        <p:txBody>
          <a:bodyPr wrap="square">
            <a:spAutoFit/>
          </a:bodyPr>
          <a:lstStyle/>
          <a:p>
            <a:r>
              <a:rPr lang="en-AU" dirty="0">
                <a:highlight>
                  <a:srgbClr val="FFFF00"/>
                </a:highlight>
              </a:rPr>
              <a:t>Assets: floating → fixed</a:t>
            </a:r>
            <a:endParaRPr lang="en-US" dirty="0">
              <a:highlight>
                <a:srgbClr val="FFFF00"/>
              </a:highlight>
            </a:endParaRPr>
          </a:p>
        </p:txBody>
      </p:sp>
      <p:sp>
        <p:nvSpPr>
          <p:cNvPr id="10" name="Date Placeholder 9">
            <a:extLst>
              <a:ext uri="{FF2B5EF4-FFF2-40B4-BE49-F238E27FC236}">
                <a16:creationId xmlns:a16="http://schemas.microsoft.com/office/drawing/2014/main" id="{95EC7357-1C6C-83C2-BCD1-20F71CDD663F}"/>
              </a:ext>
            </a:extLst>
          </p:cNvPr>
          <p:cNvSpPr>
            <a:spLocks noGrp="1"/>
          </p:cNvSpPr>
          <p:nvPr>
            <p:ph type="dt" sz="half" idx="10"/>
          </p:nvPr>
        </p:nvSpPr>
        <p:spPr/>
        <p:txBody>
          <a:bodyPr/>
          <a:lstStyle/>
          <a:p>
            <a:fld id="{984E5507-7591-D145-913A-7C1EF782B90A}" type="datetime1">
              <a:rPr lang="en-AU" smtClean="0"/>
              <a:t>28/8/2026</a:t>
            </a:fld>
            <a:endParaRPr lang="en-US"/>
          </a:p>
        </p:txBody>
      </p:sp>
      <p:sp>
        <p:nvSpPr>
          <p:cNvPr id="12" name="Footer Placeholder 11">
            <a:extLst>
              <a:ext uri="{FF2B5EF4-FFF2-40B4-BE49-F238E27FC236}">
                <a16:creationId xmlns:a16="http://schemas.microsoft.com/office/drawing/2014/main" id="{2AF13E8A-4974-F22E-7E69-E7DC25EAC861}"/>
              </a:ext>
            </a:extLst>
          </p:cNvPr>
          <p:cNvSpPr>
            <a:spLocks noGrp="1"/>
          </p:cNvSpPr>
          <p:nvPr>
            <p:ph type="ftr" sz="quarter" idx="11"/>
          </p:nvPr>
        </p:nvSpPr>
        <p:spPr/>
        <p:txBody>
          <a:bodyPr/>
          <a:lstStyle/>
          <a:p>
            <a:r>
              <a:rPr lang="en-US"/>
              <a:t>FINA2204 - Tutorial 5</a:t>
            </a:r>
          </a:p>
        </p:txBody>
      </p:sp>
      <p:sp>
        <p:nvSpPr>
          <p:cNvPr id="14" name="Slide Number Placeholder 13">
            <a:extLst>
              <a:ext uri="{FF2B5EF4-FFF2-40B4-BE49-F238E27FC236}">
                <a16:creationId xmlns:a16="http://schemas.microsoft.com/office/drawing/2014/main" id="{3F021539-6547-4BB5-9235-CB98789AA287}"/>
              </a:ext>
            </a:extLst>
          </p:cNvPr>
          <p:cNvSpPr>
            <a:spLocks noGrp="1"/>
          </p:cNvSpPr>
          <p:nvPr>
            <p:ph type="sldNum" sz="quarter" idx="12"/>
          </p:nvPr>
        </p:nvSpPr>
        <p:spPr/>
        <p:txBody>
          <a:bodyPr/>
          <a:lstStyle/>
          <a:p>
            <a:fld id="{9855740F-6ECD-274F-B089-6B266B6B07F9}" type="slidenum">
              <a:rPr lang="en-US" smtClean="0"/>
              <a:t>9</a:t>
            </a:fld>
            <a:endParaRPr lang="en-US"/>
          </a:p>
        </p:txBody>
      </p:sp>
    </p:spTree>
    <p:extLst>
      <p:ext uri="{BB962C8B-B14F-4D97-AF65-F5344CB8AC3E}">
        <p14:creationId xmlns:p14="http://schemas.microsoft.com/office/powerpoint/2010/main" val="17963409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DA8011-5F4C-D277-EC66-B38ABE76D729}"/>
              </a:ext>
            </a:extLst>
          </p:cNvPr>
          <p:cNvSpPr>
            <a:spLocks noGrp="1"/>
          </p:cNvSpPr>
          <p:nvPr>
            <p:ph type="title"/>
          </p:nvPr>
        </p:nvSpPr>
        <p:spPr/>
        <p:txBody>
          <a:bodyPr/>
          <a:lstStyle/>
          <a:p>
            <a:r>
              <a:rPr lang="en-US" dirty="0"/>
              <a:t>Recap: Transforming assets (case 3)</a:t>
            </a:r>
          </a:p>
        </p:txBody>
      </p:sp>
      <p:sp>
        <p:nvSpPr>
          <p:cNvPr id="3" name="Content Placeholder 2">
            <a:extLst>
              <a:ext uri="{FF2B5EF4-FFF2-40B4-BE49-F238E27FC236}">
                <a16:creationId xmlns:a16="http://schemas.microsoft.com/office/drawing/2014/main" id="{601277FE-5AD0-FB6F-FDB8-E062B5E235CE}"/>
              </a:ext>
            </a:extLst>
          </p:cNvPr>
          <p:cNvSpPr>
            <a:spLocks noGrp="1"/>
          </p:cNvSpPr>
          <p:nvPr>
            <p:ph idx="1"/>
          </p:nvPr>
        </p:nvSpPr>
        <p:spPr/>
        <p:txBody>
          <a:bodyPr/>
          <a:lstStyle/>
          <a:p>
            <a:endParaRPr lang="en-US" dirty="0"/>
          </a:p>
        </p:txBody>
      </p:sp>
      <p:graphicFrame>
        <p:nvGraphicFramePr>
          <p:cNvPr id="5" name="Table 4">
            <a:extLst>
              <a:ext uri="{FF2B5EF4-FFF2-40B4-BE49-F238E27FC236}">
                <a16:creationId xmlns:a16="http://schemas.microsoft.com/office/drawing/2014/main" id="{DD03A921-C249-CD38-5631-73886E9609CF}"/>
              </a:ext>
            </a:extLst>
          </p:cNvPr>
          <p:cNvGraphicFramePr>
            <a:graphicFrameLocks noGrp="1"/>
          </p:cNvGraphicFramePr>
          <p:nvPr>
            <p:extLst>
              <p:ext uri="{D42A27DB-BD31-4B8C-83A1-F6EECF244321}">
                <p14:modId xmlns:p14="http://schemas.microsoft.com/office/powerpoint/2010/main" val="349294526"/>
              </p:ext>
            </p:extLst>
          </p:nvPr>
        </p:nvGraphicFramePr>
        <p:xfrm>
          <a:off x="1745600" y="1981200"/>
          <a:ext cx="8700800" cy="2251520"/>
        </p:xfrm>
        <a:graphic>
          <a:graphicData uri="http://schemas.openxmlformats.org/drawingml/2006/table">
            <a:tbl>
              <a:tblPr firstRow="1" bandRow="1">
                <a:tableStyleId>{5C22544A-7EE6-4342-B048-85BDC9FD1C3A}</a:tableStyleId>
              </a:tblPr>
              <a:tblGrid>
                <a:gridCol w="4636800">
                  <a:extLst>
                    <a:ext uri="{9D8B030D-6E8A-4147-A177-3AD203B41FA5}">
                      <a16:colId xmlns:a16="http://schemas.microsoft.com/office/drawing/2014/main" val="2526249316"/>
                    </a:ext>
                  </a:extLst>
                </a:gridCol>
                <a:gridCol w="4064000">
                  <a:extLst>
                    <a:ext uri="{9D8B030D-6E8A-4147-A177-3AD203B41FA5}">
                      <a16:colId xmlns:a16="http://schemas.microsoft.com/office/drawing/2014/main" val="1447776887"/>
                    </a:ext>
                  </a:extLst>
                </a:gridCol>
              </a:tblGrid>
              <a:tr h="351677">
                <a:tc>
                  <a:txBody>
                    <a:bodyPr/>
                    <a:lstStyle/>
                    <a:p>
                      <a:endParaRPr lang="en-US" dirty="0"/>
                    </a:p>
                  </a:txBody>
                  <a:tcPr/>
                </a:tc>
                <a:tc>
                  <a:txBody>
                    <a:bodyPr/>
                    <a:lstStyle/>
                    <a:p>
                      <a:r>
                        <a:rPr lang="en-US" dirty="0"/>
                        <a:t>Intel</a:t>
                      </a:r>
                    </a:p>
                  </a:txBody>
                  <a:tcPr/>
                </a:tc>
                <a:extLst>
                  <a:ext uri="{0D108BD9-81ED-4DB2-BD59-A6C34878D82A}">
                    <a16:rowId xmlns:a16="http://schemas.microsoft.com/office/drawing/2014/main" val="1633824453"/>
                  </a:ext>
                </a:extLst>
              </a:tr>
              <a:tr h="504000">
                <a:tc>
                  <a:txBody>
                    <a:bodyPr/>
                    <a:lstStyle/>
                    <a:p>
                      <a:r>
                        <a:rPr lang="en-US" b="0" dirty="0"/>
                        <a:t>Return from its </a:t>
                      </a:r>
                      <a:r>
                        <a:rPr lang="en-US" b="1" dirty="0"/>
                        <a:t>investment </a:t>
                      </a:r>
                      <a:r>
                        <a:rPr lang="en-US" b="0" dirty="0"/>
                        <a:t>(+)</a:t>
                      </a:r>
                    </a:p>
                  </a:txBody>
                  <a:tcPr/>
                </a:tc>
                <a:tc>
                  <a:txBody>
                    <a:bodyPr/>
                    <a:lstStyle/>
                    <a:p>
                      <a:r>
                        <a:rPr lang="en-US" dirty="0"/>
                        <a:t>LIBOR-0.2%</a:t>
                      </a:r>
                    </a:p>
                  </a:txBody>
                  <a:tcPr/>
                </a:tc>
                <a:extLst>
                  <a:ext uri="{0D108BD9-81ED-4DB2-BD59-A6C34878D82A}">
                    <a16:rowId xmlns:a16="http://schemas.microsoft.com/office/drawing/2014/main" val="483567150"/>
                  </a:ext>
                </a:extLst>
              </a:tr>
              <a:tr h="370840">
                <a:tc>
                  <a:txBody>
                    <a:bodyPr/>
                    <a:lstStyle/>
                    <a:p>
                      <a:r>
                        <a:rPr lang="en-US" dirty="0"/>
                        <a:t>Swap: </a:t>
                      </a:r>
                      <a:r>
                        <a:rPr lang="en-US" b="1" dirty="0"/>
                        <a:t>Pay</a:t>
                      </a:r>
                      <a:r>
                        <a:rPr lang="en-US" dirty="0"/>
                        <a:t> Citigroup (-)</a:t>
                      </a:r>
                    </a:p>
                  </a:txBody>
                  <a:tcPr/>
                </a:tc>
                <a:tc>
                  <a:txBody>
                    <a:bodyPr/>
                    <a:lstStyle/>
                    <a:p>
                      <a:r>
                        <a:rPr lang="en-US" dirty="0"/>
                        <a:t>LIBOR</a:t>
                      </a:r>
                    </a:p>
                  </a:txBody>
                  <a:tcPr/>
                </a:tc>
                <a:extLst>
                  <a:ext uri="{0D108BD9-81ED-4DB2-BD59-A6C34878D82A}">
                    <a16:rowId xmlns:a16="http://schemas.microsoft.com/office/drawing/2014/main" val="2509369450"/>
                  </a:ext>
                </a:extLst>
              </a:tr>
              <a:tr h="370840">
                <a:tc>
                  <a:txBody>
                    <a:bodyPr/>
                    <a:lstStyle/>
                    <a:p>
                      <a:r>
                        <a:rPr lang="en-US" dirty="0"/>
                        <a:t>              </a:t>
                      </a:r>
                      <a:r>
                        <a:rPr lang="en-US" b="1" dirty="0"/>
                        <a:t>Receive</a:t>
                      </a:r>
                      <a:r>
                        <a:rPr lang="en-US" dirty="0"/>
                        <a:t> from Citigroup (+)</a:t>
                      </a:r>
                    </a:p>
                  </a:txBody>
                  <a:tcPr/>
                </a:tc>
                <a:tc>
                  <a:txBody>
                    <a:bodyPr/>
                    <a:lstStyle/>
                    <a:p>
                      <a:r>
                        <a:rPr lang="en-US" dirty="0"/>
                        <a:t>2.97%</a:t>
                      </a:r>
                    </a:p>
                  </a:txBody>
                  <a:tcPr/>
                </a:tc>
                <a:extLst>
                  <a:ext uri="{0D108BD9-81ED-4DB2-BD59-A6C34878D82A}">
                    <a16:rowId xmlns:a16="http://schemas.microsoft.com/office/drawing/2014/main" val="1821861321"/>
                  </a:ext>
                </a:extLst>
              </a:tr>
              <a:tr h="370840">
                <a:tc>
                  <a:txBody>
                    <a:bodyPr/>
                    <a:lstStyle/>
                    <a:p>
                      <a:r>
                        <a:rPr lang="en-US" dirty="0"/>
                        <a:t>Net </a:t>
                      </a:r>
                      <a:r>
                        <a:rPr lang="en-US" b="1" dirty="0"/>
                        <a:t>return</a:t>
                      </a:r>
                      <a:r>
                        <a:rPr lang="en-US" dirty="0"/>
                        <a:t> of investment</a:t>
                      </a:r>
                    </a:p>
                  </a:txBody>
                  <a:tcPr/>
                </a:tc>
                <a:tc>
                  <a:txBody>
                    <a:bodyPr/>
                    <a:lstStyle/>
                    <a:p>
                      <a:r>
                        <a:rPr lang="en-US" b="1" dirty="0"/>
                        <a:t>2.77%</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=[(LIBOR-0.2%)-LIBOR+2.97%]</a:t>
                      </a:r>
                    </a:p>
                  </a:txBody>
                  <a:tcPr/>
                </a:tc>
                <a:extLst>
                  <a:ext uri="{0D108BD9-81ED-4DB2-BD59-A6C34878D82A}">
                    <a16:rowId xmlns:a16="http://schemas.microsoft.com/office/drawing/2014/main" val="4073212660"/>
                  </a:ext>
                </a:extLst>
              </a:tr>
            </a:tbl>
          </a:graphicData>
        </a:graphic>
      </p:graphicFrame>
      <p:cxnSp>
        <p:nvCxnSpPr>
          <p:cNvPr id="7" name="Straight Connector 6">
            <a:extLst>
              <a:ext uri="{FF2B5EF4-FFF2-40B4-BE49-F238E27FC236}">
                <a16:creationId xmlns:a16="http://schemas.microsoft.com/office/drawing/2014/main" id="{558DE804-1C8A-6C76-32F0-6CE7A98E6E88}"/>
              </a:ext>
            </a:extLst>
          </p:cNvPr>
          <p:cNvCxnSpPr/>
          <p:nvPr/>
        </p:nvCxnSpPr>
        <p:spPr>
          <a:xfrm>
            <a:off x="6770914" y="3875314"/>
            <a:ext cx="533400" cy="435429"/>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F3203602-C72E-CDFE-D2CB-92677D3FBAF9}"/>
              </a:ext>
            </a:extLst>
          </p:cNvPr>
          <p:cNvCxnSpPr/>
          <p:nvPr/>
        </p:nvCxnSpPr>
        <p:spPr>
          <a:xfrm>
            <a:off x="8075257" y="3875314"/>
            <a:ext cx="533400" cy="435429"/>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10" name="Date Placeholder 9">
            <a:extLst>
              <a:ext uri="{FF2B5EF4-FFF2-40B4-BE49-F238E27FC236}">
                <a16:creationId xmlns:a16="http://schemas.microsoft.com/office/drawing/2014/main" id="{D6E9F7CA-1712-90D7-6E5C-DF4D912C4ACF}"/>
              </a:ext>
            </a:extLst>
          </p:cNvPr>
          <p:cNvSpPr>
            <a:spLocks noGrp="1"/>
          </p:cNvSpPr>
          <p:nvPr>
            <p:ph type="dt" sz="half" idx="10"/>
          </p:nvPr>
        </p:nvSpPr>
        <p:spPr/>
        <p:txBody>
          <a:bodyPr/>
          <a:lstStyle/>
          <a:p>
            <a:fld id="{15B63CCF-817F-D340-96B5-3ED82A967223}" type="datetime1">
              <a:rPr lang="en-AU" smtClean="0"/>
              <a:t>28/8/2026</a:t>
            </a:fld>
            <a:endParaRPr lang="en-US"/>
          </a:p>
        </p:txBody>
      </p:sp>
      <p:sp>
        <p:nvSpPr>
          <p:cNvPr id="11" name="Footer Placeholder 10">
            <a:extLst>
              <a:ext uri="{FF2B5EF4-FFF2-40B4-BE49-F238E27FC236}">
                <a16:creationId xmlns:a16="http://schemas.microsoft.com/office/drawing/2014/main" id="{5EDC2F1A-A3A9-D1E9-7A9C-8CFC423A2547}"/>
              </a:ext>
            </a:extLst>
          </p:cNvPr>
          <p:cNvSpPr>
            <a:spLocks noGrp="1"/>
          </p:cNvSpPr>
          <p:nvPr>
            <p:ph type="ftr" sz="quarter" idx="11"/>
          </p:nvPr>
        </p:nvSpPr>
        <p:spPr/>
        <p:txBody>
          <a:bodyPr/>
          <a:lstStyle/>
          <a:p>
            <a:r>
              <a:rPr lang="en-US"/>
              <a:t>FINA2204 - Tutorial 5</a:t>
            </a:r>
          </a:p>
        </p:txBody>
      </p:sp>
      <p:sp>
        <p:nvSpPr>
          <p:cNvPr id="12" name="Slide Number Placeholder 11">
            <a:extLst>
              <a:ext uri="{FF2B5EF4-FFF2-40B4-BE49-F238E27FC236}">
                <a16:creationId xmlns:a16="http://schemas.microsoft.com/office/drawing/2014/main" id="{9DFDC770-9180-85B0-13E8-DC590BB40F99}"/>
              </a:ext>
            </a:extLst>
          </p:cNvPr>
          <p:cNvSpPr>
            <a:spLocks noGrp="1"/>
          </p:cNvSpPr>
          <p:nvPr>
            <p:ph type="sldNum" sz="quarter" idx="12"/>
          </p:nvPr>
        </p:nvSpPr>
        <p:spPr/>
        <p:txBody>
          <a:bodyPr/>
          <a:lstStyle/>
          <a:p>
            <a:fld id="{9855740F-6ECD-274F-B089-6B266B6B07F9}" type="slidenum">
              <a:rPr lang="en-US" smtClean="0"/>
              <a:t>10</a:t>
            </a:fld>
            <a:endParaRPr lang="en-US"/>
          </a:p>
        </p:txBody>
      </p:sp>
    </p:spTree>
    <p:extLst>
      <p:ext uri="{BB962C8B-B14F-4D97-AF65-F5344CB8AC3E}">
        <p14:creationId xmlns:p14="http://schemas.microsoft.com/office/powerpoint/2010/main" val="15212517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7DF72D-EA0E-428A-3B56-D406C07CF37D}"/>
              </a:ext>
            </a:extLst>
          </p:cNvPr>
          <p:cNvSpPr>
            <a:spLocks noGrp="1"/>
          </p:cNvSpPr>
          <p:nvPr>
            <p:ph type="title"/>
          </p:nvPr>
        </p:nvSpPr>
        <p:spPr/>
        <p:txBody>
          <a:bodyPr/>
          <a:lstStyle/>
          <a:p>
            <a:r>
              <a:rPr lang="en-US" dirty="0"/>
              <a:t>Recap: Transforming assets (case 4)</a:t>
            </a:r>
          </a:p>
        </p:txBody>
      </p:sp>
      <p:pic>
        <p:nvPicPr>
          <p:cNvPr id="5" name="Content Placeholder 4" descr="A white text with black text&#10;&#10;AI-generated content may be incorrect.">
            <a:extLst>
              <a:ext uri="{FF2B5EF4-FFF2-40B4-BE49-F238E27FC236}">
                <a16:creationId xmlns:a16="http://schemas.microsoft.com/office/drawing/2014/main" id="{62DA5E2F-3599-9D4A-B6DA-BCC4A13F37FD}"/>
              </a:ext>
            </a:extLst>
          </p:cNvPr>
          <p:cNvPicPr>
            <a:picLocks noGrp="1" noChangeAspect="1"/>
          </p:cNvPicPr>
          <p:nvPr>
            <p:ph idx="1"/>
          </p:nvPr>
        </p:nvPicPr>
        <p:blipFill>
          <a:blip r:embed="rId3"/>
          <a:stretch>
            <a:fillRect/>
          </a:stretch>
        </p:blipFill>
        <p:spPr>
          <a:xfrm>
            <a:off x="2085975" y="1594688"/>
            <a:ext cx="7642225" cy="3306839"/>
          </a:xfrm>
        </p:spPr>
      </p:pic>
      <p:pic>
        <p:nvPicPr>
          <p:cNvPr id="7" name="Picture 6" descr="A diagram of an apple&#10;&#10;AI-generated content may be incorrect.">
            <a:extLst>
              <a:ext uri="{FF2B5EF4-FFF2-40B4-BE49-F238E27FC236}">
                <a16:creationId xmlns:a16="http://schemas.microsoft.com/office/drawing/2014/main" id="{3EC86C2A-50F9-BDF5-9959-019A42B61144}"/>
              </a:ext>
            </a:extLst>
          </p:cNvPr>
          <p:cNvPicPr>
            <a:picLocks noChangeAspect="1"/>
          </p:cNvPicPr>
          <p:nvPr/>
        </p:nvPicPr>
        <p:blipFill>
          <a:blip r:embed="rId4"/>
          <a:stretch>
            <a:fillRect/>
          </a:stretch>
        </p:blipFill>
        <p:spPr>
          <a:xfrm>
            <a:off x="2463800" y="4901527"/>
            <a:ext cx="7264400" cy="1917700"/>
          </a:xfrm>
          <a:prstGeom prst="rect">
            <a:avLst/>
          </a:prstGeom>
        </p:spPr>
      </p:pic>
      <p:cxnSp>
        <p:nvCxnSpPr>
          <p:cNvPr id="4" name="Straight Connector 3">
            <a:extLst>
              <a:ext uri="{FF2B5EF4-FFF2-40B4-BE49-F238E27FC236}">
                <a16:creationId xmlns:a16="http://schemas.microsoft.com/office/drawing/2014/main" id="{C853E462-0DD7-71AB-72D7-B9F8BB3D81B3}"/>
              </a:ext>
            </a:extLst>
          </p:cNvPr>
          <p:cNvCxnSpPr/>
          <p:nvPr/>
        </p:nvCxnSpPr>
        <p:spPr>
          <a:xfrm>
            <a:off x="7336971" y="2133600"/>
            <a:ext cx="2079172"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AB7B113D-12B4-877E-FB90-7BB335EE42D0}"/>
              </a:ext>
            </a:extLst>
          </p:cNvPr>
          <p:cNvCxnSpPr/>
          <p:nvPr/>
        </p:nvCxnSpPr>
        <p:spPr>
          <a:xfrm>
            <a:off x="2209800" y="2351315"/>
            <a:ext cx="5802086" cy="0"/>
          </a:xfrm>
          <a:prstGeom prst="line">
            <a:avLst/>
          </a:prstGeom>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06F41883-1F33-78ED-94B9-C5D7F8572691}"/>
              </a:ext>
            </a:extLst>
          </p:cNvPr>
          <p:cNvSpPr txBox="1"/>
          <p:nvPr/>
        </p:nvSpPr>
        <p:spPr>
          <a:xfrm>
            <a:off x="6468836" y="1321356"/>
            <a:ext cx="3061607" cy="369332"/>
          </a:xfrm>
          <a:prstGeom prst="rect">
            <a:avLst/>
          </a:prstGeom>
          <a:noFill/>
        </p:spPr>
        <p:txBody>
          <a:bodyPr wrap="square">
            <a:spAutoFit/>
          </a:bodyPr>
          <a:lstStyle/>
          <a:p>
            <a:r>
              <a:rPr lang="en-AU" dirty="0">
                <a:highlight>
                  <a:srgbClr val="FFFF00"/>
                </a:highlight>
              </a:rPr>
              <a:t>Assets: fixed→ floating</a:t>
            </a:r>
            <a:endParaRPr lang="en-US" dirty="0">
              <a:highlight>
                <a:srgbClr val="FFFF00"/>
              </a:highlight>
            </a:endParaRPr>
          </a:p>
        </p:txBody>
      </p:sp>
      <p:sp>
        <p:nvSpPr>
          <p:cNvPr id="10" name="Date Placeholder 9">
            <a:extLst>
              <a:ext uri="{FF2B5EF4-FFF2-40B4-BE49-F238E27FC236}">
                <a16:creationId xmlns:a16="http://schemas.microsoft.com/office/drawing/2014/main" id="{F93B67AA-C703-F072-ED4D-E196AC64A669}"/>
              </a:ext>
            </a:extLst>
          </p:cNvPr>
          <p:cNvSpPr>
            <a:spLocks noGrp="1"/>
          </p:cNvSpPr>
          <p:nvPr>
            <p:ph type="dt" sz="half" idx="10"/>
          </p:nvPr>
        </p:nvSpPr>
        <p:spPr/>
        <p:txBody>
          <a:bodyPr/>
          <a:lstStyle/>
          <a:p>
            <a:fld id="{9E50A556-6AEC-3A4E-97FB-FE8959B84116}" type="datetime1">
              <a:rPr lang="en-AU" smtClean="0"/>
              <a:t>28/8/2026</a:t>
            </a:fld>
            <a:endParaRPr lang="en-US"/>
          </a:p>
        </p:txBody>
      </p:sp>
      <p:sp>
        <p:nvSpPr>
          <p:cNvPr id="11" name="Footer Placeholder 10">
            <a:extLst>
              <a:ext uri="{FF2B5EF4-FFF2-40B4-BE49-F238E27FC236}">
                <a16:creationId xmlns:a16="http://schemas.microsoft.com/office/drawing/2014/main" id="{403B0935-A9F6-6D5C-D095-5041FABEA472}"/>
              </a:ext>
            </a:extLst>
          </p:cNvPr>
          <p:cNvSpPr>
            <a:spLocks noGrp="1"/>
          </p:cNvSpPr>
          <p:nvPr>
            <p:ph type="ftr" sz="quarter" idx="11"/>
          </p:nvPr>
        </p:nvSpPr>
        <p:spPr/>
        <p:txBody>
          <a:bodyPr/>
          <a:lstStyle/>
          <a:p>
            <a:r>
              <a:rPr lang="en-US"/>
              <a:t>FINA2204 - Tutorial 5</a:t>
            </a:r>
          </a:p>
        </p:txBody>
      </p:sp>
      <p:sp>
        <p:nvSpPr>
          <p:cNvPr id="12" name="Slide Number Placeholder 11">
            <a:extLst>
              <a:ext uri="{FF2B5EF4-FFF2-40B4-BE49-F238E27FC236}">
                <a16:creationId xmlns:a16="http://schemas.microsoft.com/office/drawing/2014/main" id="{4EEEB97B-770C-7F3A-7153-9B586B46828E}"/>
              </a:ext>
            </a:extLst>
          </p:cNvPr>
          <p:cNvSpPr>
            <a:spLocks noGrp="1"/>
          </p:cNvSpPr>
          <p:nvPr>
            <p:ph type="sldNum" sz="quarter" idx="12"/>
          </p:nvPr>
        </p:nvSpPr>
        <p:spPr/>
        <p:txBody>
          <a:bodyPr/>
          <a:lstStyle/>
          <a:p>
            <a:fld id="{9855740F-6ECD-274F-B089-6B266B6B07F9}" type="slidenum">
              <a:rPr lang="en-US" smtClean="0"/>
              <a:t>11</a:t>
            </a:fld>
            <a:endParaRPr lang="en-US"/>
          </a:p>
        </p:txBody>
      </p:sp>
    </p:spTree>
    <p:extLst>
      <p:ext uri="{BB962C8B-B14F-4D97-AF65-F5344CB8AC3E}">
        <p14:creationId xmlns:p14="http://schemas.microsoft.com/office/powerpoint/2010/main" val="12026617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9CC2B3-47F5-12DD-7536-A884E1ED98EA}"/>
              </a:ext>
            </a:extLst>
          </p:cNvPr>
          <p:cNvSpPr>
            <a:spLocks noGrp="1"/>
          </p:cNvSpPr>
          <p:nvPr>
            <p:ph type="title"/>
          </p:nvPr>
        </p:nvSpPr>
        <p:spPr/>
        <p:txBody>
          <a:bodyPr/>
          <a:lstStyle/>
          <a:p>
            <a:r>
              <a:rPr lang="en-US" dirty="0"/>
              <a:t>Recap: Transforming assets (case 4)</a:t>
            </a:r>
          </a:p>
        </p:txBody>
      </p:sp>
      <p:sp>
        <p:nvSpPr>
          <p:cNvPr id="3" name="Content Placeholder 2">
            <a:extLst>
              <a:ext uri="{FF2B5EF4-FFF2-40B4-BE49-F238E27FC236}">
                <a16:creationId xmlns:a16="http://schemas.microsoft.com/office/drawing/2014/main" id="{EAC71D2C-ED85-74D3-05B2-A0904A7A4721}"/>
              </a:ext>
            </a:extLst>
          </p:cNvPr>
          <p:cNvSpPr>
            <a:spLocks noGrp="1"/>
          </p:cNvSpPr>
          <p:nvPr>
            <p:ph idx="1"/>
          </p:nvPr>
        </p:nvSpPr>
        <p:spPr/>
        <p:txBody>
          <a:bodyPr/>
          <a:lstStyle/>
          <a:p>
            <a:endParaRPr lang="en-US" dirty="0"/>
          </a:p>
        </p:txBody>
      </p:sp>
      <p:graphicFrame>
        <p:nvGraphicFramePr>
          <p:cNvPr id="4" name="Table 3">
            <a:extLst>
              <a:ext uri="{FF2B5EF4-FFF2-40B4-BE49-F238E27FC236}">
                <a16:creationId xmlns:a16="http://schemas.microsoft.com/office/drawing/2014/main" id="{535A6424-E82C-2685-52DE-C90BC7B2D81A}"/>
              </a:ext>
            </a:extLst>
          </p:cNvPr>
          <p:cNvGraphicFramePr>
            <a:graphicFrameLocks noGrp="1"/>
          </p:cNvGraphicFramePr>
          <p:nvPr>
            <p:extLst>
              <p:ext uri="{D42A27DB-BD31-4B8C-83A1-F6EECF244321}">
                <p14:modId xmlns:p14="http://schemas.microsoft.com/office/powerpoint/2010/main" val="3909662303"/>
              </p:ext>
            </p:extLst>
          </p:nvPr>
        </p:nvGraphicFramePr>
        <p:xfrm>
          <a:off x="1745600" y="1981200"/>
          <a:ext cx="8700800" cy="2251520"/>
        </p:xfrm>
        <a:graphic>
          <a:graphicData uri="http://schemas.openxmlformats.org/drawingml/2006/table">
            <a:tbl>
              <a:tblPr firstRow="1" bandRow="1">
                <a:tableStyleId>{5C22544A-7EE6-4342-B048-85BDC9FD1C3A}</a:tableStyleId>
              </a:tblPr>
              <a:tblGrid>
                <a:gridCol w="4636800">
                  <a:extLst>
                    <a:ext uri="{9D8B030D-6E8A-4147-A177-3AD203B41FA5}">
                      <a16:colId xmlns:a16="http://schemas.microsoft.com/office/drawing/2014/main" val="2526249316"/>
                    </a:ext>
                  </a:extLst>
                </a:gridCol>
                <a:gridCol w="4064000">
                  <a:extLst>
                    <a:ext uri="{9D8B030D-6E8A-4147-A177-3AD203B41FA5}">
                      <a16:colId xmlns:a16="http://schemas.microsoft.com/office/drawing/2014/main" val="1447776887"/>
                    </a:ext>
                  </a:extLst>
                </a:gridCol>
              </a:tblGrid>
              <a:tr h="351677">
                <a:tc>
                  <a:txBody>
                    <a:bodyPr/>
                    <a:lstStyle/>
                    <a:p>
                      <a:endParaRPr lang="en-US" dirty="0"/>
                    </a:p>
                  </a:txBody>
                  <a:tcPr/>
                </a:tc>
                <a:tc>
                  <a:txBody>
                    <a:bodyPr/>
                    <a:lstStyle/>
                    <a:p>
                      <a:r>
                        <a:rPr lang="en-US" dirty="0"/>
                        <a:t>Intel</a:t>
                      </a:r>
                    </a:p>
                  </a:txBody>
                  <a:tcPr/>
                </a:tc>
                <a:extLst>
                  <a:ext uri="{0D108BD9-81ED-4DB2-BD59-A6C34878D82A}">
                    <a16:rowId xmlns:a16="http://schemas.microsoft.com/office/drawing/2014/main" val="1633824453"/>
                  </a:ext>
                </a:extLst>
              </a:tr>
              <a:tr h="504000">
                <a:tc>
                  <a:txBody>
                    <a:bodyPr/>
                    <a:lstStyle/>
                    <a:p>
                      <a:r>
                        <a:rPr lang="en-US" b="0" dirty="0"/>
                        <a:t>Return from its </a:t>
                      </a:r>
                      <a:r>
                        <a:rPr lang="en-US" b="1" dirty="0"/>
                        <a:t>investment </a:t>
                      </a:r>
                      <a:r>
                        <a:rPr lang="en-US" b="0" dirty="0"/>
                        <a:t>(+)</a:t>
                      </a:r>
                    </a:p>
                  </a:txBody>
                  <a:tcPr/>
                </a:tc>
                <a:tc>
                  <a:txBody>
                    <a:bodyPr/>
                    <a:lstStyle/>
                    <a:p>
                      <a:r>
                        <a:rPr lang="en-US" dirty="0"/>
                        <a:t>2.7%</a:t>
                      </a:r>
                    </a:p>
                  </a:txBody>
                  <a:tcPr/>
                </a:tc>
                <a:extLst>
                  <a:ext uri="{0D108BD9-81ED-4DB2-BD59-A6C34878D82A}">
                    <a16:rowId xmlns:a16="http://schemas.microsoft.com/office/drawing/2014/main" val="483567150"/>
                  </a:ext>
                </a:extLst>
              </a:tr>
              <a:tr h="370840">
                <a:tc>
                  <a:txBody>
                    <a:bodyPr/>
                    <a:lstStyle/>
                    <a:p>
                      <a:r>
                        <a:rPr lang="en-US" dirty="0"/>
                        <a:t>Swap: </a:t>
                      </a:r>
                      <a:r>
                        <a:rPr lang="en-US" b="1" dirty="0"/>
                        <a:t>Pay</a:t>
                      </a:r>
                      <a:r>
                        <a:rPr lang="en-US" dirty="0"/>
                        <a:t> Citigroup (-)</a:t>
                      </a:r>
                    </a:p>
                  </a:txBody>
                  <a:tcPr/>
                </a:tc>
                <a:tc>
                  <a:txBody>
                    <a:bodyPr/>
                    <a:lstStyle/>
                    <a:p>
                      <a:r>
                        <a:rPr lang="en-US" dirty="0"/>
                        <a:t>3%</a:t>
                      </a:r>
                    </a:p>
                  </a:txBody>
                  <a:tcPr/>
                </a:tc>
                <a:extLst>
                  <a:ext uri="{0D108BD9-81ED-4DB2-BD59-A6C34878D82A}">
                    <a16:rowId xmlns:a16="http://schemas.microsoft.com/office/drawing/2014/main" val="2509369450"/>
                  </a:ext>
                </a:extLst>
              </a:tr>
              <a:tr h="370840">
                <a:tc>
                  <a:txBody>
                    <a:bodyPr/>
                    <a:lstStyle/>
                    <a:p>
                      <a:r>
                        <a:rPr lang="en-US" dirty="0"/>
                        <a:t>              </a:t>
                      </a:r>
                      <a:r>
                        <a:rPr lang="en-US" b="1" dirty="0"/>
                        <a:t>Receive</a:t>
                      </a:r>
                      <a:r>
                        <a:rPr lang="en-US" dirty="0"/>
                        <a:t> from Citigroup  (+)</a:t>
                      </a:r>
                    </a:p>
                  </a:txBody>
                  <a:tcPr/>
                </a:tc>
                <a:tc>
                  <a:txBody>
                    <a:bodyPr/>
                    <a:lstStyle/>
                    <a:p>
                      <a:r>
                        <a:rPr lang="en-US" dirty="0"/>
                        <a:t>LIBOR</a:t>
                      </a:r>
                    </a:p>
                  </a:txBody>
                  <a:tcPr/>
                </a:tc>
                <a:extLst>
                  <a:ext uri="{0D108BD9-81ED-4DB2-BD59-A6C34878D82A}">
                    <a16:rowId xmlns:a16="http://schemas.microsoft.com/office/drawing/2014/main" val="1821861321"/>
                  </a:ext>
                </a:extLst>
              </a:tr>
              <a:tr h="370840">
                <a:tc>
                  <a:txBody>
                    <a:bodyPr/>
                    <a:lstStyle/>
                    <a:p>
                      <a:r>
                        <a:rPr lang="en-US" dirty="0"/>
                        <a:t>Net </a:t>
                      </a:r>
                      <a:r>
                        <a:rPr lang="en-US" b="1" dirty="0"/>
                        <a:t>return</a:t>
                      </a:r>
                      <a:r>
                        <a:rPr lang="en-US" dirty="0"/>
                        <a:t> of investment</a:t>
                      </a:r>
                    </a:p>
                  </a:txBody>
                  <a:tcPr/>
                </a:tc>
                <a:tc>
                  <a:txBody>
                    <a:bodyPr/>
                    <a:lstStyle/>
                    <a:p>
                      <a:r>
                        <a:rPr lang="en-US" b="1" dirty="0"/>
                        <a:t>LIBOR-0.3%</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=(2.7%-3%+LIBOR)</a:t>
                      </a:r>
                    </a:p>
                  </a:txBody>
                  <a:tcPr/>
                </a:tc>
                <a:extLst>
                  <a:ext uri="{0D108BD9-81ED-4DB2-BD59-A6C34878D82A}">
                    <a16:rowId xmlns:a16="http://schemas.microsoft.com/office/drawing/2014/main" val="4073212660"/>
                  </a:ext>
                </a:extLst>
              </a:tr>
            </a:tbl>
          </a:graphicData>
        </a:graphic>
      </p:graphicFrame>
      <p:sp>
        <p:nvSpPr>
          <p:cNvPr id="5" name="Date Placeholder 4">
            <a:extLst>
              <a:ext uri="{FF2B5EF4-FFF2-40B4-BE49-F238E27FC236}">
                <a16:creationId xmlns:a16="http://schemas.microsoft.com/office/drawing/2014/main" id="{EE8A583B-01FA-202C-9C8B-890383A6D18C}"/>
              </a:ext>
            </a:extLst>
          </p:cNvPr>
          <p:cNvSpPr>
            <a:spLocks noGrp="1"/>
          </p:cNvSpPr>
          <p:nvPr>
            <p:ph type="dt" sz="half" idx="10"/>
          </p:nvPr>
        </p:nvSpPr>
        <p:spPr/>
        <p:txBody>
          <a:bodyPr/>
          <a:lstStyle/>
          <a:p>
            <a:fld id="{57E6E67B-F990-DA46-92FA-83F3FA43A128}" type="datetime1">
              <a:rPr lang="en-AU" smtClean="0"/>
              <a:t>28/8/2026</a:t>
            </a:fld>
            <a:endParaRPr lang="en-US"/>
          </a:p>
        </p:txBody>
      </p:sp>
      <p:sp>
        <p:nvSpPr>
          <p:cNvPr id="6" name="Footer Placeholder 5">
            <a:extLst>
              <a:ext uri="{FF2B5EF4-FFF2-40B4-BE49-F238E27FC236}">
                <a16:creationId xmlns:a16="http://schemas.microsoft.com/office/drawing/2014/main" id="{B384DDCE-FCD6-B0FC-CF1F-CFC0BF357262}"/>
              </a:ext>
            </a:extLst>
          </p:cNvPr>
          <p:cNvSpPr>
            <a:spLocks noGrp="1"/>
          </p:cNvSpPr>
          <p:nvPr>
            <p:ph type="ftr" sz="quarter" idx="11"/>
          </p:nvPr>
        </p:nvSpPr>
        <p:spPr/>
        <p:txBody>
          <a:bodyPr/>
          <a:lstStyle/>
          <a:p>
            <a:r>
              <a:rPr lang="en-US"/>
              <a:t>FINA2204 - Tutorial 5</a:t>
            </a:r>
          </a:p>
        </p:txBody>
      </p:sp>
      <p:sp>
        <p:nvSpPr>
          <p:cNvPr id="7" name="Slide Number Placeholder 6">
            <a:extLst>
              <a:ext uri="{FF2B5EF4-FFF2-40B4-BE49-F238E27FC236}">
                <a16:creationId xmlns:a16="http://schemas.microsoft.com/office/drawing/2014/main" id="{7BB166BC-F30A-8004-5295-E495D18513B8}"/>
              </a:ext>
            </a:extLst>
          </p:cNvPr>
          <p:cNvSpPr>
            <a:spLocks noGrp="1"/>
          </p:cNvSpPr>
          <p:nvPr>
            <p:ph type="sldNum" sz="quarter" idx="12"/>
          </p:nvPr>
        </p:nvSpPr>
        <p:spPr/>
        <p:txBody>
          <a:bodyPr/>
          <a:lstStyle/>
          <a:p>
            <a:fld id="{9855740F-6ECD-274F-B089-6B266B6B07F9}" type="slidenum">
              <a:rPr lang="en-US" smtClean="0"/>
              <a:t>12</a:t>
            </a:fld>
            <a:endParaRPr lang="en-US"/>
          </a:p>
        </p:txBody>
      </p:sp>
    </p:spTree>
    <p:extLst>
      <p:ext uri="{BB962C8B-B14F-4D97-AF65-F5344CB8AC3E}">
        <p14:creationId xmlns:p14="http://schemas.microsoft.com/office/powerpoint/2010/main" val="112109251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80FA22-0D50-8D49-3F4C-E69E510560D1}"/>
              </a:ext>
            </a:extLst>
          </p:cNvPr>
          <p:cNvSpPr>
            <a:spLocks noGrp="1"/>
          </p:cNvSpPr>
          <p:nvPr>
            <p:ph type="title"/>
          </p:nvPr>
        </p:nvSpPr>
        <p:spPr/>
        <p:txBody>
          <a:bodyPr/>
          <a:lstStyle/>
          <a:p>
            <a:r>
              <a:rPr lang="en-US" dirty="0"/>
              <a:t>Recap: Market makers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6FB99B4-4C7D-FE07-F822-BCB769494279}"/>
                  </a:ext>
                </a:extLst>
              </p:cNvPr>
              <p:cNvSpPr>
                <a:spLocks noGrp="1"/>
              </p:cNvSpPr>
              <p:nvPr>
                <p:ph idx="1"/>
              </p:nvPr>
            </p:nvSpPr>
            <p:spPr/>
            <p:txBody>
              <a:bodyPr/>
              <a:lstStyle/>
              <a:p>
                <a:r>
                  <a:rPr lang="en-AU" dirty="0"/>
                  <a:t>Market maker (or dealer) makers quote two </a:t>
                </a:r>
                <a:r>
                  <a:rPr lang="en-AU" b="1" dirty="0"/>
                  <a:t>fixed rates</a:t>
                </a:r>
                <a:r>
                  <a:rPr lang="en-AU" dirty="0"/>
                  <a:t>.</a:t>
                </a:r>
              </a:p>
              <a:p>
                <a:r>
                  <a:rPr lang="en-AU" dirty="0"/>
                  <a:t>For example, pays fixed at 2.55% to one client and receives fixed at 2.58% from another.</a:t>
                </a:r>
              </a:p>
              <a:p>
                <a:r>
                  <a:rPr lang="en-AU" dirty="0"/>
                  <a:t>Locks in a 0.03% (3 bp) </a:t>
                </a:r>
                <a:r>
                  <a:rPr lang="en-AU" b="1" dirty="0"/>
                  <a:t>spread</a:t>
                </a:r>
                <a:r>
                  <a:rPr lang="en-AU" dirty="0"/>
                  <a:t>.</a:t>
                </a:r>
              </a:p>
              <a:p>
                <a:pPr marL="0" indent="0">
                  <a:buNone/>
                </a:pPr>
                <a14:m>
                  <m:oMathPara xmlns:m="http://schemas.openxmlformats.org/officeDocument/2006/math">
                    <m:oMathParaPr>
                      <m:jc m:val="centerGroup"/>
                    </m:oMathParaPr>
                    <m:oMath xmlns:m="http://schemas.openxmlformats.org/officeDocument/2006/math">
                      <m:r>
                        <a:rPr lang="en-AU" b="0" i="1" smtClean="0">
                          <a:latin typeface="Cambria Math" panose="02040503050406030204" pitchFamily="18" charset="0"/>
                        </a:rPr>
                        <m:t>+2.58%−</m:t>
                      </m:r>
                      <m:r>
                        <a:rPr lang="en-AU" b="0" i="1" smtClean="0">
                          <a:latin typeface="Cambria Math" panose="02040503050406030204" pitchFamily="18" charset="0"/>
                        </a:rPr>
                        <m:t>𝐿𝐼𝐵𝑂𝑅</m:t>
                      </m:r>
                      <m:r>
                        <a:rPr lang="en-AU" b="0" i="1" smtClean="0">
                          <a:latin typeface="Cambria Math" panose="02040503050406030204" pitchFamily="18" charset="0"/>
                        </a:rPr>
                        <m:t>−2.55%+</m:t>
                      </m:r>
                      <m:r>
                        <a:rPr lang="en-AU" b="0" i="1" smtClean="0">
                          <a:latin typeface="Cambria Math" panose="02040503050406030204" pitchFamily="18" charset="0"/>
                        </a:rPr>
                        <m:t>𝐿𝐼𝐵𝑂𝑅</m:t>
                      </m:r>
                      <m:r>
                        <a:rPr lang="en-AU" b="0" i="1" smtClean="0">
                          <a:latin typeface="Cambria Math" panose="02040503050406030204" pitchFamily="18" charset="0"/>
                        </a:rPr>
                        <m:t>=0.03%</m:t>
                      </m:r>
                    </m:oMath>
                  </m:oMathPara>
                </a14:m>
                <a:endParaRPr lang="en-US" dirty="0"/>
              </a:p>
            </p:txBody>
          </p:sp>
        </mc:Choice>
        <mc:Fallback xmlns="">
          <p:sp>
            <p:nvSpPr>
              <p:cNvPr id="3" name="Content Placeholder 2">
                <a:extLst>
                  <a:ext uri="{FF2B5EF4-FFF2-40B4-BE49-F238E27FC236}">
                    <a16:creationId xmlns:a16="http://schemas.microsoft.com/office/drawing/2014/main" id="{66FB99B4-4C7D-FE07-F822-BCB769494279}"/>
                  </a:ext>
                </a:extLst>
              </p:cNvPr>
              <p:cNvSpPr>
                <a:spLocks noGrp="1" noRot="1" noChangeAspect="1" noMove="1" noResize="1" noEditPoints="1" noAdjustHandles="1" noChangeArrowheads="1" noChangeShapeType="1" noTextEdit="1"/>
              </p:cNvSpPr>
              <p:nvPr>
                <p:ph idx="1"/>
              </p:nvPr>
            </p:nvSpPr>
            <p:spPr>
              <a:blipFill>
                <a:blip r:embed="rId3"/>
                <a:stretch>
                  <a:fillRect l="-1086" t="-2326"/>
                </a:stretch>
              </a:blipFill>
            </p:spPr>
            <p:txBody>
              <a:bodyPr/>
              <a:lstStyle/>
              <a:p>
                <a:r>
                  <a:rPr lang="en-US">
                    <a:noFill/>
                  </a:rPr>
                  <a:t> </a:t>
                </a:r>
              </a:p>
            </p:txBody>
          </p:sp>
        </mc:Fallback>
      </mc:AlternateContent>
      <p:pic>
        <p:nvPicPr>
          <p:cNvPr id="5" name="Picture 4" descr="A diagram of swap dealer&#10;&#10;AI-generated content may be incorrect.">
            <a:extLst>
              <a:ext uri="{FF2B5EF4-FFF2-40B4-BE49-F238E27FC236}">
                <a16:creationId xmlns:a16="http://schemas.microsoft.com/office/drawing/2014/main" id="{63AC8059-359E-7333-7ADB-6B5A258C7D28}"/>
              </a:ext>
            </a:extLst>
          </p:cNvPr>
          <p:cNvPicPr>
            <a:picLocks noChangeAspect="1"/>
          </p:cNvPicPr>
          <p:nvPr/>
        </p:nvPicPr>
        <p:blipFill>
          <a:blip r:embed="rId4"/>
          <a:stretch>
            <a:fillRect/>
          </a:stretch>
        </p:blipFill>
        <p:spPr>
          <a:xfrm>
            <a:off x="2693336" y="4278086"/>
            <a:ext cx="6805328" cy="2481943"/>
          </a:xfrm>
          <a:prstGeom prst="rect">
            <a:avLst/>
          </a:prstGeom>
        </p:spPr>
      </p:pic>
      <p:cxnSp>
        <p:nvCxnSpPr>
          <p:cNvPr id="8" name="Straight Connector 7">
            <a:extLst>
              <a:ext uri="{FF2B5EF4-FFF2-40B4-BE49-F238E27FC236}">
                <a16:creationId xmlns:a16="http://schemas.microsoft.com/office/drawing/2014/main" id="{4C7DF926-1064-39F1-3DA1-258D4EFE1A55}"/>
              </a:ext>
            </a:extLst>
          </p:cNvPr>
          <p:cNvCxnSpPr/>
          <p:nvPr/>
        </p:nvCxnSpPr>
        <p:spPr>
          <a:xfrm>
            <a:off x="3799112" y="3548743"/>
            <a:ext cx="1589314" cy="598714"/>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46F7BE08-C78C-837C-3E7E-F8455D3A5A30}"/>
              </a:ext>
            </a:extLst>
          </p:cNvPr>
          <p:cNvCxnSpPr/>
          <p:nvPr/>
        </p:nvCxnSpPr>
        <p:spPr>
          <a:xfrm>
            <a:off x="6999512" y="3544435"/>
            <a:ext cx="1589314" cy="598714"/>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10" name="TextBox 9">
            <a:extLst>
              <a:ext uri="{FF2B5EF4-FFF2-40B4-BE49-F238E27FC236}">
                <a16:creationId xmlns:a16="http://schemas.microsoft.com/office/drawing/2014/main" id="{95A68536-7E53-ECCE-E062-18AFE1767A3C}"/>
              </a:ext>
            </a:extLst>
          </p:cNvPr>
          <p:cNvSpPr txBox="1"/>
          <p:nvPr/>
        </p:nvSpPr>
        <p:spPr>
          <a:xfrm>
            <a:off x="2031006" y="4898572"/>
            <a:ext cx="967188" cy="523220"/>
          </a:xfrm>
          <a:prstGeom prst="rect">
            <a:avLst/>
          </a:prstGeom>
          <a:noFill/>
        </p:spPr>
        <p:txBody>
          <a:bodyPr wrap="none" rtlCol="0">
            <a:spAutoFit/>
          </a:bodyPr>
          <a:lstStyle/>
          <a:p>
            <a:r>
              <a:rPr lang="en-US" sz="2800" dirty="0">
                <a:highlight>
                  <a:srgbClr val="FFFF00"/>
                </a:highlight>
              </a:rPr>
              <a:t>Offer</a:t>
            </a:r>
          </a:p>
        </p:txBody>
      </p:sp>
      <p:sp>
        <p:nvSpPr>
          <p:cNvPr id="11" name="TextBox 10">
            <a:extLst>
              <a:ext uri="{FF2B5EF4-FFF2-40B4-BE49-F238E27FC236}">
                <a16:creationId xmlns:a16="http://schemas.microsoft.com/office/drawing/2014/main" id="{31060433-23C1-5BC7-CCF8-E0A1D2DCEC9A}"/>
              </a:ext>
            </a:extLst>
          </p:cNvPr>
          <p:cNvSpPr txBox="1"/>
          <p:nvPr/>
        </p:nvSpPr>
        <p:spPr>
          <a:xfrm>
            <a:off x="9677400" y="4920343"/>
            <a:ext cx="688009" cy="523220"/>
          </a:xfrm>
          <a:prstGeom prst="rect">
            <a:avLst/>
          </a:prstGeom>
          <a:noFill/>
        </p:spPr>
        <p:txBody>
          <a:bodyPr wrap="none" rtlCol="0">
            <a:spAutoFit/>
          </a:bodyPr>
          <a:lstStyle/>
          <a:p>
            <a:r>
              <a:rPr lang="en-US" sz="2800" dirty="0">
                <a:highlight>
                  <a:srgbClr val="FFFF00"/>
                </a:highlight>
              </a:rPr>
              <a:t>Bid</a:t>
            </a:r>
          </a:p>
        </p:txBody>
      </p:sp>
      <p:cxnSp>
        <p:nvCxnSpPr>
          <p:cNvPr id="13" name="Straight Arrow Connector 12">
            <a:extLst>
              <a:ext uri="{FF2B5EF4-FFF2-40B4-BE49-F238E27FC236}">
                <a16:creationId xmlns:a16="http://schemas.microsoft.com/office/drawing/2014/main" id="{7DCFAF48-C68F-EB5F-EBFD-822F6EEF223C}"/>
              </a:ext>
            </a:extLst>
          </p:cNvPr>
          <p:cNvCxnSpPr/>
          <p:nvPr/>
        </p:nvCxnSpPr>
        <p:spPr>
          <a:xfrm flipH="1" flipV="1">
            <a:off x="2998194" y="5181953"/>
            <a:ext cx="800918" cy="9761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4" name="Straight Arrow Connector 13">
            <a:extLst>
              <a:ext uri="{FF2B5EF4-FFF2-40B4-BE49-F238E27FC236}">
                <a16:creationId xmlns:a16="http://schemas.microsoft.com/office/drawing/2014/main" id="{3F31694A-0F25-89FD-AE71-3B07A4C769F0}"/>
              </a:ext>
            </a:extLst>
          </p:cNvPr>
          <p:cNvCxnSpPr>
            <a:cxnSpLocks/>
          </p:cNvCxnSpPr>
          <p:nvPr/>
        </p:nvCxnSpPr>
        <p:spPr>
          <a:xfrm flipV="1">
            <a:off x="8689009" y="5160182"/>
            <a:ext cx="809655" cy="11938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8" name="Date Placeholder 17">
            <a:extLst>
              <a:ext uri="{FF2B5EF4-FFF2-40B4-BE49-F238E27FC236}">
                <a16:creationId xmlns:a16="http://schemas.microsoft.com/office/drawing/2014/main" id="{D1E961E3-ADCB-9690-15D9-1377CFCDEF6A}"/>
              </a:ext>
            </a:extLst>
          </p:cNvPr>
          <p:cNvSpPr>
            <a:spLocks noGrp="1"/>
          </p:cNvSpPr>
          <p:nvPr>
            <p:ph type="dt" sz="half" idx="10"/>
          </p:nvPr>
        </p:nvSpPr>
        <p:spPr/>
        <p:txBody>
          <a:bodyPr/>
          <a:lstStyle/>
          <a:p>
            <a:fld id="{2F2D9721-4C9D-3C4F-9353-BF8671902196}" type="datetime1">
              <a:rPr lang="en-AU" smtClean="0"/>
              <a:t>28/8/2026</a:t>
            </a:fld>
            <a:endParaRPr lang="en-US"/>
          </a:p>
        </p:txBody>
      </p:sp>
      <p:sp>
        <p:nvSpPr>
          <p:cNvPr id="19" name="Footer Placeholder 18">
            <a:extLst>
              <a:ext uri="{FF2B5EF4-FFF2-40B4-BE49-F238E27FC236}">
                <a16:creationId xmlns:a16="http://schemas.microsoft.com/office/drawing/2014/main" id="{625ED97B-84E5-E435-AFF1-B2A2F422A4F4}"/>
              </a:ext>
            </a:extLst>
          </p:cNvPr>
          <p:cNvSpPr>
            <a:spLocks noGrp="1"/>
          </p:cNvSpPr>
          <p:nvPr>
            <p:ph type="ftr" sz="quarter" idx="11"/>
          </p:nvPr>
        </p:nvSpPr>
        <p:spPr/>
        <p:txBody>
          <a:bodyPr/>
          <a:lstStyle/>
          <a:p>
            <a:r>
              <a:rPr lang="en-US"/>
              <a:t>FINA2204 - Tutorial 5</a:t>
            </a:r>
          </a:p>
        </p:txBody>
      </p:sp>
      <p:sp>
        <p:nvSpPr>
          <p:cNvPr id="20" name="Slide Number Placeholder 19">
            <a:extLst>
              <a:ext uri="{FF2B5EF4-FFF2-40B4-BE49-F238E27FC236}">
                <a16:creationId xmlns:a16="http://schemas.microsoft.com/office/drawing/2014/main" id="{A58106F0-CB61-BFB4-38BE-7CC053AFCC53}"/>
              </a:ext>
            </a:extLst>
          </p:cNvPr>
          <p:cNvSpPr>
            <a:spLocks noGrp="1"/>
          </p:cNvSpPr>
          <p:nvPr>
            <p:ph type="sldNum" sz="quarter" idx="12"/>
          </p:nvPr>
        </p:nvSpPr>
        <p:spPr/>
        <p:txBody>
          <a:bodyPr/>
          <a:lstStyle/>
          <a:p>
            <a:fld id="{9855740F-6ECD-274F-B089-6B266B6B07F9}" type="slidenum">
              <a:rPr lang="en-US" smtClean="0"/>
              <a:t>13</a:t>
            </a:fld>
            <a:endParaRPr lang="en-US"/>
          </a:p>
        </p:txBody>
      </p:sp>
    </p:spTree>
    <p:extLst>
      <p:ext uri="{BB962C8B-B14F-4D97-AF65-F5344CB8AC3E}">
        <p14:creationId xmlns:p14="http://schemas.microsoft.com/office/powerpoint/2010/main" val="29084991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CDFE6B-FDB9-1BA9-F510-C7EEF23A97F1}"/>
              </a:ext>
            </a:extLst>
          </p:cNvPr>
          <p:cNvSpPr>
            <a:spLocks noGrp="1"/>
          </p:cNvSpPr>
          <p:nvPr>
            <p:ph type="title"/>
          </p:nvPr>
        </p:nvSpPr>
        <p:spPr/>
        <p:txBody>
          <a:bodyPr/>
          <a:lstStyle/>
          <a:p>
            <a:r>
              <a:rPr lang="en-US" dirty="0"/>
              <a:t>Recap: Market makers</a:t>
            </a:r>
          </a:p>
        </p:txBody>
      </p:sp>
      <p:sp>
        <p:nvSpPr>
          <p:cNvPr id="3" name="Content Placeholder 2">
            <a:extLst>
              <a:ext uri="{FF2B5EF4-FFF2-40B4-BE49-F238E27FC236}">
                <a16:creationId xmlns:a16="http://schemas.microsoft.com/office/drawing/2014/main" id="{CA05C1D2-9F66-A35B-2BB4-1742AEB7768B}"/>
              </a:ext>
            </a:extLst>
          </p:cNvPr>
          <p:cNvSpPr>
            <a:spLocks noGrp="1"/>
          </p:cNvSpPr>
          <p:nvPr>
            <p:ph idx="1"/>
          </p:nvPr>
        </p:nvSpPr>
        <p:spPr/>
        <p:txBody>
          <a:bodyPr/>
          <a:lstStyle/>
          <a:p>
            <a:r>
              <a:rPr lang="en-US" dirty="0"/>
              <a:t>Bid: The fixed rate the dealer is willing to pay if the counterparty wants to </a:t>
            </a:r>
            <a:r>
              <a:rPr lang="en-US" b="1" dirty="0"/>
              <a:t>receive fixed </a:t>
            </a:r>
            <a:r>
              <a:rPr lang="en-US" dirty="0"/>
              <a:t>and pay floating.</a:t>
            </a:r>
          </a:p>
          <a:p>
            <a:r>
              <a:rPr lang="en-US" dirty="0"/>
              <a:t>Offer (Ask): The fixed rate the dealer is willing to receive if the counterparty wants to </a:t>
            </a:r>
            <a:r>
              <a:rPr lang="en-US" b="1" dirty="0"/>
              <a:t>pay fixed </a:t>
            </a:r>
            <a:r>
              <a:rPr lang="en-US" dirty="0"/>
              <a:t>and receive floating.</a:t>
            </a:r>
          </a:p>
        </p:txBody>
      </p:sp>
      <p:pic>
        <p:nvPicPr>
          <p:cNvPr id="6" name="Picture 5" descr="A table with numbers and a price&#10;&#10;AI-generated content may be incorrect.">
            <a:extLst>
              <a:ext uri="{FF2B5EF4-FFF2-40B4-BE49-F238E27FC236}">
                <a16:creationId xmlns:a16="http://schemas.microsoft.com/office/drawing/2014/main" id="{A6627255-066A-10BC-87CC-422A85EB1F65}"/>
              </a:ext>
            </a:extLst>
          </p:cNvPr>
          <p:cNvPicPr>
            <a:picLocks noChangeAspect="1"/>
          </p:cNvPicPr>
          <p:nvPr/>
        </p:nvPicPr>
        <p:blipFill>
          <a:blip r:embed="rId3"/>
          <a:stretch>
            <a:fillRect/>
          </a:stretch>
        </p:blipFill>
        <p:spPr>
          <a:xfrm>
            <a:off x="2800350" y="3570111"/>
            <a:ext cx="6591300" cy="3173589"/>
          </a:xfrm>
          <a:prstGeom prst="rect">
            <a:avLst/>
          </a:prstGeom>
        </p:spPr>
      </p:pic>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5501A1F7-4D2F-8FDE-3ECD-D2201CEDC206}"/>
                  </a:ext>
                </a:extLst>
              </p:cNvPr>
              <p:cNvSpPr txBox="1"/>
              <p:nvPr/>
            </p:nvSpPr>
            <p:spPr>
              <a:xfrm>
                <a:off x="9505951" y="4751041"/>
                <a:ext cx="2566306" cy="408125"/>
              </a:xfrm>
              <a:prstGeom prst="rect">
                <a:avLst/>
              </a:prstGeom>
              <a:noFill/>
            </p:spPr>
            <p:txBody>
              <a:bodyPr wrap="square" lIns="0" tIns="0" rIns="0" bIns="0" rtlCol="0">
                <a:spAutoFit/>
              </a:bodyPr>
              <a:lstStyle/>
              <a:p>
                <a:pPr/>
                <a14:m>
                  <m:oMathPara xmlns:m="http://schemas.openxmlformats.org/officeDocument/2006/math">
                    <m:oMathParaPr>
                      <m:jc m:val="left"/>
                    </m:oMathParaPr>
                    <m:oMath xmlns:m="http://schemas.openxmlformats.org/officeDocument/2006/math">
                      <m:r>
                        <a:rPr lang="en-AU" sz="1400" b="0" i="1" smtClean="0">
                          <a:solidFill>
                            <a:srgbClr val="7030A0"/>
                          </a:solidFill>
                          <a:latin typeface="Cambria Math" panose="02040503050406030204" pitchFamily="18" charset="0"/>
                        </a:rPr>
                        <m:t>=</m:t>
                      </m:r>
                      <m:f>
                        <m:fPr>
                          <m:ctrlPr>
                            <a:rPr lang="en-US" sz="1400" i="1" smtClean="0">
                              <a:solidFill>
                                <a:srgbClr val="7030A0"/>
                              </a:solidFill>
                              <a:latin typeface="Cambria Math" panose="02040503050406030204" pitchFamily="18" charset="0"/>
                            </a:rPr>
                          </m:ctrlPr>
                        </m:fPr>
                        <m:num>
                          <m:r>
                            <a:rPr lang="en-AU" sz="1400" b="0" i="1" smtClean="0">
                              <a:solidFill>
                                <a:srgbClr val="7030A0"/>
                              </a:solidFill>
                              <a:latin typeface="Cambria Math" panose="02040503050406030204" pitchFamily="18" charset="0"/>
                            </a:rPr>
                            <m:t>𝑏𝑖𝑑</m:t>
                          </m:r>
                          <m:r>
                            <a:rPr lang="en-AU" sz="1400" b="0" i="1" smtClean="0">
                              <a:solidFill>
                                <a:srgbClr val="7030A0"/>
                              </a:solidFill>
                              <a:latin typeface="Cambria Math" panose="02040503050406030204" pitchFamily="18" charset="0"/>
                            </a:rPr>
                            <m:t>+</m:t>
                          </m:r>
                          <m:r>
                            <a:rPr lang="en-AU" sz="1400" b="0" i="1" smtClean="0">
                              <a:solidFill>
                                <a:srgbClr val="7030A0"/>
                              </a:solidFill>
                              <a:latin typeface="Cambria Math" panose="02040503050406030204" pitchFamily="18" charset="0"/>
                            </a:rPr>
                            <m:t>𝑜𝑓𝑓𝑒𝑟</m:t>
                          </m:r>
                        </m:num>
                        <m:den>
                          <m:r>
                            <a:rPr lang="en-AU" sz="1400" b="0" i="1" smtClean="0">
                              <a:solidFill>
                                <a:srgbClr val="7030A0"/>
                              </a:solidFill>
                              <a:latin typeface="Cambria Math" panose="02040503050406030204" pitchFamily="18" charset="0"/>
                            </a:rPr>
                            <m:t>2</m:t>
                          </m:r>
                        </m:den>
                      </m:f>
                    </m:oMath>
                  </m:oMathPara>
                </a14:m>
                <a:endParaRPr lang="en-US" sz="1400" dirty="0">
                  <a:solidFill>
                    <a:srgbClr val="7030A0"/>
                  </a:solidFill>
                </a:endParaRPr>
              </a:p>
            </p:txBody>
          </p:sp>
        </mc:Choice>
        <mc:Fallback xmlns="">
          <p:sp>
            <p:nvSpPr>
              <p:cNvPr id="10" name="TextBox 9">
                <a:extLst>
                  <a:ext uri="{FF2B5EF4-FFF2-40B4-BE49-F238E27FC236}">
                    <a16:creationId xmlns:a16="http://schemas.microsoft.com/office/drawing/2014/main" id="{5501A1F7-4D2F-8FDE-3ECD-D2201CEDC206}"/>
                  </a:ext>
                </a:extLst>
              </p:cNvPr>
              <p:cNvSpPr txBox="1">
                <a:spLocks noRot="1" noChangeAspect="1" noMove="1" noResize="1" noEditPoints="1" noAdjustHandles="1" noChangeArrowheads="1" noChangeShapeType="1" noTextEdit="1"/>
              </p:cNvSpPr>
              <p:nvPr/>
            </p:nvSpPr>
            <p:spPr>
              <a:xfrm>
                <a:off x="9505951" y="4751041"/>
                <a:ext cx="2566306" cy="408125"/>
              </a:xfrm>
              <a:prstGeom prst="rect">
                <a:avLst/>
              </a:prstGeom>
              <a:blipFill>
                <a:blip r:embed="rId4"/>
                <a:stretch>
                  <a:fillRect l="-1478" t="-2941" b="-11765"/>
                </a:stretch>
              </a:blipFill>
            </p:spPr>
            <p:txBody>
              <a:bodyPr/>
              <a:lstStyle/>
              <a:p>
                <a:r>
                  <a:rPr lang="en-US">
                    <a:noFill/>
                  </a:rPr>
                  <a:t> </a:t>
                </a:r>
              </a:p>
            </p:txBody>
          </p:sp>
        </mc:Fallback>
      </mc:AlternateContent>
      <p:sp>
        <p:nvSpPr>
          <p:cNvPr id="11" name="Oval 10">
            <a:extLst>
              <a:ext uri="{FF2B5EF4-FFF2-40B4-BE49-F238E27FC236}">
                <a16:creationId xmlns:a16="http://schemas.microsoft.com/office/drawing/2014/main" id="{E87086F4-8B98-CEBF-0857-8400DBA45736}"/>
              </a:ext>
            </a:extLst>
          </p:cNvPr>
          <p:cNvSpPr/>
          <p:nvPr/>
        </p:nvSpPr>
        <p:spPr>
          <a:xfrm>
            <a:off x="8327571" y="4278085"/>
            <a:ext cx="1064079" cy="2465615"/>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59D3A0F7-F4FD-C299-5E83-F768B702D45B}"/>
              </a:ext>
            </a:extLst>
          </p:cNvPr>
          <p:cNvSpPr txBox="1"/>
          <p:nvPr/>
        </p:nvSpPr>
        <p:spPr>
          <a:xfrm>
            <a:off x="9932211" y="5229135"/>
            <a:ext cx="2315221" cy="1477328"/>
          </a:xfrm>
          <a:prstGeom prst="rect">
            <a:avLst/>
          </a:prstGeom>
          <a:noFill/>
        </p:spPr>
        <p:txBody>
          <a:bodyPr wrap="square" rtlCol="0">
            <a:spAutoFit/>
          </a:bodyPr>
          <a:lstStyle/>
          <a:p>
            <a:r>
              <a:rPr lang="en-US" dirty="0"/>
              <a:t>Benchmark rate for </a:t>
            </a:r>
            <a:r>
              <a:rPr lang="en-US" b="1" dirty="0"/>
              <a:t>valuing swaps</a:t>
            </a:r>
            <a:r>
              <a:rPr lang="en-US" dirty="0"/>
              <a:t>, constructing swap yield curve, and as a market reference.</a:t>
            </a:r>
          </a:p>
        </p:txBody>
      </p:sp>
      <p:cxnSp>
        <p:nvCxnSpPr>
          <p:cNvPr id="7" name="Curved Connector 6">
            <a:extLst>
              <a:ext uri="{FF2B5EF4-FFF2-40B4-BE49-F238E27FC236}">
                <a16:creationId xmlns:a16="http://schemas.microsoft.com/office/drawing/2014/main" id="{7DE96C6F-0F02-6B2E-1314-BCC7A20F7C38}"/>
              </a:ext>
            </a:extLst>
          </p:cNvPr>
          <p:cNvCxnSpPr/>
          <p:nvPr/>
        </p:nvCxnSpPr>
        <p:spPr>
          <a:xfrm>
            <a:off x="9391650" y="5404757"/>
            <a:ext cx="634093" cy="424543"/>
          </a:xfrm>
          <a:prstGeom prst="curvedConnector3">
            <a:avLst/>
          </a:prstGeom>
          <a:ln>
            <a:tailEnd type="triangle"/>
          </a:ln>
        </p:spPr>
        <p:style>
          <a:lnRef idx="2">
            <a:schemeClr val="accent1"/>
          </a:lnRef>
          <a:fillRef idx="0">
            <a:schemeClr val="accent1"/>
          </a:fillRef>
          <a:effectRef idx="1">
            <a:schemeClr val="accent1"/>
          </a:effectRef>
          <a:fontRef idx="minor">
            <a:schemeClr val="tx1"/>
          </a:fontRef>
        </p:style>
      </p:cxnSp>
      <p:sp>
        <p:nvSpPr>
          <p:cNvPr id="8" name="Oval 7">
            <a:extLst>
              <a:ext uri="{FF2B5EF4-FFF2-40B4-BE49-F238E27FC236}">
                <a16:creationId xmlns:a16="http://schemas.microsoft.com/office/drawing/2014/main" id="{20E32A79-0878-520E-D9BD-672C6AC756F5}"/>
              </a:ext>
            </a:extLst>
          </p:cNvPr>
          <p:cNvSpPr/>
          <p:nvPr/>
        </p:nvSpPr>
        <p:spPr>
          <a:xfrm>
            <a:off x="5102678" y="4278085"/>
            <a:ext cx="2506436" cy="2428378"/>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4" name="Curved Connector 13">
            <a:extLst>
              <a:ext uri="{FF2B5EF4-FFF2-40B4-BE49-F238E27FC236}">
                <a16:creationId xmlns:a16="http://schemas.microsoft.com/office/drawing/2014/main" id="{70933C7E-F489-D83E-F00A-6DC5A60312C2}"/>
              </a:ext>
            </a:extLst>
          </p:cNvPr>
          <p:cNvCxnSpPr/>
          <p:nvPr/>
        </p:nvCxnSpPr>
        <p:spPr>
          <a:xfrm rot="10800000">
            <a:off x="2455668" y="5156905"/>
            <a:ext cx="3030732" cy="810894"/>
          </a:xfrm>
          <a:prstGeom prst="curvedConnector3">
            <a:avLst/>
          </a:prstGeom>
          <a:ln>
            <a:tailEnd type="triangle"/>
          </a:ln>
        </p:spPr>
        <p:style>
          <a:lnRef idx="2">
            <a:schemeClr val="accent1"/>
          </a:lnRef>
          <a:fillRef idx="0">
            <a:schemeClr val="accent1"/>
          </a:fillRef>
          <a:effectRef idx="1">
            <a:schemeClr val="accent1"/>
          </a:effectRef>
          <a:fontRef idx="minor">
            <a:schemeClr val="tx1"/>
          </a:fontRef>
        </p:style>
      </p:cxnSp>
      <p:sp>
        <p:nvSpPr>
          <p:cNvPr id="15" name="TextBox 14">
            <a:extLst>
              <a:ext uri="{FF2B5EF4-FFF2-40B4-BE49-F238E27FC236}">
                <a16:creationId xmlns:a16="http://schemas.microsoft.com/office/drawing/2014/main" id="{E86696E2-C197-D8A3-F738-87D7554BB3A0}"/>
              </a:ext>
            </a:extLst>
          </p:cNvPr>
          <p:cNvSpPr txBox="1"/>
          <p:nvPr/>
        </p:nvSpPr>
        <p:spPr>
          <a:xfrm>
            <a:off x="359229" y="4955104"/>
            <a:ext cx="2441121" cy="1200329"/>
          </a:xfrm>
          <a:prstGeom prst="rect">
            <a:avLst/>
          </a:prstGeom>
          <a:noFill/>
        </p:spPr>
        <p:txBody>
          <a:bodyPr wrap="square" rtlCol="0">
            <a:spAutoFit/>
          </a:bodyPr>
          <a:lstStyle/>
          <a:p>
            <a:r>
              <a:rPr lang="en-AU" dirty="0"/>
              <a:t>The actual quotes used when </a:t>
            </a:r>
            <a:r>
              <a:rPr lang="en-AU" b="1" dirty="0"/>
              <a:t>entering into a swap </a:t>
            </a:r>
            <a:r>
              <a:rPr lang="en-AU" dirty="0"/>
              <a:t>contract with a dealer.</a:t>
            </a:r>
            <a:endParaRPr lang="en-US" dirty="0"/>
          </a:p>
        </p:txBody>
      </p:sp>
      <p:sp>
        <p:nvSpPr>
          <p:cNvPr id="16" name="Chevron 15">
            <a:extLst>
              <a:ext uri="{FF2B5EF4-FFF2-40B4-BE49-F238E27FC236}">
                <a16:creationId xmlns:a16="http://schemas.microsoft.com/office/drawing/2014/main" id="{09659BA2-C7AC-DF61-41E6-3357552B7EFD}"/>
              </a:ext>
            </a:extLst>
          </p:cNvPr>
          <p:cNvSpPr/>
          <p:nvPr/>
        </p:nvSpPr>
        <p:spPr>
          <a:xfrm rot="10800000">
            <a:off x="5998027" y="5149820"/>
            <a:ext cx="549729" cy="810895"/>
          </a:xfrm>
          <a:prstGeom prst="chevr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5" name="TextBox 4">
            <a:extLst>
              <a:ext uri="{FF2B5EF4-FFF2-40B4-BE49-F238E27FC236}">
                <a16:creationId xmlns:a16="http://schemas.microsoft.com/office/drawing/2014/main" id="{B28CAC3D-2E41-8607-AFD7-DDDB1F8DF431}"/>
              </a:ext>
            </a:extLst>
          </p:cNvPr>
          <p:cNvSpPr txBox="1"/>
          <p:nvPr/>
        </p:nvSpPr>
        <p:spPr>
          <a:xfrm>
            <a:off x="6441275" y="1012315"/>
            <a:ext cx="5900749" cy="400110"/>
          </a:xfrm>
          <a:prstGeom prst="rect">
            <a:avLst/>
          </a:prstGeom>
          <a:noFill/>
        </p:spPr>
        <p:txBody>
          <a:bodyPr wrap="square">
            <a:spAutoFit/>
          </a:bodyPr>
          <a:lstStyle/>
          <a:p>
            <a:r>
              <a:rPr lang="en-AU" sz="2000" b="0" i="0" u="none" strike="noStrike" dirty="0">
                <a:solidFill>
                  <a:srgbClr val="FF0000"/>
                </a:solidFill>
                <a:effectLst/>
                <a:latin typeface="-webkit-standard"/>
              </a:rPr>
              <a:t>Dealers receive high</a:t>
            </a:r>
            <a:r>
              <a:rPr lang="zh-CN" altLang="en-US" sz="2000" dirty="0">
                <a:solidFill>
                  <a:srgbClr val="FF0000"/>
                </a:solidFill>
                <a:latin typeface="-webkit-standard"/>
              </a:rPr>
              <a:t> </a:t>
            </a:r>
            <a:r>
              <a:rPr lang="en-AU" altLang="zh-CN" sz="2000" dirty="0">
                <a:solidFill>
                  <a:srgbClr val="FF0000"/>
                </a:solidFill>
                <a:latin typeface="-webkit-standard"/>
              </a:rPr>
              <a:t>and </a:t>
            </a:r>
            <a:r>
              <a:rPr lang="en-AU" sz="2000" b="0" i="0" u="none" strike="noStrike" dirty="0">
                <a:solidFill>
                  <a:srgbClr val="FF0000"/>
                </a:solidFill>
                <a:effectLst/>
                <a:latin typeface="-webkit-standard"/>
              </a:rPr>
              <a:t>pay low on fixed rate!</a:t>
            </a:r>
            <a:endParaRPr lang="en-US" sz="2000" dirty="0">
              <a:solidFill>
                <a:srgbClr val="FF0000"/>
              </a:solidFill>
            </a:endParaRPr>
          </a:p>
        </p:txBody>
      </p:sp>
      <p:sp>
        <p:nvSpPr>
          <p:cNvPr id="13" name="TextBox 12">
            <a:extLst>
              <a:ext uri="{FF2B5EF4-FFF2-40B4-BE49-F238E27FC236}">
                <a16:creationId xmlns:a16="http://schemas.microsoft.com/office/drawing/2014/main" id="{9732E061-9D1D-AD43-96CD-6DE0B20E08CF}"/>
              </a:ext>
            </a:extLst>
          </p:cNvPr>
          <p:cNvSpPr txBox="1"/>
          <p:nvPr/>
        </p:nvSpPr>
        <p:spPr>
          <a:xfrm>
            <a:off x="9391649" y="4337841"/>
            <a:ext cx="2436501" cy="369332"/>
          </a:xfrm>
          <a:prstGeom prst="rect">
            <a:avLst/>
          </a:prstGeom>
          <a:noFill/>
        </p:spPr>
        <p:txBody>
          <a:bodyPr wrap="none" rtlCol="0">
            <a:spAutoFit/>
          </a:bodyPr>
          <a:lstStyle/>
          <a:p>
            <a:r>
              <a:rPr lang="en-US" dirty="0">
                <a:solidFill>
                  <a:srgbClr val="7030A0"/>
                </a:solidFill>
              </a:rPr>
              <a:t>(Average bid-offer rate)</a:t>
            </a:r>
          </a:p>
        </p:txBody>
      </p:sp>
      <p:sp>
        <p:nvSpPr>
          <p:cNvPr id="17" name="Date Placeholder 16">
            <a:extLst>
              <a:ext uri="{FF2B5EF4-FFF2-40B4-BE49-F238E27FC236}">
                <a16:creationId xmlns:a16="http://schemas.microsoft.com/office/drawing/2014/main" id="{8074B44B-B866-D202-DDE6-CA7FDD042CC0}"/>
              </a:ext>
            </a:extLst>
          </p:cNvPr>
          <p:cNvSpPr>
            <a:spLocks noGrp="1"/>
          </p:cNvSpPr>
          <p:nvPr>
            <p:ph type="dt" sz="half" idx="10"/>
          </p:nvPr>
        </p:nvSpPr>
        <p:spPr/>
        <p:txBody>
          <a:bodyPr/>
          <a:lstStyle/>
          <a:p>
            <a:fld id="{482945A1-F7D7-164C-9A39-EADE7E75FFC5}" type="datetime1">
              <a:rPr lang="en-AU" smtClean="0"/>
              <a:t>28/8/2026</a:t>
            </a:fld>
            <a:endParaRPr lang="en-US"/>
          </a:p>
        </p:txBody>
      </p:sp>
      <p:sp>
        <p:nvSpPr>
          <p:cNvPr id="18" name="Footer Placeholder 17">
            <a:extLst>
              <a:ext uri="{FF2B5EF4-FFF2-40B4-BE49-F238E27FC236}">
                <a16:creationId xmlns:a16="http://schemas.microsoft.com/office/drawing/2014/main" id="{224B71AE-C50F-F2BE-0B8E-C0D79B715500}"/>
              </a:ext>
            </a:extLst>
          </p:cNvPr>
          <p:cNvSpPr>
            <a:spLocks noGrp="1"/>
          </p:cNvSpPr>
          <p:nvPr>
            <p:ph type="ftr" sz="quarter" idx="11"/>
          </p:nvPr>
        </p:nvSpPr>
        <p:spPr/>
        <p:txBody>
          <a:bodyPr/>
          <a:lstStyle/>
          <a:p>
            <a:r>
              <a:rPr lang="en-US"/>
              <a:t>FINA2204 - Tutorial 5</a:t>
            </a:r>
          </a:p>
        </p:txBody>
      </p:sp>
      <p:sp>
        <p:nvSpPr>
          <p:cNvPr id="19" name="Slide Number Placeholder 18">
            <a:extLst>
              <a:ext uri="{FF2B5EF4-FFF2-40B4-BE49-F238E27FC236}">
                <a16:creationId xmlns:a16="http://schemas.microsoft.com/office/drawing/2014/main" id="{BE859DFE-D406-EFE2-E42B-4043F2157782}"/>
              </a:ext>
            </a:extLst>
          </p:cNvPr>
          <p:cNvSpPr>
            <a:spLocks noGrp="1"/>
          </p:cNvSpPr>
          <p:nvPr>
            <p:ph type="sldNum" sz="quarter" idx="12"/>
          </p:nvPr>
        </p:nvSpPr>
        <p:spPr/>
        <p:txBody>
          <a:bodyPr/>
          <a:lstStyle/>
          <a:p>
            <a:fld id="{9855740F-6ECD-274F-B089-6B266B6B07F9}" type="slidenum">
              <a:rPr lang="en-US" smtClean="0"/>
              <a:t>14</a:t>
            </a:fld>
            <a:endParaRPr lang="en-US"/>
          </a:p>
        </p:txBody>
      </p:sp>
    </p:spTree>
    <p:extLst>
      <p:ext uri="{BB962C8B-B14F-4D97-AF65-F5344CB8AC3E}">
        <p14:creationId xmlns:p14="http://schemas.microsoft.com/office/powerpoint/2010/main" val="37796877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7"/>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animBg="1"/>
      <p:bldP spid="12" grpId="0"/>
      <p:bldP spid="8" grpId="0" animBg="1"/>
      <p:bldP spid="15" grpId="0"/>
      <p:bldP spid="16" grpId="0" animBg="1"/>
      <p:bldP spid="5" grpId="0"/>
      <p:bldP spid="13"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E5C87B-C524-0CF5-C994-E7A2312FDB2F}"/>
              </a:ext>
            </a:extLst>
          </p:cNvPr>
          <p:cNvSpPr>
            <a:spLocks noGrp="1"/>
          </p:cNvSpPr>
          <p:nvPr>
            <p:ph type="title"/>
          </p:nvPr>
        </p:nvSpPr>
        <p:spPr/>
        <p:txBody>
          <a:bodyPr/>
          <a:lstStyle/>
          <a:p>
            <a:r>
              <a:rPr lang="en-US" dirty="0"/>
              <a:t>Problem 7.19</a:t>
            </a:r>
          </a:p>
        </p:txBody>
      </p:sp>
      <p:sp>
        <p:nvSpPr>
          <p:cNvPr id="3" name="Content Placeholder 2">
            <a:extLst>
              <a:ext uri="{FF2B5EF4-FFF2-40B4-BE49-F238E27FC236}">
                <a16:creationId xmlns:a16="http://schemas.microsoft.com/office/drawing/2014/main" id="{A53EA362-351A-C947-59F1-9249DE468EFD}"/>
              </a:ext>
            </a:extLst>
          </p:cNvPr>
          <p:cNvSpPr>
            <a:spLocks noGrp="1"/>
          </p:cNvSpPr>
          <p:nvPr>
            <p:ph idx="1"/>
          </p:nvPr>
        </p:nvSpPr>
        <p:spPr/>
        <p:txBody>
          <a:bodyPr/>
          <a:lstStyle/>
          <a:p>
            <a:pPr marL="0" indent="0">
              <a:buNone/>
            </a:pPr>
            <a:r>
              <a:rPr lang="en-AU" i="1" dirty="0"/>
              <a:t>(a) Company A has been offered the rates shown in Table 7.3. It can</a:t>
            </a:r>
            <a:r>
              <a:rPr lang="en-AU" dirty="0"/>
              <a:t> </a:t>
            </a:r>
            <a:r>
              <a:rPr lang="en-AU" i="1" dirty="0"/>
              <a:t>borrow for three years at 6.45%. What floating rate can it swap this</a:t>
            </a:r>
            <a:r>
              <a:rPr lang="en-AU" dirty="0"/>
              <a:t> </a:t>
            </a:r>
            <a:r>
              <a:rPr lang="en-AU" i="1" dirty="0"/>
              <a:t>fixed rate into?</a:t>
            </a:r>
            <a:endParaRPr lang="en-AU" dirty="0"/>
          </a:p>
          <a:p>
            <a:pPr marL="0" indent="0">
              <a:buNone/>
            </a:pPr>
            <a:endParaRPr lang="en-AU" dirty="0"/>
          </a:p>
          <a:p>
            <a:endParaRPr lang="en-US" dirty="0"/>
          </a:p>
        </p:txBody>
      </p:sp>
      <p:sp>
        <p:nvSpPr>
          <p:cNvPr id="7" name="TextBox 6">
            <a:extLst>
              <a:ext uri="{FF2B5EF4-FFF2-40B4-BE49-F238E27FC236}">
                <a16:creationId xmlns:a16="http://schemas.microsoft.com/office/drawing/2014/main" id="{24272AF3-39F7-AFBF-6CC9-E167B1C10A28}"/>
              </a:ext>
            </a:extLst>
          </p:cNvPr>
          <p:cNvSpPr txBox="1"/>
          <p:nvPr/>
        </p:nvSpPr>
        <p:spPr>
          <a:xfrm>
            <a:off x="9067821" y="3562117"/>
            <a:ext cx="2690626" cy="369332"/>
          </a:xfrm>
          <a:prstGeom prst="rect">
            <a:avLst/>
          </a:prstGeom>
          <a:noFill/>
        </p:spPr>
        <p:txBody>
          <a:bodyPr wrap="square">
            <a:spAutoFit/>
          </a:bodyPr>
          <a:lstStyle/>
          <a:p>
            <a:r>
              <a:rPr lang="en-AU" dirty="0">
                <a:highlight>
                  <a:srgbClr val="FFFF00"/>
                </a:highlight>
              </a:rPr>
              <a:t>Liabilities: fixed→ floating</a:t>
            </a:r>
            <a:endParaRPr lang="en-US" dirty="0">
              <a:highlight>
                <a:srgbClr val="FFFF00"/>
              </a:highlight>
            </a:endParaRPr>
          </a:p>
        </p:txBody>
      </p:sp>
      <p:sp>
        <p:nvSpPr>
          <p:cNvPr id="8" name="TextBox 7">
            <a:extLst>
              <a:ext uri="{FF2B5EF4-FFF2-40B4-BE49-F238E27FC236}">
                <a16:creationId xmlns:a16="http://schemas.microsoft.com/office/drawing/2014/main" id="{1DD362E0-4E51-64BE-CB12-B3452EFF0E81}"/>
              </a:ext>
            </a:extLst>
          </p:cNvPr>
          <p:cNvSpPr txBox="1"/>
          <p:nvPr/>
        </p:nvSpPr>
        <p:spPr>
          <a:xfrm>
            <a:off x="9101560" y="4144795"/>
            <a:ext cx="2656887" cy="923330"/>
          </a:xfrm>
          <a:prstGeom prst="rect">
            <a:avLst/>
          </a:prstGeom>
          <a:noFill/>
        </p:spPr>
        <p:txBody>
          <a:bodyPr wrap="square" rtlCol="0">
            <a:spAutoFit/>
          </a:bodyPr>
          <a:lstStyle/>
          <a:p>
            <a:r>
              <a:rPr lang="en-US" dirty="0">
                <a:solidFill>
                  <a:srgbClr val="FF0000"/>
                </a:solidFill>
              </a:rPr>
              <a:t>The dealer is fixed payer, so we use the </a:t>
            </a:r>
            <a:r>
              <a:rPr lang="en-US" b="1" dirty="0">
                <a:solidFill>
                  <a:srgbClr val="FF0000"/>
                </a:solidFill>
              </a:rPr>
              <a:t>lower</a:t>
            </a:r>
            <a:r>
              <a:rPr lang="en-US" dirty="0">
                <a:solidFill>
                  <a:srgbClr val="FF0000"/>
                </a:solidFill>
              </a:rPr>
              <a:t> three-year quote.</a:t>
            </a:r>
          </a:p>
        </p:txBody>
      </p:sp>
      <p:pic>
        <p:nvPicPr>
          <p:cNvPr id="11" name="Picture 10" descr="A table with numbers and symbols&#10;&#10;AI-generated content may be incorrect.">
            <a:extLst>
              <a:ext uri="{FF2B5EF4-FFF2-40B4-BE49-F238E27FC236}">
                <a16:creationId xmlns:a16="http://schemas.microsoft.com/office/drawing/2014/main" id="{29055271-0330-5981-871B-852D205F440B}"/>
              </a:ext>
            </a:extLst>
          </p:cNvPr>
          <p:cNvPicPr>
            <a:picLocks noChangeAspect="1"/>
          </p:cNvPicPr>
          <p:nvPr/>
        </p:nvPicPr>
        <p:blipFill>
          <a:blip r:embed="rId3"/>
          <a:stretch>
            <a:fillRect/>
          </a:stretch>
        </p:blipFill>
        <p:spPr>
          <a:xfrm>
            <a:off x="2769268" y="3429000"/>
            <a:ext cx="6098646" cy="3267463"/>
          </a:xfrm>
          <a:prstGeom prst="rect">
            <a:avLst/>
          </a:prstGeom>
        </p:spPr>
      </p:pic>
      <p:sp>
        <p:nvSpPr>
          <p:cNvPr id="12" name="Rectangle 11">
            <a:extLst>
              <a:ext uri="{FF2B5EF4-FFF2-40B4-BE49-F238E27FC236}">
                <a16:creationId xmlns:a16="http://schemas.microsoft.com/office/drawing/2014/main" id="{C49A0010-961B-8582-A52D-15161555FE21}"/>
              </a:ext>
            </a:extLst>
          </p:cNvPr>
          <p:cNvSpPr/>
          <p:nvPr/>
        </p:nvSpPr>
        <p:spPr>
          <a:xfrm>
            <a:off x="4143737" y="4514127"/>
            <a:ext cx="1296364" cy="473768"/>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Date Placeholder 12">
            <a:extLst>
              <a:ext uri="{FF2B5EF4-FFF2-40B4-BE49-F238E27FC236}">
                <a16:creationId xmlns:a16="http://schemas.microsoft.com/office/drawing/2014/main" id="{8300DD78-2043-809B-78EE-235CE9D0EF0E}"/>
              </a:ext>
            </a:extLst>
          </p:cNvPr>
          <p:cNvSpPr>
            <a:spLocks noGrp="1"/>
          </p:cNvSpPr>
          <p:nvPr>
            <p:ph type="dt" sz="half" idx="10"/>
          </p:nvPr>
        </p:nvSpPr>
        <p:spPr/>
        <p:txBody>
          <a:bodyPr/>
          <a:lstStyle/>
          <a:p>
            <a:fld id="{6D45D112-9EE3-2D4D-8767-047C8FDAA21F}" type="datetime1">
              <a:rPr lang="en-AU" smtClean="0"/>
              <a:t>28/8/2026</a:t>
            </a:fld>
            <a:endParaRPr lang="en-US"/>
          </a:p>
        </p:txBody>
      </p:sp>
      <p:sp>
        <p:nvSpPr>
          <p:cNvPr id="14" name="Footer Placeholder 13">
            <a:extLst>
              <a:ext uri="{FF2B5EF4-FFF2-40B4-BE49-F238E27FC236}">
                <a16:creationId xmlns:a16="http://schemas.microsoft.com/office/drawing/2014/main" id="{D6E77A0F-C5BA-EE3E-7C11-82C369AB7617}"/>
              </a:ext>
            </a:extLst>
          </p:cNvPr>
          <p:cNvSpPr>
            <a:spLocks noGrp="1"/>
          </p:cNvSpPr>
          <p:nvPr>
            <p:ph type="ftr" sz="quarter" idx="11"/>
          </p:nvPr>
        </p:nvSpPr>
        <p:spPr/>
        <p:txBody>
          <a:bodyPr/>
          <a:lstStyle/>
          <a:p>
            <a:r>
              <a:rPr lang="en-US"/>
              <a:t>FINA2204 - Tutorial 5</a:t>
            </a:r>
          </a:p>
        </p:txBody>
      </p:sp>
      <p:sp>
        <p:nvSpPr>
          <p:cNvPr id="15" name="Slide Number Placeholder 14">
            <a:extLst>
              <a:ext uri="{FF2B5EF4-FFF2-40B4-BE49-F238E27FC236}">
                <a16:creationId xmlns:a16="http://schemas.microsoft.com/office/drawing/2014/main" id="{C3A628DA-9DC0-0093-9D82-FDC1F07E0309}"/>
              </a:ext>
            </a:extLst>
          </p:cNvPr>
          <p:cNvSpPr>
            <a:spLocks noGrp="1"/>
          </p:cNvSpPr>
          <p:nvPr>
            <p:ph type="sldNum" sz="quarter" idx="12"/>
          </p:nvPr>
        </p:nvSpPr>
        <p:spPr/>
        <p:txBody>
          <a:bodyPr/>
          <a:lstStyle/>
          <a:p>
            <a:fld id="{9855740F-6ECD-274F-B089-6B266B6B07F9}" type="slidenum">
              <a:rPr lang="en-US" smtClean="0"/>
              <a:t>15</a:t>
            </a:fld>
            <a:endParaRPr lang="en-US"/>
          </a:p>
        </p:txBody>
      </p:sp>
    </p:spTree>
    <p:extLst>
      <p:ext uri="{BB962C8B-B14F-4D97-AF65-F5344CB8AC3E}">
        <p14:creationId xmlns:p14="http://schemas.microsoft.com/office/powerpoint/2010/main" val="3109918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12"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9B7159-AF09-3F1E-BE06-D5F2E5B0B665}"/>
              </a:ext>
            </a:extLst>
          </p:cNvPr>
          <p:cNvSpPr>
            <a:spLocks noGrp="1"/>
          </p:cNvSpPr>
          <p:nvPr>
            <p:ph type="title"/>
          </p:nvPr>
        </p:nvSpPr>
        <p:spPr/>
        <p:txBody>
          <a:bodyPr/>
          <a:lstStyle/>
          <a:p>
            <a:r>
              <a:rPr lang="en-US" dirty="0"/>
              <a:t>Answer 7.19</a:t>
            </a:r>
          </a:p>
        </p:txBody>
      </p:sp>
      <p:sp>
        <p:nvSpPr>
          <p:cNvPr id="3" name="Content Placeholder 2">
            <a:extLst>
              <a:ext uri="{FF2B5EF4-FFF2-40B4-BE49-F238E27FC236}">
                <a16:creationId xmlns:a16="http://schemas.microsoft.com/office/drawing/2014/main" id="{F2E8423D-1B0D-3663-9AAF-8AF68EEB65CF}"/>
              </a:ext>
            </a:extLst>
          </p:cNvPr>
          <p:cNvSpPr>
            <a:spLocks noGrp="1"/>
          </p:cNvSpPr>
          <p:nvPr>
            <p:ph idx="1"/>
          </p:nvPr>
        </p:nvSpPr>
        <p:spPr/>
        <p:txBody>
          <a:bodyPr/>
          <a:lstStyle/>
          <a:p>
            <a:r>
              <a:rPr lang="en-AU" dirty="0"/>
              <a:t>Company A can pay BBSW and receive 6.21% for three years. It can therefore transform a loan at 6.45% into a loan at BBSW plus 0.24% or BBSW plus 24 basis points.</a:t>
            </a:r>
          </a:p>
          <a:p>
            <a:endParaRPr lang="en-US" dirty="0"/>
          </a:p>
        </p:txBody>
      </p:sp>
      <p:graphicFrame>
        <p:nvGraphicFramePr>
          <p:cNvPr id="4" name="Table 3">
            <a:extLst>
              <a:ext uri="{FF2B5EF4-FFF2-40B4-BE49-F238E27FC236}">
                <a16:creationId xmlns:a16="http://schemas.microsoft.com/office/drawing/2014/main" id="{9A3B435D-1CF8-1F6D-6CDB-B9E470135F7A}"/>
              </a:ext>
            </a:extLst>
          </p:cNvPr>
          <p:cNvGraphicFramePr>
            <a:graphicFrameLocks noGrp="1"/>
          </p:cNvGraphicFramePr>
          <p:nvPr>
            <p:extLst>
              <p:ext uri="{D42A27DB-BD31-4B8C-83A1-F6EECF244321}">
                <p14:modId xmlns:p14="http://schemas.microsoft.com/office/powerpoint/2010/main" val="1963529828"/>
              </p:ext>
            </p:extLst>
          </p:nvPr>
        </p:nvGraphicFramePr>
        <p:xfrm>
          <a:off x="1462314" y="3429000"/>
          <a:ext cx="9267372" cy="2657304"/>
        </p:xfrm>
        <a:graphic>
          <a:graphicData uri="http://schemas.openxmlformats.org/drawingml/2006/table">
            <a:tbl>
              <a:tblPr firstRow="1" bandRow="1">
                <a:tableStyleId>{5C22544A-7EE6-4342-B048-85BDC9FD1C3A}</a:tableStyleId>
              </a:tblPr>
              <a:tblGrid>
                <a:gridCol w="4633686">
                  <a:extLst>
                    <a:ext uri="{9D8B030D-6E8A-4147-A177-3AD203B41FA5}">
                      <a16:colId xmlns:a16="http://schemas.microsoft.com/office/drawing/2014/main" val="2526249316"/>
                    </a:ext>
                  </a:extLst>
                </a:gridCol>
                <a:gridCol w="4633686">
                  <a:extLst>
                    <a:ext uri="{9D8B030D-6E8A-4147-A177-3AD203B41FA5}">
                      <a16:colId xmlns:a16="http://schemas.microsoft.com/office/drawing/2014/main" val="1447776887"/>
                    </a:ext>
                  </a:extLst>
                </a:gridCol>
              </a:tblGrid>
              <a:tr h="504306">
                <a:tc>
                  <a:txBody>
                    <a:bodyPr/>
                    <a:lstStyle/>
                    <a:p>
                      <a:endParaRPr lang="en-US" dirty="0"/>
                    </a:p>
                  </a:txBody>
                  <a:tcPr/>
                </a:tc>
                <a:tc>
                  <a:txBody>
                    <a:bodyPr/>
                    <a:lstStyle/>
                    <a:p>
                      <a:r>
                        <a:rPr lang="en-AU" i="0" dirty="0"/>
                        <a:t>Company A </a:t>
                      </a:r>
                      <a:endParaRPr lang="en-US" i="0" dirty="0"/>
                    </a:p>
                  </a:txBody>
                  <a:tcPr/>
                </a:tc>
                <a:extLst>
                  <a:ext uri="{0D108BD9-81ED-4DB2-BD59-A6C34878D82A}">
                    <a16:rowId xmlns:a16="http://schemas.microsoft.com/office/drawing/2014/main" val="1633824453"/>
                  </a:ext>
                </a:extLst>
              </a:tr>
              <a:tr h="504306">
                <a:tc>
                  <a:txBody>
                    <a:bodyPr/>
                    <a:lstStyle/>
                    <a:p>
                      <a:r>
                        <a:rPr lang="en-US" b="1" dirty="0"/>
                        <a:t>Borrowing</a:t>
                      </a:r>
                      <a:r>
                        <a:rPr lang="en-US" dirty="0"/>
                        <a:t> from its outside lenders</a:t>
                      </a:r>
                      <a:r>
                        <a:rPr lang="zh-CN" altLang="en-US" dirty="0"/>
                        <a:t> </a:t>
                      </a:r>
                      <a:r>
                        <a:rPr lang="en-US" dirty="0"/>
                        <a:t>(+)</a:t>
                      </a:r>
                    </a:p>
                  </a:txBody>
                  <a:tcPr/>
                </a:tc>
                <a:tc>
                  <a:txBody>
                    <a:bodyPr/>
                    <a:lstStyle/>
                    <a:p>
                      <a:r>
                        <a:rPr lang="en-US" dirty="0"/>
                        <a:t>6.45%</a:t>
                      </a:r>
                    </a:p>
                  </a:txBody>
                  <a:tcPr/>
                </a:tc>
                <a:extLst>
                  <a:ext uri="{0D108BD9-81ED-4DB2-BD59-A6C34878D82A}">
                    <a16:rowId xmlns:a16="http://schemas.microsoft.com/office/drawing/2014/main" val="483567150"/>
                  </a:ext>
                </a:extLst>
              </a:tr>
              <a:tr h="504306">
                <a:tc>
                  <a:txBody>
                    <a:bodyPr/>
                    <a:lstStyle/>
                    <a:p>
                      <a:r>
                        <a:rPr lang="en-US" dirty="0"/>
                        <a:t>Swap: </a:t>
                      </a:r>
                      <a:r>
                        <a:rPr lang="en-US" b="1" dirty="0"/>
                        <a:t>Pay</a:t>
                      </a:r>
                      <a:r>
                        <a:rPr lang="en-US" dirty="0"/>
                        <a:t> dealer (+)</a:t>
                      </a:r>
                    </a:p>
                  </a:txBody>
                  <a:tcPr/>
                </a:tc>
                <a:tc>
                  <a:txBody>
                    <a:bodyPr/>
                    <a:lstStyle/>
                    <a:p>
                      <a:r>
                        <a:rPr lang="en-US" dirty="0"/>
                        <a:t>BBSW</a:t>
                      </a:r>
                    </a:p>
                  </a:txBody>
                  <a:tcPr/>
                </a:tc>
                <a:extLst>
                  <a:ext uri="{0D108BD9-81ED-4DB2-BD59-A6C34878D82A}">
                    <a16:rowId xmlns:a16="http://schemas.microsoft.com/office/drawing/2014/main" val="2509369450"/>
                  </a:ext>
                </a:extLst>
              </a:tr>
              <a:tr h="504306">
                <a:tc>
                  <a:txBody>
                    <a:bodyPr/>
                    <a:lstStyle/>
                    <a:p>
                      <a:r>
                        <a:rPr lang="en-US" dirty="0"/>
                        <a:t>              </a:t>
                      </a:r>
                      <a:r>
                        <a:rPr lang="en-US" b="1" dirty="0"/>
                        <a:t>Receive</a:t>
                      </a:r>
                      <a:r>
                        <a:rPr lang="en-US" dirty="0"/>
                        <a:t> from dealer (-)</a:t>
                      </a:r>
                    </a:p>
                  </a:txBody>
                  <a:tcPr/>
                </a:tc>
                <a:tc>
                  <a:txBody>
                    <a:bodyPr/>
                    <a:lstStyle/>
                    <a:p>
                      <a:r>
                        <a:rPr lang="en-US" b="1" dirty="0"/>
                        <a:t>6.21%</a:t>
                      </a:r>
                    </a:p>
                  </a:txBody>
                  <a:tcPr/>
                </a:tc>
                <a:extLst>
                  <a:ext uri="{0D108BD9-81ED-4DB2-BD59-A6C34878D82A}">
                    <a16:rowId xmlns:a16="http://schemas.microsoft.com/office/drawing/2014/main" val="1821861321"/>
                  </a:ext>
                </a:extLst>
              </a:tr>
              <a:tr h="504306">
                <a:tc>
                  <a:txBody>
                    <a:bodyPr/>
                    <a:lstStyle/>
                    <a:p>
                      <a:r>
                        <a:rPr lang="en-US" dirty="0"/>
                        <a:t>Net </a:t>
                      </a:r>
                      <a:r>
                        <a:rPr lang="en-US" b="1" dirty="0"/>
                        <a:t>cost</a:t>
                      </a:r>
                      <a:r>
                        <a:rPr lang="en-US" dirty="0"/>
                        <a:t> of borrowing</a:t>
                      </a:r>
                    </a:p>
                  </a:txBody>
                  <a:tcPr/>
                </a:tc>
                <a:tc>
                  <a:txBody>
                    <a:bodyPr/>
                    <a:lstStyle/>
                    <a:p>
                      <a:r>
                        <a:rPr lang="en-US" b="1" dirty="0">
                          <a:solidFill>
                            <a:srgbClr val="FF0000"/>
                          </a:solidFill>
                        </a:rPr>
                        <a:t>BBSW+0.24%</a:t>
                      </a:r>
                    </a:p>
                    <a:p>
                      <a:r>
                        <a:rPr lang="en-US" dirty="0"/>
                        <a:t>=(6.45%+BBSW-6.21%)</a:t>
                      </a:r>
                    </a:p>
                  </a:txBody>
                  <a:tcPr/>
                </a:tc>
                <a:extLst>
                  <a:ext uri="{0D108BD9-81ED-4DB2-BD59-A6C34878D82A}">
                    <a16:rowId xmlns:a16="http://schemas.microsoft.com/office/drawing/2014/main" val="4073212660"/>
                  </a:ext>
                </a:extLst>
              </a:tr>
            </a:tbl>
          </a:graphicData>
        </a:graphic>
      </p:graphicFrame>
      <p:sp>
        <p:nvSpPr>
          <p:cNvPr id="5" name="Date Placeholder 4">
            <a:extLst>
              <a:ext uri="{FF2B5EF4-FFF2-40B4-BE49-F238E27FC236}">
                <a16:creationId xmlns:a16="http://schemas.microsoft.com/office/drawing/2014/main" id="{5593D004-809C-13AA-0469-8BA73538356A}"/>
              </a:ext>
            </a:extLst>
          </p:cNvPr>
          <p:cNvSpPr>
            <a:spLocks noGrp="1"/>
          </p:cNvSpPr>
          <p:nvPr>
            <p:ph type="dt" sz="half" idx="10"/>
          </p:nvPr>
        </p:nvSpPr>
        <p:spPr/>
        <p:txBody>
          <a:bodyPr/>
          <a:lstStyle/>
          <a:p>
            <a:fld id="{FF3C5ABB-9482-C540-821F-3794FA3B2E0A}" type="datetime1">
              <a:rPr lang="en-AU" smtClean="0"/>
              <a:t>28/8/2026</a:t>
            </a:fld>
            <a:endParaRPr lang="en-US"/>
          </a:p>
        </p:txBody>
      </p:sp>
      <p:sp>
        <p:nvSpPr>
          <p:cNvPr id="6" name="Footer Placeholder 5">
            <a:extLst>
              <a:ext uri="{FF2B5EF4-FFF2-40B4-BE49-F238E27FC236}">
                <a16:creationId xmlns:a16="http://schemas.microsoft.com/office/drawing/2014/main" id="{54715116-D61A-ECCF-A548-AFD09CB31971}"/>
              </a:ext>
            </a:extLst>
          </p:cNvPr>
          <p:cNvSpPr>
            <a:spLocks noGrp="1"/>
          </p:cNvSpPr>
          <p:nvPr>
            <p:ph type="ftr" sz="quarter" idx="11"/>
          </p:nvPr>
        </p:nvSpPr>
        <p:spPr/>
        <p:txBody>
          <a:bodyPr/>
          <a:lstStyle/>
          <a:p>
            <a:r>
              <a:rPr lang="en-US"/>
              <a:t>FINA2204 - Tutorial 5</a:t>
            </a:r>
          </a:p>
        </p:txBody>
      </p:sp>
      <p:sp>
        <p:nvSpPr>
          <p:cNvPr id="7" name="Slide Number Placeholder 6">
            <a:extLst>
              <a:ext uri="{FF2B5EF4-FFF2-40B4-BE49-F238E27FC236}">
                <a16:creationId xmlns:a16="http://schemas.microsoft.com/office/drawing/2014/main" id="{4F185FDA-0EFC-00CF-7050-81EF67B38655}"/>
              </a:ext>
            </a:extLst>
          </p:cNvPr>
          <p:cNvSpPr>
            <a:spLocks noGrp="1"/>
          </p:cNvSpPr>
          <p:nvPr>
            <p:ph type="sldNum" sz="quarter" idx="12"/>
          </p:nvPr>
        </p:nvSpPr>
        <p:spPr/>
        <p:txBody>
          <a:bodyPr/>
          <a:lstStyle/>
          <a:p>
            <a:fld id="{9855740F-6ECD-274F-B089-6B266B6B07F9}" type="slidenum">
              <a:rPr lang="en-US" smtClean="0"/>
              <a:t>16</a:t>
            </a:fld>
            <a:endParaRPr lang="en-US"/>
          </a:p>
        </p:txBody>
      </p:sp>
    </p:spTree>
    <p:extLst>
      <p:ext uri="{BB962C8B-B14F-4D97-AF65-F5344CB8AC3E}">
        <p14:creationId xmlns:p14="http://schemas.microsoft.com/office/powerpoint/2010/main" val="348954744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F64D79-4B02-1D8F-F210-60E92D06DCA3}"/>
              </a:ext>
            </a:extLst>
          </p:cNvPr>
          <p:cNvSpPr>
            <a:spLocks noGrp="1"/>
          </p:cNvSpPr>
          <p:nvPr>
            <p:ph type="title"/>
          </p:nvPr>
        </p:nvSpPr>
        <p:spPr/>
        <p:txBody>
          <a:bodyPr/>
          <a:lstStyle/>
          <a:p>
            <a:r>
              <a:rPr lang="en-US" dirty="0"/>
              <a:t>Problem 7.19</a:t>
            </a:r>
          </a:p>
        </p:txBody>
      </p:sp>
      <p:sp>
        <p:nvSpPr>
          <p:cNvPr id="3" name="Content Placeholder 2">
            <a:extLst>
              <a:ext uri="{FF2B5EF4-FFF2-40B4-BE49-F238E27FC236}">
                <a16:creationId xmlns:a16="http://schemas.microsoft.com/office/drawing/2014/main" id="{92AAE771-65B9-CD16-D06C-32DD8C0A71E1}"/>
              </a:ext>
            </a:extLst>
          </p:cNvPr>
          <p:cNvSpPr>
            <a:spLocks noGrp="1"/>
          </p:cNvSpPr>
          <p:nvPr>
            <p:ph idx="1"/>
          </p:nvPr>
        </p:nvSpPr>
        <p:spPr/>
        <p:txBody>
          <a:bodyPr/>
          <a:lstStyle/>
          <a:p>
            <a:pPr marL="0" indent="0">
              <a:buNone/>
            </a:pPr>
            <a:r>
              <a:rPr lang="en-AU" i="1" dirty="0"/>
              <a:t>(b) Company B has been offered the rates shown in Table 7.3. It can</a:t>
            </a:r>
            <a:r>
              <a:rPr lang="en-AU" dirty="0"/>
              <a:t> </a:t>
            </a:r>
            <a:r>
              <a:rPr lang="en-AU" i="1" dirty="0"/>
              <a:t>borrow for five years at BBSW plus 75 basis points. What fixed rate</a:t>
            </a:r>
            <a:r>
              <a:rPr lang="en-AU" dirty="0"/>
              <a:t> </a:t>
            </a:r>
            <a:r>
              <a:rPr lang="en-AU" i="1" dirty="0"/>
              <a:t>can it swap this floating rate into?</a:t>
            </a:r>
            <a:endParaRPr lang="en-AU" dirty="0"/>
          </a:p>
          <a:p>
            <a:endParaRPr lang="en-US" dirty="0"/>
          </a:p>
        </p:txBody>
      </p:sp>
      <p:sp>
        <p:nvSpPr>
          <p:cNvPr id="8" name="TextBox 7">
            <a:extLst>
              <a:ext uri="{FF2B5EF4-FFF2-40B4-BE49-F238E27FC236}">
                <a16:creationId xmlns:a16="http://schemas.microsoft.com/office/drawing/2014/main" id="{EA97A134-C6D4-AE7D-57E7-2102EC7AA36C}"/>
              </a:ext>
            </a:extLst>
          </p:cNvPr>
          <p:cNvSpPr txBox="1"/>
          <p:nvPr/>
        </p:nvSpPr>
        <p:spPr>
          <a:xfrm>
            <a:off x="9067821" y="3562117"/>
            <a:ext cx="2690626" cy="369332"/>
          </a:xfrm>
          <a:prstGeom prst="rect">
            <a:avLst/>
          </a:prstGeom>
          <a:noFill/>
        </p:spPr>
        <p:txBody>
          <a:bodyPr wrap="square">
            <a:spAutoFit/>
          </a:bodyPr>
          <a:lstStyle/>
          <a:p>
            <a:r>
              <a:rPr lang="en-AU" dirty="0">
                <a:highlight>
                  <a:srgbClr val="FFFF00"/>
                </a:highlight>
              </a:rPr>
              <a:t>Liabilities: floating→ fixed</a:t>
            </a:r>
            <a:endParaRPr lang="en-US" dirty="0">
              <a:highlight>
                <a:srgbClr val="FFFF00"/>
              </a:highlight>
            </a:endParaRPr>
          </a:p>
        </p:txBody>
      </p:sp>
      <p:sp>
        <p:nvSpPr>
          <p:cNvPr id="9" name="TextBox 8">
            <a:extLst>
              <a:ext uri="{FF2B5EF4-FFF2-40B4-BE49-F238E27FC236}">
                <a16:creationId xmlns:a16="http://schemas.microsoft.com/office/drawing/2014/main" id="{80B3F20A-4783-46D1-6A6F-7F44D55B5EEA}"/>
              </a:ext>
            </a:extLst>
          </p:cNvPr>
          <p:cNvSpPr txBox="1"/>
          <p:nvPr/>
        </p:nvSpPr>
        <p:spPr>
          <a:xfrm>
            <a:off x="9101560" y="4144795"/>
            <a:ext cx="2656887" cy="923330"/>
          </a:xfrm>
          <a:prstGeom prst="rect">
            <a:avLst/>
          </a:prstGeom>
          <a:noFill/>
        </p:spPr>
        <p:txBody>
          <a:bodyPr wrap="square" rtlCol="0">
            <a:spAutoFit/>
          </a:bodyPr>
          <a:lstStyle/>
          <a:p>
            <a:r>
              <a:rPr lang="en-US" dirty="0">
                <a:solidFill>
                  <a:srgbClr val="FF0000"/>
                </a:solidFill>
              </a:rPr>
              <a:t>The dealer is fixed receiver, so we use the </a:t>
            </a:r>
            <a:r>
              <a:rPr lang="en-US" b="1" dirty="0">
                <a:solidFill>
                  <a:srgbClr val="FF0000"/>
                </a:solidFill>
              </a:rPr>
              <a:t>higher</a:t>
            </a:r>
            <a:r>
              <a:rPr lang="en-US" dirty="0">
                <a:solidFill>
                  <a:srgbClr val="FF0000"/>
                </a:solidFill>
              </a:rPr>
              <a:t> five-year quote.</a:t>
            </a:r>
          </a:p>
        </p:txBody>
      </p:sp>
      <p:pic>
        <p:nvPicPr>
          <p:cNvPr id="10" name="Picture 9" descr="A table with numbers and symbols&#10;&#10;AI-generated content may be incorrect.">
            <a:extLst>
              <a:ext uri="{FF2B5EF4-FFF2-40B4-BE49-F238E27FC236}">
                <a16:creationId xmlns:a16="http://schemas.microsoft.com/office/drawing/2014/main" id="{29989395-688D-C73D-2E05-0944F739DFF3}"/>
              </a:ext>
            </a:extLst>
          </p:cNvPr>
          <p:cNvPicPr>
            <a:picLocks noChangeAspect="1"/>
          </p:cNvPicPr>
          <p:nvPr/>
        </p:nvPicPr>
        <p:blipFill>
          <a:blip r:embed="rId3"/>
          <a:stretch>
            <a:fillRect/>
          </a:stretch>
        </p:blipFill>
        <p:spPr>
          <a:xfrm>
            <a:off x="2769268" y="3429000"/>
            <a:ext cx="6098646" cy="3267463"/>
          </a:xfrm>
          <a:prstGeom prst="rect">
            <a:avLst/>
          </a:prstGeom>
        </p:spPr>
      </p:pic>
      <p:sp>
        <p:nvSpPr>
          <p:cNvPr id="11" name="Rectangle 10">
            <a:extLst>
              <a:ext uri="{FF2B5EF4-FFF2-40B4-BE49-F238E27FC236}">
                <a16:creationId xmlns:a16="http://schemas.microsoft.com/office/drawing/2014/main" id="{EA9A2121-0D1D-4096-54B9-6BE990B2F754}"/>
              </a:ext>
            </a:extLst>
          </p:cNvPr>
          <p:cNvSpPr/>
          <p:nvPr/>
        </p:nvSpPr>
        <p:spPr>
          <a:xfrm>
            <a:off x="5578998" y="5220181"/>
            <a:ext cx="1296364" cy="473768"/>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Date Placeholder 11">
            <a:extLst>
              <a:ext uri="{FF2B5EF4-FFF2-40B4-BE49-F238E27FC236}">
                <a16:creationId xmlns:a16="http://schemas.microsoft.com/office/drawing/2014/main" id="{23FF4B19-6626-F282-17F6-63FD5A333491}"/>
              </a:ext>
            </a:extLst>
          </p:cNvPr>
          <p:cNvSpPr>
            <a:spLocks noGrp="1"/>
          </p:cNvSpPr>
          <p:nvPr>
            <p:ph type="dt" sz="half" idx="10"/>
          </p:nvPr>
        </p:nvSpPr>
        <p:spPr/>
        <p:txBody>
          <a:bodyPr/>
          <a:lstStyle/>
          <a:p>
            <a:fld id="{CAACC16E-11D8-A347-BDE6-8C3CD4381E77}" type="datetime1">
              <a:rPr lang="en-AU" smtClean="0"/>
              <a:t>28/8/2026</a:t>
            </a:fld>
            <a:endParaRPr lang="en-US"/>
          </a:p>
        </p:txBody>
      </p:sp>
      <p:sp>
        <p:nvSpPr>
          <p:cNvPr id="13" name="Footer Placeholder 12">
            <a:extLst>
              <a:ext uri="{FF2B5EF4-FFF2-40B4-BE49-F238E27FC236}">
                <a16:creationId xmlns:a16="http://schemas.microsoft.com/office/drawing/2014/main" id="{9B6305F2-4394-B420-B07B-EACB095FB3F5}"/>
              </a:ext>
            </a:extLst>
          </p:cNvPr>
          <p:cNvSpPr>
            <a:spLocks noGrp="1"/>
          </p:cNvSpPr>
          <p:nvPr>
            <p:ph type="ftr" sz="quarter" idx="11"/>
          </p:nvPr>
        </p:nvSpPr>
        <p:spPr/>
        <p:txBody>
          <a:bodyPr/>
          <a:lstStyle/>
          <a:p>
            <a:r>
              <a:rPr lang="en-US"/>
              <a:t>FINA2204 - Tutorial 5</a:t>
            </a:r>
          </a:p>
        </p:txBody>
      </p:sp>
      <p:sp>
        <p:nvSpPr>
          <p:cNvPr id="14" name="Slide Number Placeholder 13">
            <a:extLst>
              <a:ext uri="{FF2B5EF4-FFF2-40B4-BE49-F238E27FC236}">
                <a16:creationId xmlns:a16="http://schemas.microsoft.com/office/drawing/2014/main" id="{AA334809-3FCD-6631-1444-AE6BA30E9B52}"/>
              </a:ext>
            </a:extLst>
          </p:cNvPr>
          <p:cNvSpPr>
            <a:spLocks noGrp="1"/>
          </p:cNvSpPr>
          <p:nvPr>
            <p:ph type="sldNum" sz="quarter" idx="12"/>
          </p:nvPr>
        </p:nvSpPr>
        <p:spPr/>
        <p:txBody>
          <a:bodyPr/>
          <a:lstStyle/>
          <a:p>
            <a:fld id="{9855740F-6ECD-274F-B089-6B266B6B07F9}" type="slidenum">
              <a:rPr lang="en-US" smtClean="0"/>
              <a:t>17</a:t>
            </a:fld>
            <a:endParaRPr lang="en-US"/>
          </a:p>
        </p:txBody>
      </p:sp>
    </p:spTree>
    <p:extLst>
      <p:ext uri="{BB962C8B-B14F-4D97-AF65-F5344CB8AC3E}">
        <p14:creationId xmlns:p14="http://schemas.microsoft.com/office/powerpoint/2010/main" val="32414143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1"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3A392B-5090-1D80-9D5F-ADE2E94AEAF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A58AC11-68C8-B0A5-72F5-B5E2FF687C03}"/>
              </a:ext>
            </a:extLst>
          </p:cNvPr>
          <p:cNvSpPr>
            <a:spLocks noGrp="1"/>
          </p:cNvSpPr>
          <p:nvPr>
            <p:ph type="title"/>
          </p:nvPr>
        </p:nvSpPr>
        <p:spPr/>
        <p:txBody>
          <a:bodyPr/>
          <a:lstStyle/>
          <a:p>
            <a:r>
              <a:rPr lang="en-US" dirty="0"/>
              <a:t>Answer 7.19</a:t>
            </a:r>
          </a:p>
        </p:txBody>
      </p:sp>
      <p:sp>
        <p:nvSpPr>
          <p:cNvPr id="3" name="Content Placeholder 2">
            <a:extLst>
              <a:ext uri="{FF2B5EF4-FFF2-40B4-BE49-F238E27FC236}">
                <a16:creationId xmlns:a16="http://schemas.microsoft.com/office/drawing/2014/main" id="{21E3ABFF-9C71-83F6-3C37-4E6423806B17}"/>
              </a:ext>
            </a:extLst>
          </p:cNvPr>
          <p:cNvSpPr>
            <a:spLocks noGrp="1"/>
          </p:cNvSpPr>
          <p:nvPr>
            <p:ph idx="1"/>
          </p:nvPr>
        </p:nvSpPr>
        <p:spPr/>
        <p:txBody>
          <a:bodyPr/>
          <a:lstStyle/>
          <a:p>
            <a:r>
              <a:rPr lang="en-AU" dirty="0"/>
              <a:t>Company B can receive BBSW and pay 6.51% for five years. It can therefore transform a loan at BBSW plus 0.75% into a loan at 7.26%.</a:t>
            </a:r>
          </a:p>
          <a:p>
            <a:endParaRPr lang="en-US" dirty="0"/>
          </a:p>
        </p:txBody>
      </p:sp>
      <p:graphicFrame>
        <p:nvGraphicFramePr>
          <p:cNvPr id="4" name="Table 3">
            <a:extLst>
              <a:ext uri="{FF2B5EF4-FFF2-40B4-BE49-F238E27FC236}">
                <a16:creationId xmlns:a16="http://schemas.microsoft.com/office/drawing/2014/main" id="{80F0117B-84C8-449B-D138-718A2D4BC28B}"/>
              </a:ext>
            </a:extLst>
          </p:cNvPr>
          <p:cNvGraphicFramePr>
            <a:graphicFrameLocks noGrp="1"/>
          </p:cNvGraphicFramePr>
          <p:nvPr>
            <p:extLst>
              <p:ext uri="{D42A27DB-BD31-4B8C-83A1-F6EECF244321}">
                <p14:modId xmlns:p14="http://schemas.microsoft.com/office/powerpoint/2010/main" val="2560010592"/>
              </p:ext>
            </p:extLst>
          </p:nvPr>
        </p:nvGraphicFramePr>
        <p:xfrm>
          <a:off x="1462314" y="3429000"/>
          <a:ext cx="9267372" cy="2657304"/>
        </p:xfrm>
        <a:graphic>
          <a:graphicData uri="http://schemas.openxmlformats.org/drawingml/2006/table">
            <a:tbl>
              <a:tblPr firstRow="1" bandRow="1">
                <a:tableStyleId>{5C22544A-7EE6-4342-B048-85BDC9FD1C3A}</a:tableStyleId>
              </a:tblPr>
              <a:tblGrid>
                <a:gridCol w="4633686">
                  <a:extLst>
                    <a:ext uri="{9D8B030D-6E8A-4147-A177-3AD203B41FA5}">
                      <a16:colId xmlns:a16="http://schemas.microsoft.com/office/drawing/2014/main" val="2526249316"/>
                    </a:ext>
                  </a:extLst>
                </a:gridCol>
                <a:gridCol w="4633686">
                  <a:extLst>
                    <a:ext uri="{9D8B030D-6E8A-4147-A177-3AD203B41FA5}">
                      <a16:colId xmlns:a16="http://schemas.microsoft.com/office/drawing/2014/main" val="1447776887"/>
                    </a:ext>
                  </a:extLst>
                </a:gridCol>
              </a:tblGrid>
              <a:tr h="504306">
                <a:tc>
                  <a:txBody>
                    <a:bodyPr/>
                    <a:lstStyle/>
                    <a:p>
                      <a:endParaRPr lang="en-US" dirty="0"/>
                    </a:p>
                  </a:txBody>
                  <a:tcPr/>
                </a:tc>
                <a:tc>
                  <a:txBody>
                    <a:bodyPr/>
                    <a:lstStyle/>
                    <a:p>
                      <a:r>
                        <a:rPr lang="en-AU" i="0" dirty="0"/>
                        <a:t>Company B</a:t>
                      </a:r>
                      <a:endParaRPr lang="en-US" i="0" dirty="0"/>
                    </a:p>
                  </a:txBody>
                  <a:tcPr/>
                </a:tc>
                <a:extLst>
                  <a:ext uri="{0D108BD9-81ED-4DB2-BD59-A6C34878D82A}">
                    <a16:rowId xmlns:a16="http://schemas.microsoft.com/office/drawing/2014/main" val="1633824453"/>
                  </a:ext>
                </a:extLst>
              </a:tr>
              <a:tr h="504306">
                <a:tc>
                  <a:txBody>
                    <a:bodyPr/>
                    <a:lstStyle/>
                    <a:p>
                      <a:r>
                        <a:rPr lang="en-US" b="1" dirty="0"/>
                        <a:t>Borrowing</a:t>
                      </a:r>
                      <a:r>
                        <a:rPr lang="en-US" dirty="0"/>
                        <a:t> from its outside lenders</a:t>
                      </a:r>
                      <a:r>
                        <a:rPr lang="zh-CN" altLang="en-US" dirty="0"/>
                        <a:t> </a:t>
                      </a:r>
                      <a:r>
                        <a:rPr lang="en-US" dirty="0"/>
                        <a:t>(+)</a:t>
                      </a:r>
                    </a:p>
                  </a:txBody>
                  <a:tcPr/>
                </a:tc>
                <a:tc>
                  <a:txBody>
                    <a:bodyPr/>
                    <a:lstStyle/>
                    <a:p>
                      <a:r>
                        <a:rPr lang="en-US" dirty="0"/>
                        <a:t>BBSW+0.75%</a:t>
                      </a:r>
                    </a:p>
                  </a:txBody>
                  <a:tcPr/>
                </a:tc>
                <a:extLst>
                  <a:ext uri="{0D108BD9-81ED-4DB2-BD59-A6C34878D82A}">
                    <a16:rowId xmlns:a16="http://schemas.microsoft.com/office/drawing/2014/main" val="483567150"/>
                  </a:ext>
                </a:extLst>
              </a:tr>
              <a:tr h="504306">
                <a:tc>
                  <a:txBody>
                    <a:bodyPr/>
                    <a:lstStyle/>
                    <a:p>
                      <a:r>
                        <a:rPr lang="en-US" dirty="0"/>
                        <a:t>Swap: </a:t>
                      </a:r>
                      <a:r>
                        <a:rPr lang="en-US" b="1" dirty="0"/>
                        <a:t>Pay</a:t>
                      </a:r>
                      <a:r>
                        <a:rPr lang="en-US" dirty="0"/>
                        <a:t> dealer (+)</a:t>
                      </a:r>
                    </a:p>
                  </a:txBody>
                  <a:tcPr/>
                </a:tc>
                <a:tc>
                  <a:txBody>
                    <a:bodyPr/>
                    <a:lstStyle/>
                    <a:p>
                      <a:r>
                        <a:rPr lang="en-US" b="1" dirty="0"/>
                        <a:t>6.51%</a:t>
                      </a:r>
                    </a:p>
                  </a:txBody>
                  <a:tcPr/>
                </a:tc>
                <a:extLst>
                  <a:ext uri="{0D108BD9-81ED-4DB2-BD59-A6C34878D82A}">
                    <a16:rowId xmlns:a16="http://schemas.microsoft.com/office/drawing/2014/main" val="2509369450"/>
                  </a:ext>
                </a:extLst>
              </a:tr>
              <a:tr h="504306">
                <a:tc>
                  <a:txBody>
                    <a:bodyPr/>
                    <a:lstStyle/>
                    <a:p>
                      <a:r>
                        <a:rPr lang="en-US" dirty="0"/>
                        <a:t>              </a:t>
                      </a:r>
                      <a:r>
                        <a:rPr lang="en-US" b="1" dirty="0"/>
                        <a:t>Receive</a:t>
                      </a:r>
                      <a:r>
                        <a:rPr lang="en-US" dirty="0"/>
                        <a:t> from dealer (-)</a:t>
                      </a:r>
                    </a:p>
                  </a:txBody>
                  <a:tcPr/>
                </a:tc>
                <a:tc>
                  <a:txBody>
                    <a:bodyPr/>
                    <a:lstStyle/>
                    <a:p>
                      <a:r>
                        <a:rPr lang="en-US" dirty="0"/>
                        <a:t>BBSW</a:t>
                      </a:r>
                    </a:p>
                  </a:txBody>
                  <a:tcPr/>
                </a:tc>
                <a:extLst>
                  <a:ext uri="{0D108BD9-81ED-4DB2-BD59-A6C34878D82A}">
                    <a16:rowId xmlns:a16="http://schemas.microsoft.com/office/drawing/2014/main" val="1821861321"/>
                  </a:ext>
                </a:extLst>
              </a:tr>
              <a:tr h="504306">
                <a:tc>
                  <a:txBody>
                    <a:bodyPr/>
                    <a:lstStyle/>
                    <a:p>
                      <a:r>
                        <a:rPr lang="en-US" dirty="0"/>
                        <a:t>Net </a:t>
                      </a:r>
                      <a:r>
                        <a:rPr lang="en-US" b="1" dirty="0"/>
                        <a:t>cost</a:t>
                      </a:r>
                      <a:r>
                        <a:rPr lang="en-US" dirty="0"/>
                        <a:t> of borrowing</a:t>
                      </a:r>
                    </a:p>
                  </a:txBody>
                  <a:tcPr/>
                </a:tc>
                <a:tc>
                  <a:txBody>
                    <a:bodyPr/>
                    <a:lstStyle/>
                    <a:p>
                      <a:r>
                        <a:rPr lang="en-US" b="1" dirty="0">
                          <a:solidFill>
                            <a:srgbClr val="FF0000"/>
                          </a:solidFill>
                        </a:rPr>
                        <a:t>7.26%</a:t>
                      </a:r>
                    </a:p>
                    <a:p>
                      <a:r>
                        <a:rPr lang="en-US" dirty="0"/>
                        <a:t>=(BBSW+0.75%+6.51%-BBSW)</a:t>
                      </a:r>
                    </a:p>
                  </a:txBody>
                  <a:tcPr/>
                </a:tc>
                <a:extLst>
                  <a:ext uri="{0D108BD9-81ED-4DB2-BD59-A6C34878D82A}">
                    <a16:rowId xmlns:a16="http://schemas.microsoft.com/office/drawing/2014/main" val="4073212660"/>
                  </a:ext>
                </a:extLst>
              </a:tr>
            </a:tbl>
          </a:graphicData>
        </a:graphic>
      </p:graphicFrame>
      <p:sp>
        <p:nvSpPr>
          <p:cNvPr id="5" name="Date Placeholder 4">
            <a:extLst>
              <a:ext uri="{FF2B5EF4-FFF2-40B4-BE49-F238E27FC236}">
                <a16:creationId xmlns:a16="http://schemas.microsoft.com/office/drawing/2014/main" id="{BA8B3E7B-1764-5B34-546E-5996848F9B1F}"/>
              </a:ext>
            </a:extLst>
          </p:cNvPr>
          <p:cNvSpPr>
            <a:spLocks noGrp="1"/>
          </p:cNvSpPr>
          <p:nvPr>
            <p:ph type="dt" sz="half" idx="10"/>
          </p:nvPr>
        </p:nvSpPr>
        <p:spPr/>
        <p:txBody>
          <a:bodyPr/>
          <a:lstStyle/>
          <a:p>
            <a:fld id="{79A480DA-D2E5-9448-8306-88F97A654586}" type="datetime1">
              <a:rPr lang="en-AU" smtClean="0"/>
              <a:t>28/8/2026</a:t>
            </a:fld>
            <a:endParaRPr lang="en-US"/>
          </a:p>
        </p:txBody>
      </p:sp>
      <p:sp>
        <p:nvSpPr>
          <p:cNvPr id="6" name="Footer Placeholder 5">
            <a:extLst>
              <a:ext uri="{FF2B5EF4-FFF2-40B4-BE49-F238E27FC236}">
                <a16:creationId xmlns:a16="http://schemas.microsoft.com/office/drawing/2014/main" id="{408A7ED3-9B88-34F8-F8B3-3EB21364627B}"/>
              </a:ext>
            </a:extLst>
          </p:cNvPr>
          <p:cNvSpPr>
            <a:spLocks noGrp="1"/>
          </p:cNvSpPr>
          <p:nvPr>
            <p:ph type="ftr" sz="quarter" idx="11"/>
          </p:nvPr>
        </p:nvSpPr>
        <p:spPr/>
        <p:txBody>
          <a:bodyPr/>
          <a:lstStyle/>
          <a:p>
            <a:r>
              <a:rPr lang="en-US"/>
              <a:t>FINA2204 - Tutorial 5</a:t>
            </a:r>
          </a:p>
        </p:txBody>
      </p:sp>
      <p:sp>
        <p:nvSpPr>
          <p:cNvPr id="7" name="Slide Number Placeholder 6">
            <a:extLst>
              <a:ext uri="{FF2B5EF4-FFF2-40B4-BE49-F238E27FC236}">
                <a16:creationId xmlns:a16="http://schemas.microsoft.com/office/drawing/2014/main" id="{E5146CB3-1E37-F645-6652-266D3001BEF9}"/>
              </a:ext>
            </a:extLst>
          </p:cNvPr>
          <p:cNvSpPr>
            <a:spLocks noGrp="1"/>
          </p:cNvSpPr>
          <p:nvPr>
            <p:ph type="sldNum" sz="quarter" idx="12"/>
          </p:nvPr>
        </p:nvSpPr>
        <p:spPr/>
        <p:txBody>
          <a:bodyPr/>
          <a:lstStyle/>
          <a:p>
            <a:fld id="{9855740F-6ECD-274F-B089-6B266B6B07F9}" type="slidenum">
              <a:rPr lang="en-US" smtClean="0"/>
              <a:t>18</a:t>
            </a:fld>
            <a:endParaRPr lang="en-US"/>
          </a:p>
        </p:txBody>
      </p:sp>
    </p:spTree>
    <p:extLst>
      <p:ext uri="{BB962C8B-B14F-4D97-AF65-F5344CB8AC3E}">
        <p14:creationId xmlns:p14="http://schemas.microsoft.com/office/powerpoint/2010/main" val="418431524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CC44E6-F447-98E0-B2D8-85700419C53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10F756D-E827-46BF-BD56-DDC1F2DF6005}"/>
              </a:ext>
            </a:extLst>
          </p:cNvPr>
          <p:cNvSpPr>
            <a:spLocks noGrp="1"/>
          </p:cNvSpPr>
          <p:nvPr>
            <p:ph type="title"/>
          </p:nvPr>
        </p:nvSpPr>
        <p:spPr/>
        <p:txBody>
          <a:bodyPr/>
          <a:lstStyle/>
          <a:p>
            <a:r>
              <a:rPr lang="en-US" dirty="0"/>
              <a:t>Problem 7.20</a:t>
            </a:r>
          </a:p>
        </p:txBody>
      </p:sp>
      <p:sp>
        <p:nvSpPr>
          <p:cNvPr id="3" name="Content Placeholder 2">
            <a:extLst>
              <a:ext uri="{FF2B5EF4-FFF2-40B4-BE49-F238E27FC236}">
                <a16:creationId xmlns:a16="http://schemas.microsoft.com/office/drawing/2014/main" id="{8F5B1922-67B2-AFD4-7F0F-6FFB15B98E6D}"/>
              </a:ext>
            </a:extLst>
          </p:cNvPr>
          <p:cNvSpPr>
            <a:spLocks noGrp="1"/>
          </p:cNvSpPr>
          <p:nvPr>
            <p:ph idx="1"/>
          </p:nvPr>
        </p:nvSpPr>
        <p:spPr/>
        <p:txBody>
          <a:bodyPr/>
          <a:lstStyle/>
          <a:p>
            <a:pPr marL="0" indent="0">
              <a:buNone/>
            </a:pPr>
            <a:r>
              <a:rPr lang="en-AU" i="1" dirty="0"/>
              <a:t>(a) Company X has been offered the rates shown in Table 7.3. It can</a:t>
            </a:r>
            <a:r>
              <a:rPr lang="en-AU" dirty="0"/>
              <a:t> </a:t>
            </a:r>
            <a:r>
              <a:rPr lang="en-AU" i="1" dirty="0"/>
              <a:t>invest for four years at 5.5%. What floating rate can it swap this fixed rate into?</a:t>
            </a:r>
            <a:endParaRPr lang="en-AU" dirty="0"/>
          </a:p>
          <a:p>
            <a:endParaRPr lang="en-AU" dirty="0"/>
          </a:p>
          <a:p>
            <a:pPr marL="0" indent="0">
              <a:buNone/>
            </a:pPr>
            <a:endParaRPr lang="en-AU" dirty="0"/>
          </a:p>
          <a:p>
            <a:endParaRPr lang="en-US" dirty="0"/>
          </a:p>
        </p:txBody>
      </p:sp>
      <p:sp>
        <p:nvSpPr>
          <p:cNvPr id="7" name="TextBox 6">
            <a:extLst>
              <a:ext uri="{FF2B5EF4-FFF2-40B4-BE49-F238E27FC236}">
                <a16:creationId xmlns:a16="http://schemas.microsoft.com/office/drawing/2014/main" id="{C6136A7F-0957-2331-3A6B-334BBF7B698C}"/>
              </a:ext>
            </a:extLst>
          </p:cNvPr>
          <p:cNvSpPr txBox="1"/>
          <p:nvPr/>
        </p:nvSpPr>
        <p:spPr>
          <a:xfrm>
            <a:off x="9067821" y="3562117"/>
            <a:ext cx="2690626" cy="369332"/>
          </a:xfrm>
          <a:prstGeom prst="rect">
            <a:avLst/>
          </a:prstGeom>
          <a:noFill/>
        </p:spPr>
        <p:txBody>
          <a:bodyPr wrap="square">
            <a:spAutoFit/>
          </a:bodyPr>
          <a:lstStyle/>
          <a:p>
            <a:r>
              <a:rPr lang="en-AU" dirty="0">
                <a:highlight>
                  <a:srgbClr val="FFFF00"/>
                </a:highlight>
              </a:rPr>
              <a:t>Assets: fixed→ floating</a:t>
            </a:r>
            <a:endParaRPr lang="en-US" dirty="0">
              <a:highlight>
                <a:srgbClr val="FFFF00"/>
              </a:highlight>
            </a:endParaRPr>
          </a:p>
        </p:txBody>
      </p:sp>
      <p:sp>
        <p:nvSpPr>
          <p:cNvPr id="8" name="TextBox 7">
            <a:extLst>
              <a:ext uri="{FF2B5EF4-FFF2-40B4-BE49-F238E27FC236}">
                <a16:creationId xmlns:a16="http://schemas.microsoft.com/office/drawing/2014/main" id="{413E8DFF-F46B-D84B-9669-FB98EFBBC842}"/>
              </a:ext>
            </a:extLst>
          </p:cNvPr>
          <p:cNvSpPr txBox="1"/>
          <p:nvPr/>
        </p:nvSpPr>
        <p:spPr>
          <a:xfrm>
            <a:off x="9101560" y="4144795"/>
            <a:ext cx="2656887" cy="923330"/>
          </a:xfrm>
          <a:prstGeom prst="rect">
            <a:avLst/>
          </a:prstGeom>
          <a:noFill/>
        </p:spPr>
        <p:txBody>
          <a:bodyPr wrap="square" rtlCol="0">
            <a:spAutoFit/>
          </a:bodyPr>
          <a:lstStyle/>
          <a:p>
            <a:r>
              <a:rPr lang="en-US" dirty="0">
                <a:solidFill>
                  <a:srgbClr val="FF0000"/>
                </a:solidFill>
              </a:rPr>
              <a:t>The dealer is fixed receiver, so we use the </a:t>
            </a:r>
            <a:r>
              <a:rPr lang="en-US" b="1" dirty="0">
                <a:solidFill>
                  <a:srgbClr val="FF0000"/>
                </a:solidFill>
              </a:rPr>
              <a:t>higher</a:t>
            </a:r>
            <a:r>
              <a:rPr lang="en-US" dirty="0">
                <a:solidFill>
                  <a:srgbClr val="FF0000"/>
                </a:solidFill>
              </a:rPr>
              <a:t> four-year quote.</a:t>
            </a:r>
          </a:p>
        </p:txBody>
      </p:sp>
      <p:pic>
        <p:nvPicPr>
          <p:cNvPr id="11" name="Picture 10" descr="A table with numbers and symbols&#10;&#10;AI-generated content may be incorrect.">
            <a:extLst>
              <a:ext uri="{FF2B5EF4-FFF2-40B4-BE49-F238E27FC236}">
                <a16:creationId xmlns:a16="http://schemas.microsoft.com/office/drawing/2014/main" id="{3B00A349-55A4-1F1D-C47F-5B06A5A6145D}"/>
              </a:ext>
            </a:extLst>
          </p:cNvPr>
          <p:cNvPicPr>
            <a:picLocks noChangeAspect="1"/>
          </p:cNvPicPr>
          <p:nvPr/>
        </p:nvPicPr>
        <p:blipFill>
          <a:blip r:embed="rId3"/>
          <a:stretch>
            <a:fillRect/>
          </a:stretch>
        </p:blipFill>
        <p:spPr>
          <a:xfrm>
            <a:off x="2769268" y="3429000"/>
            <a:ext cx="6098646" cy="3267463"/>
          </a:xfrm>
          <a:prstGeom prst="rect">
            <a:avLst/>
          </a:prstGeom>
        </p:spPr>
      </p:pic>
      <p:sp>
        <p:nvSpPr>
          <p:cNvPr id="12" name="Rectangle 11">
            <a:extLst>
              <a:ext uri="{FF2B5EF4-FFF2-40B4-BE49-F238E27FC236}">
                <a16:creationId xmlns:a16="http://schemas.microsoft.com/office/drawing/2014/main" id="{966A4FBE-9DAE-C5CE-8854-A16373C02F23}"/>
              </a:ext>
            </a:extLst>
          </p:cNvPr>
          <p:cNvSpPr/>
          <p:nvPr/>
        </p:nvSpPr>
        <p:spPr>
          <a:xfrm>
            <a:off x="5532699" y="4825847"/>
            <a:ext cx="1296364" cy="473768"/>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a:extLst>
              <a:ext uri="{FF2B5EF4-FFF2-40B4-BE49-F238E27FC236}">
                <a16:creationId xmlns:a16="http://schemas.microsoft.com/office/drawing/2014/main" id="{45906238-9984-728D-A502-7F9C8475D92A}"/>
              </a:ext>
            </a:extLst>
          </p:cNvPr>
          <p:cNvSpPr>
            <a:spLocks noGrp="1"/>
          </p:cNvSpPr>
          <p:nvPr>
            <p:ph type="dt" sz="half" idx="10"/>
          </p:nvPr>
        </p:nvSpPr>
        <p:spPr/>
        <p:txBody>
          <a:bodyPr/>
          <a:lstStyle/>
          <a:p>
            <a:fld id="{6C6CC04D-567A-D242-9E90-E5597C8F6B94}" type="datetime1">
              <a:rPr lang="en-AU" smtClean="0"/>
              <a:t>28/8/2026</a:t>
            </a:fld>
            <a:endParaRPr lang="en-US"/>
          </a:p>
        </p:txBody>
      </p:sp>
      <p:sp>
        <p:nvSpPr>
          <p:cNvPr id="5" name="Footer Placeholder 4">
            <a:extLst>
              <a:ext uri="{FF2B5EF4-FFF2-40B4-BE49-F238E27FC236}">
                <a16:creationId xmlns:a16="http://schemas.microsoft.com/office/drawing/2014/main" id="{CCD0E7AC-45BC-9B0E-6C8C-597A2FF6F0BB}"/>
              </a:ext>
            </a:extLst>
          </p:cNvPr>
          <p:cNvSpPr>
            <a:spLocks noGrp="1"/>
          </p:cNvSpPr>
          <p:nvPr>
            <p:ph type="ftr" sz="quarter" idx="11"/>
          </p:nvPr>
        </p:nvSpPr>
        <p:spPr/>
        <p:txBody>
          <a:bodyPr/>
          <a:lstStyle/>
          <a:p>
            <a:r>
              <a:rPr lang="en-US"/>
              <a:t>FINA2204 - Tutorial 5</a:t>
            </a:r>
          </a:p>
        </p:txBody>
      </p:sp>
      <p:sp>
        <p:nvSpPr>
          <p:cNvPr id="6" name="Slide Number Placeholder 5">
            <a:extLst>
              <a:ext uri="{FF2B5EF4-FFF2-40B4-BE49-F238E27FC236}">
                <a16:creationId xmlns:a16="http://schemas.microsoft.com/office/drawing/2014/main" id="{A73FC0A9-BA6F-6CB7-3F42-331EE4F800FC}"/>
              </a:ext>
            </a:extLst>
          </p:cNvPr>
          <p:cNvSpPr>
            <a:spLocks noGrp="1"/>
          </p:cNvSpPr>
          <p:nvPr>
            <p:ph type="sldNum" sz="quarter" idx="12"/>
          </p:nvPr>
        </p:nvSpPr>
        <p:spPr/>
        <p:txBody>
          <a:bodyPr/>
          <a:lstStyle/>
          <a:p>
            <a:fld id="{9855740F-6ECD-274F-B089-6B266B6B07F9}" type="slidenum">
              <a:rPr lang="en-US" smtClean="0"/>
              <a:t>19</a:t>
            </a:fld>
            <a:endParaRPr lang="en-US"/>
          </a:p>
        </p:txBody>
      </p:sp>
    </p:spTree>
    <p:extLst>
      <p:ext uri="{BB962C8B-B14F-4D97-AF65-F5344CB8AC3E}">
        <p14:creationId xmlns:p14="http://schemas.microsoft.com/office/powerpoint/2010/main" val="30187688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12"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B56864-DC51-2216-828D-44D60F78FA82}"/>
              </a:ext>
            </a:extLst>
          </p:cNvPr>
          <p:cNvSpPr>
            <a:spLocks noGrp="1"/>
          </p:cNvSpPr>
          <p:nvPr>
            <p:ph type="title"/>
          </p:nvPr>
        </p:nvSpPr>
        <p:spPr/>
        <p:txBody>
          <a:bodyPr/>
          <a:lstStyle/>
          <a:p>
            <a:r>
              <a:rPr lang="en-US" dirty="0"/>
              <a:t>Answer 7.20</a:t>
            </a:r>
          </a:p>
        </p:txBody>
      </p:sp>
      <p:sp>
        <p:nvSpPr>
          <p:cNvPr id="3" name="Content Placeholder 2">
            <a:extLst>
              <a:ext uri="{FF2B5EF4-FFF2-40B4-BE49-F238E27FC236}">
                <a16:creationId xmlns:a16="http://schemas.microsoft.com/office/drawing/2014/main" id="{C5D92181-7EC1-18DE-CB44-5E7D4CED69C0}"/>
              </a:ext>
            </a:extLst>
          </p:cNvPr>
          <p:cNvSpPr>
            <a:spLocks noGrp="1"/>
          </p:cNvSpPr>
          <p:nvPr>
            <p:ph idx="1"/>
          </p:nvPr>
        </p:nvSpPr>
        <p:spPr/>
        <p:txBody>
          <a:bodyPr/>
          <a:lstStyle/>
          <a:p>
            <a:r>
              <a:rPr lang="en-AU" dirty="0"/>
              <a:t>Company X can pay 6.39% for four years and receive BBSW. It can therefore transform an investment at 5.5% into an investment at BBSW minus 0.89% or BBSW minus 89 basis points.</a:t>
            </a:r>
          </a:p>
          <a:p>
            <a:endParaRPr lang="en-US" dirty="0"/>
          </a:p>
        </p:txBody>
      </p:sp>
      <p:graphicFrame>
        <p:nvGraphicFramePr>
          <p:cNvPr id="6" name="Table 5">
            <a:extLst>
              <a:ext uri="{FF2B5EF4-FFF2-40B4-BE49-F238E27FC236}">
                <a16:creationId xmlns:a16="http://schemas.microsoft.com/office/drawing/2014/main" id="{BC029CF2-8415-D96C-FFF3-6EFA3A2733BB}"/>
              </a:ext>
            </a:extLst>
          </p:cNvPr>
          <p:cNvGraphicFramePr>
            <a:graphicFrameLocks noGrp="1"/>
          </p:cNvGraphicFramePr>
          <p:nvPr>
            <p:extLst>
              <p:ext uri="{D42A27DB-BD31-4B8C-83A1-F6EECF244321}">
                <p14:modId xmlns:p14="http://schemas.microsoft.com/office/powerpoint/2010/main" val="2772960023"/>
              </p:ext>
            </p:extLst>
          </p:nvPr>
        </p:nvGraphicFramePr>
        <p:xfrm>
          <a:off x="1745600" y="3694253"/>
          <a:ext cx="8700800" cy="2251520"/>
        </p:xfrm>
        <a:graphic>
          <a:graphicData uri="http://schemas.openxmlformats.org/drawingml/2006/table">
            <a:tbl>
              <a:tblPr firstRow="1" bandRow="1">
                <a:tableStyleId>{5C22544A-7EE6-4342-B048-85BDC9FD1C3A}</a:tableStyleId>
              </a:tblPr>
              <a:tblGrid>
                <a:gridCol w="4636800">
                  <a:extLst>
                    <a:ext uri="{9D8B030D-6E8A-4147-A177-3AD203B41FA5}">
                      <a16:colId xmlns:a16="http://schemas.microsoft.com/office/drawing/2014/main" val="2526249316"/>
                    </a:ext>
                  </a:extLst>
                </a:gridCol>
                <a:gridCol w="4064000">
                  <a:extLst>
                    <a:ext uri="{9D8B030D-6E8A-4147-A177-3AD203B41FA5}">
                      <a16:colId xmlns:a16="http://schemas.microsoft.com/office/drawing/2014/main" val="1447776887"/>
                    </a:ext>
                  </a:extLst>
                </a:gridCol>
              </a:tblGrid>
              <a:tr h="351677">
                <a:tc>
                  <a:txBody>
                    <a:bodyPr/>
                    <a:lstStyle/>
                    <a:p>
                      <a:endParaRPr lang="en-US" dirty="0"/>
                    </a:p>
                  </a:txBody>
                  <a:tcPr/>
                </a:tc>
                <a:tc>
                  <a:txBody>
                    <a:bodyPr/>
                    <a:lstStyle/>
                    <a:p>
                      <a:r>
                        <a:rPr lang="en-US" dirty="0"/>
                        <a:t>Intel</a:t>
                      </a:r>
                    </a:p>
                  </a:txBody>
                  <a:tcPr/>
                </a:tc>
                <a:extLst>
                  <a:ext uri="{0D108BD9-81ED-4DB2-BD59-A6C34878D82A}">
                    <a16:rowId xmlns:a16="http://schemas.microsoft.com/office/drawing/2014/main" val="1633824453"/>
                  </a:ext>
                </a:extLst>
              </a:tr>
              <a:tr h="504000">
                <a:tc>
                  <a:txBody>
                    <a:bodyPr/>
                    <a:lstStyle/>
                    <a:p>
                      <a:r>
                        <a:rPr lang="en-US" b="0" dirty="0"/>
                        <a:t>Return from its </a:t>
                      </a:r>
                      <a:r>
                        <a:rPr lang="en-US" b="1" dirty="0"/>
                        <a:t>investment </a:t>
                      </a:r>
                      <a:r>
                        <a:rPr lang="en-US" b="0" dirty="0"/>
                        <a:t>(+)</a:t>
                      </a:r>
                    </a:p>
                  </a:txBody>
                  <a:tcPr/>
                </a:tc>
                <a:tc>
                  <a:txBody>
                    <a:bodyPr/>
                    <a:lstStyle/>
                    <a:p>
                      <a:r>
                        <a:rPr lang="en-US" dirty="0"/>
                        <a:t>5.5%</a:t>
                      </a:r>
                    </a:p>
                  </a:txBody>
                  <a:tcPr/>
                </a:tc>
                <a:extLst>
                  <a:ext uri="{0D108BD9-81ED-4DB2-BD59-A6C34878D82A}">
                    <a16:rowId xmlns:a16="http://schemas.microsoft.com/office/drawing/2014/main" val="483567150"/>
                  </a:ext>
                </a:extLst>
              </a:tr>
              <a:tr h="370840">
                <a:tc>
                  <a:txBody>
                    <a:bodyPr/>
                    <a:lstStyle/>
                    <a:p>
                      <a:r>
                        <a:rPr lang="en-US" dirty="0"/>
                        <a:t>Swap: </a:t>
                      </a:r>
                      <a:r>
                        <a:rPr lang="en-US" b="1" dirty="0"/>
                        <a:t>Pay</a:t>
                      </a:r>
                      <a:r>
                        <a:rPr lang="en-US" dirty="0"/>
                        <a:t> Citigroup (-)</a:t>
                      </a:r>
                    </a:p>
                  </a:txBody>
                  <a:tcPr/>
                </a:tc>
                <a:tc>
                  <a:txBody>
                    <a:bodyPr/>
                    <a:lstStyle/>
                    <a:p>
                      <a:r>
                        <a:rPr lang="en-US" b="1" dirty="0"/>
                        <a:t>6.39%</a:t>
                      </a:r>
                    </a:p>
                  </a:txBody>
                  <a:tcPr/>
                </a:tc>
                <a:extLst>
                  <a:ext uri="{0D108BD9-81ED-4DB2-BD59-A6C34878D82A}">
                    <a16:rowId xmlns:a16="http://schemas.microsoft.com/office/drawing/2014/main" val="2509369450"/>
                  </a:ext>
                </a:extLst>
              </a:tr>
              <a:tr h="370840">
                <a:tc>
                  <a:txBody>
                    <a:bodyPr/>
                    <a:lstStyle/>
                    <a:p>
                      <a:r>
                        <a:rPr lang="en-US" dirty="0"/>
                        <a:t>              </a:t>
                      </a:r>
                      <a:r>
                        <a:rPr lang="en-US" b="1" dirty="0"/>
                        <a:t>Receive</a:t>
                      </a:r>
                      <a:r>
                        <a:rPr lang="en-US" dirty="0"/>
                        <a:t> from Citigroup  (+)</a:t>
                      </a:r>
                    </a:p>
                  </a:txBody>
                  <a:tcPr/>
                </a:tc>
                <a:tc>
                  <a:txBody>
                    <a:bodyPr/>
                    <a:lstStyle/>
                    <a:p>
                      <a:r>
                        <a:rPr lang="en-US" dirty="0"/>
                        <a:t>BBSW</a:t>
                      </a:r>
                    </a:p>
                  </a:txBody>
                  <a:tcPr/>
                </a:tc>
                <a:extLst>
                  <a:ext uri="{0D108BD9-81ED-4DB2-BD59-A6C34878D82A}">
                    <a16:rowId xmlns:a16="http://schemas.microsoft.com/office/drawing/2014/main" val="1821861321"/>
                  </a:ext>
                </a:extLst>
              </a:tr>
              <a:tr h="370840">
                <a:tc>
                  <a:txBody>
                    <a:bodyPr/>
                    <a:lstStyle/>
                    <a:p>
                      <a:r>
                        <a:rPr lang="en-US" dirty="0"/>
                        <a:t>Net </a:t>
                      </a:r>
                      <a:r>
                        <a:rPr lang="en-US" b="1" dirty="0"/>
                        <a:t>return</a:t>
                      </a:r>
                      <a:r>
                        <a:rPr lang="en-US" dirty="0"/>
                        <a:t> of investment</a:t>
                      </a:r>
                    </a:p>
                  </a:txBody>
                  <a:tcPr/>
                </a:tc>
                <a:tc>
                  <a:txBody>
                    <a:bodyPr/>
                    <a:lstStyle/>
                    <a:p>
                      <a:r>
                        <a:rPr lang="en-US" b="1" dirty="0">
                          <a:solidFill>
                            <a:srgbClr val="FF0000"/>
                          </a:solidFill>
                        </a:rPr>
                        <a:t>BBSW-0.89%</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=(5.5%-6.39%+BBSW)</a:t>
                      </a:r>
                    </a:p>
                  </a:txBody>
                  <a:tcPr/>
                </a:tc>
                <a:extLst>
                  <a:ext uri="{0D108BD9-81ED-4DB2-BD59-A6C34878D82A}">
                    <a16:rowId xmlns:a16="http://schemas.microsoft.com/office/drawing/2014/main" val="4073212660"/>
                  </a:ext>
                </a:extLst>
              </a:tr>
            </a:tbl>
          </a:graphicData>
        </a:graphic>
      </p:graphicFrame>
      <p:sp>
        <p:nvSpPr>
          <p:cNvPr id="7" name="Date Placeholder 6">
            <a:extLst>
              <a:ext uri="{FF2B5EF4-FFF2-40B4-BE49-F238E27FC236}">
                <a16:creationId xmlns:a16="http://schemas.microsoft.com/office/drawing/2014/main" id="{C5DF5F42-6B79-3A53-80FA-C3E3403613E9}"/>
              </a:ext>
            </a:extLst>
          </p:cNvPr>
          <p:cNvSpPr>
            <a:spLocks noGrp="1"/>
          </p:cNvSpPr>
          <p:nvPr>
            <p:ph type="dt" sz="half" idx="10"/>
          </p:nvPr>
        </p:nvSpPr>
        <p:spPr/>
        <p:txBody>
          <a:bodyPr/>
          <a:lstStyle/>
          <a:p>
            <a:fld id="{2314E5B3-2FEE-B243-92DE-F46BB714A2C4}" type="datetime1">
              <a:rPr lang="en-AU" smtClean="0"/>
              <a:t>28/8/2026</a:t>
            </a:fld>
            <a:endParaRPr lang="en-US"/>
          </a:p>
        </p:txBody>
      </p:sp>
      <p:sp>
        <p:nvSpPr>
          <p:cNvPr id="8" name="Footer Placeholder 7">
            <a:extLst>
              <a:ext uri="{FF2B5EF4-FFF2-40B4-BE49-F238E27FC236}">
                <a16:creationId xmlns:a16="http://schemas.microsoft.com/office/drawing/2014/main" id="{B5DE7B42-6B25-6E35-8886-F53B6B5F452A}"/>
              </a:ext>
            </a:extLst>
          </p:cNvPr>
          <p:cNvSpPr>
            <a:spLocks noGrp="1"/>
          </p:cNvSpPr>
          <p:nvPr>
            <p:ph type="ftr" sz="quarter" idx="11"/>
          </p:nvPr>
        </p:nvSpPr>
        <p:spPr/>
        <p:txBody>
          <a:bodyPr/>
          <a:lstStyle/>
          <a:p>
            <a:r>
              <a:rPr lang="en-US"/>
              <a:t>FINA2204 - Tutorial 5</a:t>
            </a:r>
          </a:p>
        </p:txBody>
      </p:sp>
      <p:sp>
        <p:nvSpPr>
          <p:cNvPr id="9" name="Slide Number Placeholder 8">
            <a:extLst>
              <a:ext uri="{FF2B5EF4-FFF2-40B4-BE49-F238E27FC236}">
                <a16:creationId xmlns:a16="http://schemas.microsoft.com/office/drawing/2014/main" id="{A7B5D63B-19D8-DD4B-81AE-034079D936A5}"/>
              </a:ext>
            </a:extLst>
          </p:cNvPr>
          <p:cNvSpPr>
            <a:spLocks noGrp="1"/>
          </p:cNvSpPr>
          <p:nvPr>
            <p:ph type="sldNum" sz="quarter" idx="12"/>
          </p:nvPr>
        </p:nvSpPr>
        <p:spPr/>
        <p:txBody>
          <a:bodyPr/>
          <a:lstStyle/>
          <a:p>
            <a:fld id="{9855740F-6ECD-274F-B089-6B266B6B07F9}" type="slidenum">
              <a:rPr lang="en-US" smtClean="0"/>
              <a:t>20</a:t>
            </a:fld>
            <a:endParaRPr lang="en-US"/>
          </a:p>
        </p:txBody>
      </p:sp>
    </p:spTree>
    <p:extLst>
      <p:ext uri="{BB962C8B-B14F-4D97-AF65-F5344CB8AC3E}">
        <p14:creationId xmlns:p14="http://schemas.microsoft.com/office/powerpoint/2010/main" val="194375949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9F5D3C-A098-BA1C-B581-0CDFFFBC4FFC}"/>
              </a:ext>
            </a:extLst>
          </p:cNvPr>
          <p:cNvSpPr>
            <a:spLocks noGrp="1"/>
          </p:cNvSpPr>
          <p:nvPr>
            <p:ph type="title"/>
          </p:nvPr>
        </p:nvSpPr>
        <p:spPr/>
        <p:txBody>
          <a:bodyPr/>
          <a:lstStyle/>
          <a:p>
            <a:r>
              <a:rPr lang="en-US" dirty="0"/>
              <a:t>Problem 7.20</a:t>
            </a:r>
          </a:p>
        </p:txBody>
      </p:sp>
      <p:sp>
        <p:nvSpPr>
          <p:cNvPr id="3" name="Content Placeholder 2">
            <a:extLst>
              <a:ext uri="{FF2B5EF4-FFF2-40B4-BE49-F238E27FC236}">
                <a16:creationId xmlns:a16="http://schemas.microsoft.com/office/drawing/2014/main" id="{BC4CE0F1-FB08-C40B-4A90-40C4F9446554}"/>
              </a:ext>
            </a:extLst>
          </p:cNvPr>
          <p:cNvSpPr>
            <a:spLocks noGrp="1"/>
          </p:cNvSpPr>
          <p:nvPr>
            <p:ph idx="1"/>
          </p:nvPr>
        </p:nvSpPr>
        <p:spPr/>
        <p:txBody>
          <a:bodyPr/>
          <a:lstStyle/>
          <a:p>
            <a:pPr marL="0" indent="0">
              <a:buNone/>
            </a:pPr>
            <a:r>
              <a:rPr lang="en-AU" i="1" dirty="0"/>
              <a:t>(b) Company Y has been offered the rates shown in Table 7.3. It can</a:t>
            </a:r>
            <a:r>
              <a:rPr lang="en-AU" dirty="0"/>
              <a:t> </a:t>
            </a:r>
            <a:r>
              <a:rPr lang="en-AU" i="1" dirty="0"/>
              <a:t>invest for 10 years at BBSW minus 50 basis points. What fixed rate</a:t>
            </a:r>
            <a:r>
              <a:rPr lang="en-AU" dirty="0"/>
              <a:t> </a:t>
            </a:r>
            <a:r>
              <a:rPr lang="en-AU" i="1" dirty="0"/>
              <a:t>can it swap this floating rate into?</a:t>
            </a:r>
            <a:endParaRPr lang="en-AU" dirty="0"/>
          </a:p>
          <a:p>
            <a:endParaRPr lang="en-US" dirty="0"/>
          </a:p>
        </p:txBody>
      </p:sp>
      <p:sp>
        <p:nvSpPr>
          <p:cNvPr id="4" name="TextBox 3">
            <a:extLst>
              <a:ext uri="{FF2B5EF4-FFF2-40B4-BE49-F238E27FC236}">
                <a16:creationId xmlns:a16="http://schemas.microsoft.com/office/drawing/2014/main" id="{6D79DB06-7F59-6128-E856-CC619FB370C5}"/>
              </a:ext>
            </a:extLst>
          </p:cNvPr>
          <p:cNvSpPr txBox="1"/>
          <p:nvPr/>
        </p:nvSpPr>
        <p:spPr>
          <a:xfrm>
            <a:off x="9067821" y="3562117"/>
            <a:ext cx="2690626" cy="369332"/>
          </a:xfrm>
          <a:prstGeom prst="rect">
            <a:avLst/>
          </a:prstGeom>
          <a:noFill/>
        </p:spPr>
        <p:txBody>
          <a:bodyPr wrap="square">
            <a:spAutoFit/>
          </a:bodyPr>
          <a:lstStyle/>
          <a:p>
            <a:r>
              <a:rPr lang="en-AU" dirty="0">
                <a:highlight>
                  <a:srgbClr val="FFFF00"/>
                </a:highlight>
              </a:rPr>
              <a:t>Assets: floating→ fixed</a:t>
            </a:r>
            <a:endParaRPr lang="en-US" dirty="0">
              <a:highlight>
                <a:srgbClr val="FFFF00"/>
              </a:highlight>
            </a:endParaRPr>
          </a:p>
        </p:txBody>
      </p:sp>
      <p:sp>
        <p:nvSpPr>
          <p:cNvPr id="5" name="TextBox 4">
            <a:extLst>
              <a:ext uri="{FF2B5EF4-FFF2-40B4-BE49-F238E27FC236}">
                <a16:creationId xmlns:a16="http://schemas.microsoft.com/office/drawing/2014/main" id="{8180D0AB-50CB-3707-13A6-BE19DDAD0C9E}"/>
              </a:ext>
            </a:extLst>
          </p:cNvPr>
          <p:cNvSpPr txBox="1"/>
          <p:nvPr/>
        </p:nvSpPr>
        <p:spPr>
          <a:xfrm>
            <a:off x="9101560" y="4144795"/>
            <a:ext cx="2656887" cy="923330"/>
          </a:xfrm>
          <a:prstGeom prst="rect">
            <a:avLst/>
          </a:prstGeom>
          <a:noFill/>
        </p:spPr>
        <p:txBody>
          <a:bodyPr wrap="square" rtlCol="0">
            <a:spAutoFit/>
          </a:bodyPr>
          <a:lstStyle/>
          <a:p>
            <a:r>
              <a:rPr lang="en-US" dirty="0">
                <a:solidFill>
                  <a:srgbClr val="FF0000"/>
                </a:solidFill>
              </a:rPr>
              <a:t>The dealer is fixed payer, so we use the </a:t>
            </a:r>
            <a:r>
              <a:rPr lang="en-US" b="1" dirty="0">
                <a:solidFill>
                  <a:srgbClr val="FF0000"/>
                </a:solidFill>
              </a:rPr>
              <a:t>lower</a:t>
            </a:r>
            <a:r>
              <a:rPr lang="en-US" dirty="0">
                <a:solidFill>
                  <a:srgbClr val="FF0000"/>
                </a:solidFill>
              </a:rPr>
              <a:t> ten-year quote.</a:t>
            </a:r>
          </a:p>
        </p:txBody>
      </p:sp>
      <p:pic>
        <p:nvPicPr>
          <p:cNvPr id="6" name="Picture 5" descr="A table with numbers and symbols&#10;&#10;AI-generated content may be incorrect.">
            <a:extLst>
              <a:ext uri="{FF2B5EF4-FFF2-40B4-BE49-F238E27FC236}">
                <a16:creationId xmlns:a16="http://schemas.microsoft.com/office/drawing/2014/main" id="{CD041CB4-9614-36CA-66DB-7C62FA41CC4A}"/>
              </a:ext>
            </a:extLst>
          </p:cNvPr>
          <p:cNvPicPr>
            <a:picLocks noChangeAspect="1"/>
          </p:cNvPicPr>
          <p:nvPr/>
        </p:nvPicPr>
        <p:blipFill>
          <a:blip r:embed="rId3"/>
          <a:stretch>
            <a:fillRect/>
          </a:stretch>
        </p:blipFill>
        <p:spPr>
          <a:xfrm>
            <a:off x="2769268" y="3429000"/>
            <a:ext cx="6098646" cy="3267463"/>
          </a:xfrm>
          <a:prstGeom prst="rect">
            <a:avLst/>
          </a:prstGeom>
        </p:spPr>
      </p:pic>
      <p:sp>
        <p:nvSpPr>
          <p:cNvPr id="7" name="Rectangle 6">
            <a:extLst>
              <a:ext uri="{FF2B5EF4-FFF2-40B4-BE49-F238E27FC236}">
                <a16:creationId xmlns:a16="http://schemas.microsoft.com/office/drawing/2014/main" id="{BFC9BA3A-4083-7AE5-2DC7-825E64F4DE06}"/>
              </a:ext>
            </a:extLst>
          </p:cNvPr>
          <p:cNvSpPr/>
          <p:nvPr/>
        </p:nvSpPr>
        <p:spPr>
          <a:xfrm>
            <a:off x="4190038" y="5948589"/>
            <a:ext cx="1296364" cy="473768"/>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Date Placeholder 7">
            <a:extLst>
              <a:ext uri="{FF2B5EF4-FFF2-40B4-BE49-F238E27FC236}">
                <a16:creationId xmlns:a16="http://schemas.microsoft.com/office/drawing/2014/main" id="{3CC41B8F-F7E6-C940-6EEB-101E58065008}"/>
              </a:ext>
            </a:extLst>
          </p:cNvPr>
          <p:cNvSpPr>
            <a:spLocks noGrp="1"/>
          </p:cNvSpPr>
          <p:nvPr>
            <p:ph type="dt" sz="half" idx="10"/>
          </p:nvPr>
        </p:nvSpPr>
        <p:spPr/>
        <p:txBody>
          <a:bodyPr/>
          <a:lstStyle/>
          <a:p>
            <a:fld id="{A76AAB22-23DF-8A4A-AAEC-5DD948559A97}" type="datetime1">
              <a:rPr lang="en-AU" smtClean="0"/>
              <a:t>28/8/2026</a:t>
            </a:fld>
            <a:endParaRPr lang="en-US"/>
          </a:p>
        </p:txBody>
      </p:sp>
      <p:sp>
        <p:nvSpPr>
          <p:cNvPr id="9" name="Footer Placeholder 8">
            <a:extLst>
              <a:ext uri="{FF2B5EF4-FFF2-40B4-BE49-F238E27FC236}">
                <a16:creationId xmlns:a16="http://schemas.microsoft.com/office/drawing/2014/main" id="{5AD151D6-535F-49AC-E3B5-D38F101FBF59}"/>
              </a:ext>
            </a:extLst>
          </p:cNvPr>
          <p:cNvSpPr>
            <a:spLocks noGrp="1"/>
          </p:cNvSpPr>
          <p:nvPr>
            <p:ph type="ftr" sz="quarter" idx="11"/>
          </p:nvPr>
        </p:nvSpPr>
        <p:spPr/>
        <p:txBody>
          <a:bodyPr/>
          <a:lstStyle/>
          <a:p>
            <a:r>
              <a:rPr lang="en-US"/>
              <a:t>FINA2204 - Tutorial 5</a:t>
            </a:r>
          </a:p>
        </p:txBody>
      </p:sp>
      <p:sp>
        <p:nvSpPr>
          <p:cNvPr id="10" name="Slide Number Placeholder 9">
            <a:extLst>
              <a:ext uri="{FF2B5EF4-FFF2-40B4-BE49-F238E27FC236}">
                <a16:creationId xmlns:a16="http://schemas.microsoft.com/office/drawing/2014/main" id="{DF2B9486-7DAA-79D2-7833-4EF98CAF329D}"/>
              </a:ext>
            </a:extLst>
          </p:cNvPr>
          <p:cNvSpPr>
            <a:spLocks noGrp="1"/>
          </p:cNvSpPr>
          <p:nvPr>
            <p:ph type="sldNum" sz="quarter" idx="12"/>
          </p:nvPr>
        </p:nvSpPr>
        <p:spPr/>
        <p:txBody>
          <a:bodyPr/>
          <a:lstStyle/>
          <a:p>
            <a:fld id="{9855740F-6ECD-274F-B089-6B266B6B07F9}" type="slidenum">
              <a:rPr lang="en-US" smtClean="0"/>
              <a:t>21</a:t>
            </a:fld>
            <a:endParaRPr lang="en-US"/>
          </a:p>
        </p:txBody>
      </p:sp>
    </p:spTree>
    <p:extLst>
      <p:ext uri="{BB962C8B-B14F-4D97-AF65-F5344CB8AC3E}">
        <p14:creationId xmlns:p14="http://schemas.microsoft.com/office/powerpoint/2010/main" val="7051542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7"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DFCDA6-8970-719B-D83A-960AE5BCA7D1}"/>
              </a:ext>
            </a:extLst>
          </p:cNvPr>
          <p:cNvSpPr>
            <a:spLocks noGrp="1"/>
          </p:cNvSpPr>
          <p:nvPr>
            <p:ph type="title"/>
          </p:nvPr>
        </p:nvSpPr>
        <p:spPr/>
        <p:txBody>
          <a:bodyPr/>
          <a:lstStyle/>
          <a:p>
            <a:r>
              <a:rPr lang="en-US" dirty="0"/>
              <a:t>Answer 7.20</a:t>
            </a:r>
          </a:p>
        </p:txBody>
      </p:sp>
      <p:sp>
        <p:nvSpPr>
          <p:cNvPr id="3" name="Content Placeholder 2">
            <a:extLst>
              <a:ext uri="{FF2B5EF4-FFF2-40B4-BE49-F238E27FC236}">
                <a16:creationId xmlns:a16="http://schemas.microsoft.com/office/drawing/2014/main" id="{F7DAA65D-B4E8-295C-8BCD-C27F8CAD3123}"/>
              </a:ext>
            </a:extLst>
          </p:cNvPr>
          <p:cNvSpPr>
            <a:spLocks noGrp="1"/>
          </p:cNvSpPr>
          <p:nvPr>
            <p:ph idx="1"/>
          </p:nvPr>
        </p:nvSpPr>
        <p:spPr/>
        <p:txBody>
          <a:bodyPr/>
          <a:lstStyle/>
          <a:p>
            <a:r>
              <a:rPr lang="en-AU" dirty="0"/>
              <a:t>Company Y can receive 6.83% and pay BBSW for 10 years. It can therefore transform an investment at BBSW minus 0.5% into an investment at 6.33%.</a:t>
            </a:r>
          </a:p>
          <a:p>
            <a:endParaRPr lang="en-US" dirty="0"/>
          </a:p>
        </p:txBody>
      </p:sp>
      <p:graphicFrame>
        <p:nvGraphicFramePr>
          <p:cNvPr id="6" name="Table 5">
            <a:extLst>
              <a:ext uri="{FF2B5EF4-FFF2-40B4-BE49-F238E27FC236}">
                <a16:creationId xmlns:a16="http://schemas.microsoft.com/office/drawing/2014/main" id="{E0955F4A-747C-2825-A9DD-10BE6348A22F}"/>
              </a:ext>
            </a:extLst>
          </p:cNvPr>
          <p:cNvGraphicFramePr>
            <a:graphicFrameLocks noGrp="1"/>
          </p:cNvGraphicFramePr>
          <p:nvPr>
            <p:extLst>
              <p:ext uri="{D42A27DB-BD31-4B8C-83A1-F6EECF244321}">
                <p14:modId xmlns:p14="http://schemas.microsoft.com/office/powerpoint/2010/main" val="2874054103"/>
              </p:ext>
            </p:extLst>
          </p:nvPr>
        </p:nvGraphicFramePr>
        <p:xfrm>
          <a:off x="1745600" y="3694253"/>
          <a:ext cx="8700800" cy="2251520"/>
        </p:xfrm>
        <a:graphic>
          <a:graphicData uri="http://schemas.openxmlformats.org/drawingml/2006/table">
            <a:tbl>
              <a:tblPr firstRow="1" bandRow="1">
                <a:tableStyleId>{5C22544A-7EE6-4342-B048-85BDC9FD1C3A}</a:tableStyleId>
              </a:tblPr>
              <a:tblGrid>
                <a:gridCol w="4636800">
                  <a:extLst>
                    <a:ext uri="{9D8B030D-6E8A-4147-A177-3AD203B41FA5}">
                      <a16:colId xmlns:a16="http://schemas.microsoft.com/office/drawing/2014/main" val="2526249316"/>
                    </a:ext>
                  </a:extLst>
                </a:gridCol>
                <a:gridCol w="4064000">
                  <a:extLst>
                    <a:ext uri="{9D8B030D-6E8A-4147-A177-3AD203B41FA5}">
                      <a16:colId xmlns:a16="http://schemas.microsoft.com/office/drawing/2014/main" val="1447776887"/>
                    </a:ext>
                  </a:extLst>
                </a:gridCol>
              </a:tblGrid>
              <a:tr h="351677">
                <a:tc>
                  <a:txBody>
                    <a:bodyPr/>
                    <a:lstStyle/>
                    <a:p>
                      <a:endParaRPr lang="en-US" dirty="0"/>
                    </a:p>
                  </a:txBody>
                  <a:tcPr/>
                </a:tc>
                <a:tc>
                  <a:txBody>
                    <a:bodyPr/>
                    <a:lstStyle/>
                    <a:p>
                      <a:r>
                        <a:rPr lang="en-US" dirty="0"/>
                        <a:t>Intel</a:t>
                      </a:r>
                    </a:p>
                  </a:txBody>
                  <a:tcPr/>
                </a:tc>
                <a:extLst>
                  <a:ext uri="{0D108BD9-81ED-4DB2-BD59-A6C34878D82A}">
                    <a16:rowId xmlns:a16="http://schemas.microsoft.com/office/drawing/2014/main" val="1633824453"/>
                  </a:ext>
                </a:extLst>
              </a:tr>
              <a:tr h="504000">
                <a:tc>
                  <a:txBody>
                    <a:bodyPr/>
                    <a:lstStyle/>
                    <a:p>
                      <a:r>
                        <a:rPr lang="en-US" b="0" dirty="0"/>
                        <a:t>Return from its </a:t>
                      </a:r>
                      <a:r>
                        <a:rPr lang="en-US" b="1" dirty="0"/>
                        <a:t>investment </a:t>
                      </a:r>
                      <a:r>
                        <a:rPr lang="en-US" b="0" dirty="0"/>
                        <a:t>(+)</a:t>
                      </a:r>
                    </a:p>
                  </a:txBody>
                  <a:tcPr/>
                </a:tc>
                <a:tc>
                  <a:txBody>
                    <a:bodyPr/>
                    <a:lstStyle/>
                    <a:p>
                      <a:r>
                        <a:rPr lang="en-US" dirty="0"/>
                        <a:t>BBSW-0.5%</a:t>
                      </a:r>
                    </a:p>
                  </a:txBody>
                  <a:tcPr/>
                </a:tc>
                <a:extLst>
                  <a:ext uri="{0D108BD9-81ED-4DB2-BD59-A6C34878D82A}">
                    <a16:rowId xmlns:a16="http://schemas.microsoft.com/office/drawing/2014/main" val="483567150"/>
                  </a:ext>
                </a:extLst>
              </a:tr>
              <a:tr h="370840">
                <a:tc>
                  <a:txBody>
                    <a:bodyPr/>
                    <a:lstStyle/>
                    <a:p>
                      <a:r>
                        <a:rPr lang="en-US" dirty="0"/>
                        <a:t>Swap: </a:t>
                      </a:r>
                      <a:r>
                        <a:rPr lang="en-US" b="1" dirty="0"/>
                        <a:t>Pay</a:t>
                      </a:r>
                      <a:r>
                        <a:rPr lang="en-US" dirty="0"/>
                        <a:t> Citigroup (-)</a:t>
                      </a:r>
                    </a:p>
                  </a:txBody>
                  <a:tcPr/>
                </a:tc>
                <a:tc>
                  <a:txBody>
                    <a:bodyPr/>
                    <a:lstStyle/>
                    <a:p>
                      <a:r>
                        <a:rPr lang="en-US" dirty="0"/>
                        <a:t>BBSW</a:t>
                      </a:r>
                    </a:p>
                  </a:txBody>
                  <a:tcPr/>
                </a:tc>
                <a:extLst>
                  <a:ext uri="{0D108BD9-81ED-4DB2-BD59-A6C34878D82A}">
                    <a16:rowId xmlns:a16="http://schemas.microsoft.com/office/drawing/2014/main" val="2509369450"/>
                  </a:ext>
                </a:extLst>
              </a:tr>
              <a:tr h="370840">
                <a:tc>
                  <a:txBody>
                    <a:bodyPr/>
                    <a:lstStyle/>
                    <a:p>
                      <a:r>
                        <a:rPr lang="en-US" dirty="0"/>
                        <a:t>              </a:t>
                      </a:r>
                      <a:r>
                        <a:rPr lang="en-US" b="1" dirty="0"/>
                        <a:t>Receive</a:t>
                      </a:r>
                      <a:r>
                        <a:rPr lang="en-US" dirty="0"/>
                        <a:t> from Citigroup  (+)</a:t>
                      </a:r>
                    </a:p>
                  </a:txBody>
                  <a:tcPr/>
                </a:tc>
                <a:tc>
                  <a:txBody>
                    <a:bodyPr/>
                    <a:lstStyle/>
                    <a:p>
                      <a:r>
                        <a:rPr lang="en-US" b="1" dirty="0"/>
                        <a:t>6.83%</a:t>
                      </a:r>
                    </a:p>
                  </a:txBody>
                  <a:tcPr/>
                </a:tc>
                <a:extLst>
                  <a:ext uri="{0D108BD9-81ED-4DB2-BD59-A6C34878D82A}">
                    <a16:rowId xmlns:a16="http://schemas.microsoft.com/office/drawing/2014/main" val="1821861321"/>
                  </a:ext>
                </a:extLst>
              </a:tr>
              <a:tr h="370840">
                <a:tc>
                  <a:txBody>
                    <a:bodyPr/>
                    <a:lstStyle/>
                    <a:p>
                      <a:r>
                        <a:rPr lang="en-US" dirty="0"/>
                        <a:t>Net </a:t>
                      </a:r>
                      <a:r>
                        <a:rPr lang="en-US" b="1" dirty="0"/>
                        <a:t>return</a:t>
                      </a:r>
                      <a:r>
                        <a:rPr lang="en-US" dirty="0"/>
                        <a:t> of investment</a:t>
                      </a:r>
                    </a:p>
                  </a:txBody>
                  <a:tcPr/>
                </a:tc>
                <a:tc>
                  <a:txBody>
                    <a:bodyPr/>
                    <a:lstStyle/>
                    <a:p>
                      <a:r>
                        <a:rPr lang="en-US" b="1" dirty="0">
                          <a:solidFill>
                            <a:srgbClr val="FF0000"/>
                          </a:solidFill>
                        </a:rPr>
                        <a:t>6.33%</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=[(BBSW-0.5%)-BBSW+6.83%]</a:t>
                      </a:r>
                    </a:p>
                  </a:txBody>
                  <a:tcPr/>
                </a:tc>
                <a:extLst>
                  <a:ext uri="{0D108BD9-81ED-4DB2-BD59-A6C34878D82A}">
                    <a16:rowId xmlns:a16="http://schemas.microsoft.com/office/drawing/2014/main" val="4073212660"/>
                  </a:ext>
                </a:extLst>
              </a:tr>
            </a:tbl>
          </a:graphicData>
        </a:graphic>
      </p:graphicFrame>
      <p:cxnSp>
        <p:nvCxnSpPr>
          <p:cNvPr id="8" name="Straight Connector 7">
            <a:extLst>
              <a:ext uri="{FF2B5EF4-FFF2-40B4-BE49-F238E27FC236}">
                <a16:creationId xmlns:a16="http://schemas.microsoft.com/office/drawing/2014/main" id="{3F2B0657-A9BF-2125-B81B-F73E0CC8182C}"/>
              </a:ext>
            </a:extLst>
          </p:cNvPr>
          <p:cNvCxnSpPr/>
          <p:nvPr/>
        </p:nvCxnSpPr>
        <p:spPr>
          <a:xfrm>
            <a:off x="6805914" y="5602147"/>
            <a:ext cx="555585" cy="343626"/>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4913BBE5-7004-4F93-D022-BCD2D3CC975F}"/>
              </a:ext>
            </a:extLst>
          </p:cNvPr>
          <p:cNvCxnSpPr/>
          <p:nvPr/>
        </p:nvCxnSpPr>
        <p:spPr>
          <a:xfrm>
            <a:off x="8070572" y="5602147"/>
            <a:ext cx="555585" cy="343626"/>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10" name="Date Placeholder 9">
            <a:extLst>
              <a:ext uri="{FF2B5EF4-FFF2-40B4-BE49-F238E27FC236}">
                <a16:creationId xmlns:a16="http://schemas.microsoft.com/office/drawing/2014/main" id="{5EE08797-01AF-543C-C3B8-A3F392BE65DA}"/>
              </a:ext>
            </a:extLst>
          </p:cNvPr>
          <p:cNvSpPr>
            <a:spLocks noGrp="1"/>
          </p:cNvSpPr>
          <p:nvPr>
            <p:ph type="dt" sz="half" idx="10"/>
          </p:nvPr>
        </p:nvSpPr>
        <p:spPr/>
        <p:txBody>
          <a:bodyPr/>
          <a:lstStyle/>
          <a:p>
            <a:fld id="{3947F2DD-84DF-A149-AF1F-E0D4E30393B5}" type="datetime1">
              <a:rPr lang="en-AU" smtClean="0"/>
              <a:t>28/8/2026</a:t>
            </a:fld>
            <a:endParaRPr lang="en-US"/>
          </a:p>
        </p:txBody>
      </p:sp>
      <p:sp>
        <p:nvSpPr>
          <p:cNvPr id="11" name="Footer Placeholder 10">
            <a:extLst>
              <a:ext uri="{FF2B5EF4-FFF2-40B4-BE49-F238E27FC236}">
                <a16:creationId xmlns:a16="http://schemas.microsoft.com/office/drawing/2014/main" id="{930AE371-0C49-F99F-7F95-AF2454EBFDF7}"/>
              </a:ext>
            </a:extLst>
          </p:cNvPr>
          <p:cNvSpPr>
            <a:spLocks noGrp="1"/>
          </p:cNvSpPr>
          <p:nvPr>
            <p:ph type="ftr" sz="quarter" idx="11"/>
          </p:nvPr>
        </p:nvSpPr>
        <p:spPr/>
        <p:txBody>
          <a:bodyPr/>
          <a:lstStyle/>
          <a:p>
            <a:r>
              <a:rPr lang="en-US"/>
              <a:t>FINA2204 - Tutorial 5</a:t>
            </a:r>
          </a:p>
        </p:txBody>
      </p:sp>
      <p:sp>
        <p:nvSpPr>
          <p:cNvPr id="12" name="Slide Number Placeholder 11">
            <a:extLst>
              <a:ext uri="{FF2B5EF4-FFF2-40B4-BE49-F238E27FC236}">
                <a16:creationId xmlns:a16="http://schemas.microsoft.com/office/drawing/2014/main" id="{9DD2F064-E64E-53B3-2120-5FED428767CE}"/>
              </a:ext>
            </a:extLst>
          </p:cNvPr>
          <p:cNvSpPr>
            <a:spLocks noGrp="1"/>
          </p:cNvSpPr>
          <p:nvPr>
            <p:ph type="sldNum" sz="quarter" idx="12"/>
          </p:nvPr>
        </p:nvSpPr>
        <p:spPr/>
        <p:txBody>
          <a:bodyPr/>
          <a:lstStyle/>
          <a:p>
            <a:fld id="{9855740F-6ECD-274F-B089-6B266B6B07F9}" type="slidenum">
              <a:rPr lang="en-US" smtClean="0"/>
              <a:t>22</a:t>
            </a:fld>
            <a:endParaRPr lang="en-US"/>
          </a:p>
        </p:txBody>
      </p:sp>
    </p:spTree>
    <p:extLst>
      <p:ext uri="{BB962C8B-B14F-4D97-AF65-F5344CB8AC3E}">
        <p14:creationId xmlns:p14="http://schemas.microsoft.com/office/powerpoint/2010/main" val="375431356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88418-8B28-9607-691A-537620E6DB3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57F0D55-7595-F707-507B-5A64BBF8A9AC}"/>
              </a:ext>
            </a:extLst>
          </p:cNvPr>
          <p:cNvSpPr>
            <a:spLocks noGrp="1"/>
          </p:cNvSpPr>
          <p:nvPr>
            <p:ph type="title"/>
          </p:nvPr>
        </p:nvSpPr>
        <p:spPr/>
        <p:txBody>
          <a:bodyPr/>
          <a:lstStyle/>
          <a:p>
            <a:r>
              <a:rPr lang="en-US" dirty="0"/>
              <a:t>Recap: Bank lending rates </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9A56919-2B8D-8E86-F7AF-647D2DF51F04}"/>
                  </a:ext>
                </a:extLst>
              </p:cNvPr>
              <p:cNvSpPr>
                <a:spLocks noGrp="1"/>
              </p:cNvSpPr>
              <p:nvPr>
                <p:ph idx="1"/>
              </p:nvPr>
            </p:nvSpPr>
            <p:spPr/>
            <p:txBody>
              <a:bodyPr>
                <a:normAutofit/>
              </a:bodyPr>
              <a:lstStyle/>
              <a:p>
                <a:pPr marL="0" indent="0">
                  <a:buNone/>
                </a:pPr>
                <a:r>
                  <a:rPr lang="en-AU" b="1" dirty="0"/>
                  <a:t>Why banks use swaps when lending fixed-rate loans?</a:t>
                </a:r>
              </a:p>
              <a:p>
                <a:r>
                  <a:rPr lang="en-AU" dirty="0"/>
                  <a:t>Banks usually fund themselves at floating rates (e.g., BBSW).</a:t>
                </a:r>
              </a:p>
              <a:p>
                <a:r>
                  <a:rPr lang="en-AU" dirty="0"/>
                  <a:t>But they lend at fixed rate (e.g., long-term fixed mortgages), their cost (floating) and income (fixed) don’t match </a:t>
                </a:r>
              </a:p>
              <a:p>
                <a:pPr marL="0" indent="0">
                  <a:buNone/>
                </a:pPr>
                <a14:m>
                  <m:oMathPara xmlns:m="http://schemas.openxmlformats.org/officeDocument/2006/math">
                    <m:oMathParaPr>
                      <m:jc m:val="centerGroup"/>
                    </m:oMathParaPr>
                    <m:oMath xmlns:m="http://schemas.openxmlformats.org/officeDocument/2006/math">
                      <m:r>
                        <a:rPr lang="en-AU" b="0" i="1" dirty="0" smtClean="0">
                          <a:latin typeface="Cambria Math" panose="02040503050406030204" pitchFamily="18" charset="0"/>
                        </a:rPr>
                        <m:t>𝑀</m:t>
                      </m:r>
                      <m:r>
                        <a:rPr lang="en-AU" i="1" dirty="0" smtClean="0">
                          <a:latin typeface="Cambria Math" panose="02040503050406030204" pitchFamily="18" charset="0"/>
                        </a:rPr>
                        <m:t>𝑖𝑠𝑚𝑎𝑡𝑐h</m:t>
                      </m:r>
                      <m:r>
                        <a:rPr lang="en-AU" i="1" dirty="0" smtClean="0">
                          <a:latin typeface="Cambria Math" panose="02040503050406030204" pitchFamily="18" charset="0"/>
                        </a:rPr>
                        <m:t>→ </m:t>
                      </m:r>
                      <m:r>
                        <a:rPr lang="en-AU" b="0" i="1" dirty="0" smtClean="0">
                          <a:latin typeface="Cambria Math" panose="02040503050406030204" pitchFamily="18" charset="0"/>
                        </a:rPr>
                        <m:t>𝐼</m:t>
                      </m:r>
                      <m:r>
                        <a:rPr lang="en-AU" i="1" dirty="0">
                          <a:latin typeface="Cambria Math" panose="02040503050406030204" pitchFamily="18" charset="0"/>
                        </a:rPr>
                        <m:t>𝑛𝑡𝑒𝑟𝑒𝑠𝑡</m:t>
                      </m:r>
                      <m:r>
                        <a:rPr lang="en-AU" i="1" dirty="0">
                          <a:latin typeface="Cambria Math" panose="02040503050406030204" pitchFamily="18" charset="0"/>
                        </a:rPr>
                        <m:t> </m:t>
                      </m:r>
                      <m:r>
                        <a:rPr lang="en-AU" i="1" dirty="0">
                          <a:latin typeface="Cambria Math" panose="02040503050406030204" pitchFamily="18" charset="0"/>
                        </a:rPr>
                        <m:t>𝑟𝑎𝑡𝑒</m:t>
                      </m:r>
                      <m:r>
                        <a:rPr lang="en-AU" i="1" dirty="0">
                          <a:latin typeface="Cambria Math" panose="02040503050406030204" pitchFamily="18" charset="0"/>
                        </a:rPr>
                        <m:t> </m:t>
                      </m:r>
                      <m:r>
                        <a:rPr lang="en-AU" i="1" dirty="0">
                          <a:latin typeface="Cambria Math" panose="02040503050406030204" pitchFamily="18" charset="0"/>
                        </a:rPr>
                        <m:t>𝑟𝑖𝑠𝑘</m:t>
                      </m:r>
                    </m:oMath>
                  </m:oMathPara>
                </a14:m>
                <a:endParaRPr lang="en-AU" dirty="0"/>
              </a:p>
              <a:p>
                <a:r>
                  <a:rPr lang="en-AU" dirty="0"/>
                  <a:t>By entering a swap (pay fixed, receive floating), banks convert their floating funding into fixed, so assets and liabilities are aligned.</a:t>
                </a:r>
              </a:p>
              <a:p>
                <a:endParaRPr lang="en-US" dirty="0"/>
              </a:p>
            </p:txBody>
          </p:sp>
        </mc:Choice>
        <mc:Fallback xmlns="">
          <p:sp>
            <p:nvSpPr>
              <p:cNvPr id="3" name="Content Placeholder 2">
                <a:extLst>
                  <a:ext uri="{FF2B5EF4-FFF2-40B4-BE49-F238E27FC236}">
                    <a16:creationId xmlns:a16="http://schemas.microsoft.com/office/drawing/2014/main" id="{C9A56919-2B8D-8E86-F7AF-647D2DF51F04}"/>
                  </a:ext>
                </a:extLst>
              </p:cNvPr>
              <p:cNvSpPr>
                <a:spLocks noGrp="1" noRot="1" noChangeAspect="1" noMove="1" noResize="1" noEditPoints="1" noAdjustHandles="1" noChangeArrowheads="1" noChangeShapeType="1" noTextEdit="1"/>
              </p:cNvSpPr>
              <p:nvPr>
                <p:ph idx="1"/>
              </p:nvPr>
            </p:nvSpPr>
            <p:spPr>
              <a:blipFill>
                <a:blip r:embed="rId3"/>
                <a:stretch>
                  <a:fillRect l="-1206" t="-2326" r="-1689"/>
                </a:stretch>
              </a:blipFill>
            </p:spPr>
            <p:txBody>
              <a:bodyPr/>
              <a:lstStyle/>
              <a:p>
                <a:r>
                  <a:rPr lang="en-US">
                    <a:noFill/>
                  </a:rPr>
                  <a:t> </a:t>
                </a:r>
              </a:p>
            </p:txBody>
          </p:sp>
        </mc:Fallback>
      </mc:AlternateContent>
      <p:sp>
        <p:nvSpPr>
          <p:cNvPr id="4" name="Date Placeholder 3">
            <a:extLst>
              <a:ext uri="{FF2B5EF4-FFF2-40B4-BE49-F238E27FC236}">
                <a16:creationId xmlns:a16="http://schemas.microsoft.com/office/drawing/2014/main" id="{5C79B9F7-A96C-48FE-281D-F7E2FE86BBBB}"/>
              </a:ext>
            </a:extLst>
          </p:cNvPr>
          <p:cNvSpPr>
            <a:spLocks noGrp="1"/>
          </p:cNvSpPr>
          <p:nvPr>
            <p:ph type="dt" sz="half" idx="10"/>
          </p:nvPr>
        </p:nvSpPr>
        <p:spPr/>
        <p:txBody>
          <a:bodyPr/>
          <a:lstStyle/>
          <a:p>
            <a:fld id="{483C74C8-B2F3-2041-8DE9-A70D811B1F22}" type="datetime1">
              <a:rPr lang="en-AU" smtClean="0"/>
              <a:t>28/8/2026</a:t>
            </a:fld>
            <a:endParaRPr lang="en-US"/>
          </a:p>
        </p:txBody>
      </p:sp>
      <p:sp>
        <p:nvSpPr>
          <p:cNvPr id="5" name="Footer Placeholder 4">
            <a:extLst>
              <a:ext uri="{FF2B5EF4-FFF2-40B4-BE49-F238E27FC236}">
                <a16:creationId xmlns:a16="http://schemas.microsoft.com/office/drawing/2014/main" id="{71B7131F-CD8E-7D25-DE12-7EBA9BE2F703}"/>
              </a:ext>
            </a:extLst>
          </p:cNvPr>
          <p:cNvSpPr>
            <a:spLocks noGrp="1"/>
          </p:cNvSpPr>
          <p:nvPr>
            <p:ph type="ftr" sz="quarter" idx="11"/>
          </p:nvPr>
        </p:nvSpPr>
        <p:spPr/>
        <p:txBody>
          <a:bodyPr/>
          <a:lstStyle/>
          <a:p>
            <a:r>
              <a:rPr lang="en-US"/>
              <a:t>FINA2204 - Tutorial 5</a:t>
            </a:r>
          </a:p>
        </p:txBody>
      </p:sp>
      <p:sp>
        <p:nvSpPr>
          <p:cNvPr id="6" name="Slide Number Placeholder 5">
            <a:extLst>
              <a:ext uri="{FF2B5EF4-FFF2-40B4-BE49-F238E27FC236}">
                <a16:creationId xmlns:a16="http://schemas.microsoft.com/office/drawing/2014/main" id="{1A066870-ACB0-296F-7AB1-C6EB53A8D4E2}"/>
              </a:ext>
            </a:extLst>
          </p:cNvPr>
          <p:cNvSpPr>
            <a:spLocks noGrp="1"/>
          </p:cNvSpPr>
          <p:nvPr>
            <p:ph type="sldNum" sz="quarter" idx="12"/>
          </p:nvPr>
        </p:nvSpPr>
        <p:spPr/>
        <p:txBody>
          <a:bodyPr/>
          <a:lstStyle/>
          <a:p>
            <a:fld id="{9855740F-6ECD-274F-B089-6B266B6B07F9}" type="slidenum">
              <a:rPr lang="en-US" smtClean="0"/>
              <a:t>23</a:t>
            </a:fld>
            <a:endParaRPr lang="en-US"/>
          </a:p>
        </p:txBody>
      </p:sp>
    </p:spTree>
    <p:extLst>
      <p:ext uri="{BB962C8B-B14F-4D97-AF65-F5344CB8AC3E}">
        <p14:creationId xmlns:p14="http://schemas.microsoft.com/office/powerpoint/2010/main" val="161437176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F130DE-0A28-2E96-A1D8-DBA0F08266CB}"/>
              </a:ext>
            </a:extLst>
          </p:cNvPr>
          <p:cNvSpPr>
            <a:spLocks noGrp="1"/>
          </p:cNvSpPr>
          <p:nvPr>
            <p:ph type="title"/>
          </p:nvPr>
        </p:nvSpPr>
        <p:spPr/>
        <p:txBody>
          <a:bodyPr/>
          <a:lstStyle/>
          <a:p>
            <a:r>
              <a:rPr lang="en-US" dirty="0"/>
              <a:t>Recap: Bank lending rates </a:t>
            </a:r>
          </a:p>
        </p:txBody>
      </p:sp>
      <p:pic>
        <p:nvPicPr>
          <p:cNvPr id="5" name="Content Placeholder 4" descr="A diagram of a bank&#10;&#10;AI-generated content may be incorrect.">
            <a:extLst>
              <a:ext uri="{FF2B5EF4-FFF2-40B4-BE49-F238E27FC236}">
                <a16:creationId xmlns:a16="http://schemas.microsoft.com/office/drawing/2014/main" id="{CBAF7975-BA8A-8DFD-9DEA-7750FC9B4D3D}"/>
              </a:ext>
            </a:extLst>
          </p:cNvPr>
          <p:cNvPicPr>
            <a:picLocks noGrp="1" noChangeAspect="1"/>
          </p:cNvPicPr>
          <p:nvPr>
            <p:ph idx="1"/>
          </p:nvPr>
        </p:nvPicPr>
        <p:blipFill>
          <a:blip r:embed="rId3"/>
          <a:stretch>
            <a:fillRect/>
          </a:stretch>
        </p:blipFill>
        <p:spPr>
          <a:xfrm>
            <a:off x="952032" y="1690688"/>
            <a:ext cx="10287935" cy="4377531"/>
          </a:xfrm>
        </p:spPr>
      </p:pic>
      <p:sp>
        <p:nvSpPr>
          <p:cNvPr id="4" name="Rectangle 3">
            <a:extLst>
              <a:ext uri="{FF2B5EF4-FFF2-40B4-BE49-F238E27FC236}">
                <a16:creationId xmlns:a16="http://schemas.microsoft.com/office/drawing/2014/main" id="{8FE47254-F7FF-0F5D-01FA-E1EA826A9392}"/>
              </a:ext>
            </a:extLst>
          </p:cNvPr>
          <p:cNvSpPr/>
          <p:nvPr/>
        </p:nvSpPr>
        <p:spPr>
          <a:xfrm>
            <a:off x="4548851" y="1585732"/>
            <a:ext cx="4768769" cy="3078865"/>
          </a:xfrm>
          <a:prstGeom prst="rect">
            <a:avLst/>
          </a:prstGeom>
          <a:no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0C3141CB-4CFF-511E-E9A6-C7637349CC0D}"/>
                  </a:ext>
                </a:extLst>
              </p:cNvPr>
              <p:cNvSpPr txBox="1"/>
              <p:nvPr/>
            </p:nvSpPr>
            <p:spPr>
              <a:xfrm>
                <a:off x="7176304" y="979256"/>
                <a:ext cx="356700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b="1" i="1" dirty="0" smtClean="0">
                          <a:solidFill>
                            <a:srgbClr val="0070C0"/>
                          </a:solidFill>
                          <a:latin typeface="Cambria Math" panose="02040503050406030204" pitchFamily="18" charset="0"/>
                        </a:rPr>
                        <m:t>𝑵𝒆𝒕</m:t>
                      </m:r>
                      <m:r>
                        <a:rPr lang="en-US" altLang="zh-CN" b="1" i="1" dirty="0" smtClean="0">
                          <a:solidFill>
                            <a:srgbClr val="0070C0"/>
                          </a:solidFill>
                          <a:latin typeface="Cambria Math" panose="02040503050406030204" pitchFamily="18" charset="0"/>
                        </a:rPr>
                        <m:t> </m:t>
                      </m:r>
                      <m:r>
                        <a:rPr lang="en-US" altLang="zh-CN" b="1" i="1" dirty="0" smtClean="0">
                          <a:solidFill>
                            <a:srgbClr val="0070C0"/>
                          </a:solidFill>
                          <a:latin typeface="Cambria Math" panose="02040503050406030204" pitchFamily="18" charset="0"/>
                        </a:rPr>
                        <m:t>𝒎𝒂𝒓𝒈𝒊𝒏</m:t>
                      </m:r>
                      <m:r>
                        <a:rPr lang="en-US" altLang="zh-CN" b="1" i="1" dirty="0" smtClean="0">
                          <a:solidFill>
                            <a:srgbClr val="0070C0"/>
                          </a:solidFill>
                          <a:latin typeface="Cambria Math" panose="02040503050406030204" pitchFamily="18" charset="0"/>
                        </a:rPr>
                        <m:t>=</m:t>
                      </m:r>
                      <m:r>
                        <a:rPr lang="en-AU" altLang="zh-CN" b="1" i="1" dirty="0" smtClean="0">
                          <a:solidFill>
                            <a:srgbClr val="0070C0"/>
                          </a:solidFill>
                          <a:latin typeface="Cambria Math" panose="02040503050406030204" pitchFamily="18" charset="0"/>
                        </a:rPr>
                        <m:t>𝟔</m:t>
                      </m:r>
                      <m:r>
                        <a:rPr lang="en-AU" altLang="zh-CN" b="1" i="1" dirty="0" smtClean="0">
                          <a:solidFill>
                            <a:srgbClr val="0070C0"/>
                          </a:solidFill>
                          <a:latin typeface="Cambria Math" panose="02040503050406030204" pitchFamily="18" charset="0"/>
                        </a:rPr>
                        <m:t>%−</m:t>
                      </m:r>
                      <m:r>
                        <a:rPr lang="en-AU" altLang="zh-CN" b="1" i="1" dirty="0" smtClean="0">
                          <a:solidFill>
                            <a:srgbClr val="0070C0"/>
                          </a:solidFill>
                          <a:latin typeface="Cambria Math" panose="02040503050406030204" pitchFamily="18" charset="0"/>
                        </a:rPr>
                        <m:t>𝟑</m:t>
                      </m:r>
                      <m:r>
                        <a:rPr lang="en-AU" altLang="zh-CN" b="1" i="1" dirty="0" smtClean="0">
                          <a:solidFill>
                            <a:srgbClr val="0070C0"/>
                          </a:solidFill>
                          <a:latin typeface="Cambria Math" panose="02040503050406030204" pitchFamily="18" charset="0"/>
                        </a:rPr>
                        <m:t>𝒎</m:t>
                      </m:r>
                      <m:r>
                        <a:rPr lang="en-AU" altLang="zh-CN" b="1" i="1" dirty="0" smtClean="0">
                          <a:solidFill>
                            <a:srgbClr val="0070C0"/>
                          </a:solidFill>
                          <a:latin typeface="Cambria Math" panose="02040503050406030204" pitchFamily="18" charset="0"/>
                        </a:rPr>
                        <m:t> </m:t>
                      </m:r>
                      <m:r>
                        <a:rPr lang="en-AU" altLang="zh-CN" b="1" i="1" dirty="0" smtClean="0">
                          <a:solidFill>
                            <a:srgbClr val="0070C0"/>
                          </a:solidFill>
                          <a:latin typeface="Cambria Math" panose="02040503050406030204" pitchFamily="18" charset="0"/>
                        </a:rPr>
                        <m:t>𝑩𝑩𝑺𝑾</m:t>
                      </m:r>
                    </m:oMath>
                  </m:oMathPara>
                </a14:m>
                <a:endParaRPr lang="en-US" b="1" dirty="0">
                  <a:solidFill>
                    <a:srgbClr val="0070C0"/>
                  </a:solidFill>
                </a:endParaRPr>
              </a:p>
            </p:txBody>
          </p:sp>
        </mc:Choice>
        <mc:Fallback xmlns="">
          <p:sp>
            <p:nvSpPr>
              <p:cNvPr id="6" name="TextBox 5">
                <a:extLst>
                  <a:ext uri="{FF2B5EF4-FFF2-40B4-BE49-F238E27FC236}">
                    <a16:creationId xmlns:a16="http://schemas.microsoft.com/office/drawing/2014/main" id="{0C3141CB-4CFF-511E-E9A6-C7637349CC0D}"/>
                  </a:ext>
                </a:extLst>
              </p:cNvPr>
              <p:cNvSpPr txBox="1">
                <a:spLocks noRot="1" noChangeAspect="1" noMove="1" noResize="1" noEditPoints="1" noAdjustHandles="1" noChangeArrowheads="1" noChangeShapeType="1" noTextEdit="1"/>
              </p:cNvSpPr>
              <p:nvPr/>
            </p:nvSpPr>
            <p:spPr>
              <a:xfrm>
                <a:off x="7176304" y="979256"/>
                <a:ext cx="3567002" cy="369332"/>
              </a:xfrm>
              <a:prstGeom prst="rect">
                <a:avLst/>
              </a:prstGeom>
              <a:blipFill>
                <a:blip r:embed="rId4"/>
                <a:stretch>
                  <a:fillRect b="-13333"/>
                </a:stretch>
              </a:blipFill>
            </p:spPr>
            <p:txBody>
              <a:bodyPr/>
              <a:lstStyle/>
              <a:p>
                <a:r>
                  <a:rPr lang="en-US">
                    <a:noFill/>
                  </a:rPr>
                  <a:t> </a:t>
                </a:r>
              </a:p>
            </p:txBody>
          </p:sp>
        </mc:Fallback>
      </mc:AlternateContent>
      <p:sp>
        <p:nvSpPr>
          <p:cNvPr id="7" name="Oval 6">
            <a:extLst>
              <a:ext uri="{FF2B5EF4-FFF2-40B4-BE49-F238E27FC236}">
                <a16:creationId xmlns:a16="http://schemas.microsoft.com/office/drawing/2014/main" id="{A265A3DF-AEE1-DCD1-A36F-4960BE0B2B6E}"/>
              </a:ext>
            </a:extLst>
          </p:cNvPr>
          <p:cNvSpPr/>
          <p:nvPr/>
        </p:nvSpPr>
        <p:spPr>
          <a:xfrm>
            <a:off x="1944547" y="1690687"/>
            <a:ext cx="4676172" cy="1411327"/>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Straight Connector 8">
            <a:extLst>
              <a:ext uri="{FF2B5EF4-FFF2-40B4-BE49-F238E27FC236}">
                <a16:creationId xmlns:a16="http://schemas.microsoft.com/office/drawing/2014/main" id="{36DA75CA-A30A-116F-70FE-D9EB282BE6EB}"/>
              </a:ext>
            </a:extLst>
          </p:cNvPr>
          <p:cNvCxnSpPr/>
          <p:nvPr/>
        </p:nvCxnSpPr>
        <p:spPr>
          <a:xfrm>
            <a:off x="5451676" y="4664597"/>
            <a:ext cx="1435261" cy="648183"/>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EF4684A0-125F-F8A8-6C1E-FEAB804352CA}"/>
              </a:ext>
            </a:extLst>
          </p:cNvPr>
          <p:cNvCxnSpPr/>
          <p:nvPr/>
        </p:nvCxnSpPr>
        <p:spPr>
          <a:xfrm>
            <a:off x="7176304" y="4664596"/>
            <a:ext cx="1435261" cy="648183"/>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13" name="Date Placeholder 12">
            <a:extLst>
              <a:ext uri="{FF2B5EF4-FFF2-40B4-BE49-F238E27FC236}">
                <a16:creationId xmlns:a16="http://schemas.microsoft.com/office/drawing/2014/main" id="{29222197-60DA-71C8-4659-011D254175BE}"/>
              </a:ext>
            </a:extLst>
          </p:cNvPr>
          <p:cNvSpPr>
            <a:spLocks noGrp="1"/>
          </p:cNvSpPr>
          <p:nvPr>
            <p:ph type="dt" sz="half" idx="10"/>
          </p:nvPr>
        </p:nvSpPr>
        <p:spPr/>
        <p:txBody>
          <a:bodyPr/>
          <a:lstStyle/>
          <a:p>
            <a:fld id="{BA367B49-C99B-314F-8E05-4BB4C0BA5B58}" type="datetime1">
              <a:rPr lang="en-AU" smtClean="0"/>
              <a:t>28/8/2026</a:t>
            </a:fld>
            <a:endParaRPr lang="en-US"/>
          </a:p>
        </p:txBody>
      </p:sp>
      <p:sp>
        <p:nvSpPr>
          <p:cNvPr id="14" name="Footer Placeholder 13">
            <a:extLst>
              <a:ext uri="{FF2B5EF4-FFF2-40B4-BE49-F238E27FC236}">
                <a16:creationId xmlns:a16="http://schemas.microsoft.com/office/drawing/2014/main" id="{D87950F7-5AEF-8811-670C-0636929344DF}"/>
              </a:ext>
            </a:extLst>
          </p:cNvPr>
          <p:cNvSpPr>
            <a:spLocks noGrp="1"/>
          </p:cNvSpPr>
          <p:nvPr>
            <p:ph type="ftr" sz="quarter" idx="11"/>
          </p:nvPr>
        </p:nvSpPr>
        <p:spPr/>
        <p:txBody>
          <a:bodyPr/>
          <a:lstStyle/>
          <a:p>
            <a:r>
              <a:rPr lang="en-US"/>
              <a:t>FINA2204 - Tutorial 5</a:t>
            </a:r>
          </a:p>
        </p:txBody>
      </p:sp>
      <p:sp>
        <p:nvSpPr>
          <p:cNvPr id="15" name="Slide Number Placeholder 14">
            <a:extLst>
              <a:ext uri="{FF2B5EF4-FFF2-40B4-BE49-F238E27FC236}">
                <a16:creationId xmlns:a16="http://schemas.microsoft.com/office/drawing/2014/main" id="{AC191420-6AE9-059E-17E8-A21A43F5BC7C}"/>
              </a:ext>
            </a:extLst>
          </p:cNvPr>
          <p:cNvSpPr>
            <a:spLocks noGrp="1"/>
          </p:cNvSpPr>
          <p:nvPr>
            <p:ph type="sldNum" sz="quarter" idx="12"/>
          </p:nvPr>
        </p:nvSpPr>
        <p:spPr/>
        <p:txBody>
          <a:bodyPr/>
          <a:lstStyle/>
          <a:p>
            <a:fld id="{9855740F-6ECD-274F-B089-6B266B6B07F9}" type="slidenum">
              <a:rPr lang="en-US" smtClean="0"/>
              <a:t>24</a:t>
            </a:fld>
            <a:endParaRPr lang="en-US"/>
          </a:p>
        </p:txBody>
      </p:sp>
    </p:spTree>
    <p:extLst>
      <p:ext uri="{BB962C8B-B14F-4D97-AF65-F5344CB8AC3E}">
        <p14:creationId xmlns:p14="http://schemas.microsoft.com/office/powerpoint/2010/main" val="12868741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p:bldP spid="7"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E4AF8D-7013-D6CD-CBA9-5A13BBD4B43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EDB84CB-329B-21DC-3826-1CA3D8F8AE13}"/>
              </a:ext>
            </a:extLst>
          </p:cNvPr>
          <p:cNvSpPr>
            <a:spLocks noGrp="1"/>
          </p:cNvSpPr>
          <p:nvPr>
            <p:ph type="title"/>
          </p:nvPr>
        </p:nvSpPr>
        <p:spPr/>
        <p:txBody>
          <a:bodyPr/>
          <a:lstStyle/>
          <a:p>
            <a:r>
              <a:rPr lang="en-US" dirty="0"/>
              <a:t>Problem 7.16</a:t>
            </a:r>
          </a:p>
        </p:txBody>
      </p:sp>
      <p:sp>
        <p:nvSpPr>
          <p:cNvPr id="3" name="Content Placeholder 2">
            <a:extLst>
              <a:ext uri="{FF2B5EF4-FFF2-40B4-BE49-F238E27FC236}">
                <a16:creationId xmlns:a16="http://schemas.microsoft.com/office/drawing/2014/main" id="{F6DD73FC-1E5F-4157-35A7-B528AFC3539A}"/>
              </a:ext>
            </a:extLst>
          </p:cNvPr>
          <p:cNvSpPr>
            <a:spLocks noGrp="1"/>
          </p:cNvSpPr>
          <p:nvPr>
            <p:ph idx="1"/>
          </p:nvPr>
        </p:nvSpPr>
        <p:spPr/>
        <p:txBody>
          <a:bodyPr/>
          <a:lstStyle/>
          <a:p>
            <a:r>
              <a:rPr lang="en-AU" i="1" dirty="0"/>
              <a:t>A bank finds that its assets are not matched with its liabilities. It is taking floating-rate deposits and making fixed-rate loans. How can swaps be used to offset the risk?</a:t>
            </a:r>
            <a:endParaRPr lang="en-AU" dirty="0"/>
          </a:p>
          <a:p>
            <a:endParaRPr lang="en-US" dirty="0"/>
          </a:p>
        </p:txBody>
      </p:sp>
      <p:sp>
        <p:nvSpPr>
          <p:cNvPr id="4" name="Date Placeholder 3">
            <a:extLst>
              <a:ext uri="{FF2B5EF4-FFF2-40B4-BE49-F238E27FC236}">
                <a16:creationId xmlns:a16="http://schemas.microsoft.com/office/drawing/2014/main" id="{721BD9AD-7879-7F6F-1C26-D685B47980D5}"/>
              </a:ext>
            </a:extLst>
          </p:cNvPr>
          <p:cNvSpPr>
            <a:spLocks noGrp="1"/>
          </p:cNvSpPr>
          <p:nvPr>
            <p:ph type="dt" sz="half" idx="10"/>
          </p:nvPr>
        </p:nvSpPr>
        <p:spPr/>
        <p:txBody>
          <a:bodyPr/>
          <a:lstStyle/>
          <a:p>
            <a:fld id="{089F3859-E75A-5743-A596-C88EB71DF075}" type="datetime1">
              <a:rPr lang="en-AU" smtClean="0"/>
              <a:t>28/8/2026</a:t>
            </a:fld>
            <a:endParaRPr lang="en-US"/>
          </a:p>
        </p:txBody>
      </p:sp>
      <p:sp>
        <p:nvSpPr>
          <p:cNvPr id="5" name="Footer Placeholder 4">
            <a:extLst>
              <a:ext uri="{FF2B5EF4-FFF2-40B4-BE49-F238E27FC236}">
                <a16:creationId xmlns:a16="http://schemas.microsoft.com/office/drawing/2014/main" id="{73B14F41-F7D9-2B05-1E1E-3261BA858BA0}"/>
              </a:ext>
            </a:extLst>
          </p:cNvPr>
          <p:cNvSpPr>
            <a:spLocks noGrp="1"/>
          </p:cNvSpPr>
          <p:nvPr>
            <p:ph type="ftr" sz="quarter" idx="11"/>
          </p:nvPr>
        </p:nvSpPr>
        <p:spPr/>
        <p:txBody>
          <a:bodyPr/>
          <a:lstStyle/>
          <a:p>
            <a:r>
              <a:rPr lang="en-US"/>
              <a:t>FINA2204 - Tutorial 5</a:t>
            </a:r>
          </a:p>
        </p:txBody>
      </p:sp>
      <p:sp>
        <p:nvSpPr>
          <p:cNvPr id="6" name="Slide Number Placeholder 5">
            <a:extLst>
              <a:ext uri="{FF2B5EF4-FFF2-40B4-BE49-F238E27FC236}">
                <a16:creationId xmlns:a16="http://schemas.microsoft.com/office/drawing/2014/main" id="{70D0AAC1-1585-7F71-9811-6373C3A0CB23}"/>
              </a:ext>
            </a:extLst>
          </p:cNvPr>
          <p:cNvSpPr>
            <a:spLocks noGrp="1"/>
          </p:cNvSpPr>
          <p:nvPr>
            <p:ph type="sldNum" sz="quarter" idx="12"/>
          </p:nvPr>
        </p:nvSpPr>
        <p:spPr/>
        <p:txBody>
          <a:bodyPr/>
          <a:lstStyle/>
          <a:p>
            <a:fld id="{9855740F-6ECD-274F-B089-6B266B6B07F9}" type="slidenum">
              <a:rPr lang="en-US" smtClean="0"/>
              <a:t>25</a:t>
            </a:fld>
            <a:endParaRPr lang="en-US"/>
          </a:p>
        </p:txBody>
      </p:sp>
    </p:spTree>
    <p:extLst>
      <p:ext uri="{BB962C8B-B14F-4D97-AF65-F5344CB8AC3E}">
        <p14:creationId xmlns:p14="http://schemas.microsoft.com/office/powerpoint/2010/main" val="276863979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A8E732-30BA-BC27-9E3C-AE868D694A7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1DFD9F9-A513-8B2E-DE46-ACBD79CF3ACF}"/>
              </a:ext>
            </a:extLst>
          </p:cNvPr>
          <p:cNvSpPr>
            <a:spLocks noGrp="1"/>
          </p:cNvSpPr>
          <p:nvPr>
            <p:ph type="title"/>
          </p:nvPr>
        </p:nvSpPr>
        <p:spPr/>
        <p:txBody>
          <a:bodyPr/>
          <a:lstStyle/>
          <a:p>
            <a:r>
              <a:rPr lang="en-US" dirty="0"/>
              <a:t>Answer 7.16</a:t>
            </a:r>
          </a:p>
        </p:txBody>
      </p:sp>
      <p:sp>
        <p:nvSpPr>
          <p:cNvPr id="3" name="Content Placeholder 2">
            <a:extLst>
              <a:ext uri="{FF2B5EF4-FFF2-40B4-BE49-F238E27FC236}">
                <a16:creationId xmlns:a16="http://schemas.microsoft.com/office/drawing/2014/main" id="{803195E4-F342-FCDB-3601-0D509CA21886}"/>
              </a:ext>
            </a:extLst>
          </p:cNvPr>
          <p:cNvSpPr>
            <a:spLocks noGrp="1"/>
          </p:cNvSpPr>
          <p:nvPr>
            <p:ph idx="1"/>
          </p:nvPr>
        </p:nvSpPr>
        <p:spPr/>
        <p:txBody>
          <a:bodyPr/>
          <a:lstStyle/>
          <a:p>
            <a:r>
              <a:rPr lang="en-AU" dirty="0"/>
              <a:t>The bank is paying a floating-rate on the deposits and receiving a fixed-rate on the loans. </a:t>
            </a:r>
          </a:p>
          <a:p>
            <a:r>
              <a:rPr lang="en-AU" dirty="0"/>
              <a:t>It can offset its risk by entering into interest rate swaps (with other financial institutions or corporations) in which it contracts to</a:t>
            </a:r>
            <a:r>
              <a:rPr lang="en-AU" b="1" dirty="0">
                <a:solidFill>
                  <a:srgbClr val="FF0000"/>
                </a:solidFill>
              </a:rPr>
              <a:t> pay fixed and receive floating</a:t>
            </a:r>
            <a:r>
              <a:rPr lang="en-AU" dirty="0"/>
              <a:t>.</a:t>
            </a:r>
          </a:p>
          <a:p>
            <a:endParaRPr lang="en-US" dirty="0"/>
          </a:p>
        </p:txBody>
      </p:sp>
      <p:sp>
        <p:nvSpPr>
          <p:cNvPr id="4" name="Date Placeholder 3">
            <a:extLst>
              <a:ext uri="{FF2B5EF4-FFF2-40B4-BE49-F238E27FC236}">
                <a16:creationId xmlns:a16="http://schemas.microsoft.com/office/drawing/2014/main" id="{93F9F5D4-613E-AF60-3656-62B87443D6AC}"/>
              </a:ext>
            </a:extLst>
          </p:cNvPr>
          <p:cNvSpPr>
            <a:spLocks noGrp="1"/>
          </p:cNvSpPr>
          <p:nvPr>
            <p:ph type="dt" sz="half" idx="10"/>
          </p:nvPr>
        </p:nvSpPr>
        <p:spPr/>
        <p:txBody>
          <a:bodyPr/>
          <a:lstStyle/>
          <a:p>
            <a:fld id="{84C6BA06-B6D0-3D48-8129-E93D18D71AD4}" type="datetime1">
              <a:rPr lang="en-AU" smtClean="0"/>
              <a:t>28/8/2026</a:t>
            </a:fld>
            <a:endParaRPr lang="en-US"/>
          </a:p>
        </p:txBody>
      </p:sp>
      <p:sp>
        <p:nvSpPr>
          <p:cNvPr id="5" name="Footer Placeholder 4">
            <a:extLst>
              <a:ext uri="{FF2B5EF4-FFF2-40B4-BE49-F238E27FC236}">
                <a16:creationId xmlns:a16="http://schemas.microsoft.com/office/drawing/2014/main" id="{6D1720E3-C679-679F-0FDC-A5E88FAF3D82}"/>
              </a:ext>
            </a:extLst>
          </p:cNvPr>
          <p:cNvSpPr>
            <a:spLocks noGrp="1"/>
          </p:cNvSpPr>
          <p:nvPr>
            <p:ph type="ftr" sz="quarter" idx="11"/>
          </p:nvPr>
        </p:nvSpPr>
        <p:spPr/>
        <p:txBody>
          <a:bodyPr/>
          <a:lstStyle/>
          <a:p>
            <a:r>
              <a:rPr lang="en-US"/>
              <a:t>FINA2204 - Tutorial 5</a:t>
            </a:r>
          </a:p>
        </p:txBody>
      </p:sp>
      <p:sp>
        <p:nvSpPr>
          <p:cNvPr id="6" name="Slide Number Placeholder 5">
            <a:extLst>
              <a:ext uri="{FF2B5EF4-FFF2-40B4-BE49-F238E27FC236}">
                <a16:creationId xmlns:a16="http://schemas.microsoft.com/office/drawing/2014/main" id="{502B1AAB-0289-F7E2-11C3-5410148D5C12}"/>
              </a:ext>
            </a:extLst>
          </p:cNvPr>
          <p:cNvSpPr>
            <a:spLocks noGrp="1"/>
          </p:cNvSpPr>
          <p:nvPr>
            <p:ph type="sldNum" sz="quarter" idx="12"/>
          </p:nvPr>
        </p:nvSpPr>
        <p:spPr/>
        <p:txBody>
          <a:bodyPr/>
          <a:lstStyle/>
          <a:p>
            <a:fld id="{9855740F-6ECD-274F-B089-6B266B6B07F9}" type="slidenum">
              <a:rPr lang="en-US" smtClean="0"/>
              <a:t>26</a:t>
            </a:fld>
            <a:endParaRPr lang="en-US"/>
          </a:p>
        </p:txBody>
      </p:sp>
    </p:spTree>
    <p:extLst>
      <p:ext uri="{BB962C8B-B14F-4D97-AF65-F5344CB8AC3E}">
        <p14:creationId xmlns:p14="http://schemas.microsoft.com/office/powerpoint/2010/main" val="398279157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0196BD-3572-649B-61E4-51C4FCE3B75D}"/>
              </a:ext>
            </a:extLst>
          </p:cNvPr>
          <p:cNvSpPr>
            <a:spLocks noGrp="1"/>
          </p:cNvSpPr>
          <p:nvPr>
            <p:ph type="title"/>
          </p:nvPr>
        </p:nvSpPr>
        <p:spPr/>
        <p:txBody>
          <a:bodyPr/>
          <a:lstStyle/>
          <a:p>
            <a:r>
              <a:rPr lang="en-US" dirty="0"/>
              <a:t>Recap: Valuation of interest rate swaps </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C6E7897-F85F-5C1D-FE0A-98401E3FFDB1}"/>
                  </a:ext>
                </a:extLst>
              </p:cNvPr>
              <p:cNvSpPr>
                <a:spLocks noGrp="1"/>
              </p:cNvSpPr>
              <p:nvPr>
                <p:ph idx="1"/>
              </p:nvPr>
            </p:nvSpPr>
            <p:spPr/>
            <p:txBody>
              <a:bodyPr>
                <a:normAutofit lnSpcReduction="10000"/>
              </a:bodyPr>
              <a:lstStyle/>
              <a:p>
                <a:pPr marL="0" indent="0">
                  <a:buNone/>
                </a:pPr>
                <a:r>
                  <a:rPr lang="en-AU" b="1" dirty="0"/>
                  <a:t>Bond-portfolio approach</a:t>
                </a:r>
              </a:p>
              <a:p>
                <a:r>
                  <a:rPr lang="en-AU" dirty="0"/>
                  <a:t>An interest rate swap exchanges (</a:t>
                </a:r>
                <a:r>
                  <a:rPr lang="en-AU" dirty="0" err="1"/>
                  <a:t>i</a:t>
                </a:r>
                <a:r>
                  <a:rPr lang="en-AU" dirty="0"/>
                  <a:t>) a stream of fixed cash flows for (ii) a stream of floating cash flows.</a:t>
                </a:r>
              </a:p>
              <a:p>
                <a:r>
                  <a:rPr lang="en-AU" dirty="0"/>
                  <a:t>For valuation, imagine adding the </a:t>
                </a:r>
                <a:r>
                  <a:rPr lang="en-AU" b="1" dirty="0"/>
                  <a:t>same</a:t>
                </a:r>
                <a:r>
                  <a:rPr lang="en-AU" dirty="0"/>
                  <a:t> notional principal to both sides at maturity.</a:t>
                </a:r>
              </a:p>
              <a:p>
                <a:r>
                  <a:rPr lang="en-AU" dirty="0"/>
                  <a:t>The added principals cancel out, so the value of the swap is unchanged.</a:t>
                </a:r>
              </a:p>
              <a:p>
                <a:r>
                  <a:rPr lang="en-AU" dirty="0"/>
                  <a:t>The two cash-flow streams can now be viewed as:</a:t>
                </a:r>
              </a:p>
              <a:p>
                <a:pPr lvl="1"/>
                <a:r>
                  <a:rPr lang="en-AU" dirty="0"/>
                  <a:t>A fixed-rate bond, </a:t>
                </a:r>
                <a14:m>
                  <m:oMath xmlns:m="http://schemas.openxmlformats.org/officeDocument/2006/math">
                    <m:sSub>
                      <m:sSubPr>
                        <m:ctrlPr>
                          <a:rPr lang="en-AU" i="1" smtClean="0">
                            <a:latin typeface="Cambria Math" panose="02040503050406030204" pitchFamily="18" charset="0"/>
                          </a:rPr>
                        </m:ctrlPr>
                      </m:sSubPr>
                      <m:e>
                        <m:r>
                          <a:rPr lang="en-AU" b="0" i="1" smtClean="0">
                            <a:latin typeface="Cambria Math" panose="02040503050406030204" pitchFamily="18" charset="0"/>
                          </a:rPr>
                          <m:t>𝐵</m:t>
                        </m:r>
                      </m:e>
                      <m:sub>
                        <m:r>
                          <a:rPr lang="en-AU" b="0" i="1" smtClean="0">
                            <a:latin typeface="Cambria Math" panose="02040503050406030204" pitchFamily="18" charset="0"/>
                          </a:rPr>
                          <m:t>𝑓𝑖𝑥</m:t>
                        </m:r>
                      </m:sub>
                    </m:sSub>
                  </m:oMath>
                </a14:m>
                <a:r>
                  <a:rPr lang="en-AU" dirty="0"/>
                  <a:t>​</a:t>
                </a:r>
              </a:p>
              <a:p>
                <a:pPr lvl="1"/>
                <a:r>
                  <a:rPr lang="en-AU" dirty="0"/>
                  <a:t>A floating-rate bond, </a:t>
                </a:r>
                <a14:m>
                  <m:oMath xmlns:m="http://schemas.openxmlformats.org/officeDocument/2006/math">
                    <m:sSub>
                      <m:sSubPr>
                        <m:ctrlPr>
                          <a:rPr lang="en-AU" i="1" smtClean="0">
                            <a:latin typeface="Cambria Math" panose="02040503050406030204" pitchFamily="18" charset="0"/>
                          </a:rPr>
                        </m:ctrlPr>
                      </m:sSubPr>
                      <m:e>
                        <m:r>
                          <a:rPr lang="en-AU" b="0" i="1" smtClean="0">
                            <a:latin typeface="Cambria Math" panose="02040503050406030204" pitchFamily="18" charset="0"/>
                          </a:rPr>
                          <m:t>𝐵</m:t>
                        </m:r>
                      </m:e>
                      <m:sub>
                        <m:r>
                          <a:rPr lang="en-AU" b="0" i="1" smtClean="0">
                            <a:latin typeface="Cambria Math" panose="02040503050406030204" pitchFamily="18" charset="0"/>
                          </a:rPr>
                          <m:t>𝑓𝑙</m:t>
                        </m:r>
                      </m:sub>
                    </m:sSub>
                  </m:oMath>
                </a14:m>
                <a:endParaRPr lang="en-US" dirty="0"/>
              </a:p>
            </p:txBody>
          </p:sp>
        </mc:Choice>
        <mc:Fallback xmlns="">
          <p:sp>
            <p:nvSpPr>
              <p:cNvPr id="3" name="Content Placeholder 2">
                <a:extLst>
                  <a:ext uri="{FF2B5EF4-FFF2-40B4-BE49-F238E27FC236}">
                    <a16:creationId xmlns:a16="http://schemas.microsoft.com/office/drawing/2014/main" id="{8C6E7897-F85F-5C1D-FE0A-98401E3FFDB1}"/>
                  </a:ext>
                </a:extLst>
              </p:cNvPr>
              <p:cNvSpPr>
                <a:spLocks noGrp="1" noRot="1" noChangeAspect="1" noMove="1" noResize="1" noEditPoints="1" noAdjustHandles="1" noChangeArrowheads="1" noChangeShapeType="1" noTextEdit="1"/>
              </p:cNvSpPr>
              <p:nvPr>
                <p:ph idx="1"/>
              </p:nvPr>
            </p:nvSpPr>
            <p:spPr>
              <a:blipFill>
                <a:blip r:embed="rId3"/>
                <a:stretch>
                  <a:fillRect l="-1206" t="-3198" r="-1448"/>
                </a:stretch>
              </a:blipFill>
            </p:spPr>
            <p:txBody>
              <a:bodyPr/>
              <a:lstStyle/>
              <a:p>
                <a:r>
                  <a:rPr lang="en-US">
                    <a:noFill/>
                  </a:rPr>
                  <a:t> </a:t>
                </a:r>
              </a:p>
            </p:txBody>
          </p:sp>
        </mc:Fallback>
      </mc:AlternateContent>
      <p:sp>
        <p:nvSpPr>
          <p:cNvPr id="4" name="Date Placeholder 3">
            <a:extLst>
              <a:ext uri="{FF2B5EF4-FFF2-40B4-BE49-F238E27FC236}">
                <a16:creationId xmlns:a16="http://schemas.microsoft.com/office/drawing/2014/main" id="{370BA57A-7599-5AA1-D9EC-AF9461544012}"/>
              </a:ext>
            </a:extLst>
          </p:cNvPr>
          <p:cNvSpPr>
            <a:spLocks noGrp="1"/>
          </p:cNvSpPr>
          <p:nvPr>
            <p:ph type="dt" sz="half" idx="10"/>
          </p:nvPr>
        </p:nvSpPr>
        <p:spPr/>
        <p:txBody>
          <a:bodyPr/>
          <a:lstStyle/>
          <a:p>
            <a:fld id="{B0E461D4-3839-3748-8B1E-E90BB3DA99FF}" type="datetime1">
              <a:rPr lang="en-AU" smtClean="0"/>
              <a:t>28/8/2026</a:t>
            </a:fld>
            <a:endParaRPr lang="en-US"/>
          </a:p>
        </p:txBody>
      </p:sp>
      <p:sp>
        <p:nvSpPr>
          <p:cNvPr id="5" name="Footer Placeholder 4">
            <a:extLst>
              <a:ext uri="{FF2B5EF4-FFF2-40B4-BE49-F238E27FC236}">
                <a16:creationId xmlns:a16="http://schemas.microsoft.com/office/drawing/2014/main" id="{FE2FA8E4-C96A-F6AD-618C-0BADE3AAA54E}"/>
              </a:ext>
            </a:extLst>
          </p:cNvPr>
          <p:cNvSpPr>
            <a:spLocks noGrp="1"/>
          </p:cNvSpPr>
          <p:nvPr>
            <p:ph type="ftr" sz="quarter" idx="11"/>
          </p:nvPr>
        </p:nvSpPr>
        <p:spPr/>
        <p:txBody>
          <a:bodyPr/>
          <a:lstStyle/>
          <a:p>
            <a:r>
              <a:rPr lang="en-US"/>
              <a:t>FINA2204 - Tutorial 5</a:t>
            </a:r>
          </a:p>
        </p:txBody>
      </p:sp>
      <p:sp>
        <p:nvSpPr>
          <p:cNvPr id="6" name="Slide Number Placeholder 5">
            <a:extLst>
              <a:ext uri="{FF2B5EF4-FFF2-40B4-BE49-F238E27FC236}">
                <a16:creationId xmlns:a16="http://schemas.microsoft.com/office/drawing/2014/main" id="{E49BE53C-549D-28D1-AEA7-D173F5154790}"/>
              </a:ext>
            </a:extLst>
          </p:cNvPr>
          <p:cNvSpPr>
            <a:spLocks noGrp="1"/>
          </p:cNvSpPr>
          <p:nvPr>
            <p:ph type="sldNum" sz="quarter" idx="12"/>
          </p:nvPr>
        </p:nvSpPr>
        <p:spPr/>
        <p:txBody>
          <a:bodyPr/>
          <a:lstStyle/>
          <a:p>
            <a:fld id="{9855740F-6ECD-274F-B089-6B266B6B07F9}" type="slidenum">
              <a:rPr lang="en-US" smtClean="0"/>
              <a:t>27</a:t>
            </a:fld>
            <a:endParaRPr lang="en-US"/>
          </a:p>
        </p:txBody>
      </p:sp>
      <p:sp>
        <p:nvSpPr>
          <p:cNvPr id="8" name="TextBox 7">
            <a:extLst>
              <a:ext uri="{FF2B5EF4-FFF2-40B4-BE49-F238E27FC236}">
                <a16:creationId xmlns:a16="http://schemas.microsoft.com/office/drawing/2014/main" id="{47FE978D-72B6-10E2-C9B2-921DD3CE43E0}"/>
              </a:ext>
            </a:extLst>
          </p:cNvPr>
          <p:cNvSpPr txBox="1"/>
          <p:nvPr/>
        </p:nvSpPr>
        <p:spPr>
          <a:xfrm>
            <a:off x="5881405" y="5866547"/>
            <a:ext cx="6093618" cy="461665"/>
          </a:xfrm>
          <a:prstGeom prst="rect">
            <a:avLst/>
          </a:prstGeom>
          <a:noFill/>
        </p:spPr>
        <p:txBody>
          <a:bodyPr wrap="square">
            <a:spAutoFit/>
          </a:bodyPr>
          <a:lstStyle/>
          <a:p>
            <a:r>
              <a:rPr lang="en-US" sz="2400" dirty="0">
                <a:solidFill>
                  <a:srgbClr val="FF0000"/>
                </a:solidFill>
              </a:rPr>
              <a:t>Swap valuation becomes bond valuation!</a:t>
            </a:r>
          </a:p>
        </p:txBody>
      </p:sp>
    </p:spTree>
    <p:extLst>
      <p:ext uri="{BB962C8B-B14F-4D97-AF65-F5344CB8AC3E}">
        <p14:creationId xmlns:p14="http://schemas.microsoft.com/office/powerpoint/2010/main" val="219110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B79D36-9DF8-EBCF-FD50-A2A526B01BE4}"/>
              </a:ext>
            </a:extLst>
          </p:cNvPr>
          <p:cNvSpPr>
            <a:spLocks noGrp="1"/>
          </p:cNvSpPr>
          <p:nvPr>
            <p:ph type="title"/>
          </p:nvPr>
        </p:nvSpPr>
        <p:spPr/>
        <p:txBody>
          <a:bodyPr/>
          <a:lstStyle/>
          <a:p>
            <a:r>
              <a:rPr lang="en-US" dirty="0"/>
              <a:t>Recap: Valuation of interest rate swaps </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5C531BF-7C1A-9FDD-AFAC-F0FADF6566F3}"/>
                  </a:ext>
                </a:extLst>
              </p:cNvPr>
              <p:cNvSpPr>
                <a:spLocks noGrp="1"/>
              </p:cNvSpPr>
              <p:nvPr>
                <p:ph idx="1"/>
              </p:nvPr>
            </p:nvSpPr>
            <p:spPr/>
            <p:txBody>
              <a:bodyPr/>
              <a:lstStyle/>
              <a:p>
                <a:endParaRPr lang="en-US" dirty="0"/>
              </a:p>
              <a:p>
                <a:endParaRPr lang="en-US" dirty="0"/>
              </a:p>
              <a:p>
                <a:endParaRPr lang="en-US" dirty="0"/>
              </a:p>
              <a:p>
                <a:endParaRPr lang="en-US" dirty="0"/>
              </a:p>
              <a:p>
                <a:endParaRPr lang="en-US" dirty="0"/>
              </a:p>
              <a:p>
                <a:r>
                  <a:rPr lang="en-US" dirty="0"/>
                  <a:t>For the party paying fixed:</a:t>
                </a:r>
              </a:p>
              <a:p>
                <a:pPr marL="0" indent="0">
                  <a:buNone/>
                </a:pPr>
                <a14:m>
                  <m:oMathPara xmlns:m="http://schemas.openxmlformats.org/officeDocument/2006/math">
                    <m:oMathParaPr>
                      <m:jc m:val="centerGroup"/>
                    </m:oMathParaPr>
                    <m:oMath xmlns:m="http://schemas.openxmlformats.org/officeDocument/2006/math">
                      <m:sSub>
                        <m:sSubPr>
                          <m:ctrlPr>
                            <a:rPr lang="en-AU" i="1">
                              <a:latin typeface="Cambria Math" panose="02040503050406030204" pitchFamily="18" charset="0"/>
                            </a:rPr>
                          </m:ctrlPr>
                        </m:sSubPr>
                        <m:e>
                          <m:sSub>
                            <m:sSubPr>
                              <m:ctrlPr>
                                <a:rPr lang="en-AU" i="1" smtClean="0">
                                  <a:latin typeface="Cambria Math" panose="02040503050406030204" pitchFamily="18" charset="0"/>
                                </a:rPr>
                              </m:ctrlPr>
                            </m:sSubPr>
                            <m:e>
                              <m:r>
                                <a:rPr lang="en-AU" b="0" i="1" smtClean="0">
                                  <a:latin typeface="Cambria Math" panose="02040503050406030204" pitchFamily="18" charset="0"/>
                                </a:rPr>
                                <m:t>𝑉</m:t>
                              </m:r>
                            </m:e>
                            <m:sub>
                              <m:r>
                                <a:rPr lang="en-AU" b="0" i="1" smtClean="0">
                                  <a:latin typeface="Cambria Math" panose="02040503050406030204" pitchFamily="18" charset="0"/>
                                </a:rPr>
                                <m:t>𝑠𝑤𝑎𝑝</m:t>
                              </m:r>
                            </m:sub>
                          </m:sSub>
                          <m:r>
                            <a:rPr lang="en-AU" b="0" i="1" smtClean="0">
                              <a:latin typeface="Cambria Math" panose="02040503050406030204" pitchFamily="18" charset="0"/>
                            </a:rPr>
                            <m:t>=</m:t>
                          </m:r>
                          <m:sSub>
                            <m:sSubPr>
                              <m:ctrlPr>
                                <a:rPr lang="en-AU" i="1">
                                  <a:latin typeface="Cambria Math" panose="02040503050406030204" pitchFamily="18" charset="0"/>
                                </a:rPr>
                              </m:ctrlPr>
                            </m:sSubPr>
                            <m:e>
                              <m:r>
                                <a:rPr lang="en-AU" i="1">
                                  <a:latin typeface="Cambria Math" panose="02040503050406030204" pitchFamily="18" charset="0"/>
                                </a:rPr>
                                <m:t>𝐵</m:t>
                              </m:r>
                            </m:e>
                            <m:sub>
                              <m:r>
                                <a:rPr lang="en-AU" i="1">
                                  <a:latin typeface="Cambria Math" panose="02040503050406030204" pitchFamily="18" charset="0"/>
                                </a:rPr>
                                <m:t>𝑓𝑙</m:t>
                              </m:r>
                            </m:sub>
                          </m:sSub>
                          <m:r>
                            <a:rPr lang="en-AU" b="0" i="1" smtClean="0">
                              <a:latin typeface="Cambria Math" panose="02040503050406030204" pitchFamily="18" charset="0"/>
                            </a:rPr>
                            <m:t>−</m:t>
                          </m:r>
                          <m:r>
                            <a:rPr lang="en-AU" i="1">
                              <a:latin typeface="Cambria Math" panose="02040503050406030204" pitchFamily="18" charset="0"/>
                            </a:rPr>
                            <m:t>𝐵</m:t>
                          </m:r>
                        </m:e>
                        <m:sub>
                          <m:r>
                            <a:rPr lang="en-AU" i="1">
                              <a:latin typeface="Cambria Math" panose="02040503050406030204" pitchFamily="18" charset="0"/>
                            </a:rPr>
                            <m:t>𝑓𝑖𝑥</m:t>
                          </m:r>
                        </m:sub>
                      </m:sSub>
                    </m:oMath>
                  </m:oMathPara>
                </a14:m>
                <a:endParaRPr lang="en-US" dirty="0"/>
              </a:p>
              <a:p>
                <a:r>
                  <a:rPr lang="en-AU" dirty="0"/>
                  <a:t>Because a swap is a contract between two parties, the values must always be </a:t>
                </a:r>
                <a:r>
                  <a:rPr lang="en-AU" dirty="0">
                    <a:solidFill>
                      <a:srgbClr val="FF0000"/>
                    </a:solidFill>
                  </a:rPr>
                  <a:t>equal and opposite</a:t>
                </a:r>
                <a:r>
                  <a:rPr lang="en-AU" dirty="0"/>
                  <a:t>.</a:t>
                </a:r>
                <a:endParaRPr lang="en-US" dirty="0"/>
              </a:p>
            </p:txBody>
          </p:sp>
        </mc:Choice>
        <mc:Fallback xmlns="">
          <p:sp>
            <p:nvSpPr>
              <p:cNvPr id="3" name="Content Placeholder 2">
                <a:extLst>
                  <a:ext uri="{FF2B5EF4-FFF2-40B4-BE49-F238E27FC236}">
                    <a16:creationId xmlns:a16="http://schemas.microsoft.com/office/drawing/2014/main" id="{35C531BF-7C1A-9FDD-AFAC-F0FADF6566F3}"/>
                  </a:ext>
                </a:extLst>
              </p:cNvPr>
              <p:cNvSpPr>
                <a:spLocks noGrp="1" noRot="1" noChangeAspect="1" noMove="1" noResize="1" noEditPoints="1" noAdjustHandles="1" noChangeArrowheads="1" noChangeShapeType="1" noTextEdit="1"/>
              </p:cNvSpPr>
              <p:nvPr>
                <p:ph idx="1"/>
              </p:nvPr>
            </p:nvSpPr>
            <p:spPr>
              <a:blipFill>
                <a:blip r:embed="rId3"/>
                <a:stretch>
                  <a:fillRect l="-1086" b="-3779"/>
                </a:stretch>
              </a:blipFill>
            </p:spPr>
            <p:txBody>
              <a:bodyPr/>
              <a:lstStyle/>
              <a:p>
                <a:r>
                  <a:rPr lang="en-US">
                    <a:noFill/>
                  </a:rPr>
                  <a:t> </a:t>
                </a:r>
              </a:p>
            </p:txBody>
          </p:sp>
        </mc:Fallback>
      </mc:AlternateContent>
      <p:sp>
        <p:nvSpPr>
          <p:cNvPr id="4" name="Date Placeholder 3">
            <a:extLst>
              <a:ext uri="{FF2B5EF4-FFF2-40B4-BE49-F238E27FC236}">
                <a16:creationId xmlns:a16="http://schemas.microsoft.com/office/drawing/2014/main" id="{6BFF5EFC-DB44-B069-2E91-8D0C8406C791}"/>
              </a:ext>
            </a:extLst>
          </p:cNvPr>
          <p:cNvSpPr>
            <a:spLocks noGrp="1"/>
          </p:cNvSpPr>
          <p:nvPr>
            <p:ph type="dt" sz="half" idx="10"/>
          </p:nvPr>
        </p:nvSpPr>
        <p:spPr/>
        <p:txBody>
          <a:bodyPr/>
          <a:lstStyle/>
          <a:p>
            <a:fld id="{B0E461D4-3839-3748-8B1E-E90BB3DA99FF}" type="datetime1">
              <a:rPr lang="en-AU" smtClean="0"/>
              <a:t>28/8/2026</a:t>
            </a:fld>
            <a:endParaRPr lang="en-US"/>
          </a:p>
        </p:txBody>
      </p:sp>
      <p:sp>
        <p:nvSpPr>
          <p:cNvPr id="5" name="Footer Placeholder 4">
            <a:extLst>
              <a:ext uri="{FF2B5EF4-FFF2-40B4-BE49-F238E27FC236}">
                <a16:creationId xmlns:a16="http://schemas.microsoft.com/office/drawing/2014/main" id="{D771B467-5124-9277-927C-D47A8EFFF269}"/>
              </a:ext>
            </a:extLst>
          </p:cNvPr>
          <p:cNvSpPr>
            <a:spLocks noGrp="1"/>
          </p:cNvSpPr>
          <p:nvPr>
            <p:ph type="ftr" sz="quarter" idx="11"/>
          </p:nvPr>
        </p:nvSpPr>
        <p:spPr/>
        <p:txBody>
          <a:bodyPr/>
          <a:lstStyle/>
          <a:p>
            <a:r>
              <a:rPr lang="en-US"/>
              <a:t>FINA2204 - Tutorial 5</a:t>
            </a:r>
          </a:p>
        </p:txBody>
      </p:sp>
      <p:sp>
        <p:nvSpPr>
          <p:cNvPr id="6" name="Slide Number Placeholder 5">
            <a:extLst>
              <a:ext uri="{FF2B5EF4-FFF2-40B4-BE49-F238E27FC236}">
                <a16:creationId xmlns:a16="http://schemas.microsoft.com/office/drawing/2014/main" id="{064B689A-E220-CB85-B8B7-55F2F6FA7E81}"/>
              </a:ext>
            </a:extLst>
          </p:cNvPr>
          <p:cNvSpPr>
            <a:spLocks noGrp="1"/>
          </p:cNvSpPr>
          <p:nvPr>
            <p:ph type="sldNum" sz="quarter" idx="12"/>
          </p:nvPr>
        </p:nvSpPr>
        <p:spPr/>
        <p:txBody>
          <a:bodyPr/>
          <a:lstStyle/>
          <a:p>
            <a:fld id="{9855740F-6ECD-274F-B089-6B266B6B07F9}" type="slidenum">
              <a:rPr lang="en-US" smtClean="0"/>
              <a:t>28</a:t>
            </a:fld>
            <a:endParaRPr lang="en-US"/>
          </a:p>
        </p:txBody>
      </p:sp>
      <p:pic>
        <p:nvPicPr>
          <p:cNvPr id="7" name="Picture 6">
            <a:extLst>
              <a:ext uri="{FF2B5EF4-FFF2-40B4-BE49-F238E27FC236}">
                <a16:creationId xmlns:a16="http://schemas.microsoft.com/office/drawing/2014/main" id="{2572A8ED-78DE-2EA6-924F-70BCC60375BC}"/>
              </a:ext>
            </a:extLst>
          </p:cNvPr>
          <p:cNvPicPr>
            <a:picLocks noChangeAspect="1"/>
          </p:cNvPicPr>
          <p:nvPr/>
        </p:nvPicPr>
        <p:blipFill>
          <a:blip r:embed="rId4"/>
          <a:stretch>
            <a:fillRect/>
          </a:stretch>
        </p:blipFill>
        <p:spPr>
          <a:xfrm>
            <a:off x="1356649" y="1751455"/>
            <a:ext cx="9478701" cy="2503276"/>
          </a:xfrm>
          <a:prstGeom prst="rect">
            <a:avLst/>
          </a:prstGeom>
        </p:spPr>
      </p:pic>
    </p:spTree>
    <p:extLst>
      <p:ext uri="{BB962C8B-B14F-4D97-AF65-F5344CB8AC3E}">
        <p14:creationId xmlns:p14="http://schemas.microsoft.com/office/powerpoint/2010/main" val="42955309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CE0956-A5E4-AEF4-82C2-FA9E2535FDA9}"/>
              </a:ext>
            </a:extLst>
          </p:cNvPr>
          <p:cNvSpPr>
            <a:spLocks noGrp="1"/>
          </p:cNvSpPr>
          <p:nvPr>
            <p:ph type="title"/>
          </p:nvPr>
        </p:nvSpPr>
        <p:spPr/>
        <p:txBody>
          <a:bodyPr/>
          <a:lstStyle/>
          <a:p>
            <a:r>
              <a:rPr lang="en-US" dirty="0"/>
              <a:t>Recap: Valuation of interest rate swaps </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F4D3899-8CE3-4510-7806-180D816FD310}"/>
                  </a:ext>
                </a:extLst>
              </p:cNvPr>
              <p:cNvSpPr>
                <a:spLocks noGrp="1"/>
              </p:cNvSpPr>
              <p:nvPr>
                <p:ph idx="1"/>
              </p:nvPr>
            </p:nvSpPr>
            <p:spPr/>
            <p:txBody>
              <a:bodyPr/>
              <a:lstStyle/>
              <a:p>
                <a:pPr marL="0" indent="0">
                  <a:buNone/>
                </a:pPr>
                <a:r>
                  <a:rPr lang="en-US" b="1" dirty="0"/>
                  <a:t>Shortcut for </a:t>
                </a:r>
                <a14:m>
                  <m:oMath xmlns:m="http://schemas.openxmlformats.org/officeDocument/2006/math">
                    <m:sSub>
                      <m:sSubPr>
                        <m:ctrlPr>
                          <a:rPr lang="en-US" b="1" i="1" smtClean="0">
                            <a:latin typeface="Cambria Math" panose="02040503050406030204" pitchFamily="18" charset="0"/>
                          </a:rPr>
                        </m:ctrlPr>
                      </m:sSubPr>
                      <m:e>
                        <m:r>
                          <a:rPr lang="en-AU" b="1" i="1" smtClean="0">
                            <a:latin typeface="Cambria Math" panose="02040503050406030204" pitchFamily="18" charset="0"/>
                          </a:rPr>
                          <m:t>𝑩</m:t>
                        </m:r>
                      </m:e>
                      <m:sub>
                        <m:r>
                          <a:rPr lang="en-AU" b="1" i="1" smtClean="0">
                            <a:latin typeface="Cambria Math" panose="02040503050406030204" pitchFamily="18" charset="0"/>
                          </a:rPr>
                          <m:t>𝒇𝒍</m:t>
                        </m:r>
                      </m:sub>
                    </m:sSub>
                  </m:oMath>
                </a14:m>
                <a:r>
                  <a:rPr lang="en-US" b="1" dirty="0"/>
                  <a:t>: </a:t>
                </a:r>
                <a:r>
                  <a:rPr lang="en-US" b="1" dirty="0">
                    <a:solidFill>
                      <a:srgbClr val="FF0000"/>
                    </a:solidFill>
                  </a:rPr>
                  <a:t>The floating-rate resets to par!</a:t>
                </a:r>
              </a:p>
            </p:txBody>
          </p:sp>
        </mc:Choice>
        <mc:Fallback xmlns="">
          <p:sp>
            <p:nvSpPr>
              <p:cNvPr id="3" name="Content Placeholder 2">
                <a:extLst>
                  <a:ext uri="{FF2B5EF4-FFF2-40B4-BE49-F238E27FC236}">
                    <a16:creationId xmlns:a16="http://schemas.microsoft.com/office/drawing/2014/main" id="{8F4D3899-8CE3-4510-7806-180D816FD310}"/>
                  </a:ext>
                </a:extLst>
              </p:cNvPr>
              <p:cNvSpPr>
                <a:spLocks noGrp="1" noRot="1" noChangeAspect="1" noMove="1" noResize="1" noEditPoints="1" noAdjustHandles="1" noChangeArrowheads="1" noChangeShapeType="1" noTextEdit="1"/>
              </p:cNvSpPr>
              <p:nvPr>
                <p:ph idx="1"/>
              </p:nvPr>
            </p:nvSpPr>
            <p:spPr>
              <a:blipFill>
                <a:blip r:embed="rId3"/>
                <a:stretch>
                  <a:fillRect l="-1206" t="-2035"/>
                </a:stretch>
              </a:blipFill>
            </p:spPr>
            <p:txBody>
              <a:bodyPr/>
              <a:lstStyle/>
              <a:p>
                <a:r>
                  <a:rPr lang="en-US">
                    <a:noFill/>
                  </a:rPr>
                  <a:t> </a:t>
                </a:r>
              </a:p>
            </p:txBody>
          </p:sp>
        </mc:Fallback>
      </mc:AlternateContent>
      <p:pic>
        <p:nvPicPr>
          <p:cNvPr id="5" name="Picture 4" descr="A diagram of a mathematical equation&#10;&#10;AI-generated content may be incorrect.">
            <a:extLst>
              <a:ext uri="{FF2B5EF4-FFF2-40B4-BE49-F238E27FC236}">
                <a16:creationId xmlns:a16="http://schemas.microsoft.com/office/drawing/2014/main" id="{B7F8B1E1-6F67-B222-1508-C7CCF3A492EB}"/>
              </a:ext>
            </a:extLst>
          </p:cNvPr>
          <p:cNvPicPr>
            <a:picLocks noChangeAspect="1"/>
          </p:cNvPicPr>
          <p:nvPr/>
        </p:nvPicPr>
        <p:blipFill>
          <a:blip r:embed="rId4"/>
          <a:stretch>
            <a:fillRect/>
          </a:stretch>
        </p:blipFill>
        <p:spPr>
          <a:xfrm>
            <a:off x="17362" y="2467263"/>
            <a:ext cx="7772400" cy="3381883"/>
          </a:xfrm>
          <a:prstGeom prst="rect">
            <a:avLst/>
          </a:prstGeom>
        </p:spPr>
      </p:pic>
      <p:sp>
        <p:nvSpPr>
          <p:cNvPr id="6" name="Date Placeholder 5">
            <a:extLst>
              <a:ext uri="{FF2B5EF4-FFF2-40B4-BE49-F238E27FC236}">
                <a16:creationId xmlns:a16="http://schemas.microsoft.com/office/drawing/2014/main" id="{6D4EF659-BCEF-C021-2767-003EF79B3160}"/>
              </a:ext>
            </a:extLst>
          </p:cNvPr>
          <p:cNvSpPr>
            <a:spLocks noGrp="1"/>
          </p:cNvSpPr>
          <p:nvPr>
            <p:ph type="dt" sz="half" idx="10"/>
          </p:nvPr>
        </p:nvSpPr>
        <p:spPr/>
        <p:txBody>
          <a:bodyPr/>
          <a:lstStyle/>
          <a:p>
            <a:fld id="{17189DD6-81BD-954F-8073-BB4020C61BA1}" type="datetime1">
              <a:rPr lang="en-AU" smtClean="0"/>
              <a:t>28/8/2026</a:t>
            </a:fld>
            <a:endParaRPr lang="en-US"/>
          </a:p>
        </p:txBody>
      </p:sp>
      <p:sp>
        <p:nvSpPr>
          <p:cNvPr id="7" name="Footer Placeholder 6">
            <a:extLst>
              <a:ext uri="{FF2B5EF4-FFF2-40B4-BE49-F238E27FC236}">
                <a16:creationId xmlns:a16="http://schemas.microsoft.com/office/drawing/2014/main" id="{93DCA8AC-23DF-96A4-7D9C-28C540195814}"/>
              </a:ext>
            </a:extLst>
          </p:cNvPr>
          <p:cNvSpPr>
            <a:spLocks noGrp="1"/>
          </p:cNvSpPr>
          <p:nvPr>
            <p:ph type="ftr" sz="quarter" idx="11"/>
          </p:nvPr>
        </p:nvSpPr>
        <p:spPr/>
        <p:txBody>
          <a:bodyPr/>
          <a:lstStyle/>
          <a:p>
            <a:r>
              <a:rPr lang="en-US"/>
              <a:t>FINA2204 - Tutorial 5</a:t>
            </a:r>
          </a:p>
        </p:txBody>
      </p:sp>
      <p:sp>
        <p:nvSpPr>
          <p:cNvPr id="8" name="Slide Number Placeholder 7">
            <a:extLst>
              <a:ext uri="{FF2B5EF4-FFF2-40B4-BE49-F238E27FC236}">
                <a16:creationId xmlns:a16="http://schemas.microsoft.com/office/drawing/2014/main" id="{0E292B2B-694E-E0FC-AAE8-D5062E9D651A}"/>
              </a:ext>
            </a:extLst>
          </p:cNvPr>
          <p:cNvSpPr>
            <a:spLocks noGrp="1"/>
          </p:cNvSpPr>
          <p:nvPr>
            <p:ph type="sldNum" sz="quarter" idx="12"/>
          </p:nvPr>
        </p:nvSpPr>
        <p:spPr/>
        <p:txBody>
          <a:bodyPr/>
          <a:lstStyle/>
          <a:p>
            <a:fld id="{9855740F-6ECD-274F-B089-6B266B6B07F9}" type="slidenum">
              <a:rPr lang="en-US" smtClean="0"/>
              <a:t>29</a:t>
            </a:fld>
            <a:endParaRPr lang="en-US"/>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B7BEC229-341F-079E-2727-289647797141}"/>
                  </a:ext>
                </a:extLst>
              </p:cNvPr>
              <p:cNvSpPr txBox="1"/>
              <p:nvPr/>
            </p:nvSpPr>
            <p:spPr>
              <a:xfrm>
                <a:off x="7639292" y="2332326"/>
                <a:ext cx="4387393" cy="3715569"/>
              </a:xfrm>
              <a:prstGeom prst="rect">
                <a:avLst/>
              </a:prstGeom>
              <a:noFill/>
            </p:spPr>
            <p:txBody>
              <a:bodyPr wrap="square" rtlCol="0">
                <a:spAutoFit/>
              </a:bodyPr>
              <a:lstStyle/>
              <a:p>
                <a:r>
                  <a:rPr lang="en-AU" dirty="0"/>
                  <a:t>1. At each reset date, immediately after the payment, the floating-rate bond is worth par:</a:t>
                </a:r>
              </a:p>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AU" b="0" i="1" smtClean="0">
                              <a:latin typeface="Cambria Math" panose="02040503050406030204" pitchFamily="18" charset="0"/>
                            </a:rPr>
                            <m:t>𝐵</m:t>
                          </m:r>
                        </m:e>
                        <m:sub>
                          <m:r>
                            <a:rPr lang="en-AU" b="0" i="1" smtClean="0">
                              <a:latin typeface="Cambria Math" panose="02040503050406030204" pitchFamily="18" charset="0"/>
                            </a:rPr>
                            <m:t>𝑓𝑙</m:t>
                          </m:r>
                        </m:sub>
                      </m:sSub>
                      <m:r>
                        <a:rPr lang="en-AU" b="0" i="1" smtClean="0">
                          <a:latin typeface="Cambria Math" panose="02040503050406030204" pitchFamily="18" charset="0"/>
                        </a:rPr>
                        <m:t>=</m:t>
                      </m:r>
                      <m:r>
                        <a:rPr lang="en-AU" b="0" i="1" smtClean="0">
                          <a:latin typeface="Cambria Math" panose="02040503050406030204" pitchFamily="18" charset="0"/>
                        </a:rPr>
                        <m:t>𝐿</m:t>
                      </m:r>
                    </m:oMath>
                  </m:oMathPara>
                </a14:m>
                <a:endParaRPr lang="en-AU" b="0" dirty="0"/>
              </a:p>
              <a:p>
                <a:endParaRPr lang="en-AU" b="0" dirty="0"/>
              </a:p>
              <a:p>
                <a:r>
                  <a:rPr lang="en-US" dirty="0"/>
                  <a:t>2. Between reset dates, the next floating </a:t>
                </a:r>
              </a:p>
              <a:p>
                <a:r>
                  <a:rPr lang="en-US" dirty="0"/>
                  <a:t>payment </a:t>
                </a:r>
                <a14:m>
                  <m:oMath xmlns:m="http://schemas.openxmlformats.org/officeDocument/2006/math">
                    <m:r>
                      <a:rPr lang="en-AU" b="0">
                        <a:latin typeface="Cambria Math" panose="02040503050406030204" pitchFamily="18" charset="0"/>
                      </a:rPr>
                      <m:t>(</m:t>
                    </m:r>
                    <m:sSup>
                      <m:sSupPr>
                        <m:ctrlPr>
                          <a:rPr lang="en-AU" i="1">
                            <a:latin typeface="Cambria Math" panose="02040503050406030204" pitchFamily="18" charset="0"/>
                          </a:rPr>
                        </m:ctrlPr>
                      </m:sSupPr>
                      <m:e>
                        <m:r>
                          <a:rPr lang="en-AU" b="0" i="1">
                            <a:latin typeface="Cambria Math" panose="02040503050406030204" pitchFamily="18" charset="0"/>
                          </a:rPr>
                          <m:t>𝑘</m:t>
                        </m:r>
                      </m:e>
                      <m:sup>
                        <m:r>
                          <a:rPr lang="en-AU" b="0" i="1">
                            <a:latin typeface="Cambria Math" panose="02040503050406030204" pitchFamily="18" charset="0"/>
                          </a:rPr>
                          <m:t>∗</m:t>
                        </m:r>
                      </m:sup>
                    </m:sSup>
                    <m:r>
                      <a:rPr lang="en-AU" b="0" i="1">
                        <a:latin typeface="Cambria Math" panose="02040503050406030204" pitchFamily="18" charset="0"/>
                      </a:rPr>
                      <m:t>)</m:t>
                    </m:r>
                  </m:oMath>
                </a14:m>
                <a:r>
                  <a:rPr lang="en-AU" dirty="0"/>
                  <a:t> </a:t>
                </a:r>
                <a:r>
                  <a:rPr lang="en-US" dirty="0"/>
                  <a:t>is already known </a:t>
                </a:r>
                <a:r>
                  <a:rPr lang="en-AU" dirty="0"/>
                  <a:t>because it was fixed at the previous reset date.</a:t>
                </a:r>
                <a:endParaRPr lang="en-US" dirty="0"/>
              </a:p>
              <a:p>
                <a:endParaRPr lang="en-AU" dirty="0"/>
              </a:p>
              <a:p>
                <a:r>
                  <a:rPr lang="en-AU" dirty="0"/>
                  <a:t>3. Therefore, discount the </a:t>
                </a:r>
                <a:r>
                  <a:rPr lang="en-AU" b="1" dirty="0"/>
                  <a:t>next known payment </a:t>
                </a:r>
                <a14:m>
                  <m:oMath xmlns:m="http://schemas.openxmlformats.org/officeDocument/2006/math">
                    <m:r>
                      <a:rPr lang="en-AU" b="1" i="0" smtClean="0">
                        <a:latin typeface="Cambria Math" panose="02040503050406030204" pitchFamily="18" charset="0"/>
                      </a:rPr>
                      <m:t>(</m:t>
                    </m:r>
                    <m:sSup>
                      <m:sSupPr>
                        <m:ctrlPr>
                          <a:rPr lang="en-AU" b="1" i="1" smtClean="0">
                            <a:latin typeface="Cambria Math" panose="02040503050406030204" pitchFamily="18" charset="0"/>
                          </a:rPr>
                        </m:ctrlPr>
                      </m:sSupPr>
                      <m:e>
                        <m:r>
                          <a:rPr lang="en-AU" b="1" i="1" smtClean="0">
                            <a:latin typeface="Cambria Math" panose="02040503050406030204" pitchFamily="18" charset="0"/>
                          </a:rPr>
                          <m:t>𝒌</m:t>
                        </m:r>
                      </m:e>
                      <m:sup>
                        <m:r>
                          <a:rPr lang="en-AU" b="1" i="1" smtClean="0">
                            <a:latin typeface="Cambria Math" panose="02040503050406030204" pitchFamily="18" charset="0"/>
                          </a:rPr>
                          <m:t>∗</m:t>
                        </m:r>
                      </m:sup>
                    </m:sSup>
                    <m:r>
                      <a:rPr lang="en-AU" b="1" i="1" smtClean="0">
                        <a:latin typeface="Cambria Math" panose="02040503050406030204" pitchFamily="18" charset="0"/>
                      </a:rPr>
                      <m:t>)</m:t>
                    </m:r>
                  </m:oMath>
                </a14:m>
                <a:r>
                  <a:rPr lang="en-AU" b="1" dirty="0"/>
                  <a:t> + par value </a:t>
                </a:r>
                <a14:m>
                  <m:oMath xmlns:m="http://schemas.openxmlformats.org/officeDocument/2006/math">
                    <m:r>
                      <a:rPr lang="en-AU" b="1" i="1" smtClean="0">
                        <a:latin typeface="Cambria Math" panose="02040503050406030204" pitchFamily="18" charset="0"/>
                      </a:rPr>
                      <m:t>(</m:t>
                    </m:r>
                    <m:r>
                      <a:rPr lang="en-AU" b="1" i="1" smtClean="0">
                        <a:latin typeface="Cambria Math" panose="02040503050406030204" pitchFamily="18" charset="0"/>
                      </a:rPr>
                      <m:t>𝑳</m:t>
                    </m:r>
                    <m:r>
                      <a:rPr lang="en-AU" b="1" i="1" smtClean="0">
                        <a:latin typeface="Cambria Math" panose="02040503050406030204" pitchFamily="18" charset="0"/>
                      </a:rPr>
                      <m:t>)</m:t>
                    </m:r>
                  </m:oMath>
                </a14:m>
                <a:r>
                  <a:rPr lang="en-AU" dirty="0"/>
                  <a:t> back to today.</a:t>
                </a:r>
              </a:p>
              <a:p>
                <a:endParaRPr lang="en-US" dirty="0"/>
              </a:p>
            </p:txBody>
          </p:sp>
        </mc:Choice>
        <mc:Fallback xmlns="">
          <p:sp>
            <p:nvSpPr>
              <p:cNvPr id="9" name="TextBox 8">
                <a:extLst>
                  <a:ext uri="{FF2B5EF4-FFF2-40B4-BE49-F238E27FC236}">
                    <a16:creationId xmlns:a16="http://schemas.microsoft.com/office/drawing/2014/main" id="{B7BEC229-341F-079E-2727-289647797141}"/>
                  </a:ext>
                </a:extLst>
              </p:cNvPr>
              <p:cNvSpPr txBox="1">
                <a:spLocks noRot="1" noChangeAspect="1" noMove="1" noResize="1" noEditPoints="1" noAdjustHandles="1" noChangeArrowheads="1" noChangeShapeType="1" noTextEdit="1"/>
              </p:cNvSpPr>
              <p:nvPr/>
            </p:nvSpPr>
            <p:spPr>
              <a:xfrm>
                <a:off x="7639292" y="2332326"/>
                <a:ext cx="4387393" cy="3715569"/>
              </a:xfrm>
              <a:prstGeom prst="rect">
                <a:avLst/>
              </a:prstGeom>
              <a:blipFill>
                <a:blip r:embed="rId5"/>
                <a:stretch>
                  <a:fillRect l="-1153" t="-680"/>
                </a:stretch>
              </a:blipFill>
            </p:spPr>
            <p:txBody>
              <a:bodyPr/>
              <a:lstStyle/>
              <a:p>
                <a:r>
                  <a:rPr lang="en-US">
                    <a:noFill/>
                  </a:rPr>
                  <a:t> </a:t>
                </a:r>
              </a:p>
            </p:txBody>
          </p:sp>
        </mc:Fallback>
      </mc:AlternateContent>
    </p:spTree>
    <p:extLst>
      <p:ext uri="{BB962C8B-B14F-4D97-AF65-F5344CB8AC3E}">
        <p14:creationId xmlns:p14="http://schemas.microsoft.com/office/powerpoint/2010/main" val="382907368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476733-968E-F462-5A7A-7205A16EDC2E}"/>
              </a:ext>
            </a:extLst>
          </p:cNvPr>
          <p:cNvSpPr>
            <a:spLocks noGrp="1"/>
          </p:cNvSpPr>
          <p:nvPr>
            <p:ph type="title"/>
          </p:nvPr>
        </p:nvSpPr>
        <p:spPr/>
        <p:txBody>
          <a:bodyPr/>
          <a:lstStyle/>
          <a:p>
            <a:r>
              <a:rPr lang="en-US" dirty="0"/>
              <a:t>Recap: Valuation of interest rate swaps </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11B0CC0-E785-13DB-8328-8B455D88E997}"/>
                  </a:ext>
                </a:extLst>
              </p:cNvPr>
              <p:cNvSpPr>
                <a:spLocks noGrp="1"/>
              </p:cNvSpPr>
              <p:nvPr>
                <p:ph idx="1"/>
              </p:nvPr>
            </p:nvSpPr>
            <p:spPr/>
            <p:txBody>
              <a:bodyPr/>
              <a:lstStyle/>
              <a:p>
                <a:pPr marL="0" indent="0">
                  <a:buNone/>
                </a:pPr>
                <a:r>
                  <a:rPr lang="en-US" b="1" dirty="0"/>
                  <a:t>Calculation for </a:t>
                </a:r>
                <a14:m>
                  <m:oMath xmlns:m="http://schemas.openxmlformats.org/officeDocument/2006/math">
                    <m:sSub>
                      <m:sSubPr>
                        <m:ctrlPr>
                          <a:rPr lang="en-US" b="1" i="1">
                            <a:latin typeface="Cambria Math" panose="02040503050406030204" pitchFamily="18" charset="0"/>
                          </a:rPr>
                        </m:ctrlPr>
                      </m:sSubPr>
                      <m:e>
                        <m:r>
                          <a:rPr lang="en-AU" b="1" i="1">
                            <a:latin typeface="Cambria Math" panose="02040503050406030204" pitchFamily="18" charset="0"/>
                          </a:rPr>
                          <m:t>𝑩</m:t>
                        </m:r>
                      </m:e>
                      <m:sub>
                        <m:r>
                          <a:rPr lang="en-AU" b="1" i="1">
                            <a:latin typeface="Cambria Math" panose="02040503050406030204" pitchFamily="18" charset="0"/>
                          </a:rPr>
                          <m:t>𝒇</m:t>
                        </m:r>
                        <m:r>
                          <a:rPr lang="en-AU" b="1" i="1" smtClean="0">
                            <a:latin typeface="Cambria Math" panose="02040503050406030204" pitchFamily="18" charset="0"/>
                          </a:rPr>
                          <m:t>𝒊𝒙</m:t>
                        </m:r>
                      </m:sub>
                    </m:sSub>
                  </m:oMath>
                </a14:m>
                <a:endParaRPr lang="en-AU" b="1" dirty="0"/>
              </a:p>
              <a:p>
                <a:r>
                  <a:rPr lang="en-US" dirty="0"/>
                  <a:t>All remaining payments are known in advance.</a:t>
                </a:r>
              </a:p>
              <a:p>
                <a:r>
                  <a:rPr lang="en-US" dirty="0"/>
                  <a:t>Unlike the floating-rate bond, the fixed rate-bond does not reset to par (</a:t>
                </a:r>
                <a14:m>
                  <m:oMath xmlns:m="http://schemas.openxmlformats.org/officeDocument/2006/math">
                    <m:sSub>
                      <m:sSubPr>
                        <m:ctrlPr>
                          <a:rPr lang="en-US" i="1">
                            <a:latin typeface="Cambria Math" panose="02040503050406030204" pitchFamily="18" charset="0"/>
                          </a:rPr>
                        </m:ctrlPr>
                      </m:sSubPr>
                      <m:e>
                        <m:r>
                          <a:rPr lang="en-AU" i="1">
                            <a:latin typeface="Cambria Math" panose="02040503050406030204" pitchFamily="18" charset="0"/>
                          </a:rPr>
                          <m:t>𝐵</m:t>
                        </m:r>
                      </m:e>
                      <m:sub>
                        <m:r>
                          <a:rPr lang="en-AU" i="1">
                            <a:latin typeface="Cambria Math" panose="02040503050406030204" pitchFamily="18" charset="0"/>
                          </a:rPr>
                          <m:t>𝑓𝑙</m:t>
                        </m:r>
                      </m:sub>
                    </m:sSub>
                    <m:r>
                      <a:rPr lang="en-AU" i="1" smtClean="0">
                        <a:latin typeface="Cambria Math" panose="02040503050406030204" pitchFamily="18" charset="0"/>
                        <a:ea typeface="Cambria Math" panose="02040503050406030204" pitchFamily="18" charset="0"/>
                      </a:rPr>
                      <m:t>≠</m:t>
                    </m:r>
                    <m:r>
                      <a:rPr lang="en-AU" i="1">
                        <a:latin typeface="Cambria Math" panose="02040503050406030204" pitchFamily="18" charset="0"/>
                      </a:rPr>
                      <m:t>𝐿</m:t>
                    </m:r>
                  </m:oMath>
                </a14:m>
                <a:r>
                  <a:rPr lang="en-AU" dirty="0"/>
                  <a:t>)</a:t>
                </a:r>
                <a:r>
                  <a:rPr lang="en-US" dirty="0"/>
                  <a:t>.</a:t>
                </a:r>
              </a:p>
              <a:p>
                <a:r>
                  <a:rPr lang="en-US" dirty="0"/>
                  <a:t>Therefore, there is no reset-to-par shortcut.</a:t>
                </a:r>
              </a:p>
              <a:p>
                <a:r>
                  <a:rPr lang="en-AU" dirty="0"/>
                  <a:t>We have to discount every remaining fixed coupon </a:t>
                </a:r>
                <a:r>
                  <a:rPr lang="en-AU" b="1" dirty="0"/>
                  <a:t>individually</a:t>
                </a:r>
                <a:r>
                  <a:rPr lang="en-AU" dirty="0"/>
                  <a:t>, and at maturity we also include the principal.</a:t>
                </a:r>
                <a:endParaRPr lang="en-AU"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a:rPr lang="en-AU" b="0" i="1">
                              <a:latin typeface="Cambria Math" panose="02040503050406030204" pitchFamily="18" charset="0"/>
                            </a:rPr>
                            <m:t>𝐵</m:t>
                          </m:r>
                        </m:e>
                        <m:sub>
                          <m:r>
                            <a:rPr lang="en-AU" b="0" i="1">
                              <a:latin typeface="Cambria Math" panose="02040503050406030204" pitchFamily="18" charset="0"/>
                            </a:rPr>
                            <m:t>𝑓𝑖𝑥</m:t>
                          </m:r>
                        </m:sub>
                      </m:sSub>
                      <m:r>
                        <a:rPr lang="en-US" altLang="zh-CN" b="0" i="1" smtClean="0">
                          <a:latin typeface="Cambria Math" panose="02040503050406030204" pitchFamily="18" charset="0"/>
                        </a:rPr>
                        <m:t>=</m:t>
                      </m:r>
                      <m:r>
                        <a:rPr lang="en-AU" altLang="zh-CN" b="0" i="1" smtClean="0">
                          <a:latin typeface="Cambria Math" panose="02040503050406030204" pitchFamily="18" charset="0"/>
                        </a:rPr>
                        <m:t>𝑃𝑉</m:t>
                      </m:r>
                      <m:r>
                        <a:rPr lang="en-AU" altLang="zh-CN" b="0" i="1" smtClean="0">
                          <a:latin typeface="Cambria Math" panose="02040503050406030204" pitchFamily="18" charset="0"/>
                        </a:rPr>
                        <m:t> </m:t>
                      </m:r>
                      <m:r>
                        <a:rPr lang="en-AU" altLang="zh-CN" b="0" i="1" smtClean="0">
                          <a:latin typeface="Cambria Math" panose="02040503050406030204" pitchFamily="18" charset="0"/>
                        </a:rPr>
                        <m:t>𝑜𝑓</m:t>
                      </m:r>
                      <m:r>
                        <a:rPr lang="en-AU" altLang="zh-CN" b="0" i="1" smtClean="0">
                          <a:latin typeface="Cambria Math" panose="02040503050406030204" pitchFamily="18" charset="0"/>
                        </a:rPr>
                        <m:t> </m:t>
                      </m:r>
                      <m:r>
                        <a:rPr lang="en-AU" altLang="zh-CN" b="0" i="1" smtClean="0">
                          <a:latin typeface="Cambria Math" panose="02040503050406030204" pitchFamily="18" charset="0"/>
                        </a:rPr>
                        <m:t>𝑎𝑙𝑙</m:t>
                      </m:r>
                      <m:r>
                        <a:rPr lang="en-AU" altLang="zh-CN" b="0" i="1" smtClean="0">
                          <a:latin typeface="Cambria Math" panose="02040503050406030204" pitchFamily="18" charset="0"/>
                        </a:rPr>
                        <m:t> </m:t>
                      </m:r>
                      <m:r>
                        <a:rPr lang="en-AU" altLang="zh-CN" b="0" i="1" smtClean="0">
                          <a:latin typeface="Cambria Math" panose="02040503050406030204" pitchFamily="18" charset="0"/>
                        </a:rPr>
                        <m:t>𝑟𝑒𝑚𝑎𝑖𝑛𝑖𝑛𝑔</m:t>
                      </m:r>
                      <m:r>
                        <a:rPr lang="en-AU" altLang="zh-CN" b="0" i="1" smtClean="0">
                          <a:latin typeface="Cambria Math" panose="02040503050406030204" pitchFamily="18" charset="0"/>
                        </a:rPr>
                        <m:t> </m:t>
                      </m:r>
                      <m:r>
                        <a:rPr lang="en-AU" altLang="zh-CN" b="0" i="1" smtClean="0">
                          <a:latin typeface="Cambria Math" panose="02040503050406030204" pitchFamily="18" charset="0"/>
                        </a:rPr>
                        <m:t>𝑓𝑖𝑥𝑒𝑑</m:t>
                      </m:r>
                      <m:r>
                        <a:rPr lang="en-AU" altLang="zh-CN" b="0" i="1" smtClean="0">
                          <a:latin typeface="Cambria Math" panose="02040503050406030204" pitchFamily="18" charset="0"/>
                        </a:rPr>
                        <m:t> </m:t>
                      </m:r>
                      <m:r>
                        <a:rPr lang="en-AU" altLang="zh-CN" b="0" i="1" smtClean="0">
                          <a:latin typeface="Cambria Math" panose="02040503050406030204" pitchFamily="18" charset="0"/>
                        </a:rPr>
                        <m:t>𝑐𝑜𝑢𝑝𝑜𝑛𝑠</m:t>
                      </m:r>
                      <m:r>
                        <a:rPr lang="en-AU" altLang="zh-CN" b="0" i="1" smtClean="0">
                          <a:latin typeface="Cambria Math" panose="02040503050406030204" pitchFamily="18" charset="0"/>
                        </a:rPr>
                        <m:t>+</m:t>
                      </m:r>
                      <m:r>
                        <a:rPr lang="en-AU" altLang="zh-CN" b="0" i="1" smtClean="0">
                          <a:latin typeface="Cambria Math" panose="02040503050406030204" pitchFamily="18" charset="0"/>
                        </a:rPr>
                        <m:t>𝑃𝑉</m:t>
                      </m:r>
                      <m:r>
                        <a:rPr lang="en-AU" altLang="zh-CN" b="0" i="1" smtClean="0">
                          <a:latin typeface="Cambria Math" panose="02040503050406030204" pitchFamily="18" charset="0"/>
                        </a:rPr>
                        <m:t> </m:t>
                      </m:r>
                      <m:r>
                        <a:rPr lang="en-AU" altLang="zh-CN" b="0" i="1" smtClean="0">
                          <a:latin typeface="Cambria Math" panose="02040503050406030204" pitchFamily="18" charset="0"/>
                        </a:rPr>
                        <m:t>𝑜𝑓</m:t>
                      </m:r>
                      <m:r>
                        <a:rPr lang="en-AU" altLang="zh-CN" b="0" i="1" smtClean="0">
                          <a:latin typeface="Cambria Math" panose="02040503050406030204" pitchFamily="18" charset="0"/>
                        </a:rPr>
                        <m:t> </m:t>
                      </m:r>
                      <m:r>
                        <a:rPr lang="en-AU" altLang="zh-CN" b="0" i="1" smtClean="0">
                          <a:latin typeface="Cambria Math" panose="02040503050406030204" pitchFamily="18" charset="0"/>
                        </a:rPr>
                        <m:t>𝑝𝑟𝑖𝑛𝑐𝑖𝑝𝑎𝑙</m:t>
                      </m:r>
                    </m:oMath>
                  </m:oMathPara>
                </a14:m>
                <a:endParaRPr lang="en-US" dirty="0"/>
              </a:p>
            </p:txBody>
          </p:sp>
        </mc:Choice>
        <mc:Fallback xmlns="">
          <p:sp>
            <p:nvSpPr>
              <p:cNvPr id="3" name="Content Placeholder 2">
                <a:extLst>
                  <a:ext uri="{FF2B5EF4-FFF2-40B4-BE49-F238E27FC236}">
                    <a16:creationId xmlns:a16="http://schemas.microsoft.com/office/drawing/2014/main" id="{111B0CC0-E785-13DB-8328-8B455D88E997}"/>
                  </a:ext>
                </a:extLst>
              </p:cNvPr>
              <p:cNvSpPr>
                <a:spLocks noGrp="1" noRot="1" noChangeAspect="1" noMove="1" noResize="1" noEditPoints="1" noAdjustHandles="1" noChangeArrowheads="1" noChangeShapeType="1" noTextEdit="1"/>
              </p:cNvSpPr>
              <p:nvPr>
                <p:ph idx="1"/>
              </p:nvPr>
            </p:nvSpPr>
            <p:spPr>
              <a:blipFill>
                <a:blip r:embed="rId3"/>
                <a:stretch>
                  <a:fillRect l="-1206" t="-2035" r="-1206"/>
                </a:stretch>
              </a:blipFill>
            </p:spPr>
            <p:txBody>
              <a:bodyPr/>
              <a:lstStyle/>
              <a:p>
                <a:r>
                  <a:rPr lang="en-US">
                    <a:noFill/>
                  </a:rPr>
                  <a:t> </a:t>
                </a:r>
              </a:p>
            </p:txBody>
          </p:sp>
        </mc:Fallback>
      </mc:AlternateContent>
      <p:sp>
        <p:nvSpPr>
          <p:cNvPr id="4" name="Date Placeholder 3">
            <a:extLst>
              <a:ext uri="{FF2B5EF4-FFF2-40B4-BE49-F238E27FC236}">
                <a16:creationId xmlns:a16="http://schemas.microsoft.com/office/drawing/2014/main" id="{9BD74681-DD90-2584-5CBB-58242A32E347}"/>
              </a:ext>
            </a:extLst>
          </p:cNvPr>
          <p:cNvSpPr>
            <a:spLocks noGrp="1"/>
          </p:cNvSpPr>
          <p:nvPr>
            <p:ph type="dt" sz="half" idx="10"/>
          </p:nvPr>
        </p:nvSpPr>
        <p:spPr/>
        <p:txBody>
          <a:bodyPr/>
          <a:lstStyle/>
          <a:p>
            <a:fld id="{B0E461D4-3839-3748-8B1E-E90BB3DA99FF}" type="datetime1">
              <a:rPr lang="en-AU" smtClean="0"/>
              <a:t>28/8/2026</a:t>
            </a:fld>
            <a:endParaRPr lang="en-US"/>
          </a:p>
        </p:txBody>
      </p:sp>
      <p:sp>
        <p:nvSpPr>
          <p:cNvPr id="5" name="Footer Placeholder 4">
            <a:extLst>
              <a:ext uri="{FF2B5EF4-FFF2-40B4-BE49-F238E27FC236}">
                <a16:creationId xmlns:a16="http://schemas.microsoft.com/office/drawing/2014/main" id="{E3E3BE1B-13F0-8E7C-023B-789200F6056C}"/>
              </a:ext>
            </a:extLst>
          </p:cNvPr>
          <p:cNvSpPr>
            <a:spLocks noGrp="1"/>
          </p:cNvSpPr>
          <p:nvPr>
            <p:ph type="ftr" sz="quarter" idx="11"/>
          </p:nvPr>
        </p:nvSpPr>
        <p:spPr/>
        <p:txBody>
          <a:bodyPr/>
          <a:lstStyle/>
          <a:p>
            <a:r>
              <a:rPr lang="en-US"/>
              <a:t>FINA2204 - Tutorial 5</a:t>
            </a:r>
          </a:p>
        </p:txBody>
      </p:sp>
      <p:sp>
        <p:nvSpPr>
          <p:cNvPr id="6" name="Slide Number Placeholder 5">
            <a:extLst>
              <a:ext uri="{FF2B5EF4-FFF2-40B4-BE49-F238E27FC236}">
                <a16:creationId xmlns:a16="http://schemas.microsoft.com/office/drawing/2014/main" id="{DB8086B0-630E-FE7E-90CD-02DC7707069F}"/>
              </a:ext>
            </a:extLst>
          </p:cNvPr>
          <p:cNvSpPr>
            <a:spLocks noGrp="1"/>
          </p:cNvSpPr>
          <p:nvPr>
            <p:ph type="sldNum" sz="quarter" idx="12"/>
          </p:nvPr>
        </p:nvSpPr>
        <p:spPr/>
        <p:txBody>
          <a:bodyPr/>
          <a:lstStyle/>
          <a:p>
            <a:fld id="{9855740F-6ECD-274F-B089-6B266B6B07F9}" type="slidenum">
              <a:rPr lang="en-US" smtClean="0"/>
              <a:t>30</a:t>
            </a:fld>
            <a:endParaRPr lang="en-US"/>
          </a:p>
        </p:txBody>
      </p:sp>
    </p:spTree>
    <p:extLst>
      <p:ext uri="{BB962C8B-B14F-4D97-AF65-F5344CB8AC3E}">
        <p14:creationId xmlns:p14="http://schemas.microsoft.com/office/powerpoint/2010/main" val="190560373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A7B3D2-4F69-FD9C-C951-709D4B9E50E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C5D6F67-C4AB-9978-2987-76A1517634B2}"/>
              </a:ext>
            </a:extLst>
          </p:cNvPr>
          <p:cNvSpPr>
            <a:spLocks noGrp="1"/>
          </p:cNvSpPr>
          <p:nvPr>
            <p:ph type="title"/>
          </p:nvPr>
        </p:nvSpPr>
        <p:spPr/>
        <p:txBody>
          <a:bodyPr/>
          <a:lstStyle/>
          <a:p>
            <a:r>
              <a:rPr lang="en-US" dirty="0"/>
              <a:t>Recap: Valuation of interest rate swaps </a:t>
            </a:r>
          </a:p>
        </p:txBody>
      </p:sp>
      <p:cxnSp>
        <p:nvCxnSpPr>
          <p:cNvPr id="5" name="Straight Arrow Connector 4">
            <a:extLst>
              <a:ext uri="{FF2B5EF4-FFF2-40B4-BE49-F238E27FC236}">
                <a16:creationId xmlns:a16="http://schemas.microsoft.com/office/drawing/2014/main" id="{A6339F3B-00FB-7C84-CA4B-7FAB6DEAC870}"/>
              </a:ext>
            </a:extLst>
          </p:cNvPr>
          <p:cNvCxnSpPr>
            <a:cxnSpLocks/>
          </p:cNvCxnSpPr>
          <p:nvPr/>
        </p:nvCxnSpPr>
        <p:spPr>
          <a:xfrm>
            <a:off x="1319514" y="4062717"/>
            <a:ext cx="9144000"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7A60C486-7D04-0F47-A39D-6EA32CEE53C0}"/>
              </a:ext>
            </a:extLst>
          </p:cNvPr>
          <p:cNvCxnSpPr>
            <a:cxnSpLocks/>
          </p:cNvCxnSpPr>
          <p:nvPr/>
        </p:nvCxnSpPr>
        <p:spPr>
          <a:xfrm flipH="1">
            <a:off x="3045440" y="2002424"/>
            <a:ext cx="10274" cy="3379807"/>
          </a:xfrm>
          <a:prstGeom prst="line">
            <a:avLst/>
          </a:prstGeom>
          <a:ln w="28575">
            <a:solidFill>
              <a:srgbClr val="FF0000"/>
            </a:solidFill>
            <a:prstDash val="sysDash"/>
          </a:ln>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347FB606-FB07-7D2F-BCBB-A2EC12DA1DB6}"/>
              </a:ext>
            </a:extLst>
          </p:cNvPr>
          <p:cNvSpPr txBox="1"/>
          <p:nvPr/>
        </p:nvSpPr>
        <p:spPr>
          <a:xfrm>
            <a:off x="10255169" y="4166889"/>
            <a:ext cx="1003352" cy="369332"/>
          </a:xfrm>
          <a:prstGeom prst="rect">
            <a:avLst/>
          </a:prstGeom>
          <a:noFill/>
        </p:spPr>
        <p:txBody>
          <a:bodyPr wrap="none" rtlCol="0">
            <a:spAutoFit/>
          </a:bodyPr>
          <a:lstStyle/>
          <a:p>
            <a:r>
              <a:rPr lang="en-US" dirty="0"/>
              <a:t>Maturity</a:t>
            </a:r>
          </a:p>
        </p:txBody>
      </p:sp>
      <p:sp>
        <p:nvSpPr>
          <p:cNvPr id="11" name="TextBox 10">
            <a:extLst>
              <a:ext uri="{FF2B5EF4-FFF2-40B4-BE49-F238E27FC236}">
                <a16:creationId xmlns:a16="http://schemas.microsoft.com/office/drawing/2014/main" id="{7F66628E-778C-167B-76BB-02A5959D3A69}"/>
              </a:ext>
            </a:extLst>
          </p:cNvPr>
          <p:cNvSpPr txBox="1"/>
          <p:nvPr/>
        </p:nvSpPr>
        <p:spPr>
          <a:xfrm>
            <a:off x="6994967" y="4166889"/>
            <a:ext cx="383438" cy="369332"/>
          </a:xfrm>
          <a:prstGeom prst="rect">
            <a:avLst/>
          </a:prstGeom>
          <a:noFill/>
        </p:spPr>
        <p:txBody>
          <a:bodyPr wrap="none" rtlCol="0">
            <a:spAutoFit/>
          </a:bodyPr>
          <a:lstStyle/>
          <a:p>
            <a:r>
              <a:rPr lang="en-US" dirty="0"/>
              <a:t>t</a:t>
            </a:r>
            <a:r>
              <a:rPr lang="en-US" altLang="zh-CN" dirty="0"/>
              <a:t>1</a:t>
            </a:r>
            <a:endParaRPr lang="en-US" dirty="0"/>
          </a:p>
        </p:txBody>
      </p:sp>
      <p:sp>
        <p:nvSpPr>
          <p:cNvPr id="14" name="TextBox 13">
            <a:extLst>
              <a:ext uri="{FF2B5EF4-FFF2-40B4-BE49-F238E27FC236}">
                <a16:creationId xmlns:a16="http://schemas.microsoft.com/office/drawing/2014/main" id="{7A88AE92-F29A-F105-71C9-BE74A8289867}"/>
              </a:ext>
            </a:extLst>
          </p:cNvPr>
          <p:cNvSpPr txBox="1"/>
          <p:nvPr/>
        </p:nvSpPr>
        <p:spPr>
          <a:xfrm>
            <a:off x="745320" y="4154198"/>
            <a:ext cx="1484053" cy="369332"/>
          </a:xfrm>
          <a:prstGeom prst="rect">
            <a:avLst/>
          </a:prstGeom>
          <a:noFill/>
        </p:spPr>
        <p:txBody>
          <a:bodyPr wrap="square" rtlCol="0">
            <a:spAutoFit/>
          </a:bodyPr>
          <a:lstStyle/>
          <a:p>
            <a:r>
              <a:rPr lang="en-US" dirty="0"/>
              <a:t>Inception</a:t>
            </a:r>
          </a:p>
        </p:txBody>
      </p:sp>
      <p:sp>
        <p:nvSpPr>
          <p:cNvPr id="16" name="TextBox 15">
            <a:extLst>
              <a:ext uri="{FF2B5EF4-FFF2-40B4-BE49-F238E27FC236}">
                <a16:creationId xmlns:a16="http://schemas.microsoft.com/office/drawing/2014/main" id="{6FA68CD4-832F-7FD3-AA85-0869FE1A8D17}"/>
              </a:ext>
            </a:extLst>
          </p:cNvPr>
          <p:cNvSpPr txBox="1"/>
          <p:nvPr/>
        </p:nvSpPr>
        <p:spPr>
          <a:xfrm>
            <a:off x="3102015" y="1776044"/>
            <a:ext cx="760657" cy="369332"/>
          </a:xfrm>
          <a:prstGeom prst="rect">
            <a:avLst/>
          </a:prstGeom>
          <a:noFill/>
        </p:spPr>
        <p:txBody>
          <a:bodyPr wrap="none" rtlCol="0">
            <a:spAutoFit/>
          </a:bodyPr>
          <a:lstStyle/>
          <a:p>
            <a:r>
              <a:rPr lang="en-US" dirty="0"/>
              <a:t>Today</a:t>
            </a:r>
          </a:p>
        </p:txBody>
      </p:sp>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DF3D92CA-9A27-DAA1-B52E-1DEE5BE803ED}"/>
                  </a:ext>
                </a:extLst>
              </p:cNvPr>
              <p:cNvSpPr txBox="1"/>
              <p:nvPr/>
            </p:nvSpPr>
            <p:spPr>
              <a:xfrm>
                <a:off x="1801084" y="5811485"/>
                <a:ext cx="2555563" cy="39074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AU" i="1" smtClean="0">
                              <a:latin typeface="Cambria Math" panose="02040503050406030204" pitchFamily="18" charset="0"/>
                            </a:rPr>
                          </m:ctrlPr>
                        </m:sSubPr>
                        <m:e>
                          <m:r>
                            <a:rPr lang="en-AU" b="0" i="1" smtClean="0">
                              <a:latin typeface="Cambria Math" panose="02040503050406030204" pitchFamily="18" charset="0"/>
                            </a:rPr>
                            <m:t>𝑉</m:t>
                          </m:r>
                        </m:e>
                        <m:sub>
                          <m:r>
                            <a:rPr lang="en-AU" b="0" i="1" smtClean="0">
                              <a:latin typeface="Cambria Math" panose="02040503050406030204" pitchFamily="18" charset="0"/>
                            </a:rPr>
                            <m:t>𝑠𝑤𝑎𝑝</m:t>
                          </m:r>
                        </m:sub>
                      </m:sSub>
                      <m:r>
                        <a:rPr lang="en-AU" b="0" i="1" smtClean="0">
                          <a:latin typeface="Cambria Math" panose="02040503050406030204" pitchFamily="18" charset="0"/>
                        </a:rPr>
                        <m:t>=</m:t>
                      </m:r>
                      <m:sSub>
                        <m:sSubPr>
                          <m:ctrlPr>
                            <a:rPr lang="en-AU" i="1" smtClean="0">
                              <a:latin typeface="Cambria Math" panose="02040503050406030204" pitchFamily="18" charset="0"/>
                            </a:rPr>
                          </m:ctrlPr>
                        </m:sSubPr>
                        <m:e>
                          <m:r>
                            <a:rPr lang="en-AU" i="1">
                              <a:latin typeface="Cambria Math" panose="02040503050406030204" pitchFamily="18" charset="0"/>
                            </a:rPr>
                            <m:t>𝐵</m:t>
                          </m:r>
                        </m:e>
                        <m:sub>
                          <m:r>
                            <a:rPr lang="en-AU" i="1">
                              <a:latin typeface="Cambria Math" panose="02040503050406030204" pitchFamily="18" charset="0"/>
                            </a:rPr>
                            <m:t>𝑓</m:t>
                          </m:r>
                          <m:r>
                            <a:rPr lang="en-AU" b="0" i="1" smtClean="0">
                              <a:latin typeface="Cambria Math" panose="02040503050406030204" pitchFamily="18" charset="0"/>
                            </a:rPr>
                            <m:t>𝑙</m:t>
                          </m:r>
                        </m:sub>
                      </m:sSub>
                      <m:r>
                        <a:rPr lang="en-AU" b="0" i="1" smtClean="0">
                          <a:latin typeface="Cambria Math" panose="02040503050406030204" pitchFamily="18" charset="0"/>
                        </a:rPr>
                        <m:t>−</m:t>
                      </m:r>
                      <m:sSub>
                        <m:sSubPr>
                          <m:ctrlPr>
                            <a:rPr lang="en-AU" b="0" i="1" smtClean="0">
                              <a:latin typeface="Cambria Math" panose="02040503050406030204" pitchFamily="18" charset="0"/>
                            </a:rPr>
                          </m:ctrlPr>
                        </m:sSubPr>
                        <m:e>
                          <m:r>
                            <a:rPr lang="en-AU" b="0" i="1" smtClean="0">
                              <a:latin typeface="Cambria Math" panose="02040503050406030204" pitchFamily="18" charset="0"/>
                            </a:rPr>
                            <m:t>𝐵</m:t>
                          </m:r>
                        </m:e>
                        <m:sub>
                          <m:r>
                            <a:rPr lang="en-AU" b="0" i="1" smtClean="0">
                              <a:latin typeface="Cambria Math" panose="02040503050406030204" pitchFamily="18" charset="0"/>
                            </a:rPr>
                            <m:t>𝑓𝑖𝑥</m:t>
                          </m:r>
                        </m:sub>
                      </m:sSub>
                      <m:r>
                        <a:rPr lang="en-AU" b="0" i="1" smtClean="0">
                          <a:latin typeface="Cambria Math" panose="02040503050406030204" pitchFamily="18" charset="0"/>
                        </a:rPr>
                        <m:t>=</m:t>
                      </m:r>
                      <m:r>
                        <a:rPr lang="en-AU" b="0" i="1" smtClean="0">
                          <a:solidFill>
                            <a:srgbClr val="FF0000"/>
                          </a:solidFill>
                          <a:latin typeface="Cambria Math" panose="02040503050406030204" pitchFamily="18" charset="0"/>
                        </a:rPr>
                        <m:t>?</m:t>
                      </m:r>
                    </m:oMath>
                  </m:oMathPara>
                </a14:m>
                <a:endParaRPr lang="en-US" dirty="0"/>
              </a:p>
            </p:txBody>
          </p:sp>
        </mc:Choice>
        <mc:Fallback xmlns="">
          <p:sp>
            <p:nvSpPr>
              <p:cNvPr id="18" name="TextBox 17">
                <a:extLst>
                  <a:ext uri="{FF2B5EF4-FFF2-40B4-BE49-F238E27FC236}">
                    <a16:creationId xmlns:a16="http://schemas.microsoft.com/office/drawing/2014/main" id="{DF3D92CA-9A27-DAA1-B52E-1DEE5BE803ED}"/>
                  </a:ext>
                </a:extLst>
              </p:cNvPr>
              <p:cNvSpPr txBox="1">
                <a:spLocks noRot="1" noChangeAspect="1" noMove="1" noResize="1" noEditPoints="1" noAdjustHandles="1" noChangeArrowheads="1" noChangeShapeType="1" noTextEdit="1"/>
              </p:cNvSpPr>
              <p:nvPr/>
            </p:nvSpPr>
            <p:spPr>
              <a:xfrm>
                <a:off x="1801084" y="5811485"/>
                <a:ext cx="2555563" cy="390748"/>
              </a:xfrm>
              <a:prstGeom prst="rect">
                <a:avLst/>
              </a:prstGeom>
              <a:blipFill>
                <a:blip r:embed="rId3"/>
                <a:stretch>
                  <a:fillRect b="-9375"/>
                </a:stretch>
              </a:blipFill>
            </p:spPr>
            <p:txBody>
              <a:bodyPr/>
              <a:lstStyle/>
              <a:p>
                <a:r>
                  <a:rPr lang="en-US">
                    <a:noFill/>
                  </a:rPr>
                  <a:t> </a:t>
                </a:r>
              </a:p>
            </p:txBody>
          </p:sp>
        </mc:Fallback>
      </mc:AlternateContent>
      <p:sp>
        <p:nvSpPr>
          <p:cNvPr id="22" name="Freeform 21">
            <a:extLst>
              <a:ext uri="{FF2B5EF4-FFF2-40B4-BE49-F238E27FC236}">
                <a16:creationId xmlns:a16="http://schemas.microsoft.com/office/drawing/2014/main" id="{D0DA8368-36F4-3784-B94F-D017EA0898C3}"/>
              </a:ext>
            </a:extLst>
          </p:cNvPr>
          <p:cNvSpPr/>
          <p:nvPr/>
        </p:nvSpPr>
        <p:spPr>
          <a:xfrm>
            <a:off x="3102015" y="2314937"/>
            <a:ext cx="4027990" cy="1608884"/>
          </a:xfrm>
          <a:custGeom>
            <a:avLst/>
            <a:gdLst>
              <a:gd name="connsiteX0" fmla="*/ 4027990 w 4027990"/>
              <a:gd name="connsiteY0" fmla="*/ 1597309 h 1608884"/>
              <a:gd name="connsiteX1" fmla="*/ 2025570 w 4027990"/>
              <a:gd name="connsiteY1" fmla="*/ 3 h 1608884"/>
              <a:gd name="connsiteX2" fmla="*/ 0 w 4027990"/>
              <a:gd name="connsiteY2" fmla="*/ 1608884 h 1608884"/>
            </a:gdLst>
            <a:ahLst/>
            <a:cxnLst>
              <a:cxn ang="0">
                <a:pos x="connsiteX0" y="connsiteY0"/>
              </a:cxn>
              <a:cxn ang="0">
                <a:pos x="connsiteX1" y="connsiteY1"/>
              </a:cxn>
              <a:cxn ang="0">
                <a:pos x="connsiteX2" y="connsiteY2"/>
              </a:cxn>
            </a:cxnLst>
            <a:rect l="l" t="t" r="r" b="b"/>
            <a:pathLst>
              <a:path w="4027990" h="1608884">
                <a:moveTo>
                  <a:pt x="4027990" y="1597309"/>
                </a:moveTo>
                <a:cubicBezTo>
                  <a:pt x="3362446" y="797691"/>
                  <a:pt x="2696902" y="-1926"/>
                  <a:pt x="2025570" y="3"/>
                </a:cubicBezTo>
                <a:cubicBezTo>
                  <a:pt x="1354238" y="1932"/>
                  <a:pt x="677119" y="805408"/>
                  <a:pt x="0" y="1608884"/>
                </a:cubicBezTo>
              </a:path>
            </a:pathLst>
          </a:cu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Freeform 23">
            <a:extLst>
              <a:ext uri="{FF2B5EF4-FFF2-40B4-BE49-F238E27FC236}">
                <a16:creationId xmlns:a16="http://schemas.microsoft.com/office/drawing/2014/main" id="{DB953BFA-11EB-72BE-602F-4496FCBFD9B4}"/>
              </a:ext>
            </a:extLst>
          </p:cNvPr>
          <p:cNvSpPr/>
          <p:nvPr/>
        </p:nvSpPr>
        <p:spPr>
          <a:xfrm>
            <a:off x="3102015" y="1400505"/>
            <a:ext cx="7280476" cy="2511741"/>
          </a:xfrm>
          <a:custGeom>
            <a:avLst/>
            <a:gdLst>
              <a:gd name="connsiteX0" fmla="*/ 7280476 w 7280476"/>
              <a:gd name="connsiteY0" fmla="*/ 2465443 h 2511741"/>
              <a:gd name="connsiteX1" fmla="*/ 3495555 w 7280476"/>
              <a:gd name="connsiteY1" fmla="*/ 35 h 2511741"/>
              <a:gd name="connsiteX2" fmla="*/ 0 w 7280476"/>
              <a:gd name="connsiteY2" fmla="*/ 2511741 h 2511741"/>
            </a:gdLst>
            <a:ahLst/>
            <a:cxnLst>
              <a:cxn ang="0">
                <a:pos x="connsiteX0" y="connsiteY0"/>
              </a:cxn>
              <a:cxn ang="0">
                <a:pos x="connsiteX1" y="connsiteY1"/>
              </a:cxn>
              <a:cxn ang="0">
                <a:pos x="connsiteX2" y="connsiteY2"/>
              </a:cxn>
            </a:cxnLst>
            <a:rect l="l" t="t" r="r" b="b"/>
            <a:pathLst>
              <a:path w="7280476" h="2511741">
                <a:moveTo>
                  <a:pt x="7280476" y="2465443"/>
                </a:moveTo>
                <a:cubicBezTo>
                  <a:pt x="5994722" y="1228881"/>
                  <a:pt x="4708968" y="-7681"/>
                  <a:pt x="3495555" y="35"/>
                </a:cubicBezTo>
                <a:cubicBezTo>
                  <a:pt x="2282142" y="7751"/>
                  <a:pt x="1141071" y="1259746"/>
                  <a:pt x="0" y="2511741"/>
                </a:cubicBezTo>
              </a:path>
            </a:pathLst>
          </a:cu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FE9D2C87-EA82-B9A9-BDE3-749C3E1878B4}"/>
                  </a:ext>
                </a:extLst>
              </p:cNvPr>
              <p:cNvSpPr txBox="1"/>
              <p:nvPr/>
            </p:nvSpPr>
            <p:spPr>
              <a:xfrm>
                <a:off x="2951113" y="2476228"/>
                <a:ext cx="1501815" cy="39158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AU" i="1" smtClean="0">
                              <a:latin typeface="Cambria Math" panose="02040503050406030204" pitchFamily="18" charset="0"/>
                            </a:rPr>
                          </m:ctrlPr>
                        </m:sSubPr>
                        <m:e>
                          <m:r>
                            <a:rPr lang="en-AU" b="0" i="1" smtClean="0">
                              <a:latin typeface="Cambria Math" panose="02040503050406030204" pitchFamily="18" charset="0"/>
                            </a:rPr>
                            <m:t>𝐵</m:t>
                          </m:r>
                        </m:e>
                        <m:sub>
                          <m:r>
                            <a:rPr lang="en-AU" b="0" i="1" smtClean="0">
                              <a:latin typeface="Cambria Math" panose="02040503050406030204" pitchFamily="18" charset="0"/>
                            </a:rPr>
                            <m:t>𝑓𝑖𝑥</m:t>
                          </m:r>
                        </m:sub>
                      </m:sSub>
                      <m:r>
                        <a:rPr lang="en-AU" b="0" i="1" smtClean="0">
                          <a:latin typeface="Cambria Math" panose="02040503050406030204" pitchFamily="18" charset="0"/>
                        </a:rPr>
                        <m:t>=</m:t>
                      </m:r>
                      <m:r>
                        <a:rPr lang="en-AU" b="0" i="1" smtClean="0">
                          <a:solidFill>
                            <a:srgbClr val="FF0000"/>
                          </a:solidFill>
                          <a:latin typeface="Cambria Math" panose="02040503050406030204" pitchFamily="18" charset="0"/>
                        </a:rPr>
                        <m:t>?</m:t>
                      </m:r>
                    </m:oMath>
                  </m:oMathPara>
                </a14:m>
                <a:endParaRPr lang="en-US" dirty="0"/>
              </a:p>
            </p:txBody>
          </p:sp>
        </mc:Choice>
        <mc:Fallback xmlns="">
          <p:sp>
            <p:nvSpPr>
              <p:cNvPr id="26" name="TextBox 25">
                <a:extLst>
                  <a:ext uri="{FF2B5EF4-FFF2-40B4-BE49-F238E27FC236}">
                    <a16:creationId xmlns:a16="http://schemas.microsoft.com/office/drawing/2014/main" id="{FE9D2C87-EA82-B9A9-BDE3-749C3E1878B4}"/>
                  </a:ext>
                </a:extLst>
              </p:cNvPr>
              <p:cNvSpPr txBox="1">
                <a:spLocks noRot="1" noChangeAspect="1" noMove="1" noResize="1" noEditPoints="1" noAdjustHandles="1" noChangeArrowheads="1" noChangeShapeType="1" noTextEdit="1"/>
              </p:cNvSpPr>
              <p:nvPr/>
            </p:nvSpPr>
            <p:spPr>
              <a:xfrm>
                <a:off x="2951113" y="2476228"/>
                <a:ext cx="1501815" cy="391582"/>
              </a:xfrm>
              <a:prstGeom prst="rect">
                <a:avLst/>
              </a:prstGeom>
              <a:blipFill>
                <a:blip r:embed="rId4"/>
                <a:stretch>
                  <a:fillRect b="-9375"/>
                </a:stretch>
              </a:blipFill>
            </p:spPr>
            <p:txBody>
              <a:bodyPr/>
              <a:lstStyle/>
              <a:p>
                <a:r>
                  <a:rPr lang="en-US">
                    <a:noFill/>
                  </a:rPr>
                  <a:t> </a:t>
                </a:r>
              </a:p>
            </p:txBody>
          </p:sp>
        </mc:Fallback>
      </mc:AlternateContent>
      <p:sp>
        <p:nvSpPr>
          <p:cNvPr id="31" name="TextBox 30">
            <a:extLst>
              <a:ext uri="{FF2B5EF4-FFF2-40B4-BE49-F238E27FC236}">
                <a16:creationId xmlns:a16="http://schemas.microsoft.com/office/drawing/2014/main" id="{663813A7-0308-5B3D-02C5-63881436F8D4}"/>
              </a:ext>
            </a:extLst>
          </p:cNvPr>
          <p:cNvSpPr txBox="1"/>
          <p:nvPr/>
        </p:nvSpPr>
        <p:spPr>
          <a:xfrm>
            <a:off x="6565140" y="3028370"/>
            <a:ext cx="1722779" cy="369332"/>
          </a:xfrm>
          <a:prstGeom prst="rect">
            <a:avLst/>
          </a:prstGeom>
          <a:noFill/>
        </p:spPr>
        <p:txBody>
          <a:bodyPr wrap="none" rtlCol="0">
            <a:spAutoFit/>
          </a:bodyPr>
          <a:lstStyle/>
          <a:p>
            <a:r>
              <a:rPr lang="en-US" dirty="0"/>
              <a:t>Fixed Coupon </a:t>
            </a:r>
            <a:r>
              <a:rPr lang="en-US" altLang="zh-CN" dirty="0"/>
              <a:t>1</a:t>
            </a:r>
            <a:endParaRPr lang="en-US" dirty="0"/>
          </a:p>
        </p:txBody>
      </p:sp>
      <p:sp>
        <p:nvSpPr>
          <p:cNvPr id="33" name="TextBox 32">
            <a:extLst>
              <a:ext uri="{FF2B5EF4-FFF2-40B4-BE49-F238E27FC236}">
                <a16:creationId xmlns:a16="http://schemas.microsoft.com/office/drawing/2014/main" id="{B3BA8AA8-5898-DFA3-1F96-E5EF1EAC0950}"/>
              </a:ext>
            </a:extLst>
          </p:cNvPr>
          <p:cNvSpPr txBox="1"/>
          <p:nvPr/>
        </p:nvSpPr>
        <p:spPr>
          <a:xfrm>
            <a:off x="9318053" y="2639514"/>
            <a:ext cx="2876300" cy="369332"/>
          </a:xfrm>
          <a:prstGeom prst="rect">
            <a:avLst/>
          </a:prstGeom>
          <a:noFill/>
        </p:spPr>
        <p:txBody>
          <a:bodyPr wrap="none" rtlCol="0">
            <a:spAutoFit/>
          </a:bodyPr>
          <a:lstStyle/>
          <a:p>
            <a:r>
              <a:rPr lang="en-US" dirty="0"/>
              <a:t>Fixed Coupon </a:t>
            </a:r>
            <a:r>
              <a:rPr lang="en-US" altLang="zh-CN" dirty="0"/>
              <a:t>2</a:t>
            </a:r>
            <a:r>
              <a:rPr lang="en-US" dirty="0"/>
              <a:t> + </a:t>
            </a:r>
            <a:r>
              <a:rPr lang="en-US" b="1" dirty="0"/>
              <a:t>Principal</a:t>
            </a:r>
          </a:p>
        </p:txBody>
      </p:sp>
      <p:sp>
        <p:nvSpPr>
          <p:cNvPr id="39" name="TextBox 38">
            <a:extLst>
              <a:ext uri="{FF2B5EF4-FFF2-40B4-BE49-F238E27FC236}">
                <a16:creationId xmlns:a16="http://schemas.microsoft.com/office/drawing/2014/main" id="{78C8AC9B-AB6E-890F-BF0B-DE48AFE225A8}"/>
              </a:ext>
            </a:extLst>
          </p:cNvPr>
          <p:cNvSpPr txBox="1"/>
          <p:nvPr/>
        </p:nvSpPr>
        <p:spPr>
          <a:xfrm>
            <a:off x="5610152" y="5457495"/>
            <a:ext cx="2077107" cy="369332"/>
          </a:xfrm>
          <a:prstGeom prst="rect">
            <a:avLst/>
          </a:prstGeom>
          <a:noFill/>
        </p:spPr>
        <p:txBody>
          <a:bodyPr wrap="none" rtlCol="0">
            <a:spAutoFit/>
          </a:bodyPr>
          <a:lstStyle/>
          <a:p>
            <a:r>
              <a:rPr lang="en-US" dirty="0">
                <a:solidFill>
                  <a:srgbClr val="0070C0"/>
                </a:solidFill>
              </a:rPr>
              <a:t>Floating payment 1</a:t>
            </a: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41BD41D7-10CA-A73C-BB26-21216814039B}"/>
                  </a:ext>
                </a:extLst>
              </p:cNvPr>
              <p:cNvSpPr txBox="1"/>
              <p:nvPr/>
            </p:nvSpPr>
            <p:spPr>
              <a:xfrm>
                <a:off x="3844752" y="4491972"/>
                <a:ext cx="3229932" cy="39369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AU" i="1" smtClean="0">
                              <a:latin typeface="Cambria Math" panose="02040503050406030204" pitchFamily="18" charset="0"/>
                            </a:rPr>
                          </m:ctrlPr>
                        </m:sSubPr>
                        <m:e>
                          <m:r>
                            <a:rPr lang="en-AU" b="0" i="1" smtClean="0">
                              <a:latin typeface="Cambria Math" panose="02040503050406030204" pitchFamily="18" charset="0"/>
                            </a:rPr>
                            <m:t>𝐵</m:t>
                          </m:r>
                        </m:e>
                        <m:sub>
                          <m:r>
                            <a:rPr lang="en-AU" b="0" i="1" smtClean="0">
                              <a:latin typeface="Cambria Math" panose="02040503050406030204" pitchFamily="18" charset="0"/>
                            </a:rPr>
                            <m:t>𝑓𝑖𝑥</m:t>
                          </m:r>
                        </m:sub>
                      </m:sSub>
                      <m:r>
                        <a:rPr lang="en-AU" b="0" i="1" smtClean="0">
                          <a:latin typeface="Cambria Math" panose="02040503050406030204" pitchFamily="18" charset="0"/>
                        </a:rPr>
                        <m:t>=</m:t>
                      </m:r>
                      <m:d>
                        <m:dPr>
                          <m:ctrlPr>
                            <a:rPr lang="en-AU" b="0" i="1" smtClean="0">
                              <a:latin typeface="Cambria Math" panose="02040503050406030204" pitchFamily="18" charset="0"/>
                            </a:rPr>
                          </m:ctrlPr>
                        </m:dPr>
                        <m:e>
                          <m:r>
                            <a:rPr lang="en-AU" b="0" i="1" smtClean="0">
                              <a:latin typeface="Cambria Math" panose="02040503050406030204" pitchFamily="18" charset="0"/>
                            </a:rPr>
                            <m:t>𝐿</m:t>
                          </m:r>
                          <m:r>
                            <a:rPr lang="en-AU" b="0" i="1" smtClean="0">
                              <a:latin typeface="Cambria Math" panose="02040503050406030204" pitchFamily="18" charset="0"/>
                            </a:rPr>
                            <m:t>+</m:t>
                          </m:r>
                          <m:sSup>
                            <m:sSupPr>
                              <m:ctrlPr>
                                <a:rPr lang="en-AU" b="0" i="1" smtClean="0">
                                  <a:latin typeface="Cambria Math" panose="02040503050406030204" pitchFamily="18" charset="0"/>
                                </a:rPr>
                              </m:ctrlPr>
                            </m:sSupPr>
                            <m:e>
                              <m:r>
                                <a:rPr lang="en-AU" b="0" i="1" smtClean="0">
                                  <a:latin typeface="Cambria Math" panose="02040503050406030204" pitchFamily="18" charset="0"/>
                                </a:rPr>
                                <m:t>𝑘</m:t>
                              </m:r>
                            </m:e>
                            <m:sup>
                              <m:r>
                                <a:rPr lang="en-AU" b="0" i="1" smtClean="0">
                                  <a:latin typeface="Cambria Math" panose="02040503050406030204" pitchFamily="18" charset="0"/>
                                </a:rPr>
                                <m:t>∗</m:t>
                              </m:r>
                            </m:sup>
                          </m:sSup>
                        </m:e>
                      </m:d>
                      <m:sSup>
                        <m:sSupPr>
                          <m:ctrlPr>
                            <a:rPr lang="en-AU" b="0" i="1" smtClean="0">
                              <a:latin typeface="Cambria Math" panose="02040503050406030204" pitchFamily="18" charset="0"/>
                            </a:rPr>
                          </m:ctrlPr>
                        </m:sSupPr>
                        <m:e>
                          <m:r>
                            <a:rPr lang="en-AU" b="0" i="1" smtClean="0">
                              <a:latin typeface="Cambria Math" panose="02040503050406030204" pitchFamily="18" charset="0"/>
                            </a:rPr>
                            <m:t>𝑒</m:t>
                          </m:r>
                        </m:e>
                        <m:sup>
                          <m:r>
                            <a:rPr lang="en-AU" b="0" i="1" smtClean="0">
                              <a:latin typeface="Cambria Math" panose="02040503050406030204" pitchFamily="18" charset="0"/>
                            </a:rPr>
                            <m:t>−</m:t>
                          </m:r>
                          <m:r>
                            <a:rPr lang="en-AU" b="0" i="1" smtClean="0">
                              <a:latin typeface="Cambria Math" panose="02040503050406030204" pitchFamily="18" charset="0"/>
                            </a:rPr>
                            <m:t>𝑟𝑡</m:t>
                          </m:r>
                        </m:sup>
                      </m:sSup>
                      <m:r>
                        <a:rPr lang="en-AU" b="0" i="1" smtClean="0">
                          <a:latin typeface="Cambria Math" panose="02040503050406030204" pitchFamily="18" charset="0"/>
                        </a:rPr>
                        <m:t>=</m:t>
                      </m:r>
                      <m:r>
                        <a:rPr lang="en-AU" b="0" i="1" smtClean="0">
                          <a:solidFill>
                            <a:srgbClr val="FF0000"/>
                          </a:solidFill>
                          <a:latin typeface="Cambria Math" panose="02040503050406030204" pitchFamily="18" charset="0"/>
                        </a:rPr>
                        <m:t>?</m:t>
                      </m:r>
                    </m:oMath>
                  </m:oMathPara>
                </a14:m>
                <a:endParaRPr lang="en-US" dirty="0"/>
              </a:p>
            </p:txBody>
          </p:sp>
        </mc:Choice>
        <mc:Fallback xmlns="">
          <p:sp>
            <p:nvSpPr>
              <p:cNvPr id="42" name="TextBox 41">
                <a:extLst>
                  <a:ext uri="{FF2B5EF4-FFF2-40B4-BE49-F238E27FC236}">
                    <a16:creationId xmlns:a16="http://schemas.microsoft.com/office/drawing/2014/main" id="{41BD41D7-10CA-A73C-BB26-21216814039B}"/>
                  </a:ext>
                </a:extLst>
              </p:cNvPr>
              <p:cNvSpPr txBox="1">
                <a:spLocks noRot="1" noChangeAspect="1" noMove="1" noResize="1" noEditPoints="1" noAdjustHandles="1" noChangeArrowheads="1" noChangeShapeType="1" noTextEdit="1"/>
              </p:cNvSpPr>
              <p:nvPr/>
            </p:nvSpPr>
            <p:spPr>
              <a:xfrm>
                <a:off x="3844752" y="4491972"/>
                <a:ext cx="3229932" cy="393698"/>
              </a:xfrm>
              <a:prstGeom prst="rect">
                <a:avLst/>
              </a:prstGeom>
              <a:blipFill>
                <a:blip r:embed="rId5"/>
                <a:stretch>
                  <a:fillRect b="-9375"/>
                </a:stretch>
              </a:blipFill>
            </p:spPr>
            <p:txBody>
              <a:bodyPr/>
              <a:lstStyle/>
              <a:p>
                <a:r>
                  <a:rPr lang="en-US">
                    <a:noFill/>
                  </a:rPr>
                  <a:t> </a:t>
                </a:r>
              </a:p>
            </p:txBody>
          </p:sp>
        </mc:Fallback>
      </mc:AlternateContent>
      <p:sp>
        <p:nvSpPr>
          <p:cNvPr id="44" name="Date Placeholder 43">
            <a:extLst>
              <a:ext uri="{FF2B5EF4-FFF2-40B4-BE49-F238E27FC236}">
                <a16:creationId xmlns:a16="http://schemas.microsoft.com/office/drawing/2014/main" id="{99EC3266-5D01-C53F-5E49-500436EFB454}"/>
              </a:ext>
            </a:extLst>
          </p:cNvPr>
          <p:cNvSpPr>
            <a:spLocks noGrp="1"/>
          </p:cNvSpPr>
          <p:nvPr>
            <p:ph type="dt" sz="half" idx="10"/>
          </p:nvPr>
        </p:nvSpPr>
        <p:spPr/>
        <p:txBody>
          <a:bodyPr/>
          <a:lstStyle/>
          <a:p>
            <a:fld id="{883DF93B-F1BE-2145-97FA-08423FC218CE}" type="datetime1">
              <a:rPr lang="en-AU" smtClean="0"/>
              <a:t>28/8/2026</a:t>
            </a:fld>
            <a:endParaRPr lang="en-US"/>
          </a:p>
        </p:txBody>
      </p:sp>
      <p:sp>
        <p:nvSpPr>
          <p:cNvPr id="45" name="Footer Placeholder 44">
            <a:extLst>
              <a:ext uri="{FF2B5EF4-FFF2-40B4-BE49-F238E27FC236}">
                <a16:creationId xmlns:a16="http://schemas.microsoft.com/office/drawing/2014/main" id="{8DFB6F8C-4047-C88E-DCB8-D25E5D7D1E8B}"/>
              </a:ext>
            </a:extLst>
          </p:cNvPr>
          <p:cNvSpPr>
            <a:spLocks noGrp="1"/>
          </p:cNvSpPr>
          <p:nvPr>
            <p:ph type="ftr" sz="quarter" idx="11"/>
          </p:nvPr>
        </p:nvSpPr>
        <p:spPr/>
        <p:txBody>
          <a:bodyPr/>
          <a:lstStyle/>
          <a:p>
            <a:r>
              <a:rPr lang="en-US"/>
              <a:t>FINA2204 - Tutorial 5</a:t>
            </a:r>
          </a:p>
        </p:txBody>
      </p:sp>
      <p:sp>
        <p:nvSpPr>
          <p:cNvPr id="46" name="Slide Number Placeholder 45">
            <a:extLst>
              <a:ext uri="{FF2B5EF4-FFF2-40B4-BE49-F238E27FC236}">
                <a16:creationId xmlns:a16="http://schemas.microsoft.com/office/drawing/2014/main" id="{5DC7B8C9-EE7D-07CB-3BE3-40482ECFE448}"/>
              </a:ext>
            </a:extLst>
          </p:cNvPr>
          <p:cNvSpPr>
            <a:spLocks noGrp="1"/>
          </p:cNvSpPr>
          <p:nvPr>
            <p:ph type="sldNum" sz="quarter" idx="12"/>
          </p:nvPr>
        </p:nvSpPr>
        <p:spPr/>
        <p:txBody>
          <a:bodyPr/>
          <a:lstStyle/>
          <a:p>
            <a:fld id="{9855740F-6ECD-274F-B089-6B266B6B07F9}" type="slidenum">
              <a:rPr lang="en-US" smtClean="0"/>
              <a:t>31</a:t>
            </a:fld>
            <a:endParaRPr lang="en-US"/>
          </a:p>
        </p:txBody>
      </p:sp>
      <p:sp>
        <p:nvSpPr>
          <p:cNvPr id="3" name="Freeform 2">
            <a:extLst>
              <a:ext uri="{FF2B5EF4-FFF2-40B4-BE49-F238E27FC236}">
                <a16:creationId xmlns:a16="http://schemas.microsoft.com/office/drawing/2014/main" id="{4D01CA57-7995-30AF-0105-EE4D1059BA1C}"/>
              </a:ext>
            </a:extLst>
          </p:cNvPr>
          <p:cNvSpPr/>
          <p:nvPr/>
        </p:nvSpPr>
        <p:spPr>
          <a:xfrm>
            <a:off x="3138985" y="4189863"/>
            <a:ext cx="3985146" cy="1424026"/>
          </a:xfrm>
          <a:custGeom>
            <a:avLst/>
            <a:gdLst>
              <a:gd name="connsiteX0" fmla="*/ 3985146 w 3985146"/>
              <a:gd name="connsiteY0" fmla="*/ 368489 h 1424026"/>
              <a:gd name="connsiteX1" fmla="*/ 1937982 w 3985146"/>
              <a:gd name="connsiteY1" fmla="*/ 1419367 h 1424026"/>
              <a:gd name="connsiteX2" fmla="*/ 0 w 3985146"/>
              <a:gd name="connsiteY2" fmla="*/ 0 h 1424026"/>
            </a:gdLst>
            <a:ahLst/>
            <a:cxnLst>
              <a:cxn ang="0">
                <a:pos x="connsiteX0" y="connsiteY0"/>
              </a:cxn>
              <a:cxn ang="0">
                <a:pos x="connsiteX1" y="connsiteY1"/>
              </a:cxn>
              <a:cxn ang="0">
                <a:pos x="connsiteX2" y="connsiteY2"/>
              </a:cxn>
            </a:cxnLst>
            <a:rect l="l" t="t" r="r" b="b"/>
            <a:pathLst>
              <a:path w="3985146" h="1424026">
                <a:moveTo>
                  <a:pt x="3985146" y="368489"/>
                </a:moveTo>
                <a:cubicBezTo>
                  <a:pt x="3293659" y="924635"/>
                  <a:pt x="2602173" y="1480782"/>
                  <a:pt x="1937982" y="1419367"/>
                </a:cubicBezTo>
                <a:cubicBezTo>
                  <a:pt x="1273791" y="1357952"/>
                  <a:pt x="329821" y="238836"/>
                  <a:pt x="0" y="0"/>
                </a:cubicBezTo>
              </a:path>
            </a:pathLst>
          </a:custGeom>
          <a:no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089726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22" grpId="0" animBg="1"/>
      <p:bldP spid="24" grpId="0" animBg="1"/>
      <p:bldP spid="26" grpId="0"/>
      <p:bldP spid="31" grpId="0"/>
      <p:bldP spid="33"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FA8D3E-EFDE-9A85-6F2F-B96E0F3785E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0163891-A432-2990-851E-055E2BC372CE}"/>
              </a:ext>
            </a:extLst>
          </p:cNvPr>
          <p:cNvSpPr>
            <a:spLocks noGrp="1"/>
          </p:cNvSpPr>
          <p:nvPr>
            <p:ph type="title"/>
          </p:nvPr>
        </p:nvSpPr>
        <p:spPr/>
        <p:txBody>
          <a:bodyPr/>
          <a:lstStyle/>
          <a:p>
            <a:r>
              <a:rPr lang="en-US" dirty="0"/>
              <a:t>Recap: Valuation of interest rate swaps </a:t>
            </a:r>
          </a:p>
        </p:txBody>
      </p:sp>
      <p:cxnSp>
        <p:nvCxnSpPr>
          <p:cNvPr id="5" name="Straight Arrow Connector 4">
            <a:extLst>
              <a:ext uri="{FF2B5EF4-FFF2-40B4-BE49-F238E27FC236}">
                <a16:creationId xmlns:a16="http://schemas.microsoft.com/office/drawing/2014/main" id="{932310EE-A65D-120B-9F6F-2B10AD38444C}"/>
              </a:ext>
            </a:extLst>
          </p:cNvPr>
          <p:cNvCxnSpPr>
            <a:cxnSpLocks/>
          </p:cNvCxnSpPr>
          <p:nvPr/>
        </p:nvCxnSpPr>
        <p:spPr>
          <a:xfrm>
            <a:off x="1319514" y="4062717"/>
            <a:ext cx="9144000"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EDE2AD6C-C6C6-70C8-F152-FAD68DCBDC0E}"/>
              </a:ext>
            </a:extLst>
          </p:cNvPr>
          <p:cNvCxnSpPr>
            <a:cxnSpLocks/>
          </p:cNvCxnSpPr>
          <p:nvPr/>
        </p:nvCxnSpPr>
        <p:spPr>
          <a:xfrm flipH="1">
            <a:off x="3045440" y="2002424"/>
            <a:ext cx="10274" cy="3379807"/>
          </a:xfrm>
          <a:prstGeom prst="line">
            <a:avLst/>
          </a:prstGeom>
          <a:ln w="28575">
            <a:solidFill>
              <a:srgbClr val="FF0000"/>
            </a:solidFill>
            <a:prstDash val="sysDash"/>
          </a:ln>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EBFA9569-58DC-0E60-8966-8D347F241B30}"/>
              </a:ext>
            </a:extLst>
          </p:cNvPr>
          <p:cNvSpPr txBox="1"/>
          <p:nvPr/>
        </p:nvSpPr>
        <p:spPr>
          <a:xfrm>
            <a:off x="10255169" y="4166889"/>
            <a:ext cx="1003352" cy="369332"/>
          </a:xfrm>
          <a:prstGeom prst="rect">
            <a:avLst/>
          </a:prstGeom>
          <a:noFill/>
        </p:spPr>
        <p:txBody>
          <a:bodyPr wrap="none" rtlCol="0">
            <a:spAutoFit/>
          </a:bodyPr>
          <a:lstStyle/>
          <a:p>
            <a:r>
              <a:rPr lang="en-US" dirty="0"/>
              <a:t>Maturity</a:t>
            </a:r>
          </a:p>
        </p:txBody>
      </p:sp>
      <p:sp>
        <p:nvSpPr>
          <p:cNvPr id="11" name="TextBox 10">
            <a:extLst>
              <a:ext uri="{FF2B5EF4-FFF2-40B4-BE49-F238E27FC236}">
                <a16:creationId xmlns:a16="http://schemas.microsoft.com/office/drawing/2014/main" id="{EFC646D1-FF72-0C21-7A77-072CC420C42D}"/>
              </a:ext>
            </a:extLst>
          </p:cNvPr>
          <p:cNvSpPr txBox="1"/>
          <p:nvPr/>
        </p:nvSpPr>
        <p:spPr>
          <a:xfrm>
            <a:off x="6994967" y="4166889"/>
            <a:ext cx="383438" cy="369332"/>
          </a:xfrm>
          <a:prstGeom prst="rect">
            <a:avLst/>
          </a:prstGeom>
          <a:noFill/>
        </p:spPr>
        <p:txBody>
          <a:bodyPr wrap="none" rtlCol="0">
            <a:spAutoFit/>
          </a:bodyPr>
          <a:lstStyle/>
          <a:p>
            <a:r>
              <a:rPr lang="en-US" dirty="0"/>
              <a:t>t</a:t>
            </a:r>
            <a:r>
              <a:rPr lang="en-US" altLang="zh-CN" dirty="0"/>
              <a:t>1</a:t>
            </a:r>
            <a:endParaRPr lang="en-US" dirty="0"/>
          </a:p>
        </p:txBody>
      </p:sp>
      <p:sp>
        <p:nvSpPr>
          <p:cNvPr id="14" name="TextBox 13">
            <a:extLst>
              <a:ext uri="{FF2B5EF4-FFF2-40B4-BE49-F238E27FC236}">
                <a16:creationId xmlns:a16="http://schemas.microsoft.com/office/drawing/2014/main" id="{14CDA395-35D1-920A-2DBE-FD3637BD0FD6}"/>
              </a:ext>
            </a:extLst>
          </p:cNvPr>
          <p:cNvSpPr txBox="1"/>
          <p:nvPr/>
        </p:nvSpPr>
        <p:spPr>
          <a:xfrm>
            <a:off x="745320" y="4154198"/>
            <a:ext cx="1484053" cy="369332"/>
          </a:xfrm>
          <a:prstGeom prst="rect">
            <a:avLst/>
          </a:prstGeom>
          <a:noFill/>
        </p:spPr>
        <p:txBody>
          <a:bodyPr wrap="square" rtlCol="0">
            <a:spAutoFit/>
          </a:bodyPr>
          <a:lstStyle/>
          <a:p>
            <a:r>
              <a:rPr lang="en-US" dirty="0"/>
              <a:t>Inception</a:t>
            </a:r>
          </a:p>
        </p:txBody>
      </p:sp>
      <p:sp>
        <p:nvSpPr>
          <p:cNvPr id="16" name="TextBox 15">
            <a:extLst>
              <a:ext uri="{FF2B5EF4-FFF2-40B4-BE49-F238E27FC236}">
                <a16:creationId xmlns:a16="http://schemas.microsoft.com/office/drawing/2014/main" id="{0BC8D15A-2C8D-20B6-8FFC-12C9E3C61886}"/>
              </a:ext>
            </a:extLst>
          </p:cNvPr>
          <p:cNvSpPr txBox="1"/>
          <p:nvPr/>
        </p:nvSpPr>
        <p:spPr>
          <a:xfrm>
            <a:off x="3102015" y="1776044"/>
            <a:ext cx="760657" cy="369332"/>
          </a:xfrm>
          <a:prstGeom prst="rect">
            <a:avLst/>
          </a:prstGeom>
          <a:noFill/>
        </p:spPr>
        <p:txBody>
          <a:bodyPr wrap="none" rtlCol="0">
            <a:spAutoFit/>
          </a:bodyPr>
          <a:lstStyle/>
          <a:p>
            <a:r>
              <a:rPr lang="en-US" dirty="0"/>
              <a:t>Today</a:t>
            </a:r>
          </a:p>
        </p:txBody>
      </p:sp>
      <p:sp>
        <p:nvSpPr>
          <p:cNvPr id="22" name="Freeform 21">
            <a:extLst>
              <a:ext uri="{FF2B5EF4-FFF2-40B4-BE49-F238E27FC236}">
                <a16:creationId xmlns:a16="http://schemas.microsoft.com/office/drawing/2014/main" id="{C2532E40-3CBB-F1B8-01E9-92511BE937B8}"/>
              </a:ext>
            </a:extLst>
          </p:cNvPr>
          <p:cNvSpPr/>
          <p:nvPr/>
        </p:nvSpPr>
        <p:spPr>
          <a:xfrm>
            <a:off x="3102015" y="2314937"/>
            <a:ext cx="4027990" cy="1608884"/>
          </a:xfrm>
          <a:custGeom>
            <a:avLst/>
            <a:gdLst>
              <a:gd name="connsiteX0" fmla="*/ 4027990 w 4027990"/>
              <a:gd name="connsiteY0" fmla="*/ 1597309 h 1608884"/>
              <a:gd name="connsiteX1" fmla="*/ 2025570 w 4027990"/>
              <a:gd name="connsiteY1" fmla="*/ 3 h 1608884"/>
              <a:gd name="connsiteX2" fmla="*/ 0 w 4027990"/>
              <a:gd name="connsiteY2" fmla="*/ 1608884 h 1608884"/>
            </a:gdLst>
            <a:ahLst/>
            <a:cxnLst>
              <a:cxn ang="0">
                <a:pos x="connsiteX0" y="connsiteY0"/>
              </a:cxn>
              <a:cxn ang="0">
                <a:pos x="connsiteX1" y="connsiteY1"/>
              </a:cxn>
              <a:cxn ang="0">
                <a:pos x="connsiteX2" y="connsiteY2"/>
              </a:cxn>
            </a:cxnLst>
            <a:rect l="l" t="t" r="r" b="b"/>
            <a:pathLst>
              <a:path w="4027990" h="1608884">
                <a:moveTo>
                  <a:pt x="4027990" y="1597309"/>
                </a:moveTo>
                <a:cubicBezTo>
                  <a:pt x="3362446" y="797691"/>
                  <a:pt x="2696902" y="-1926"/>
                  <a:pt x="2025570" y="3"/>
                </a:cubicBezTo>
                <a:cubicBezTo>
                  <a:pt x="1354238" y="1932"/>
                  <a:pt x="677119" y="805408"/>
                  <a:pt x="0" y="1608884"/>
                </a:cubicBezTo>
              </a:path>
            </a:pathLst>
          </a:cu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Freeform 23">
            <a:extLst>
              <a:ext uri="{FF2B5EF4-FFF2-40B4-BE49-F238E27FC236}">
                <a16:creationId xmlns:a16="http://schemas.microsoft.com/office/drawing/2014/main" id="{4B3B74D3-6E63-3F01-79B6-787F082966FA}"/>
              </a:ext>
            </a:extLst>
          </p:cNvPr>
          <p:cNvSpPr/>
          <p:nvPr/>
        </p:nvSpPr>
        <p:spPr>
          <a:xfrm>
            <a:off x="3102015" y="1400505"/>
            <a:ext cx="7280476" cy="2511741"/>
          </a:xfrm>
          <a:custGeom>
            <a:avLst/>
            <a:gdLst>
              <a:gd name="connsiteX0" fmla="*/ 7280476 w 7280476"/>
              <a:gd name="connsiteY0" fmla="*/ 2465443 h 2511741"/>
              <a:gd name="connsiteX1" fmla="*/ 3495555 w 7280476"/>
              <a:gd name="connsiteY1" fmla="*/ 35 h 2511741"/>
              <a:gd name="connsiteX2" fmla="*/ 0 w 7280476"/>
              <a:gd name="connsiteY2" fmla="*/ 2511741 h 2511741"/>
            </a:gdLst>
            <a:ahLst/>
            <a:cxnLst>
              <a:cxn ang="0">
                <a:pos x="connsiteX0" y="connsiteY0"/>
              </a:cxn>
              <a:cxn ang="0">
                <a:pos x="connsiteX1" y="connsiteY1"/>
              </a:cxn>
              <a:cxn ang="0">
                <a:pos x="connsiteX2" y="connsiteY2"/>
              </a:cxn>
            </a:cxnLst>
            <a:rect l="l" t="t" r="r" b="b"/>
            <a:pathLst>
              <a:path w="7280476" h="2511741">
                <a:moveTo>
                  <a:pt x="7280476" y="2465443"/>
                </a:moveTo>
                <a:cubicBezTo>
                  <a:pt x="5994722" y="1228881"/>
                  <a:pt x="4708968" y="-7681"/>
                  <a:pt x="3495555" y="35"/>
                </a:cubicBezTo>
                <a:cubicBezTo>
                  <a:pt x="2282142" y="7751"/>
                  <a:pt x="1141071" y="1259746"/>
                  <a:pt x="0" y="2511741"/>
                </a:cubicBezTo>
              </a:path>
            </a:pathLst>
          </a:cu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EA535768-F392-27B3-A5B2-924D02B39414}"/>
                  </a:ext>
                </a:extLst>
              </p:cNvPr>
              <p:cNvSpPr txBox="1"/>
              <p:nvPr/>
            </p:nvSpPr>
            <p:spPr>
              <a:xfrm>
                <a:off x="2951113" y="2476228"/>
                <a:ext cx="1501815" cy="39158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AU" i="1" smtClean="0">
                              <a:latin typeface="Cambria Math" panose="02040503050406030204" pitchFamily="18" charset="0"/>
                            </a:rPr>
                          </m:ctrlPr>
                        </m:sSubPr>
                        <m:e>
                          <m:r>
                            <a:rPr lang="en-AU" b="0" i="1" smtClean="0">
                              <a:latin typeface="Cambria Math" panose="02040503050406030204" pitchFamily="18" charset="0"/>
                            </a:rPr>
                            <m:t>𝐵</m:t>
                          </m:r>
                        </m:e>
                        <m:sub>
                          <m:r>
                            <a:rPr lang="en-AU" b="0" i="1" smtClean="0">
                              <a:latin typeface="Cambria Math" panose="02040503050406030204" pitchFamily="18" charset="0"/>
                            </a:rPr>
                            <m:t>𝑓𝑖𝑥</m:t>
                          </m:r>
                        </m:sub>
                      </m:sSub>
                      <m:r>
                        <a:rPr lang="en-AU" b="0" i="1" smtClean="0">
                          <a:latin typeface="Cambria Math" panose="02040503050406030204" pitchFamily="18" charset="0"/>
                        </a:rPr>
                        <m:t>=</m:t>
                      </m:r>
                      <m:r>
                        <a:rPr lang="en-AU" b="0" i="1" smtClean="0">
                          <a:solidFill>
                            <a:srgbClr val="FF0000"/>
                          </a:solidFill>
                          <a:latin typeface="Cambria Math" panose="02040503050406030204" pitchFamily="18" charset="0"/>
                        </a:rPr>
                        <m:t>?</m:t>
                      </m:r>
                    </m:oMath>
                  </m:oMathPara>
                </a14:m>
                <a:endParaRPr lang="en-US" dirty="0"/>
              </a:p>
            </p:txBody>
          </p:sp>
        </mc:Choice>
        <mc:Fallback xmlns="">
          <p:sp>
            <p:nvSpPr>
              <p:cNvPr id="26" name="TextBox 25">
                <a:extLst>
                  <a:ext uri="{FF2B5EF4-FFF2-40B4-BE49-F238E27FC236}">
                    <a16:creationId xmlns:a16="http://schemas.microsoft.com/office/drawing/2014/main" id="{871EBB25-5F94-4F16-28C1-7A21C18EC9C1}"/>
                  </a:ext>
                </a:extLst>
              </p:cNvPr>
              <p:cNvSpPr txBox="1">
                <a:spLocks noRot="1" noChangeAspect="1" noMove="1" noResize="1" noEditPoints="1" noAdjustHandles="1" noChangeArrowheads="1" noChangeShapeType="1" noTextEdit="1"/>
              </p:cNvSpPr>
              <p:nvPr/>
            </p:nvSpPr>
            <p:spPr>
              <a:xfrm>
                <a:off x="2951113" y="2476228"/>
                <a:ext cx="1501815" cy="391582"/>
              </a:xfrm>
              <a:prstGeom prst="rect">
                <a:avLst/>
              </a:prstGeom>
              <a:blipFill>
                <a:blip r:embed="rId3"/>
                <a:stretch>
                  <a:fillRect b="-9375"/>
                </a:stretch>
              </a:blipFill>
            </p:spPr>
            <p:txBody>
              <a:bodyPr/>
              <a:lstStyle/>
              <a:p>
                <a:r>
                  <a:rPr lang="en-US">
                    <a:noFill/>
                  </a:rPr>
                  <a:t> </a:t>
                </a:r>
              </a:p>
            </p:txBody>
          </p:sp>
        </mc:Fallback>
      </mc:AlternateContent>
      <p:sp>
        <p:nvSpPr>
          <p:cNvPr id="31" name="TextBox 30">
            <a:extLst>
              <a:ext uri="{FF2B5EF4-FFF2-40B4-BE49-F238E27FC236}">
                <a16:creationId xmlns:a16="http://schemas.microsoft.com/office/drawing/2014/main" id="{CB76B006-57CD-B711-104B-E24B835E42B1}"/>
              </a:ext>
            </a:extLst>
          </p:cNvPr>
          <p:cNvSpPr txBox="1"/>
          <p:nvPr/>
        </p:nvSpPr>
        <p:spPr>
          <a:xfrm>
            <a:off x="6565140" y="3028370"/>
            <a:ext cx="1722779" cy="369332"/>
          </a:xfrm>
          <a:prstGeom prst="rect">
            <a:avLst/>
          </a:prstGeom>
          <a:noFill/>
        </p:spPr>
        <p:txBody>
          <a:bodyPr wrap="none" rtlCol="0">
            <a:spAutoFit/>
          </a:bodyPr>
          <a:lstStyle/>
          <a:p>
            <a:r>
              <a:rPr lang="en-US" dirty="0"/>
              <a:t>Fixed Coupon </a:t>
            </a:r>
            <a:r>
              <a:rPr lang="en-US" altLang="zh-CN" dirty="0"/>
              <a:t>1</a:t>
            </a:r>
            <a:endParaRPr lang="en-US" dirty="0"/>
          </a:p>
        </p:txBody>
      </p:sp>
      <p:sp>
        <p:nvSpPr>
          <p:cNvPr id="33" name="TextBox 32">
            <a:extLst>
              <a:ext uri="{FF2B5EF4-FFF2-40B4-BE49-F238E27FC236}">
                <a16:creationId xmlns:a16="http://schemas.microsoft.com/office/drawing/2014/main" id="{9D86239D-7E26-616E-96A2-51169D926446}"/>
              </a:ext>
            </a:extLst>
          </p:cNvPr>
          <p:cNvSpPr txBox="1"/>
          <p:nvPr/>
        </p:nvSpPr>
        <p:spPr>
          <a:xfrm>
            <a:off x="9318053" y="2639514"/>
            <a:ext cx="2876300" cy="369332"/>
          </a:xfrm>
          <a:prstGeom prst="rect">
            <a:avLst/>
          </a:prstGeom>
          <a:noFill/>
        </p:spPr>
        <p:txBody>
          <a:bodyPr wrap="none" rtlCol="0">
            <a:spAutoFit/>
          </a:bodyPr>
          <a:lstStyle/>
          <a:p>
            <a:r>
              <a:rPr lang="en-US" dirty="0"/>
              <a:t>Fixed Coupon </a:t>
            </a:r>
            <a:r>
              <a:rPr lang="en-US" altLang="zh-CN" dirty="0"/>
              <a:t>2</a:t>
            </a:r>
            <a:r>
              <a:rPr lang="en-US" dirty="0"/>
              <a:t> + </a:t>
            </a:r>
            <a:r>
              <a:rPr lang="en-US" b="1" dirty="0"/>
              <a:t>Principal</a:t>
            </a: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7A4EDBF9-FACB-5C08-B43F-11DEE2144BD4}"/>
                  </a:ext>
                </a:extLst>
              </p:cNvPr>
              <p:cNvSpPr txBox="1"/>
              <p:nvPr/>
            </p:nvSpPr>
            <p:spPr>
              <a:xfrm>
                <a:off x="3844752" y="4491972"/>
                <a:ext cx="3229932" cy="39369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AU" i="1" smtClean="0">
                              <a:latin typeface="Cambria Math" panose="02040503050406030204" pitchFamily="18" charset="0"/>
                            </a:rPr>
                          </m:ctrlPr>
                        </m:sSubPr>
                        <m:e>
                          <m:r>
                            <a:rPr lang="en-AU" b="0" i="1" smtClean="0">
                              <a:latin typeface="Cambria Math" panose="02040503050406030204" pitchFamily="18" charset="0"/>
                            </a:rPr>
                            <m:t>𝐵</m:t>
                          </m:r>
                        </m:e>
                        <m:sub>
                          <m:r>
                            <a:rPr lang="en-AU" b="0" i="1" smtClean="0">
                              <a:latin typeface="Cambria Math" panose="02040503050406030204" pitchFamily="18" charset="0"/>
                            </a:rPr>
                            <m:t>𝑓𝑖𝑥</m:t>
                          </m:r>
                        </m:sub>
                      </m:sSub>
                      <m:r>
                        <a:rPr lang="en-AU" b="0" i="1" smtClean="0">
                          <a:latin typeface="Cambria Math" panose="02040503050406030204" pitchFamily="18" charset="0"/>
                        </a:rPr>
                        <m:t>=</m:t>
                      </m:r>
                      <m:d>
                        <m:dPr>
                          <m:ctrlPr>
                            <a:rPr lang="en-AU" b="0" i="1" smtClean="0">
                              <a:latin typeface="Cambria Math" panose="02040503050406030204" pitchFamily="18" charset="0"/>
                            </a:rPr>
                          </m:ctrlPr>
                        </m:dPr>
                        <m:e>
                          <m:r>
                            <a:rPr lang="en-AU" b="0" i="1" smtClean="0">
                              <a:latin typeface="Cambria Math" panose="02040503050406030204" pitchFamily="18" charset="0"/>
                            </a:rPr>
                            <m:t>𝐿</m:t>
                          </m:r>
                          <m:r>
                            <a:rPr lang="en-AU" b="0" i="1" smtClean="0">
                              <a:latin typeface="Cambria Math" panose="02040503050406030204" pitchFamily="18" charset="0"/>
                            </a:rPr>
                            <m:t>+</m:t>
                          </m:r>
                          <m:sSup>
                            <m:sSupPr>
                              <m:ctrlPr>
                                <a:rPr lang="en-AU" b="0" i="1" smtClean="0">
                                  <a:latin typeface="Cambria Math" panose="02040503050406030204" pitchFamily="18" charset="0"/>
                                </a:rPr>
                              </m:ctrlPr>
                            </m:sSupPr>
                            <m:e>
                              <m:r>
                                <a:rPr lang="en-AU" b="0" i="1" smtClean="0">
                                  <a:latin typeface="Cambria Math" panose="02040503050406030204" pitchFamily="18" charset="0"/>
                                </a:rPr>
                                <m:t>𝑘</m:t>
                              </m:r>
                            </m:e>
                            <m:sup>
                              <m:r>
                                <a:rPr lang="en-AU" b="0" i="1" smtClean="0">
                                  <a:latin typeface="Cambria Math" panose="02040503050406030204" pitchFamily="18" charset="0"/>
                                </a:rPr>
                                <m:t>∗</m:t>
                              </m:r>
                            </m:sup>
                          </m:sSup>
                        </m:e>
                      </m:d>
                      <m:sSup>
                        <m:sSupPr>
                          <m:ctrlPr>
                            <a:rPr lang="en-AU" b="0" i="1" smtClean="0">
                              <a:latin typeface="Cambria Math" panose="02040503050406030204" pitchFamily="18" charset="0"/>
                            </a:rPr>
                          </m:ctrlPr>
                        </m:sSupPr>
                        <m:e>
                          <m:r>
                            <a:rPr lang="en-AU" b="0" i="1" smtClean="0">
                              <a:latin typeface="Cambria Math" panose="02040503050406030204" pitchFamily="18" charset="0"/>
                            </a:rPr>
                            <m:t>𝑒</m:t>
                          </m:r>
                        </m:e>
                        <m:sup>
                          <m:r>
                            <a:rPr lang="en-AU" b="0" i="1" smtClean="0">
                              <a:latin typeface="Cambria Math" panose="02040503050406030204" pitchFamily="18" charset="0"/>
                            </a:rPr>
                            <m:t>−</m:t>
                          </m:r>
                          <m:r>
                            <a:rPr lang="en-AU" b="0" i="1" smtClean="0">
                              <a:latin typeface="Cambria Math" panose="02040503050406030204" pitchFamily="18" charset="0"/>
                            </a:rPr>
                            <m:t>𝑟𝑡</m:t>
                          </m:r>
                        </m:sup>
                      </m:sSup>
                      <m:r>
                        <a:rPr lang="en-AU" b="0" i="1" smtClean="0">
                          <a:latin typeface="Cambria Math" panose="02040503050406030204" pitchFamily="18" charset="0"/>
                        </a:rPr>
                        <m:t>=</m:t>
                      </m:r>
                      <m:r>
                        <a:rPr lang="en-AU" b="0" i="1" smtClean="0">
                          <a:solidFill>
                            <a:srgbClr val="FF0000"/>
                          </a:solidFill>
                          <a:latin typeface="Cambria Math" panose="02040503050406030204" pitchFamily="18" charset="0"/>
                        </a:rPr>
                        <m:t>?</m:t>
                      </m:r>
                    </m:oMath>
                  </m:oMathPara>
                </a14:m>
                <a:endParaRPr lang="en-US" dirty="0"/>
              </a:p>
            </p:txBody>
          </p:sp>
        </mc:Choice>
        <mc:Fallback xmlns="">
          <p:sp>
            <p:nvSpPr>
              <p:cNvPr id="42" name="TextBox 41">
                <a:extLst>
                  <a:ext uri="{FF2B5EF4-FFF2-40B4-BE49-F238E27FC236}">
                    <a16:creationId xmlns:a16="http://schemas.microsoft.com/office/drawing/2014/main" id="{1C26862A-330A-DA58-7EC7-66503FE011B1}"/>
                  </a:ext>
                </a:extLst>
              </p:cNvPr>
              <p:cNvSpPr txBox="1">
                <a:spLocks noRot="1" noChangeAspect="1" noMove="1" noResize="1" noEditPoints="1" noAdjustHandles="1" noChangeArrowheads="1" noChangeShapeType="1" noTextEdit="1"/>
              </p:cNvSpPr>
              <p:nvPr/>
            </p:nvSpPr>
            <p:spPr>
              <a:xfrm>
                <a:off x="3844752" y="4491972"/>
                <a:ext cx="3229932" cy="393698"/>
              </a:xfrm>
              <a:prstGeom prst="rect">
                <a:avLst/>
              </a:prstGeom>
              <a:blipFill>
                <a:blip r:embed="rId4"/>
                <a:stretch>
                  <a:fillRect b="-9375"/>
                </a:stretch>
              </a:blipFill>
            </p:spPr>
            <p:txBody>
              <a:bodyPr/>
              <a:lstStyle/>
              <a:p>
                <a:r>
                  <a:rPr lang="en-US">
                    <a:noFill/>
                  </a:rPr>
                  <a:t> </a:t>
                </a:r>
              </a:p>
            </p:txBody>
          </p:sp>
        </mc:Fallback>
      </mc:AlternateContent>
      <p:sp>
        <p:nvSpPr>
          <p:cNvPr id="44" name="Date Placeholder 43">
            <a:extLst>
              <a:ext uri="{FF2B5EF4-FFF2-40B4-BE49-F238E27FC236}">
                <a16:creationId xmlns:a16="http://schemas.microsoft.com/office/drawing/2014/main" id="{A5571B2F-1F94-9533-372E-CED26E0C1848}"/>
              </a:ext>
            </a:extLst>
          </p:cNvPr>
          <p:cNvSpPr>
            <a:spLocks noGrp="1"/>
          </p:cNvSpPr>
          <p:nvPr>
            <p:ph type="dt" sz="half" idx="10"/>
          </p:nvPr>
        </p:nvSpPr>
        <p:spPr/>
        <p:txBody>
          <a:bodyPr/>
          <a:lstStyle/>
          <a:p>
            <a:fld id="{883DF93B-F1BE-2145-97FA-08423FC218CE}" type="datetime1">
              <a:rPr lang="en-AU" smtClean="0"/>
              <a:t>28/8/2026</a:t>
            </a:fld>
            <a:endParaRPr lang="en-US"/>
          </a:p>
        </p:txBody>
      </p:sp>
      <p:sp>
        <p:nvSpPr>
          <p:cNvPr id="45" name="Footer Placeholder 44">
            <a:extLst>
              <a:ext uri="{FF2B5EF4-FFF2-40B4-BE49-F238E27FC236}">
                <a16:creationId xmlns:a16="http://schemas.microsoft.com/office/drawing/2014/main" id="{77318BBF-87E0-DB0E-BBC8-D71048898D0F}"/>
              </a:ext>
            </a:extLst>
          </p:cNvPr>
          <p:cNvSpPr>
            <a:spLocks noGrp="1"/>
          </p:cNvSpPr>
          <p:nvPr>
            <p:ph type="ftr" sz="quarter" idx="11"/>
          </p:nvPr>
        </p:nvSpPr>
        <p:spPr/>
        <p:txBody>
          <a:bodyPr/>
          <a:lstStyle/>
          <a:p>
            <a:r>
              <a:rPr lang="en-US" dirty="0"/>
              <a:t>FINA2204 - Tutorial 5</a:t>
            </a:r>
          </a:p>
        </p:txBody>
      </p:sp>
      <p:sp>
        <p:nvSpPr>
          <p:cNvPr id="46" name="Slide Number Placeholder 45">
            <a:extLst>
              <a:ext uri="{FF2B5EF4-FFF2-40B4-BE49-F238E27FC236}">
                <a16:creationId xmlns:a16="http://schemas.microsoft.com/office/drawing/2014/main" id="{C9442754-EF73-2A67-DC17-5CCAFAE676EB}"/>
              </a:ext>
            </a:extLst>
          </p:cNvPr>
          <p:cNvSpPr>
            <a:spLocks noGrp="1"/>
          </p:cNvSpPr>
          <p:nvPr>
            <p:ph type="sldNum" sz="quarter" idx="12"/>
          </p:nvPr>
        </p:nvSpPr>
        <p:spPr/>
        <p:txBody>
          <a:bodyPr/>
          <a:lstStyle/>
          <a:p>
            <a:fld id="{9855740F-6ECD-274F-B089-6B266B6B07F9}" type="slidenum">
              <a:rPr lang="en-US" smtClean="0"/>
              <a:t>32</a:t>
            </a:fld>
            <a:endParaRPr lang="en-US"/>
          </a:p>
        </p:txBody>
      </p:sp>
      <p:sp>
        <p:nvSpPr>
          <p:cNvPr id="3" name="Freeform 2">
            <a:extLst>
              <a:ext uri="{FF2B5EF4-FFF2-40B4-BE49-F238E27FC236}">
                <a16:creationId xmlns:a16="http://schemas.microsoft.com/office/drawing/2014/main" id="{631B09EA-8043-9E87-BBDD-E56622CF3B68}"/>
              </a:ext>
            </a:extLst>
          </p:cNvPr>
          <p:cNvSpPr/>
          <p:nvPr/>
        </p:nvSpPr>
        <p:spPr>
          <a:xfrm>
            <a:off x="3138985" y="4189863"/>
            <a:ext cx="3985146" cy="1424026"/>
          </a:xfrm>
          <a:custGeom>
            <a:avLst/>
            <a:gdLst>
              <a:gd name="connsiteX0" fmla="*/ 3985146 w 3985146"/>
              <a:gd name="connsiteY0" fmla="*/ 368489 h 1424026"/>
              <a:gd name="connsiteX1" fmla="*/ 1937982 w 3985146"/>
              <a:gd name="connsiteY1" fmla="*/ 1419367 h 1424026"/>
              <a:gd name="connsiteX2" fmla="*/ 0 w 3985146"/>
              <a:gd name="connsiteY2" fmla="*/ 0 h 1424026"/>
            </a:gdLst>
            <a:ahLst/>
            <a:cxnLst>
              <a:cxn ang="0">
                <a:pos x="connsiteX0" y="connsiteY0"/>
              </a:cxn>
              <a:cxn ang="0">
                <a:pos x="connsiteX1" y="connsiteY1"/>
              </a:cxn>
              <a:cxn ang="0">
                <a:pos x="connsiteX2" y="connsiteY2"/>
              </a:cxn>
            </a:cxnLst>
            <a:rect l="l" t="t" r="r" b="b"/>
            <a:pathLst>
              <a:path w="3985146" h="1424026">
                <a:moveTo>
                  <a:pt x="3985146" y="368489"/>
                </a:moveTo>
                <a:cubicBezTo>
                  <a:pt x="3293659" y="924635"/>
                  <a:pt x="2602173" y="1480782"/>
                  <a:pt x="1937982" y="1419367"/>
                </a:cubicBezTo>
                <a:cubicBezTo>
                  <a:pt x="1273791" y="1357952"/>
                  <a:pt x="329821" y="238836"/>
                  <a:pt x="0" y="0"/>
                </a:cubicBezTo>
              </a:path>
            </a:pathLst>
          </a:custGeom>
          <a:no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Connector 5">
            <a:extLst>
              <a:ext uri="{FF2B5EF4-FFF2-40B4-BE49-F238E27FC236}">
                <a16:creationId xmlns:a16="http://schemas.microsoft.com/office/drawing/2014/main" id="{9BE94E6D-D933-ED65-CEDE-A353756E929E}"/>
              </a:ext>
            </a:extLst>
          </p:cNvPr>
          <p:cNvCxnSpPr/>
          <p:nvPr/>
        </p:nvCxnSpPr>
        <p:spPr>
          <a:xfrm>
            <a:off x="4026087" y="4653887"/>
            <a:ext cx="2832400" cy="0"/>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1F6A8969-F040-B7A9-4305-1CBB0B657B3B}"/>
                  </a:ext>
                </a:extLst>
              </p:cNvPr>
              <p:cNvSpPr txBox="1"/>
              <p:nvPr/>
            </p:nvSpPr>
            <p:spPr>
              <a:xfrm>
                <a:off x="3335208" y="5661955"/>
                <a:ext cx="3051944" cy="64633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AU" b="0" i="1" dirty="0" smtClean="0">
                          <a:solidFill>
                            <a:srgbClr val="0070C0"/>
                          </a:solidFill>
                          <a:latin typeface="Cambria Math" panose="02040503050406030204" pitchFamily="18" charset="0"/>
                        </a:rPr>
                        <m:t>𝐹𝑙𝑜𝑎𝑡𝑖𝑛𝑔</m:t>
                      </m:r>
                      <m:r>
                        <a:rPr lang="en-AU" b="0" i="1" dirty="0" smtClean="0">
                          <a:solidFill>
                            <a:srgbClr val="0070C0"/>
                          </a:solidFill>
                          <a:latin typeface="Cambria Math" panose="02040503050406030204" pitchFamily="18" charset="0"/>
                        </a:rPr>
                        <m:t> </m:t>
                      </m:r>
                      <m:r>
                        <a:rPr lang="en-AU" b="0" i="1" dirty="0" smtClean="0">
                          <a:solidFill>
                            <a:srgbClr val="0070C0"/>
                          </a:solidFill>
                          <a:latin typeface="Cambria Math" panose="02040503050406030204" pitchFamily="18" charset="0"/>
                        </a:rPr>
                        <m:t>𝑐𝑜𝑢𝑝𝑜𝑛</m:t>
                      </m:r>
                      <m:r>
                        <a:rPr lang="en-US" i="1" dirty="0" smtClean="0">
                          <a:solidFill>
                            <a:srgbClr val="0070C0"/>
                          </a:solidFill>
                          <a:latin typeface="Cambria Math" panose="02040503050406030204" pitchFamily="18" charset="0"/>
                        </a:rPr>
                        <m:t> 1</m:t>
                      </m:r>
                    </m:oMath>
                  </m:oMathPara>
                </a14:m>
                <a:endParaRPr lang="en-US" dirty="0">
                  <a:solidFill>
                    <a:srgbClr val="0070C0"/>
                  </a:solidFill>
                </a:endParaRPr>
              </a:p>
              <a:p>
                <a:endParaRPr lang="en-US" dirty="0"/>
              </a:p>
            </p:txBody>
          </p:sp>
        </mc:Choice>
        <mc:Fallback xmlns="">
          <p:sp>
            <p:nvSpPr>
              <p:cNvPr id="10" name="TextBox 9">
                <a:extLst>
                  <a:ext uri="{FF2B5EF4-FFF2-40B4-BE49-F238E27FC236}">
                    <a16:creationId xmlns:a16="http://schemas.microsoft.com/office/drawing/2014/main" id="{1F6A8969-F040-B7A9-4305-1CBB0B657B3B}"/>
                  </a:ext>
                </a:extLst>
              </p:cNvPr>
              <p:cNvSpPr txBox="1">
                <a:spLocks noRot="1" noChangeAspect="1" noMove="1" noResize="1" noEditPoints="1" noAdjustHandles="1" noChangeArrowheads="1" noChangeShapeType="1" noTextEdit="1"/>
              </p:cNvSpPr>
              <p:nvPr/>
            </p:nvSpPr>
            <p:spPr>
              <a:xfrm>
                <a:off x="3335208" y="5661955"/>
                <a:ext cx="3051944" cy="646331"/>
              </a:xfrm>
              <a:prstGeom prst="rect">
                <a:avLst/>
              </a:prstGeom>
              <a:blipFill>
                <a:blip r:embed="rId5"/>
                <a:stretch>
                  <a:fillRect/>
                </a:stretch>
              </a:blipFill>
            </p:spPr>
            <p:txBody>
              <a:bodyPr/>
              <a:lstStyle/>
              <a:p>
                <a:r>
                  <a:rPr lang="en-US">
                    <a:noFill/>
                  </a:rPr>
                  <a:t> </a:t>
                </a:r>
              </a:p>
            </p:txBody>
          </p:sp>
        </mc:Fallback>
      </mc:AlternateContent>
      <p:sp>
        <p:nvSpPr>
          <p:cNvPr id="12" name="Freeform 11">
            <a:extLst>
              <a:ext uri="{FF2B5EF4-FFF2-40B4-BE49-F238E27FC236}">
                <a16:creationId xmlns:a16="http://schemas.microsoft.com/office/drawing/2014/main" id="{1FBD1A53-0E3A-1494-B0A6-BC96061A7BCE}"/>
              </a:ext>
            </a:extLst>
          </p:cNvPr>
          <p:cNvSpPr/>
          <p:nvPr/>
        </p:nvSpPr>
        <p:spPr>
          <a:xfrm>
            <a:off x="3152633" y="4203510"/>
            <a:ext cx="7274257" cy="1654698"/>
          </a:xfrm>
          <a:custGeom>
            <a:avLst/>
            <a:gdLst>
              <a:gd name="connsiteX0" fmla="*/ 7274257 w 7274257"/>
              <a:gd name="connsiteY0" fmla="*/ 341194 h 1654698"/>
              <a:gd name="connsiteX1" fmla="*/ 3848668 w 7274257"/>
              <a:gd name="connsiteY1" fmla="*/ 1651380 h 1654698"/>
              <a:gd name="connsiteX2" fmla="*/ 0 w 7274257"/>
              <a:gd name="connsiteY2" fmla="*/ 0 h 1654698"/>
            </a:gdLst>
            <a:ahLst/>
            <a:cxnLst>
              <a:cxn ang="0">
                <a:pos x="connsiteX0" y="connsiteY0"/>
              </a:cxn>
              <a:cxn ang="0">
                <a:pos x="connsiteX1" y="connsiteY1"/>
              </a:cxn>
              <a:cxn ang="0">
                <a:pos x="connsiteX2" y="connsiteY2"/>
              </a:cxn>
            </a:cxnLst>
            <a:rect l="l" t="t" r="r" b="b"/>
            <a:pathLst>
              <a:path w="7274257" h="1654698">
                <a:moveTo>
                  <a:pt x="7274257" y="341194"/>
                </a:moveTo>
                <a:cubicBezTo>
                  <a:pt x="6167650" y="1024720"/>
                  <a:pt x="5061044" y="1708246"/>
                  <a:pt x="3848668" y="1651380"/>
                </a:cubicBezTo>
                <a:cubicBezTo>
                  <a:pt x="2636292" y="1594514"/>
                  <a:pt x="1318146" y="797257"/>
                  <a:pt x="0" y="0"/>
                </a:cubicBezTo>
              </a:path>
            </a:pathLst>
          </a:custGeom>
          <a:no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06AD549E-1456-1057-88BC-ABE23752D21D}"/>
                  </a:ext>
                </a:extLst>
              </p:cNvPr>
              <p:cNvSpPr txBox="1"/>
              <p:nvPr/>
            </p:nvSpPr>
            <p:spPr>
              <a:xfrm>
                <a:off x="7142050" y="5825784"/>
                <a:ext cx="4401238" cy="91698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AU" b="0" i="1" dirty="0" smtClean="0">
                          <a:solidFill>
                            <a:srgbClr val="0070C0"/>
                          </a:solidFill>
                          <a:latin typeface="Cambria Math" panose="02040503050406030204" pitchFamily="18" charset="0"/>
                        </a:rPr>
                        <m:t>𝐹𝑙𝑜𝑎𝑡𝑖𝑛𝑔</m:t>
                      </m:r>
                      <m:r>
                        <a:rPr lang="en-AU" b="0" i="1" dirty="0" smtClean="0">
                          <a:solidFill>
                            <a:srgbClr val="0070C0"/>
                          </a:solidFill>
                          <a:latin typeface="Cambria Math" panose="02040503050406030204" pitchFamily="18" charset="0"/>
                        </a:rPr>
                        <m:t> </m:t>
                      </m:r>
                      <m:r>
                        <a:rPr lang="en-AU" b="0" i="1" dirty="0" smtClean="0">
                          <a:solidFill>
                            <a:srgbClr val="0070C0"/>
                          </a:solidFill>
                          <a:latin typeface="Cambria Math" panose="02040503050406030204" pitchFamily="18" charset="0"/>
                        </a:rPr>
                        <m:t>𝑐𝑜𝑢𝑝𝑜𝑛</m:t>
                      </m:r>
                      <m:r>
                        <a:rPr lang="en-US" i="1" dirty="0" smtClean="0">
                          <a:solidFill>
                            <a:srgbClr val="0070C0"/>
                          </a:solidFill>
                          <a:latin typeface="Cambria Math" panose="02040503050406030204" pitchFamily="18" charset="0"/>
                        </a:rPr>
                        <m:t> 2</m:t>
                      </m:r>
                      <m:r>
                        <a:rPr lang="en-AU" b="0" i="1" dirty="0" smtClean="0">
                          <a:solidFill>
                            <a:srgbClr val="0070C0"/>
                          </a:solidFill>
                          <a:latin typeface="Cambria Math" panose="02040503050406030204" pitchFamily="18" charset="0"/>
                        </a:rPr>
                        <m:t>(</m:t>
                      </m:r>
                      <m:r>
                        <a:rPr lang="en-AU" b="1" i="1" dirty="0" smtClean="0">
                          <a:solidFill>
                            <a:srgbClr val="0070C0"/>
                          </a:solidFill>
                          <a:latin typeface="Cambria Math" panose="02040503050406030204" pitchFamily="18" charset="0"/>
                        </a:rPr>
                        <m:t>𝒊𝒎𝒑𝒍𝒆𝒅</m:t>
                      </m:r>
                      <m:r>
                        <a:rPr lang="en-AU" b="1" i="1" dirty="0" smtClean="0">
                          <a:solidFill>
                            <a:srgbClr val="0070C0"/>
                          </a:solidFill>
                          <a:latin typeface="Cambria Math" panose="02040503050406030204" pitchFamily="18" charset="0"/>
                        </a:rPr>
                        <m:t> </m:t>
                      </m:r>
                      <m:r>
                        <a:rPr lang="en-AU" b="1" i="1" dirty="0" smtClean="0">
                          <a:solidFill>
                            <a:srgbClr val="0070C0"/>
                          </a:solidFill>
                          <a:latin typeface="Cambria Math" panose="02040503050406030204" pitchFamily="18" charset="0"/>
                        </a:rPr>
                        <m:t>𝒇𝒐𝒓𝒘𝒂𝒓𝒅</m:t>
                      </m:r>
                      <m:r>
                        <a:rPr lang="zh-CN" altLang="en-US" b="1" i="1" dirty="0" smtClean="0">
                          <a:solidFill>
                            <a:srgbClr val="0070C0"/>
                          </a:solidFill>
                          <a:latin typeface="Cambria Math" panose="02040503050406030204" pitchFamily="18" charset="0"/>
                        </a:rPr>
                        <m:t> </m:t>
                      </m:r>
                      <m:r>
                        <a:rPr lang="en-AU" altLang="zh-CN" b="1" i="1" dirty="0" smtClean="0">
                          <a:solidFill>
                            <a:srgbClr val="0070C0"/>
                          </a:solidFill>
                          <a:latin typeface="Cambria Math" panose="02040503050406030204" pitchFamily="18" charset="0"/>
                        </a:rPr>
                        <m:t>𝑩𝑩𝑺𝑾</m:t>
                      </m:r>
                      <m:r>
                        <a:rPr lang="en-AU" b="0" i="1" dirty="0" smtClean="0">
                          <a:solidFill>
                            <a:srgbClr val="0070C0"/>
                          </a:solidFill>
                          <a:latin typeface="Cambria Math" panose="02040503050406030204" pitchFamily="18" charset="0"/>
                        </a:rPr>
                        <m:t>)</m:t>
                      </m:r>
                      <m:r>
                        <a:rPr lang="en-US" i="1" dirty="0" smtClean="0">
                          <a:solidFill>
                            <a:srgbClr val="0070C0"/>
                          </a:solidFill>
                          <a:latin typeface="Cambria Math" panose="02040503050406030204" pitchFamily="18" charset="0"/>
                        </a:rPr>
                        <m:t>+</m:t>
                      </m:r>
                      <m:r>
                        <a:rPr lang="en-AU" b="0" i="1" dirty="0" smtClean="0">
                          <a:solidFill>
                            <a:srgbClr val="0070C0"/>
                          </a:solidFill>
                          <a:latin typeface="Cambria Math" panose="02040503050406030204" pitchFamily="18" charset="0"/>
                        </a:rPr>
                        <m:t>𝑃𝑟𝑖𝑛𝑐𝑖𝑝𝑎𝑙</m:t>
                      </m:r>
                    </m:oMath>
                  </m:oMathPara>
                </a14:m>
                <a:endParaRPr lang="en-US" dirty="0">
                  <a:solidFill>
                    <a:srgbClr val="0070C0"/>
                  </a:solidFill>
                </a:endParaRPr>
              </a:p>
              <a:p>
                <a:endParaRPr lang="en-US" dirty="0"/>
              </a:p>
            </p:txBody>
          </p:sp>
        </mc:Choice>
        <mc:Fallback xmlns="">
          <p:sp>
            <p:nvSpPr>
              <p:cNvPr id="13" name="TextBox 12">
                <a:extLst>
                  <a:ext uri="{FF2B5EF4-FFF2-40B4-BE49-F238E27FC236}">
                    <a16:creationId xmlns:a16="http://schemas.microsoft.com/office/drawing/2014/main" id="{06AD549E-1456-1057-88BC-ABE23752D21D}"/>
                  </a:ext>
                </a:extLst>
              </p:cNvPr>
              <p:cNvSpPr txBox="1">
                <a:spLocks noRot="1" noChangeAspect="1" noMove="1" noResize="1" noEditPoints="1" noAdjustHandles="1" noChangeArrowheads="1" noChangeShapeType="1" noTextEdit="1"/>
              </p:cNvSpPr>
              <p:nvPr/>
            </p:nvSpPr>
            <p:spPr>
              <a:xfrm>
                <a:off x="7142050" y="5825784"/>
                <a:ext cx="4401238" cy="916982"/>
              </a:xfrm>
              <a:prstGeom prst="rect">
                <a:avLst/>
              </a:prstGeom>
              <a:blipFill>
                <a:blip r:embed="rId6"/>
                <a:stretch>
                  <a:fillRect l="-575" r="-9195"/>
                </a:stretch>
              </a:blipFill>
            </p:spPr>
            <p:txBody>
              <a:bodyPr/>
              <a:lstStyle/>
              <a:p>
                <a:r>
                  <a:rPr lang="en-US">
                    <a:noFill/>
                  </a:rPr>
                  <a:t> </a:t>
                </a:r>
              </a:p>
            </p:txBody>
          </p:sp>
        </mc:Fallback>
      </mc:AlternateContent>
    </p:spTree>
    <p:extLst>
      <p:ext uri="{BB962C8B-B14F-4D97-AF65-F5344CB8AC3E}">
        <p14:creationId xmlns:p14="http://schemas.microsoft.com/office/powerpoint/2010/main" val="36451770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2"/>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4"/>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3"/>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24" grpId="0" animBg="1"/>
      <p:bldP spid="26" grpId="0"/>
      <p:bldP spid="31" grpId="0"/>
      <p:bldP spid="33" grpId="0"/>
      <p:bldP spid="3" grpId="0" animBg="1"/>
      <p:bldP spid="10" grpId="0"/>
      <p:bldP spid="12" grpId="0" animBg="1"/>
      <p:bldP spid="13"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668C92-75CF-FD5D-CA6A-EBC8441449AA}"/>
              </a:ext>
            </a:extLst>
          </p:cNvPr>
          <p:cNvSpPr>
            <a:spLocks noGrp="1"/>
          </p:cNvSpPr>
          <p:nvPr>
            <p:ph type="title"/>
          </p:nvPr>
        </p:nvSpPr>
        <p:spPr/>
        <p:txBody>
          <a:bodyPr/>
          <a:lstStyle/>
          <a:p>
            <a:r>
              <a:rPr lang="en-US" dirty="0"/>
              <a:t>Recap: Valuation of interest rate swaps </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128528D-B04F-560C-7AD3-F2702B5BDDCA}"/>
                  </a:ext>
                </a:extLst>
              </p:cNvPr>
              <p:cNvSpPr>
                <a:spLocks noGrp="1"/>
              </p:cNvSpPr>
              <p:nvPr>
                <p:ph idx="1"/>
              </p:nvPr>
            </p:nvSpPr>
            <p:spPr/>
            <p:txBody>
              <a:bodyPr>
                <a:normAutofit/>
              </a:bodyPr>
              <a:lstStyle/>
              <a:p>
                <a:pPr marL="0" indent="0">
                  <a:buNone/>
                </a:pPr>
                <a:r>
                  <a:rPr lang="en-AU" b="1" dirty="0"/>
                  <a:t>x% per annum vs. x% (compounded annually)</a:t>
                </a:r>
              </a:p>
              <a:p>
                <a:r>
                  <a:rPr lang="en-AU" dirty="0"/>
                  <a:t>“x% per annum” is the </a:t>
                </a:r>
                <a:r>
                  <a:rPr lang="en-AU" b="1" dirty="0"/>
                  <a:t>nominal</a:t>
                </a:r>
                <a:r>
                  <a:rPr lang="en-AU" dirty="0"/>
                  <a:t> interest rate. </a:t>
                </a:r>
              </a:p>
              <a:p>
                <a:r>
                  <a:rPr lang="en-AU" i="1" dirty="0"/>
                  <a:t>“How often is that interest calculated?”</a:t>
                </a:r>
                <a14:m>
                  <m:oMath xmlns:m="http://schemas.openxmlformats.org/officeDocument/2006/math">
                    <m:r>
                      <a:rPr lang="en-AU" i="1" smtClean="0">
                        <a:latin typeface="Cambria Math" panose="02040503050406030204" pitchFamily="18" charset="0"/>
                        <a:ea typeface="Cambria Math" panose="02040503050406030204" pitchFamily="18" charset="0"/>
                      </a:rPr>
                      <m:t>→</m:t>
                    </m:r>
                  </m:oMath>
                </a14:m>
                <a:r>
                  <a:rPr lang="en-AU" i="1" dirty="0"/>
                  <a:t> </a:t>
                </a:r>
                <a:r>
                  <a:rPr lang="en-AU" b="1" i="1" dirty="0">
                    <a:solidFill>
                      <a:srgbClr val="FF0000"/>
                    </a:solidFill>
                  </a:rPr>
                  <a:t>compounding frequency</a:t>
                </a:r>
                <a:r>
                  <a:rPr lang="en-AU" i="1" dirty="0"/>
                  <a:t> (annually, quarterly, or continuously)</a:t>
                </a:r>
              </a:p>
              <a:p>
                <a:r>
                  <a:rPr lang="en-AU" dirty="0"/>
                  <a:t>Discrete compounded</a:t>
                </a:r>
              </a:p>
              <a:p>
                <a:pPr marL="0" indent="0">
                  <a:buNone/>
                </a:pPr>
                <a14:m>
                  <m:oMathPara xmlns:m="http://schemas.openxmlformats.org/officeDocument/2006/math">
                    <m:oMathParaPr>
                      <m:jc m:val="centerGroup"/>
                    </m:oMathParaPr>
                    <m:oMath xmlns:m="http://schemas.openxmlformats.org/officeDocument/2006/math">
                      <m:r>
                        <m:rPr>
                          <m:sty m:val="p"/>
                        </m:rPr>
                        <a:rPr lang="en-AU" smtClean="0">
                          <a:solidFill>
                            <a:schemeClr val="tx1"/>
                          </a:solidFill>
                          <a:latin typeface="Cambria Math" panose="02040503050406030204" pitchFamily="18" charset="0"/>
                        </a:rPr>
                        <m:t>PV</m:t>
                      </m:r>
                      <m:r>
                        <a:rPr lang="en-AU" smtClean="0">
                          <a:solidFill>
                            <a:schemeClr val="tx1"/>
                          </a:solidFill>
                          <a:latin typeface="Cambria Math" panose="02040503050406030204" pitchFamily="18" charset="0"/>
                        </a:rPr>
                        <m:t>=</m:t>
                      </m:r>
                      <m:r>
                        <m:rPr>
                          <m:sty m:val="p"/>
                        </m:rPr>
                        <a:rPr lang="en-AU" smtClean="0">
                          <a:solidFill>
                            <a:schemeClr val="tx1"/>
                          </a:solidFill>
                          <a:latin typeface="Cambria Math" panose="02040503050406030204" pitchFamily="18" charset="0"/>
                        </a:rPr>
                        <m:t>FV</m:t>
                      </m:r>
                      <m:r>
                        <a:rPr lang="en-AU" i="1" smtClean="0">
                          <a:solidFill>
                            <a:srgbClr val="0070C0"/>
                          </a:solidFill>
                          <a:latin typeface="Cambria Math" panose="02040503050406030204" pitchFamily="18" charset="0"/>
                        </a:rPr>
                        <m:t>(1+</m:t>
                      </m:r>
                      <m:f>
                        <m:fPr>
                          <m:ctrlPr>
                            <a:rPr lang="en-AU" i="1">
                              <a:solidFill>
                                <a:srgbClr val="0070C0"/>
                              </a:solidFill>
                              <a:latin typeface="Cambria Math" panose="02040503050406030204" pitchFamily="18" charset="0"/>
                            </a:rPr>
                          </m:ctrlPr>
                        </m:fPr>
                        <m:num>
                          <m:sSub>
                            <m:sSubPr>
                              <m:ctrlPr>
                                <a:rPr lang="en-AU" i="1">
                                  <a:solidFill>
                                    <a:srgbClr val="0070C0"/>
                                  </a:solidFill>
                                  <a:latin typeface="Cambria Math" panose="02040503050406030204" pitchFamily="18" charset="0"/>
                                </a:rPr>
                              </m:ctrlPr>
                            </m:sSubPr>
                            <m:e>
                              <m:r>
                                <a:rPr lang="en-AU" i="1">
                                  <a:solidFill>
                                    <a:srgbClr val="0070C0"/>
                                  </a:solidFill>
                                  <a:latin typeface="Cambria Math" panose="02040503050406030204" pitchFamily="18" charset="0"/>
                                </a:rPr>
                                <m:t>𝑅</m:t>
                              </m:r>
                            </m:e>
                            <m:sub>
                              <m:r>
                                <a:rPr lang="en-AU" i="1">
                                  <a:solidFill>
                                    <a:srgbClr val="0070C0"/>
                                  </a:solidFill>
                                  <a:latin typeface="Cambria Math" panose="02040503050406030204" pitchFamily="18" charset="0"/>
                                </a:rPr>
                                <m:t>𝑚</m:t>
                              </m:r>
                            </m:sub>
                          </m:sSub>
                        </m:num>
                        <m:den>
                          <m:r>
                            <a:rPr lang="en-AU" i="1">
                              <a:solidFill>
                                <a:srgbClr val="0070C0"/>
                              </a:solidFill>
                              <a:latin typeface="Cambria Math" panose="02040503050406030204" pitchFamily="18" charset="0"/>
                            </a:rPr>
                            <m:t>𝑚</m:t>
                          </m:r>
                        </m:den>
                      </m:f>
                      <m:sSup>
                        <m:sSupPr>
                          <m:ctrlPr>
                            <a:rPr lang="en-AU" i="1">
                              <a:solidFill>
                                <a:srgbClr val="0070C0"/>
                              </a:solidFill>
                              <a:latin typeface="Cambria Math" panose="02040503050406030204" pitchFamily="18" charset="0"/>
                            </a:rPr>
                          </m:ctrlPr>
                        </m:sSupPr>
                        <m:e>
                          <m:r>
                            <a:rPr lang="en-AU" i="1">
                              <a:solidFill>
                                <a:srgbClr val="0070C0"/>
                              </a:solidFill>
                              <a:latin typeface="Cambria Math" panose="02040503050406030204" pitchFamily="18" charset="0"/>
                            </a:rPr>
                            <m:t>)</m:t>
                          </m:r>
                        </m:e>
                        <m:sup>
                          <m:r>
                            <a:rPr lang="en-AU" i="1">
                              <a:solidFill>
                                <a:srgbClr val="0070C0"/>
                              </a:solidFill>
                              <a:latin typeface="Cambria Math" panose="02040503050406030204" pitchFamily="18" charset="0"/>
                            </a:rPr>
                            <m:t>−</m:t>
                          </m:r>
                          <m:r>
                            <a:rPr lang="en-AU" i="1">
                              <a:solidFill>
                                <a:srgbClr val="0070C0"/>
                              </a:solidFill>
                              <a:latin typeface="Cambria Math" panose="02040503050406030204" pitchFamily="18" charset="0"/>
                            </a:rPr>
                            <m:t>𝑚𝑇</m:t>
                          </m:r>
                        </m:sup>
                      </m:sSup>
                    </m:oMath>
                  </m:oMathPara>
                </a14:m>
                <a:endParaRPr lang="en-AU" i="1" dirty="0">
                  <a:solidFill>
                    <a:schemeClr val="tx1"/>
                  </a:solidFill>
                  <a:latin typeface="Cambria Math" panose="02040503050406030204" pitchFamily="18" charset="0"/>
                </a:endParaRPr>
              </a:p>
              <a:p>
                <a:r>
                  <a:rPr lang="en-AU" dirty="0"/>
                  <a:t>Continued compounded (</a:t>
                </a:r>
                <a:r>
                  <a:rPr lang="en-AU" dirty="0" err="1"/>
                  <a:t>c.c</a:t>
                </a:r>
                <a:r>
                  <a:rPr lang="en-AU" dirty="0"/>
                  <a:t>)</a:t>
                </a:r>
              </a:p>
              <a:p>
                <a:pPr marL="0" indent="0">
                  <a:buNone/>
                </a:pPr>
                <a14:m>
                  <m:oMathPara xmlns:m="http://schemas.openxmlformats.org/officeDocument/2006/math">
                    <m:oMathParaPr>
                      <m:jc m:val="centerGroup"/>
                    </m:oMathParaPr>
                    <m:oMath xmlns:m="http://schemas.openxmlformats.org/officeDocument/2006/math">
                      <m:r>
                        <a:rPr lang="en-AU" i="1">
                          <a:latin typeface="Cambria Math" panose="02040503050406030204" pitchFamily="18" charset="0"/>
                        </a:rPr>
                        <m:t>𝑃𝑉</m:t>
                      </m:r>
                      <m:r>
                        <a:rPr lang="en-AU" i="1">
                          <a:latin typeface="Cambria Math" panose="02040503050406030204" pitchFamily="18" charset="0"/>
                        </a:rPr>
                        <m:t>=</m:t>
                      </m:r>
                      <m:r>
                        <a:rPr lang="en-AU" i="1">
                          <a:latin typeface="Cambria Math" panose="02040503050406030204" pitchFamily="18" charset="0"/>
                        </a:rPr>
                        <m:t>𝐹𝑉</m:t>
                      </m:r>
                      <m:sSup>
                        <m:sSupPr>
                          <m:ctrlPr>
                            <a:rPr lang="en-AU" i="1">
                              <a:solidFill>
                                <a:srgbClr val="7030A0"/>
                              </a:solidFill>
                              <a:latin typeface="Cambria Math" panose="02040503050406030204" pitchFamily="18" charset="0"/>
                            </a:rPr>
                          </m:ctrlPr>
                        </m:sSupPr>
                        <m:e>
                          <m:r>
                            <a:rPr lang="en-AU" i="1">
                              <a:solidFill>
                                <a:srgbClr val="7030A0"/>
                              </a:solidFill>
                              <a:latin typeface="Cambria Math" panose="02040503050406030204" pitchFamily="18" charset="0"/>
                            </a:rPr>
                            <m:t>𝑒</m:t>
                          </m:r>
                        </m:e>
                        <m:sup>
                          <m:r>
                            <a:rPr lang="en-AU" i="1">
                              <a:solidFill>
                                <a:srgbClr val="7030A0"/>
                              </a:solidFill>
                              <a:latin typeface="Cambria Math" panose="02040503050406030204" pitchFamily="18" charset="0"/>
                            </a:rPr>
                            <m:t>−</m:t>
                          </m:r>
                          <m:sSub>
                            <m:sSubPr>
                              <m:ctrlPr>
                                <a:rPr lang="en-AU" i="1">
                                  <a:solidFill>
                                    <a:srgbClr val="7030A0"/>
                                  </a:solidFill>
                                  <a:latin typeface="Cambria Math" panose="02040503050406030204" pitchFamily="18" charset="0"/>
                                </a:rPr>
                              </m:ctrlPr>
                            </m:sSubPr>
                            <m:e>
                              <m:r>
                                <a:rPr lang="en-AU" i="1">
                                  <a:solidFill>
                                    <a:srgbClr val="7030A0"/>
                                  </a:solidFill>
                                  <a:latin typeface="Cambria Math" panose="02040503050406030204" pitchFamily="18" charset="0"/>
                                </a:rPr>
                                <m:t>𝑅</m:t>
                              </m:r>
                            </m:e>
                            <m:sub>
                              <m:r>
                                <a:rPr lang="en-AU" i="1">
                                  <a:solidFill>
                                    <a:srgbClr val="7030A0"/>
                                  </a:solidFill>
                                  <a:latin typeface="Cambria Math" panose="02040503050406030204" pitchFamily="18" charset="0"/>
                                </a:rPr>
                                <m:t>𝑐</m:t>
                              </m:r>
                            </m:sub>
                          </m:sSub>
                          <m:r>
                            <a:rPr lang="en-AU" i="1">
                              <a:solidFill>
                                <a:srgbClr val="7030A0"/>
                              </a:solidFill>
                              <a:latin typeface="Cambria Math" panose="02040503050406030204" pitchFamily="18" charset="0"/>
                            </a:rPr>
                            <m:t>𝑇</m:t>
                          </m:r>
                        </m:sup>
                      </m:sSup>
                    </m:oMath>
                  </m:oMathPara>
                </a14:m>
                <a:endParaRPr lang="en-US" dirty="0"/>
              </a:p>
              <a:p>
                <a:pPr marL="0" indent="0">
                  <a:buNone/>
                </a:pPr>
                <a:endParaRPr lang="en-US" dirty="0"/>
              </a:p>
            </p:txBody>
          </p:sp>
        </mc:Choice>
        <mc:Fallback xmlns="">
          <p:sp>
            <p:nvSpPr>
              <p:cNvPr id="3" name="Content Placeholder 2">
                <a:extLst>
                  <a:ext uri="{FF2B5EF4-FFF2-40B4-BE49-F238E27FC236}">
                    <a16:creationId xmlns:a16="http://schemas.microsoft.com/office/drawing/2014/main" id="{4128528D-B04F-560C-7AD3-F2702B5BDDCA}"/>
                  </a:ext>
                </a:extLst>
              </p:cNvPr>
              <p:cNvSpPr>
                <a:spLocks noGrp="1" noRot="1" noChangeAspect="1" noMove="1" noResize="1" noEditPoints="1" noAdjustHandles="1" noChangeArrowheads="1" noChangeShapeType="1" noTextEdit="1"/>
              </p:cNvSpPr>
              <p:nvPr>
                <p:ph idx="1"/>
              </p:nvPr>
            </p:nvSpPr>
            <p:spPr>
              <a:blipFill>
                <a:blip r:embed="rId3"/>
                <a:stretch>
                  <a:fillRect l="-1206" t="-2326"/>
                </a:stretch>
              </a:blipFill>
            </p:spPr>
            <p:txBody>
              <a:bodyPr/>
              <a:lstStyle/>
              <a:p>
                <a:r>
                  <a:rPr lang="en-US">
                    <a:noFill/>
                  </a:rPr>
                  <a:t> </a:t>
                </a:r>
              </a:p>
            </p:txBody>
          </p:sp>
        </mc:Fallback>
      </mc:AlternateContent>
      <p:sp>
        <p:nvSpPr>
          <p:cNvPr id="4" name="Date Placeholder 3">
            <a:extLst>
              <a:ext uri="{FF2B5EF4-FFF2-40B4-BE49-F238E27FC236}">
                <a16:creationId xmlns:a16="http://schemas.microsoft.com/office/drawing/2014/main" id="{5C551F40-8A8F-4022-C51B-247E33785181}"/>
              </a:ext>
            </a:extLst>
          </p:cNvPr>
          <p:cNvSpPr>
            <a:spLocks noGrp="1"/>
          </p:cNvSpPr>
          <p:nvPr>
            <p:ph type="dt" sz="half" idx="10"/>
          </p:nvPr>
        </p:nvSpPr>
        <p:spPr/>
        <p:txBody>
          <a:bodyPr/>
          <a:lstStyle/>
          <a:p>
            <a:fld id="{B0E461D4-3839-3748-8B1E-E90BB3DA99FF}" type="datetime1">
              <a:rPr lang="en-AU" smtClean="0"/>
              <a:t>28/8/2026</a:t>
            </a:fld>
            <a:endParaRPr lang="en-US"/>
          </a:p>
        </p:txBody>
      </p:sp>
      <p:sp>
        <p:nvSpPr>
          <p:cNvPr id="5" name="Footer Placeholder 4">
            <a:extLst>
              <a:ext uri="{FF2B5EF4-FFF2-40B4-BE49-F238E27FC236}">
                <a16:creationId xmlns:a16="http://schemas.microsoft.com/office/drawing/2014/main" id="{A88B0B6F-8BDA-1A43-EA24-B7044E9C0FA1}"/>
              </a:ext>
            </a:extLst>
          </p:cNvPr>
          <p:cNvSpPr>
            <a:spLocks noGrp="1"/>
          </p:cNvSpPr>
          <p:nvPr>
            <p:ph type="ftr" sz="quarter" idx="11"/>
          </p:nvPr>
        </p:nvSpPr>
        <p:spPr/>
        <p:txBody>
          <a:bodyPr/>
          <a:lstStyle/>
          <a:p>
            <a:r>
              <a:rPr lang="en-US" dirty="0"/>
              <a:t>FINA2204 - Tutorial 5</a:t>
            </a:r>
          </a:p>
        </p:txBody>
      </p:sp>
      <p:sp>
        <p:nvSpPr>
          <p:cNvPr id="6" name="Slide Number Placeholder 5">
            <a:extLst>
              <a:ext uri="{FF2B5EF4-FFF2-40B4-BE49-F238E27FC236}">
                <a16:creationId xmlns:a16="http://schemas.microsoft.com/office/drawing/2014/main" id="{C4774613-5824-CE4D-2A9B-E23423DD76CA}"/>
              </a:ext>
            </a:extLst>
          </p:cNvPr>
          <p:cNvSpPr>
            <a:spLocks noGrp="1"/>
          </p:cNvSpPr>
          <p:nvPr>
            <p:ph type="sldNum" sz="quarter" idx="12"/>
          </p:nvPr>
        </p:nvSpPr>
        <p:spPr/>
        <p:txBody>
          <a:bodyPr/>
          <a:lstStyle/>
          <a:p>
            <a:fld id="{9855740F-6ECD-274F-B089-6B266B6B07F9}" type="slidenum">
              <a:rPr lang="en-US" smtClean="0"/>
              <a:t>33</a:t>
            </a:fld>
            <a:endParaRPr lang="en-US" dirty="0"/>
          </a:p>
        </p:txBody>
      </p:sp>
      <p:sp>
        <p:nvSpPr>
          <p:cNvPr id="7" name="Right Brace 6">
            <a:extLst>
              <a:ext uri="{FF2B5EF4-FFF2-40B4-BE49-F238E27FC236}">
                <a16:creationId xmlns:a16="http://schemas.microsoft.com/office/drawing/2014/main" id="{986FDB1E-30B4-3FDE-2E8E-85524F407041}"/>
              </a:ext>
            </a:extLst>
          </p:cNvPr>
          <p:cNvSpPr/>
          <p:nvPr/>
        </p:nvSpPr>
        <p:spPr>
          <a:xfrm>
            <a:off x="7924800" y="4918304"/>
            <a:ext cx="457200" cy="898902"/>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40F3E915-BF27-1B09-747F-84555D9E8ADC}"/>
                  </a:ext>
                </a:extLst>
              </p:cNvPr>
              <p:cNvSpPr txBox="1"/>
              <p:nvPr/>
            </p:nvSpPr>
            <p:spPr>
              <a:xfrm>
                <a:off x="8610600" y="5213866"/>
                <a:ext cx="3068212" cy="307777"/>
              </a:xfrm>
              <a:prstGeom prst="rect">
                <a:avLst/>
              </a:prstGeom>
            </p:spPr>
            <p:style>
              <a:lnRef idx="2">
                <a:schemeClr val="accent2"/>
              </a:lnRef>
              <a:fillRef idx="1">
                <a:schemeClr val="lt1"/>
              </a:fillRef>
              <a:effectRef idx="0">
                <a:schemeClr val="accent2"/>
              </a:effectRef>
              <a:fontRef idx="minor">
                <a:schemeClr val="dk1"/>
              </a:fontRef>
            </p:style>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AU" sz="2000" b="0" i="1" smtClean="0">
                          <a:latin typeface="Cambria Math" panose="02040503050406030204" pitchFamily="18" charset="0"/>
                        </a:rPr>
                        <m:t>𝑥</m:t>
                      </m:r>
                      <m:r>
                        <a:rPr lang="en-AU" sz="2000" b="0" i="1" smtClean="0">
                          <a:latin typeface="Cambria Math" panose="02040503050406030204" pitchFamily="18" charset="0"/>
                        </a:rPr>
                        <m:t>% </m:t>
                      </m:r>
                      <m:d>
                        <m:dPr>
                          <m:ctrlPr>
                            <a:rPr lang="en-AU" sz="2000" b="0" i="1" smtClean="0">
                              <a:latin typeface="Cambria Math" panose="02040503050406030204" pitchFamily="18" charset="0"/>
                            </a:rPr>
                          </m:ctrlPr>
                        </m:dPr>
                        <m:e>
                          <m:r>
                            <a:rPr lang="en-AU" sz="2000" b="0" i="1" smtClean="0">
                              <a:latin typeface="Cambria Math" panose="02040503050406030204" pitchFamily="18" charset="0"/>
                            </a:rPr>
                            <m:t>𝑐</m:t>
                          </m:r>
                          <m:r>
                            <a:rPr lang="en-AU" sz="2000" b="0" i="1" smtClean="0">
                              <a:latin typeface="Cambria Math" panose="02040503050406030204" pitchFamily="18" charset="0"/>
                            </a:rPr>
                            <m:t>.</m:t>
                          </m:r>
                          <m:r>
                            <a:rPr lang="en-AU" sz="2000" b="0" i="1" smtClean="0">
                              <a:latin typeface="Cambria Math" panose="02040503050406030204" pitchFamily="18" charset="0"/>
                            </a:rPr>
                            <m:t>𝑐</m:t>
                          </m:r>
                        </m:e>
                      </m:d>
                      <m:r>
                        <a:rPr lang="en-AU" sz="2000" b="0" i="1" smtClean="0">
                          <a:latin typeface="Cambria Math" panose="02040503050406030204" pitchFamily="18" charset="0"/>
                        </a:rPr>
                        <m:t> </m:t>
                      </m:r>
                      <m:r>
                        <a:rPr lang="en-AU" sz="2000" b="0" i="1" smtClean="0">
                          <a:latin typeface="Cambria Math" panose="02040503050406030204" pitchFamily="18" charset="0"/>
                          <a:ea typeface="Cambria Math" panose="02040503050406030204" pitchFamily="18" charset="0"/>
                        </a:rPr>
                        <m:t>↔</m:t>
                      </m:r>
                      <m:r>
                        <a:rPr lang="en-AU" sz="2000" b="1" i="1" smtClean="0">
                          <a:latin typeface="Cambria Math" panose="02040503050406030204" pitchFamily="18" charset="0"/>
                          <a:ea typeface="Cambria Math" panose="02040503050406030204" pitchFamily="18" charset="0"/>
                        </a:rPr>
                        <m:t>𝒚</m:t>
                      </m:r>
                      <m:r>
                        <a:rPr lang="en-AU" sz="2000" b="1" i="1" smtClean="0">
                          <a:latin typeface="Cambria Math" panose="02040503050406030204" pitchFamily="18" charset="0"/>
                          <a:ea typeface="Cambria Math" panose="02040503050406030204" pitchFamily="18" charset="0"/>
                        </a:rPr>
                        <m:t>%</m:t>
                      </m:r>
                      <m:r>
                        <a:rPr lang="en-AU" sz="2000" b="0" i="1" smtClean="0">
                          <a:latin typeface="Cambria Math" panose="02040503050406030204" pitchFamily="18" charset="0"/>
                          <a:ea typeface="Cambria Math" panose="02040503050406030204" pitchFamily="18" charset="0"/>
                        </a:rPr>
                        <m:t> (</m:t>
                      </m:r>
                      <m:r>
                        <a:rPr lang="en-AU" sz="2000" b="0" i="1" smtClean="0">
                          <a:latin typeface="Cambria Math" panose="02040503050406030204" pitchFamily="18" charset="0"/>
                          <a:ea typeface="Cambria Math" panose="02040503050406030204" pitchFamily="18" charset="0"/>
                        </a:rPr>
                        <m:t>𝑑𝑖𝑠𝑐𝑟𝑒𝑡𝑒</m:t>
                      </m:r>
                      <m:r>
                        <a:rPr lang="en-AU" sz="2000" b="0" i="1" smtClean="0">
                          <a:latin typeface="Cambria Math" panose="02040503050406030204" pitchFamily="18" charset="0"/>
                          <a:ea typeface="Cambria Math" panose="02040503050406030204" pitchFamily="18" charset="0"/>
                        </a:rPr>
                        <m:t>)</m:t>
                      </m:r>
                    </m:oMath>
                  </m:oMathPara>
                </a14:m>
                <a:endParaRPr lang="en-US" sz="2000" dirty="0"/>
              </a:p>
            </p:txBody>
          </p:sp>
        </mc:Choice>
        <mc:Fallback xmlns="">
          <p:sp>
            <p:nvSpPr>
              <p:cNvPr id="8" name="TextBox 7">
                <a:extLst>
                  <a:ext uri="{FF2B5EF4-FFF2-40B4-BE49-F238E27FC236}">
                    <a16:creationId xmlns:a16="http://schemas.microsoft.com/office/drawing/2014/main" id="{40F3E915-BF27-1B09-747F-84555D9E8ADC}"/>
                  </a:ext>
                </a:extLst>
              </p:cNvPr>
              <p:cNvSpPr txBox="1">
                <a:spLocks noRot="1" noChangeAspect="1" noMove="1" noResize="1" noEditPoints="1" noAdjustHandles="1" noChangeArrowheads="1" noChangeShapeType="1" noTextEdit="1"/>
              </p:cNvSpPr>
              <p:nvPr/>
            </p:nvSpPr>
            <p:spPr>
              <a:xfrm>
                <a:off x="8610600" y="5213866"/>
                <a:ext cx="3068212" cy="307777"/>
              </a:xfrm>
              <a:prstGeom prst="rect">
                <a:avLst/>
              </a:prstGeom>
              <a:blipFill>
                <a:blip r:embed="rId4"/>
                <a:stretch>
                  <a:fillRect l="-820" t="-3704" r="-2049" b="-33333"/>
                </a:stretch>
              </a:blipFill>
            </p:spPr>
            <p:txBody>
              <a:bodyPr/>
              <a:lstStyle/>
              <a:p>
                <a:r>
                  <a:rPr lang="en-US">
                    <a:noFill/>
                  </a:rPr>
                  <a:t> </a:t>
                </a:r>
              </a:p>
            </p:txBody>
          </p:sp>
        </mc:Fallback>
      </mc:AlternateContent>
    </p:spTree>
    <p:extLst>
      <p:ext uri="{BB962C8B-B14F-4D97-AF65-F5344CB8AC3E}">
        <p14:creationId xmlns:p14="http://schemas.microsoft.com/office/powerpoint/2010/main" val="315066253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1040AE-B52D-7AA7-7BF4-D8AEDD31DC23}"/>
              </a:ext>
            </a:extLst>
          </p:cNvPr>
          <p:cNvSpPr>
            <a:spLocks noGrp="1"/>
          </p:cNvSpPr>
          <p:nvPr>
            <p:ph type="title"/>
          </p:nvPr>
        </p:nvSpPr>
        <p:spPr/>
        <p:txBody>
          <a:bodyPr/>
          <a:lstStyle/>
          <a:p>
            <a:r>
              <a:rPr lang="en-US" dirty="0"/>
              <a:t>Problem 7.2</a:t>
            </a:r>
          </a:p>
        </p:txBody>
      </p:sp>
      <p:sp>
        <p:nvSpPr>
          <p:cNvPr id="3" name="Content Placeholder 2">
            <a:extLst>
              <a:ext uri="{FF2B5EF4-FFF2-40B4-BE49-F238E27FC236}">
                <a16:creationId xmlns:a16="http://schemas.microsoft.com/office/drawing/2014/main" id="{5E7EEDF5-4A41-3426-5DE1-405971D183FB}"/>
              </a:ext>
            </a:extLst>
          </p:cNvPr>
          <p:cNvSpPr>
            <a:spLocks noGrp="1"/>
          </p:cNvSpPr>
          <p:nvPr>
            <p:ph idx="1"/>
          </p:nvPr>
        </p:nvSpPr>
        <p:spPr/>
        <p:txBody>
          <a:bodyPr>
            <a:normAutofit/>
          </a:bodyPr>
          <a:lstStyle/>
          <a:p>
            <a:r>
              <a:rPr lang="en-AU" i="1" dirty="0"/>
              <a:t>A $100 million interest rate swap has a remaining life of 10 months.</a:t>
            </a:r>
            <a:r>
              <a:rPr lang="zh-CN" altLang="en-US" i="1" dirty="0"/>
              <a:t> </a:t>
            </a:r>
            <a:r>
              <a:rPr lang="en-AU" i="1" dirty="0"/>
              <a:t>Under the terms of the swap, six-month BBSW is exchanged for 7% per</a:t>
            </a:r>
            <a:r>
              <a:rPr lang="zh-CN" altLang="en-US" i="1" dirty="0"/>
              <a:t> </a:t>
            </a:r>
            <a:r>
              <a:rPr lang="en-AU" i="1" dirty="0"/>
              <a:t>annum (compounded semi-annually). The average of the bid-offer rates</a:t>
            </a:r>
            <a:r>
              <a:rPr lang="zh-CN" altLang="en-US" dirty="0"/>
              <a:t> </a:t>
            </a:r>
            <a:r>
              <a:rPr lang="en-AU" i="1" dirty="0"/>
              <a:t>being exchanged for six-month BBSW in swaps of all maturities is</a:t>
            </a:r>
            <a:r>
              <a:rPr lang="zh-CN" altLang="en-US" dirty="0"/>
              <a:t> </a:t>
            </a:r>
            <a:r>
              <a:rPr lang="en-AU" i="1" dirty="0"/>
              <a:t>currently 5% per annum with continuous compounding. The six-monthly</a:t>
            </a:r>
            <a:r>
              <a:rPr lang="zh-CN" altLang="en-US" dirty="0"/>
              <a:t> </a:t>
            </a:r>
            <a:r>
              <a:rPr lang="en-AU" i="1" dirty="0"/>
              <a:t>BBSW rate was 4.6% per annum two months ago. </a:t>
            </a:r>
          </a:p>
          <a:p>
            <a:r>
              <a:rPr lang="en-AU" i="1" dirty="0"/>
              <a:t>What is the current</a:t>
            </a:r>
            <a:r>
              <a:rPr lang="zh-CN" altLang="en-US" dirty="0"/>
              <a:t> </a:t>
            </a:r>
            <a:r>
              <a:rPr lang="en-AU" i="1" dirty="0"/>
              <a:t>value of the swap to the party paying floating? What is its value to the</a:t>
            </a:r>
            <a:r>
              <a:rPr lang="zh-CN" altLang="en-US" dirty="0"/>
              <a:t> </a:t>
            </a:r>
            <a:r>
              <a:rPr lang="en-AU" i="1" dirty="0"/>
              <a:t>party paying fixed?</a:t>
            </a:r>
            <a:endParaRPr lang="en-AU" dirty="0"/>
          </a:p>
          <a:p>
            <a:endParaRPr lang="en-US" dirty="0"/>
          </a:p>
        </p:txBody>
      </p:sp>
      <p:sp>
        <p:nvSpPr>
          <p:cNvPr id="5" name="Date Placeholder 4">
            <a:extLst>
              <a:ext uri="{FF2B5EF4-FFF2-40B4-BE49-F238E27FC236}">
                <a16:creationId xmlns:a16="http://schemas.microsoft.com/office/drawing/2014/main" id="{BCFBC403-A400-1F74-D26A-C3CE56E802D8}"/>
              </a:ext>
            </a:extLst>
          </p:cNvPr>
          <p:cNvSpPr>
            <a:spLocks noGrp="1"/>
          </p:cNvSpPr>
          <p:nvPr>
            <p:ph type="dt" sz="half" idx="10"/>
          </p:nvPr>
        </p:nvSpPr>
        <p:spPr/>
        <p:txBody>
          <a:bodyPr/>
          <a:lstStyle/>
          <a:p>
            <a:fld id="{702F30CC-15B0-004A-A84C-96B6B138A9CE}" type="datetime1">
              <a:rPr lang="en-AU" smtClean="0"/>
              <a:t>28/8/2026</a:t>
            </a:fld>
            <a:endParaRPr lang="en-US"/>
          </a:p>
        </p:txBody>
      </p:sp>
      <p:sp>
        <p:nvSpPr>
          <p:cNvPr id="6" name="Footer Placeholder 5">
            <a:extLst>
              <a:ext uri="{FF2B5EF4-FFF2-40B4-BE49-F238E27FC236}">
                <a16:creationId xmlns:a16="http://schemas.microsoft.com/office/drawing/2014/main" id="{E8A5D3DE-B36D-73C4-1D59-BE2E877D07D9}"/>
              </a:ext>
            </a:extLst>
          </p:cNvPr>
          <p:cNvSpPr>
            <a:spLocks noGrp="1"/>
          </p:cNvSpPr>
          <p:nvPr>
            <p:ph type="ftr" sz="quarter" idx="11"/>
          </p:nvPr>
        </p:nvSpPr>
        <p:spPr/>
        <p:txBody>
          <a:bodyPr/>
          <a:lstStyle/>
          <a:p>
            <a:r>
              <a:rPr lang="en-US"/>
              <a:t>FINA2204 - Tutorial 5</a:t>
            </a:r>
          </a:p>
        </p:txBody>
      </p:sp>
      <p:sp>
        <p:nvSpPr>
          <p:cNvPr id="7" name="Slide Number Placeholder 6">
            <a:extLst>
              <a:ext uri="{FF2B5EF4-FFF2-40B4-BE49-F238E27FC236}">
                <a16:creationId xmlns:a16="http://schemas.microsoft.com/office/drawing/2014/main" id="{390251DF-CB09-E1E1-9271-CF49CBFC139F}"/>
              </a:ext>
            </a:extLst>
          </p:cNvPr>
          <p:cNvSpPr>
            <a:spLocks noGrp="1"/>
          </p:cNvSpPr>
          <p:nvPr>
            <p:ph type="sldNum" sz="quarter" idx="12"/>
          </p:nvPr>
        </p:nvSpPr>
        <p:spPr/>
        <p:txBody>
          <a:bodyPr/>
          <a:lstStyle/>
          <a:p>
            <a:fld id="{9855740F-6ECD-274F-B089-6B266B6B07F9}" type="slidenum">
              <a:rPr lang="en-US" smtClean="0"/>
              <a:t>34</a:t>
            </a:fld>
            <a:endParaRPr lang="en-US"/>
          </a:p>
        </p:txBody>
      </p:sp>
      <p:cxnSp>
        <p:nvCxnSpPr>
          <p:cNvPr id="8" name="Straight Connector 7">
            <a:extLst>
              <a:ext uri="{FF2B5EF4-FFF2-40B4-BE49-F238E27FC236}">
                <a16:creationId xmlns:a16="http://schemas.microsoft.com/office/drawing/2014/main" id="{1CD7A018-0880-D158-6423-8AB368D3DF33}"/>
              </a:ext>
            </a:extLst>
          </p:cNvPr>
          <p:cNvCxnSpPr/>
          <p:nvPr/>
        </p:nvCxnSpPr>
        <p:spPr>
          <a:xfrm>
            <a:off x="1332857" y="4122547"/>
            <a:ext cx="3673098" cy="0"/>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596793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3B7A0F-9DE1-F45B-E681-8389107A0DB8}"/>
              </a:ext>
            </a:extLst>
          </p:cNvPr>
          <p:cNvSpPr>
            <a:spLocks noGrp="1"/>
          </p:cNvSpPr>
          <p:nvPr>
            <p:ph type="title"/>
          </p:nvPr>
        </p:nvSpPr>
        <p:spPr/>
        <p:txBody>
          <a:bodyPr/>
          <a:lstStyle/>
          <a:p>
            <a:r>
              <a:rPr lang="en-US" dirty="0"/>
              <a:t>Problem 7.2</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2DBEE57-D18C-CBC3-B74B-EBE559E69203}"/>
                  </a:ext>
                </a:extLst>
              </p:cNvPr>
              <p:cNvSpPr>
                <a:spLocks noGrp="1"/>
              </p:cNvSpPr>
              <p:nvPr>
                <p:ph idx="1"/>
              </p:nvPr>
            </p:nvSpPr>
            <p:spPr/>
            <p:txBody>
              <a:bodyPr>
                <a:normAutofit lnSpcReduction="10000"/>
              </a:bodyPr>
              <a:lstStyle/>
              <a:p>
                <a:pPr marL="0" indent="0">
                  <a:buNone/>
                </a:pPr>
                <a:r>
                  <a:rPr lang="en-US" b="1" dirty="0"/>
                  <a:t>Setup</a:t>
                </a:r>
              </a:p>
              <a:p>
                <a:r>
                  <a:rPr lang="en-US" dirty="0"/>
                  <a:t>Notional: $100m</a:t>
                </a:r>
              </a:p>
              <a:p>
                <a:r>
                  <a:rPr lang="en-US" dirty="0"/>
                  <a:t>Floating (6-month BBSW) &gt;&gt; fixed (7%)</a:t>
                </a:r>
              </a:p>
              <a:p>
                <a:r>
                  <a:rPr lang="en-AU" dirty="0"/>
                  <a:t>Last</a:t>
                </a:r>
                <a:r>
                  <a:rPr lang="zh-CN" altLang="en-US" dirty="0"/>
                  <a:t> </a:t>
                </a:r>
                <a:r>
                  <a:rPr lang="en-US" altLang="zh-CN" dirty="0"/>
                  <a:t>BBSW reset rate (2 month ago)</a:t>
                </a:r>
                <a:r>
                  <a:rPr lang="en-AU" dirty="0"/>
                  <a:t>: 4.6%</a:t>
                </a:r>
              </a:p>
              <a:p>
                <a:r>
                  <a:rPr lang="en-US" dirty="0"/>
                  <a:t>Discount rate: </a:t>
                </a:r>
                <a:r>
                  <a:rPr lang="en-AU" dirty="0"/>
                  <a:t>5% </a:t>
                </a:r>
                <a:r>
                  <a:rPr lang="en-AU" dirty="0">
                    <a:solidFill>
                      <a:srgbClr val="FF0000"/>
                    </a:solidFill>
                  </a:rPr>
                  <a:t>(</a:t>
                </a:r>
                <a:r>
                  <a:rPr lang="en-AU" dirty="0" err="1">
                    <a:solidFill>
                      <a:srgbClr val="FF0000"/>
                    </a:solidFill>
                  </a:rPr>
                  <a:t>c.c</a:t>
                </a:r>
                <a:r>
                  <a:rPr lang="en-AU" dirty="0">
                    <a:solidFill>
                      <a:srgbClr val="FF0000"/>
                    </a:solidFill>
                  </a:rPr>
                  <a:t>)</a:t>
                </a:r>
              </a:p>
              <a:p>
                <a:r>
                  <a:rPr lang="en-AU" dirty="0"/>
                  <a:t>Remaining life: 10 months</a:t>
                </a:r>
              </a:p>
              <a:p>
                <a:r>
                  <a:rPr lang="en-AU" dirty="0"/>
                  <a:t>Payment frequency: every 6 months</a:t>
                </a:r>
              </a:p>
              <a:p>
                <a:r>
                  <a:rPr lang="en-US" dirty="0"/>
                  <a:t>Payment dates: month 10, month (10-6)</a:t>
                </a:r>
              </a:p>
              <a:p>
                <a14:m>
                  <m:oMath xmlns:m="http://schemas.openxmlformats.org/officeDocument/2006/math">
                    <m:sSub>
                      <m:sSubPr>
                        <m:ctrlPr>
                          <a:rPr lang="en-AU" i="1" smtClean="0">
                            <a:latin typeface="Cambria Math" panose="02040503050406030204" pitchFamily="18" charset="0"/>
                          </a:rPr>
                        </m:ctrlPr>
                      </m:sSubPr>
                      <m:e>
                        <m:r>
                          <a:rPr lang="en-AU" b="0" i="1" smtClean="0">
                            <a:latin typeface="Cambria Math" panose="02040503050406030204" pitchFamily="18" charset="0"/>
                          </a:rPr>
                          <m:t>𝑉</m:t>
                        </m:r>
                      </m:e>
                      <m:sub>
                        <m:r>
                          <a:rPr lang="en-AU" b="0" i="1" smtClean="0">
                            <a:latin typeface="Cambria Math" panose="02040503050406030204" pitchFamily="18" charset="0"/>
                          </a:rPr>
                          <m:t>𝑠𝑤𝑎𝑝</m:t>
                        </m:r>
                      </m:sub>
                    </m:sSub>
                    <m:r>
                      <a:rPr lang="en-AU" b="0" i="1" smtClean="0">
                        <a:latin typeface="Cambria Math" panose="02040503050406030204" pitchFamily="18" charset="0"/>
                      </a:rPr>
                      <m:t>=</m:t>
                    </m:r>
                    <m:r>
                      <a:rPr lang="en-AU" b="0" i="1" smtClean="0">
                        <a:solidFill>
                          <a:srgbClr val="FF0000"/>
                        </a:solidFill>
                        <a:latin typeface="Cambria Math" panose="02040503050406030204" pitchFamily="18" charset="0"/>
                      </a:rPr>
                      <m:t>?</m:t>
                    </m:r>
                    <m:sSub>
                      <m:sSubPr>
                        <m:ctrlPr>
                          <a:rPr lang="en-AU" i="1">
                            <a:latin typeface="Cambria Math" panose="02040503050406030204" pitchFamily="18" charset="0"/>
                          </a:rPr>
                        </m:ctrlPr>
                      </m:sSubPr>
                      <m:e>
                        <m:r>
                          <a:rPr lang="en-AU" i="1" smtClean="0">
                            <a:latin typeface="Cambria Math" panose="02040503050406030204" pitchFamily="18" charset="0"/>
                            <a:ea typeface="Cambria Math" panose="02040503050406030204" pitchFamily="18" charset="0"/>
                          </a:rPr>
                          <m:t>→</m:t>
                        </m:r>
                        <m:r>
                          <a:rPr lang="en-AU" b="0" i="1" smtClean="0">
                            <a:latin typeface="Cambria Math" panose="02040503050406030204" pitchFamily="18" charset="0"/>
                          </a:rPr>
                          <m:t>𝐵</m:t>
                        </m:r>
                      </m:e>
                      <m:sub>
                        <m:r>
                          <a:rPr lang="en-AU" b="0" i="1" smtClean="0">
                            <a:latin typeface="Cambria Math" panose="02040503050406030204" pitchFamily="18" charset="0"/>
                          </a:rPr>
                          <m:t>𝑓𝑖𝑥</m:t>
                        </m:r>
                      </m:sub>
                    </m:sSub>
                    <m:r>
                      <a:rPr lang="en-AU" i="1">
                        <a:latin typeface="Cambria Math" panose="02040503050406030204" pitchFamily="18" charset="0"/>
                      </a:rPr>
                      <m:t>=</m:t>
                    </m:r>
                    <m:r>
                      <a:rPr lang="en-AU" i="1" smtClean="0">
                        <a:solidFill>
                          <a:srgbClr val="FF0000"/>
                        </a:solidFill>
                        <a:latin typeface="Cambria Math" panose="02040503050406030204" pitchFamily="18" charset="0"/>
                      </a:rPr>
                      <m:t>?</m:t>
                    </m:r>
                    <m:r>
                      <a:rPr lang="en-AU" i="1">
                        <a:latin typeface="Cambria Math" panose="02040503050406030204" pitchFamily="18" charset="0"/>
                      </a:rPr>
                      <m:t>;</m:t>
                    </m:r>
                    <m:sSub>
                      <m:sSubPr>
                        <m:ctrlPr>
                          <a:rPr lang="en-AU" i="1">
                            <a:latin typeface="Cambria Math" panose="02040503050406030204" pitchFamily="18" charset="0"/>
                          </a:rPr>
                        </m:ctrlPr>
                      </m:sSubPr>
                      <m:e>
                        <m:r>
                          <a:rPr lang="en-AU" i="1">
                            <a:latin typeface="Cambria Math" panose="02040503050406030204" pitchFamily="18" charset="0"/>
                          </a:rPr>
                          <m:t>𝐵</m:t>
                        </m:r>
                      </m:e>
                      <m:sub>
                        <m:r>
                          <a:rPr lang="en-AU" i="1">
                            <a:latin typeface="Cambria Math" panose="02040503050406030204" pitchFamily="18" charset="0"/>
                          </a:rPr>
                          <m:t>𝑓</m:t>
                        </m:r>
                        <m:r>
                          <a:rPr lang="en-AU" b="0" i="1" smtClean="0">
                            <a:latin typeface="Cambria Math" panose="02040503050406030204" pitchFamily="18" charset="0"/>
                          </a:rPr>
                          <m:t>𝑙</m:t>
                        </m:r>
                      </m:sub>
                    </m:sSub>
                    <m:r>
                      <a:rPr lang="en-AU" i="1">
                        <a:latin typeface="Cambria Math" panose="02040503050406030204" pitchFamily="18" charset="0"/>
                      </a:rPr>
                      <m:t>=</m:t>
                    </m:r>
                    <m:r>
                      <a:rPr lang="en-AU" i="1" smtClean="0">
                        <a:solidFill>
                          <a:srgbClr val="FF0000"/>
                        </a:solidFill>
                        <a:latin typeface="Cambria Math" panose="02040503050406030204" pitchFamily="18" charset="0"/>
                      </a:rPr>
                      <m:t>?</m:t>
                    </m:r>
                  </m:oMath>
                </a14:m>
                <a:endParaRPr lang="en-AU" dirty="0">
                  <a:solidFill>
                    <a:srgbClr val="FF0000"/>
                  </a:solidFill>
                </a:endParaRPr>
              </a:p>
              <a:p>
                <a:endParaRPr lang="en-US" dirty="0"/>
              </a:p>
              <a:p>
                <a:endParaRPr lang="en-US" dirty="0"/>
              </a:p>
            </p:txBody>
          </p:sp>
        </mc:Choice>
        <mc:Fallback xmlns="">
          <p:sp>
            <p:nvSpPr>
              <p:cNvPr id="3" name="Content Placeholder 2">
                <a:extLst>
                  <a:ext uri="{FF2B5EF4-FFF2-40B4-BE49-F238E27FC236}">
                    <a16:creationId xmlns:a16="http://schemas.microsoft.com/office/drawing/2014/main" id="{02DBEE57-D18C-CBC3-B74B-EBE559E69203}"/>
                  </a:ext>
                </a:extLst>
              </p:cNvPr>
              <p:cNvSpPr>
                <a:spLocks noGrp="1" noRot="1" noChangeAspect="1" noMove="1" noResize="1" noEditPoints="1" noAdjustHandles="1" noChangeArrowheads="1" noChangeShapeType="1" noTextEdit="1"/>
              </p:cNvSpPr>
              <p:nvPr>
                <p:ph idx="1"/>
              </p:nvPr>
            </p:nvSpPr>
            <p:spPr>
              <a:blipFill>
                <a:blip r:embed="rId3"/>
                <a:stretch>
                  <a:fillRect l="-1206" t="-3198" b="-58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BDD5CFC1-F7F4-D591-E5B5-8A7FD741EA5C}"/>
                  </a:ext>
                </a:extLst>
              </p:cNvPr>
              <p:cNvSpPr txBox="1"/>
              <p:nvPr/>
            </p:nvSpPr>
            <p:spPr>
              <a:xfrm>
                <a:off x="5400328" y="3974598"/>
                <a:ext cx="1808124" cy="28321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AU" b="0" i="1" smtClean="0">
                          <a:latin typeface="Cambria Math" panose="02040503050406030204" pitchFamily="18" charset="0"/>
                          <a:ea typeface="Cambria Math" panose="02040503050406030204" pitchFamily="18" charset="0"/>
                        </a:rPr>
                        <m:t>→</m:t>
                      </m:r>
                      <m:r>
                        <a:rPr lang="en-AU" b="0" i="1" smtClean="0">
                          <a:latin typeface="Cambria Math" panose="02040503050406030204" pitchFamily="18" charset="0"/>
                        </a:rPr>
                        <m:t>𝑃𝑉</m:t>
                      </m:r>
                      <m:r>
                        <a:rPr lang="en-AU" b="0" i="1" smtClean="0">
                          <a:latin typeface="Cambria Math" panose="02040503050406030204" pitchFamily="18" charset="0"/>
                        </a:rPr>
                        <m:t>=</m:t>
                      </m:r>
                      <m:r>
                        <a:rPr lang="en-AU" b="0" i="1" smtClean="0">
                          <a:latin typeface="Cambria Math" panose="02040503050406030204" pitchFamily="18" charset="0"/>
                        </a:rPr>
                        <m:t>𝐹𝑉</m:t>
                      </m:r>
                      <m:sSup>
                        <m:sSupPr>
                          <m:ctrlPr>
                            <a:rPr lang="en-AU" b="0" i="1" smtClean="0">
                              <a:solidFill>
                                <a:srgbClr val="7030A0"/>
                              </a:solidFill>
                              <a:latin typeface="Cambria Math" panose="02040503050406030204" pitchFamily="18" charset="0"/>
                            </a:rPr>
                          </m:ctrlPr>
                        </m:sSupPr>
                        <m:e>
                          <m:r>
                            <a:rPr lang="en-AU" b="0" i="1" smtClean="0">
                              <a:solidFill>
                                <a:srgbClr val="7030A0"/>
                              </a:solidFill>
                              <a:latin typeface="Cambria Math" panose="02040503050406030204" pitchFamily="18" charset="0"/>
                            </a:rPr>
                            <m:t>𝑒</m:t>
                          </m:r>
                        </m:e>
                        <m:sup>
                          <m:r>
                            <a:rPr lang="en-AU" b="0" i="1" smtClean="0">
                              <a:solidFill>
                                <a:srgbClr val="7030A0"/>
                              </a:solidFill>
                              <a:latin typeface="Cambria Math" panose="02040503050406030204" pitchFamily="18" charset="0"/>
                            </a:rPr>
                            <m:t>−5%</m:t>
                          </m:r>
                          <m:r>
                            <a:rPr lang="en-AU" b="0" i="1" smtClean="0">
                              <a:solidFill>
                                <a:srgbClr val="7030A0"/>
                              </a:solidFill>
                              <a:latin typeface="Cambria Math" panose="02040503050406030204" pitchFamily="18" charset="0"/>
                            </a:rPr>
                            <m:t>𝑇</m:t>
                          </m:r>
                        </m:sup>
                      </m:sSup>
                    </m:oMath>
                  </m:oMathPara>
                </a14:m>
                <a:endParaRPr lang="en-US" dirty="0"/>
              </a:p>
            </p:txBody>
          </p:sp>
        </mc:Choice>
        <mc:Fallback xmlns="">
          <p:sp>
            <p:nvSpPr>
              <p:cNvPr id="5" name="TextBox 4">
                <a:extLst>
                  <a:ext uri="{FF2B5EF4-FFF2-40B4-BE49-F238E27FC236}">
                    <a16:creationId xmlns:a16="http://schemas.microsoft.com/office/drawing/2014/main" id="{BDD5CFC1-F7F4-D591-E5B5-8A7FD741EA5C}"/>
                  </a:ext>
                </a:extLst>
              </p:cNvPr>
              <p:cNvSpPr txBox="1">
                <a:spLocks noRot="1" noChangeAspect="1" noMove="1" noResize="1" noEditPoints="1" noAdjustHandles="1" noChangeArrowheads="1" noChangeShapeType="1" noTextEdit="1"/>
              </p:cNvSpPr>
              <p:nvPr/>
            </p:nvSpPr>
            <p:spPr>
              <a:xfrm>
                <a:off x="5400328" y="3974598"/>
                <a:ext cx="1808124" cy="283219"/>
              </a:xfrm>
              <a:prstGeom prst="rect">
                <a:avLst/>
              </a:prstGeom>
              <a:blipFill>
                <a:blip r:embed="rId4"/>
                <a:stretch>
                  <a:fillRect l="-2098" r="-699"/>
                </a:stretch>
              </a:blipFill>
            </p:spPr>
            <p:txBody>
              <a:bodyPr/>
              <a:lstStyle/>
              <a:p>
                <a:r>
                  <a:rPr lang="en-US">
                    <a:noFill/>
                  </a:rPr>
                  <a:t> </a:t>
                </a:r>
              </a:p>
            </p:txBody>
          </p:sp>
        </mc:Fallback>
      </mc:AlternateContent>
      <p:sp>
        <p:nvSpPr>
          <p:cNvPr id="6" name="Oval 5">
            <a:extLst>
              <a:ext uri="{FF2B5EF4-FFF2-40B4-BE49-F238E27FC236}">
                <a16:creationId xmlns:a16="http://schemas.microsoft.com/office/drawing/2014/main" id="{F667105E-B5E8-E97A-00FB-3FA4BD071A47}"/>
              </a:ext>
            </a:extLst>
          </p:cNvPr>
          <p:cNvSpPr/>
          <p:nvPr/>
        </p:nvSpPr>
        <p:spPr>
          <a:xfrm>
            <a:off x="6557444" y="3912243"/>
            <a:ext cx="787078" cy="362503"/>
          </a:xfrm>
          <a:prstGeom prst="ellipse">
            <a:avLst/>
          </a:prstGeom>
          <a:no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0070C0"/>
              </a:solidFill>
            </a:endParaRPr>
          </a:p>
        </p:txBody>
      </p:sp>
      <p:cxnSp>
        <p:nvCxnSpPr>
          <p:cNvPr id="8" name="Straight Connector 7">
            <a:extLst>
              <a:ext uri="{FF2B5EF4-FFF2-40B4-BE49-F238E27FC236}">
                <a16:creationId xmlns:a16="http://schemas.microsoft.com/office/drawing/2014/main" id="{997CB846-03C5-9BEC-8BD9-7EAAD0200E79}"/>
              </a:ext>
            </a:extLst>
          </p:cNvPr>
          <p:cNvCxnSpPr/>
          <p:nvPr/>
        </p:nvCxnSpPr>
        <p:spPr>
          <a:xfrm>
            <a:off x="7176690" y="4297896"/>
            <a:ext cx="335665" cy="181507"/>
          </a:xfrm>
          <a:prstGeom prst="line">
            <a:avLst/>
          </a:prstGeom>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DBF1C9E4-77E5-4B3F-B29A-928ED1BD193D}"/>
              </a:ext>
            </a:extLst>
          </p:cNvPr>
          <p:cNvSpPr txBox="1"/>
          <p:nvPr/>
        </p:nvSpPr>
        <p:spPr>
          <a:xfrm>
            <a:off x="7135792" y="4444679"/>
            <a:ext cx="4792530" cy="369332"/>
          </a:xfrm>
          <a:prstGeom prst="rect">
            <a:avLst/>
          </a:prstGeom>
          <a:noFill/>
        </p:spPr>
        <p:txBody>
          <a:bodyPr wrap="none" rtlCol="0">
            <a:spAutoFit/>
          </a:bodyPr>
          <a:lstStyle/>
          <a:p>
            <a:r>
              <a:rPr lang="en-US" dirty="0">
                <a:solidFill>
                  <a:srgbClr val="0070C0"/>
                </a:solidFill>
              </a:rPr>
              <a:t>Discount factor with continuous compounding</a:t>
            </a:r>
          </a:p>
        </p:txBody>
      </p:sp>
      <p:sp>
        <p:nvSpPr>
          <p:cNvPr id="10" name="Date Placeholder 9">
            <a:extLst>
              <a:ext uri="{FF2B5EF4-FFF2-40B4-BE49-F238E27FC236}">
                <a16:creationId xmlns:a16="http://schemas.microsoft.com/office/drawing/2014/main" id="{46FEBC95-15FA-C6FE-6031-266E7D461BA0}"/>
              </a:ext>
            </a:extLst>
          </p:cNvPr>
          <p:cNvSpPr>
            <a:spLocks noGrp="1"/>
          </p:cNvSpPr>
          <p:nvPr>
            <p:ph type="dt" sz="half" idx="10"/>
          </p:nvPr>
        </p:nvSpPr>
        <p:spPr/>
        <p:txBody>
          <a:bodyPr/>
          <a:lstStyle/>
          <a:p>
            <a:fld id="{BE654D08-766D-B84B-8236-A2908AD72560}" type="datetime1">
              <a:rPr lang="en-AU" smtClean="0"/>
              <a:t>28/8/2026</a:t>
            </a:fld>
            <a:endParaRPr lang="en-US"/>
          </a:p>
        </p:txBody>
      </p:sp>
      <p:sp>
        <p:nvSpPr>
          <p:cNvPr id="11" name="Footer Placeholder 10">
            <a:extLst>
              <a:ext uri="{FF2B5EF4-FFF2-40B4-BE49-F238E27FC236}">
                <a16:creationId xmlns:a16="http://schemas.microsoft.com/office/drawing/2014/main" id="{82161264-DB2B-A90C-6BAF-D3223457FDB5}"/>
              </a:ext>
            </a:extLst>
          </p:cNvPr>
          <p:cNvSpPr>
            <a:spLocks noGrp="1"/>
          </p:cNvSpPr>
          <p:nvPr>
            <p:ph type="ftr" sz="quarter" idx="11"/>
          </p:nvPr>
        </p:nvSpPr>
        <p:spPr/>
        <p:txBody>
          <a:bodyPr/>
          <a:lstStyle/>
          <a:p>
            <a:r>
              <a:rPr lang="en-US"/>
              <a:t>FINA2204 - Tutorial 5</a:t>
            </a:r>
          </a:p>
        </p:txBody>
      </p:sp>
      <p:sp>
        <p:nvSpPr>
          <p:cNvPr id="12" name="Slide Number Placeholder 11">
            <a:extLst>
              <a:ext uri="{FF2B5EF4-FFF2-40B4-BE49-F238E27FC236}">
                <a16:creationId xmlns:a16="http://schemas.microsoft.com/office/drawing/2014/main" id="{445BC6DF-1B1C-2484-A4F5-A0FB891D8869}"/>
              </a:ext>
            </a:extLst>
          </p:cNvPr>
          <p:cNvSpPr>
            <a:spLocks noGrp="1"/>
          </p:cNvSpPr>
          <p:nvPr>
            <p:ph type="sldNum" sz="quarter" idx="12"/>
          </p:nvPr>
        </p:nvSpPr>
        <p:spPr/>
        <p:txBody>
          <a:bodyPr/>
          <a:lstStyle/>
          <a:p>
            <a:fld id="{9855740F-6ECD-274F-B089-6B266B6B07F9}" type="slidenum">
              <a:rPr lang="en-US" smtClean="0"/>
              <a:t>35</a:t>
            </a:fld>
            <a:endParaRPr lang="en-US"/>
          </a:p>
        </p:txBody>
      </p:sp>
    </p:spTree>
    <p:extLst>
      <p:ext uri="{BB962C8B-B14F-4D97-AF65-F5344CB8AC3E}">
        <p14:creationId xmlns:p14="http://schemas.microsoft.com/office/powerpoint/2010/main" val="2817356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9"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43B735-C181-AC05-3198-3C9D0816EED6}"/>
              </a:ext>
            </a:extLst>
          </p:cNvPr>
          <p:cNvSpPr>
            <a:spLocks noGrp="1"/>
          </p:cNvSpPr>
          <p:nvPr>
            <p:ph type="title"/>
          </p:nvPr>
        </p:nvSpPr>
        <p:spPr/>
        <p:txBody>
          <a:bodyPr/>
          <a:lstStyle/>
          <a:p>
            <a:r>
              <a:rPr lang="en-US" dirty="0"/>
              <a:t>Answer 7.2</a:t>
            </a:r>
          </a:p>
        </p:txBody>
      </p:sp>
      <p:pic>
        <p:nvPicPr>
          <p:cNvPr id="4" name="Picture 3" descr="A green and blue line with numbers and arrows&#10;&#10;AI-generated content may be incorrect.">
            <a:extLst>
              <a:ext uri="{FF2B5EF4-FFF2-40B4-BE49-F238E27FC236}">
                <a16:creationId xmlns:a16="http://schemas.microsoft.com/office/drawing/2014/main" id="{C1EB6741-39FD-040B-0DC3-D03323B1BD85}"/>
              </a:ext>
            </a:extLst>
          </p:cNvPr>
          <p:cNvPicPr>
            <a:picLocks noChangeAspect="1"/>
          </p:cNvPicPr>
          <p:nvPr/>
        </p:nvPicPr>
        <p:blipFill>
          <a:blip r:embed="rId3"/>
          <a:stretch>
            <a:fillRect/>
          </a:stretch>
        </p:blipFill>
        <p:spPr>
          <a:xfrm>
            <a:off x="2209800" y="1690688"/>
            <a:ext cx="7772400" cy="1703366"/>
          </a:xfrm>
          <a:prstGeom prst="rect">
            <a:avLst/>
          </a:prstGeom>
        </p:spPr>
      </p:pic>
      <mc:AlternateContent xmlns:mc="http://schemas.openxmlformats.org/markup-compatibility/2006" xmlns:a14="http://schemas.microsoft.com/office/drawing/2010/main">
        <mc:Choice Requires="a14">
          <p:graphicFrame>
            <p:nvGraphicFramePr>
              <p:cNvPr id="6" name="Table 5">
                <a:extLst>
                  <a:ext uri="{FF2B5EF4-FFF2-40B4-BE49-F238E27FC236}">
                    <a16:creationId xmlns:a16="http://schemas.microsoft.com/office/drawing/2014/main" id="{4A559959-8CFA-23CF-64E8-09B4AA7CF112}"/>
                  </a:ext>
                </a:extLst>
              </p:cNvPr>
              <p:cNvGraphicFramePr>
                <a:graphicFrameLocks noGrp="1"/>
              </p:cNvGraphicFramePr>
              <p:nvPr>
                <p:extLst>
                  <p:ext uri="{D42A27DB-BD31-4B8C-83A1-F6EECF244321}">
                    <p14:modId xmlns:p14="http://schemas.microsoft.com/office/powerpoint/2010/main" val="3355763958"/>
                  </p:ext>
                </p:extLst>
              </p:nvPr>
            </p:nvGraphicFramePr>
            <p:xfrm>
              <a:off x="528576" y="3715736"/>
              <a:ext cx="11134848" cy="2923545"/>
            </p:xfrm>
            <a:graphic>
              <a:graphicData uri="http://schemas.openxmlformats.org/drawingml/2006/table">
                <a:tbl>
                  <a:tblPr firstRow="1" bandRow="1">
                    <a:tableStyleId>{5C22544A-7EE6-4342-B048-85BDC9FD1C3A}</a:tableStyleId>
                  </a:tblPr>
                  <a:tblGrid>
                    <a:gridCol w="1855808">
                      <a:extLst>
                        <a:ext uri="{9D8B030D-6E8A-4147-A177-3AD203B41FA5}">
                          <a16:colId xmlns:a16="http://schemas.microsoft.com/office/drawing/2014/main" val="1902593901"/>
                        </a:ext>
                      </a:extLst>
                    </a:gridCol>
                    <a:gridCol w="1855808">
                      <a:extLst>
                        <a:ext uri="{9D8B030D-6E8A-4147-A177-3AD203B41FA5}">
                          <a16:colId xmlns:a16="http://schemas.microsoft.com/office/drawing/2014/main" val="3932323135"/>
                        </a:ext>
                      </a:extLst>
                    </a:gridCol>
                    <a:gridCol w="1855808">
                      <a:extLst>
                        <a:ext uri="{9D8B030D-6E8A-4147-A177-3AD203B41FA5}">
                          <a16:colId xmlns:a16="http://schemas.microsoft.com/office/drawing/2014/main" val="3470556675"/>
                        </a:ext>
                      </a:extLst>
                    </a:gridCol>
                    <a:gridCol w="1855808">
                      <a:extLst>
                        <a:ext uri="{9D8B030D-6E8A-4147-A177-3AD203B41FA5}">
                          <a16:colId xmlns:a16="http://schemas.microsoft.com/office/drawing/2014/main" val="3707822957"/>
                        </a:ext>
                      </a:extLst>
                    </a:gridCol>
                    <a:gridCol w="1855808">
                      <a:extLst>
                        <a:ext uri="{9D8B030D-6E8A-4147-A177-3AD203B41FA5}">
                          <a16:colId xmlns:a16="http://schemas.microsoft.com/office/drawing/2014/main" val="3119402058"/>
                        </a:ext>
                      </a:extLst>
                    </a:gridCol>
                    <a:gridCol w="1855808">
                      <a:extLst>
                        <a:ext uri="{9D8B030D-6E8A-4147-A177-3AD203B41FA5}">
                          <a16:colId xmlns:a16="http://schemas.microsoft.com/office/drawing/2014/main" val="1766958485"/>
                        </a:ext>
                      </a:extLst>
                    </a:gridCol>
                  </a:tblGrid>
                  <a:tr h="661182">
                    <a:tc>
                      <a:txBody>
                        <a:bodyPr/>
                        <a:lstStyle/>
                        <a:p>
                          <a:r>
                            <a:rPr lang="en-US" dirty="0"/>
                            <a:t>Time</a:t>
                          </a:r>
                        </a:p>
                      </a:txBody>
                      <a:tcPr/>
                    </a:tc>
                    <a:tc>
                      <a:txBody>
                        <a:bodyPr/>
                        <a:lstStyle/>
                        <a:p>
                          <a:pPr/>
                          <a14:m>
                            <m:oMathPara xmlns:m="http://schemas.openxmlformats.org/officeDocument/2006/math">
                              <m:oMathParaPr>
                                <m:jc m:val="centerGroup"/>
                              </m:oMathParaPr>
                              <m:oMath xmlns:m="http://schemas.openxmlformats.org/officeDocument/2006/math">
                                <m:sSub>
                                  <m:sSubPr>
                                    <m:ctrlPr>
                                      <a:rPr lang="en-AU" i="1" smtClean="0">
                                        <a:latin typeface="Cambria Math" panose="02040503050406030204" pitchFamily="18" charset="0"/>
                                      </a:rPr>
                                    </m:ctrlPr>
                                  </m:sSubPr>
                                  <m:e>
                                    <m:r>
                                      <a:rPr lang="en-AU" i="1">
                                        <a:latin typeface="Cambria Math" panose="02040503050406030204" pitchFamily="18" charset="0"/>
                                      </a:rPr>
                                      <m:t>𝐵</m:t>
                                    </m:r>
                                  </m:e>
                                  <m:sub>
                                    <m:r>
                                      <a:rPr lang="en-AU" i="1">
                                        <a:latin typeface="Cambria Math" panose="02040503050406030204" pitchFamily="18" charset="0"/>
                                      </a:rPr>
                                      <m:t>𝑓</m:t>
                                    </m:r>
                                    <m:r>
                                      <a:rPr lang="en-AU" b="0" i="1" smtClean="0">
                                        <a:latin typeface="Cambria Math" panose="02040503050406030204" pitchFamily="18" charset="0"/>
                                      </a:rPr>
                                      <m:t>𝑖𝑥</m:t>
                                    </m:r>
                                  </m:sub>
                                </m:sSub>
                                <m:r>
                                  <a:rPr lang="en-AU" b="1" i="0" smtClean="0">
                                    <a:latin typeface="Cambria Math" panose="02040503050406030204" pitchFamily="18" charset="0"/>
                                  </a:rPr>
                                  <m:t> </m:t>
                                </m:r>
                                <m:r>
                                  <a:rPr lang="en-AU" b="1" i="1" smtClean="0">
                                    <a:latin typeface="Cambria Math" panose="02040503050406030204" pitchFamily="18" charset="0"/>
                                  </a:rPr>
                                  <m:t>𝒄𝒂𝒔𝒉</m:t>
                                </m:r>
                                <m:r>
                                  <a:rPr lang="en-AU" b="1" i="1" smtClean="0">
                                    <a:latin typeface="Cambria Math" panose="02040503050406030204" pitchFamily="18" charset="0"/>
                                  </a:rPr>
                                  <m:t> </m:t>
                                </m:r>
                                <m:r>
                                  <a:rPr lang="en-AU" b="1" i="1" smtClean="0">
                                    <a:latin typeface="Cambria Math" panose="02040503050406030204" pitchFamily="18" charset="0"/>
                                  </a:rPr>
                                  <m:t>𝒇𝒍𝒐𝒘</m:t>
                                </m:r>
                              </m:oMath>
                            </m:oMathPara>
                          </a14:m>
                          <a:endParaRPr lang="en-US" dirty="0"/>
                        </a:p>
                        <a:p>
                          <a:r>
                            <a:rPr lang="en-US" dirty="0"/>
                            <a:t>(1)</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AU" i="1" smtClean="0">
                                        <a:latin typeface="Cambria Math" panose="02040503050406030204" pitchFamily="18" charset="0"/>
                                      </a:rPr>
                                    </m:ctrlPr>
                                  </m:sSubPr>
                                  <m:e>
                                    <m:r>
                                      <a:rPr lang="en-AU" i="1">
                                        <a:latin typeface="Cambria Math" panose="02040503050406030204" pitchFamily="18" charset="0"/>
                                      </a:rPr>
                                      <m:t>𝐵</m:t>
                                    </m:r>
                                  </m:e>
                                  <m:sub>
                                    <m:r>
                                      <a:rPr lang="en-AU" i="1">
                                        <a:latin typeface="Cambria Math" panose="02040503050406030204" pitchFamily="18" charset="0"/>
                                      </a:rPr>
                                      <m:t>𝑓</m:t>
                                    </m:r>
                                    <m:r>
                                      <a:rPr lang="en-AU" b="0" i="1" smtClean="0">
                                        <a:latin typeface="Cambria Math" panose="02040503050406030204" pitchFamily="18" charset="0"/>
                                      </a:rPr>
                                      <m:t>𝑙</m:t>
                                    </m:r>
                                  </m:sub>
                                </m:sSub>
                                <m:r>
                                  <a:rPr lang="en-AU" b="1" i="0" smtClean="0">
                                    <a:latin typeface="Cambria Math" panose="02040503050406030204" pitchFamily="18" charset="0"/>
                                  </a:rPr>
                                  <m:t> </m:t>
                                </m:r>
                                <m:r>
                                  <a:rPr lang="en-AU" b="1" i="1" smtClean="0">
                                    <a:latin typeface="Cambria Math" panose="02040503050406030204" pitchFamily="18" charset="0"/>
                                  </a:rPr>
                                  <m:t>𝒄𝒂𝒔𝒉</m:t>
                                </m:r>
                                <m:r>
                                  <a:rPr lang="en-AU" b="1" i="1" smtClean="0">
                                    <a:latin typeface="Cambria Math" panose="02040503050406030204" pitchFamily="18" charset="0"/>
                                  </a:rPr>
                                  <m:t> </m:t>
                                </m:r>
                                <m:r>
                                  <a:rPr lang="en-AU" b="1" i="1" smtClean="0">
                                    <a:latin typeface="Cambria Math" panose="02040503050406030204" pitchFamily="18" charset="0"/>
                                  </a:rPr>
                                  <m:t>𝒇𝒍𝒐𝒘</m:t>
                                </m:r>
                              </m:oMath>
                            </m:oMathPara>
                          </a14:m>
                          <a:endParaRPr lang="en-US" dirty="0"/>
                        </a:p>
                        <a:p>
                          <a:r>
                            <a:rPr lang="en-US" dirty="0"/>
                            <a:t>(2)</a:t>
                          </a:r>
                        </a:p>
                      </a:txBody>
                      <a:tcPr/>
                    </a:tc>
                    <a:tc>
                      <a:txBody>
                        <a:bodyPr/>
                        <a:lstStyle/>
                        <a:p>
                          <a:r>
                            <a:rPr lang="en-US" dirty="0"/>
                            <a:t>Discount factor</a:t>
                          </a:r>
                        </a:p>
                        <a:p>
                          <a:r>
                            <a:rPr lang="en-US" dirty="0"/>
                            <a:t>(3)</a:t>
                          </a:r>
                        </a:p>
                      </a:txBody>
                      <a:tcPr/>
                    </a:tc>
                    <a:tc>
                      <a:txBody>
                        <a:bodyPr/>
                        <a:lstStyle/>
                        <a:p>
                          <a:pPr/>
                          <a14:m>
                            <m:oMathPara xmlns:m="http://schemas.openxmlformats.org/officeDocument/2006/math">
                              <m:oMathParaPr>
                                <m:jc m:val="centerGroup"/>
                              </m:oMathParaPr>
                              <m:oMath xmlns:m="http://schemas.openxmlformats.org/officeDocument/2006/math">
                                <m:sSub>
                                  <m:sSubPr>
                                    <m:ctrlPr>
                                      <a:rPr lang="en-AU" i="1" smtClean="0">
                                        <a:latin typeface="Cambria Math" panose="02040503050406030204" pitchFamily="18" charset="0"/>
                                      </a:rPr>
                                    </m:ctrlPr>
                                  </m:sSubPr>
                                  <m:e>
                                    <m:r>
                                      <a:rPr lang="en-AU" b="1" i="1" smtClean="0">
                                        <a:latin typeface="Cambria Math" panose="02040503050406030204" pitchFamily="18" charset="0"/>
                                      </a:rPr>
                                      <m:t>𝑷𝑽</m:t>
                                    </m:r>
                                    <m:r>
                                      <a:rPr lang="en-AU" b="1" i="1" smtClean="0">
                                        <a:latin typeface="Cambria Math" panose="02040503050406030204" pitchFamily="18" charset="0"/>
                                      </a:rPr>
                                      <m:t> </m:t>
                                    </m:r>
                                    <m:r>
                                      <a:rPr lang="en-AU" b="1" i="1" smtClean="0">
                                        <a:latin typeface="Cambria Math" panose="02040503050406030204" pitchFamily="18" charset="0"/>
                                      </a:rPr>
                                      <m:t>𝒐𝒇</m:t>
                                    </m:r>
                                    <m:r>
                                      <a:rPr lang="en-AU" b="1" i="1" smtClean="0">
                                        <a:latin typeface="Cambria Math" panose="02040503050406030204" pitchFamily="18" charset="0"/>
                                      </a:rPr>
                                      <m:t> </m:t>
                                    </m:r>
                                    <m:r>
                                      <a:rPr lang="en-AU" i="1">
                                        <a:latin typeface="Cambria Math" panose="02040503050406030204" pitchFamily="18" charset="0"/>
                                      </a:rPr>
                                      <m:t>𝐵</m:t>
                                    </m:r>
                                  </m:e>
                                  <m:sub>
                                    <m:r>
                                      <a:rPr lang="en-AU" i="1">
                                        <a:latin typeface="Cambria Math" panose="02040503050406030204" pitchFamily="18" charset="0"/>
                                      </a:rPr>
                                      <m:t>𝑓</m:t>
                                    </m:r>
                                    <m:r>
                                      <a:rPr lang="en-AU" b="0" i="1" smtClean="0">
                                        <a:latin typeface="Cambria Math" panose="02040503050406030204" pitchFamily="18" charset="0"/>
                                      </a:rPr>
                                      <m:t>𝑖𝑥</m:t>
                                    </m:r>
                                  </m:sub>
                                </m:sSub>
                              </m:oMath>
                            </m:oMathPara>
                          </a14:m>
                          <a:endParaRPr lang="en-US" dirty="0"/>
                        </a:p>
                        <a:p>
                          <a:r>
                            <a:rPr lang="en-US" dirty="0"/>
                            <a:t>(1)*(3)</a:t>
                          </a:r>
                        </a:p>
                      </a:txBody>
                      <a:tcPr/>
                    </a:tc>
                    <a:tc>
                      <a:txBody>
                        <a:bodyPr/>
                        <a:lstStyle/>
                        <a:p>
                          <a:pPr/>
                          <a14:m>
                            <m:oMathPara xmlns:m="http://schemas.openxmlformats.org/officeDocument/2006/math">
                              <m:oMathParaPr>
                                <m:jc m:val="centerGroup"/>
                              </m:oMathParaPr>
                              <m:oMath xmlns:m="http://schemas.openxmlformats.org/officeDocument/2006/math">
                                <m:sSub>
                                  <m:sSubPr>
                                    <m:ctrlPr>
                                      <a:rPr lang="en-AU" i="1" smtClean="0">
                                        <a:latin typeface="Cambria Math" panose="02040503050406030204" pitchFamily="18" charset="0"/>
                                      </a:rPr>
                                    </m:ctrlPr>
                                  </m:sSubPr>
                                  <m:e>
                                    <m:r>
                                      <a:rPr lang="en-AU" b="1" i="1" smtClean="0">
                                        <a:latin typeface="Cambria Math" panose="02040503050406030204" pitchFamily="18" charset="0"/>
                                      </a:rPr>
                                      <m:t>𝑷𝑽</m:t>
                                    </m:r>
                                    <m:r>
                                      <a:rPr lang="en-AU" b="1" i="1" smtClean="0">
                                        <a:latin typeface="Cambria Math" panose="02040503050406030204" pitchFamily="18" charset="0"/>
                                      </a:rPr>
                                      <m:t> </m:t>
                                    </m:r>
                                    <m:r>
                                      <a:rPr lang="en-AU" b="1" i="1" smtClean="0">
                                        <a:latin typeface="Cambria Math" panose="02040503050406030204" pitchFamily="18" charset="0"/>
                                      </a:rPr>
                                      <m:t>𝒐𝒇</m:t>
                                    </m:r>
                                    <m:r>
                                      <a:rPr lang="en-AU" b="1" i="1" smtClean="0">
                                        <a:latin typeface="Cambria Math" panose="02040503050406030204" pitchFamily="18" charset="0"/>
                                      </a:rPr>
                                      <m:t> </m:t>
                                    </m:r>
                                    <m:r>
                                      <a:rPr lang="en-AU" i="1">
                                        <a:latin typeface="Cambria Math" panose="02040503050406030204" pitchFamily="18" charset="0"/>
                                      </a:rPr>
                                      <m:t>𝐵</m:t>
                                    </m:r>
                                  </m:e>
                                  <m:sub>
                                    <m:r>
                                      <a:rPr lang="en-AU" i="1">
                                        <a:latin typeface="Cambria Math" panose="02040503050406030204" pitchFamily="18" charset="0"/>
                                      </a:rPr>
                                      <m:t>𝑓</m:t>
                                    </m:r>
                                    <m:r>
                                      <a:rPr lang="en-AU" b="0" i="1" smtClean="0">
                                        <a:latin typeface="Cambria Math" panose="02040503050406030204" pitchFamily="18" charset="0"/>
                                      </a:rPr>
                                      <m:t>𝑙</m:t>
                                    </m:r>
                                  </m:sub>
                                </m:sSub>
                              </m:oMath>
                            </m:oMathPara>
                          </a14:m>
                          <a:endParaRPr lang="en-US" dirty="0"/>
                        </a:p>
                        <a:p>
                          <a:r>
                            <a:rPr lang="en-US" dirty="0"/>
                            <a:t>(2)*(3)</a:t>
                          </a:r>
                        </a:p>
                      </a:txBody>
                      <a:tcPr/>
                    </a:tc>
                    <a:extLst>
                      <a:ext uri="{0D108BD9-81ED-4DB2-BD59-A6C34878D82A}">
                        <a16:rowId xmlns:a16="http://schemas.microsoft.com/office/drawing/2014/main" val="1748611465"/>
                      </a:ext>
                    </a:extLst>
                  </a:tr>
                  <a:tr h="632274">
                    <a:tc>
                      <a:txBody>
                        <a:bodyPr/>
                        <a:lstStyle/>
                        <a:p>
                          <a:r>
                            <a:rPr lang="en-US" sz="1600" dirty="0"/>
                            <a:t>0.333</a:t>
                          </a:r>
                        </a:p>
                      </a:txBody>
                      <a:tcPr/>
                    </a:tc>
                    <a:tc>
                      <a:txBody>
                        <a:bodyPr/>
                        <a:lstStyle/>
                        <a:p>
                          <a:pPr/>
                          <a14:m>
                            <m:oMathPara xmlns:m="http://schemas.openxmlformats.org/officeDocument/2006/math">
                              <m:oMathParaPr>
                                <m:jc m:val="centerGroup"/>
                              </m:oMathParaPr>
                              <m:oMath xmlns:m="http://schemas.openxmlformats.org/officeDocument/2006/math">
                                <m:r>
                                  <a:rPr lang="en-AU" sz="1600" b="0" i="1" smtClean="0">
                                    <a:latin typeface="Cambria Math" panose="02040503050406030204" pitchFamily="18" charset="0"/>
                                  </a:rPr>
                                  <m:t>100</m:t>
                                </m:r>
                                <m:r>
                                  <a:rPr lang="en-AU" sz="1600" b="0" i="1" smtClean="0">
                                    <a:latin typeface="Cambria Math" panose="02040503050406030204" pitchFamily="18" charset="0"/>
                                    <a:ea typeface="Cambria Math" panose="02040503050406030204" pitchFamily="18" charset="0"/>
                                  </a:rPr>
                                  <m:t>×7%×0.5</m:t>
                                </m:r>
                              </m:oMath>
                            </m:oMathPara>
                          </a14:m>
                          <a:endParaRPr lang="en-US" sz="1600" dirty="0"/>
                        </a:p>
                      </a:txBody>
                      <a:tcPr/>
                    </a:tc>
                    <a:tc>
                      <a:txBody>
                        <a:bodyPr/>
                        <a:lstStyle/>
                        <a:p>
                          <a:pPr/>
                          <a14:m>
                            <m:oMathPara xmlns:m="http://schemas.openxmlformats.org/officeDocument/2006/math">
                              <m:oMathParaPr>
                                <m:jc m:val="centerGroup"/>
                              </m:oMathParaPr>
                              <m:oMath xmlns:m="http://schemas.openxmlformats.org/officeDocument/2006/math">
                                <m:r>
                                  <a:rPr lang="en-AU" sz="1600" b="0" i="1" smtClean="0">
                                    <a:latin typeface="Cambria Math" panose="02040503050406030204" pitchFamily="18" charset="0"/>
                                  </a:rPr>
                                  <m:t>100+100</m:t>
                                </m:r>
                                <m:r>
                                  <a:rPr lang="en-AU" sz="1600" b="0" i="1" smtClean="0">
                                    <a:latin typeface="Cambria Math" panose="02040503050406030204" pitchFamily="18" charset="0"/>
                                    <a:ea typeface="Cambria Math" panose="02040503050406030204" pitchFamily="18" charset="0"/>
                                  </a:rPr>
                                  <m:t>×4.6%×0.5</m:t>
                                </m:r>
                              </m:oMath>
                            </m:oMathPara>
                          </a14:m>
                          <a:endParaRPr lang="en-US" sz="1600" dirty="0"/>
                        </a:p>
                      </a:txBody>
                      <a:tcPr/>
                    </a:tc>
                    <a:tc>
                      <a:txBody>
                        <a:bodyPr/>
                        <a:lstStyle/>
                        <a:p>
                          <a:pPr/>
                          <a14:m>
                            <m:oMathPara xmlns:m="http://schemas.openxmlformats.org/officeDocument/2006/math">
                              <m:oMathParaPr>
                                <m:jc m:val="centerGroup"/>
                              </m:oMathParaPr>
                              <m:oMath xmlns:m="http://schemas.openxmlformats.org/officeDocument/2006/math">
                                <m:sSup>
                                  <m:sSupPr>
                                    <m:ctrlPr>
                                      <a:rPr lang="en-US" sz="1600" i="1" smtClean="0">
                                        <a:latin typeface="Cambria Math" panose="02040503050406030204" pitchFamily="18" charset="0"/>
                                      </a:rPr>
                                    </m:ctrlPr>
                                  </m:sSupPr>
                                  <m:e>
                                    <m:r>
                                      <a:rPr lang="en-AU" sz="1600" b="0" i="1" smtClean="0">
                                        <a:latin typeface="Cambria Math" panose="02040503050406030204" pitchFamily="18" charset="0"/>
                                      </a:rPr>
                                      <m:t>𝑒</m:t>
                                    </m:r>
                                  </m:e>
                                  <m:sup>
                                    <m:r>
                                      <a:rPr lang="en-AU" sz="1600" b="0" i="1" smtClean="0">
                                        <a:latin typeface="Cambria Math" panose="02040503050406030204" pitchFamily="18" charset="0"/>
                                      </a:rPr>
                                      <m:t>−0.05</m:t>
                                    </m:r>
                                    <m:r>
                                      <a:rPr lang="en-AU" sz="1600" b="0" i="1" smtClean="0">
                                        <a:latin typeface="Cambria Math" panose="02040503050406030204" pitchFamily="18" charset="0"/>
                                        <a:ea typeface="Cambria Math" panose="02040503050406030204" pitchFamily="18" charset="0"/>
                                      </a:rPr>
                                      <m:t>×0.333</m:t>
                                    </m:r>
                                  </m:sup>
                                </m:sSup>
                              </m:oMath>
                            </m:oMathPara>
                          </a14:m>
                          <a:endParaRPr lang="en-US" sz="16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AU" sz="1600" b="0" i="1" smtClean="0">
                                    <a:latin typeface="Cambria Math" panose="02040503050406030204" pitchFamily="18" charset="0"/>
                                  </a:rPr>
                                  <m:t>(100</m:t>
                                </m:r>
                                <m:r>
                                  <a:rPr lang="en-AU" sz="1600" b="0" i="1" smtClean="0">
                                    <a:latin typeface="Cambria Math" panose="02040503050406030204" pitchFamily="18" charset="0"/>
                                    <a:ea typeface="Cambria Math" panose="02040503050406030204" pitchFamily="18" charset="0"/>
                                  </a:rPr>
                                  <m:t>×7%×0.5)×</m:t>
                                </m:r>
                                <m:sSup>
                                  <m:sSupPr>
                                    <m:ctrlPr>
                                      <a:rPr lang="en-US" sz="1600" i="1" smtClean="0">
                                        <a:latin typeface="Cambria Math" panose="02040503050406030204" pitchFamily="18" charset="0"/>
                                      </a:rPr>
                                    </m:ctrlPr>
                                  </m:sSupPr>
                                  <m:e>
                                    <m:r>
                                      <a:rPr lang="en-AU" sz="1600" b="0" i="1" smtClean="0">
                                        <a:latin typeface="Cambria Math" panose="02040503050406030204" pitchFamily="18" charset="0"/>
                                      </a:rPr>
                                      <m:t>𝑒</m:t>
                                    </m:r>
                                  </m:e>
                                  <m:sup>
                                    <m:r>
                                      <a:rPr lang="en-AU" sz="1600" b="0" i="1" smtClean="0">
                                        <a:latin typeface="Cambria Math" panose="02040503050406030204" pitchFamily="18" charset="0"/>
                                      </a:rPr>
                                      <m:t>−0.05</m:t>
                                    </m:r>
                                    <m:r>
                                      <a:rPr lang="en-AU" sz="1600" b="0" i="1" smtClean="0">
                                        <a:latin typeface="Cambria Math" panose="02040503050406030204" pitchFamily="18" charset="0"/>
                                        <a:ea typeface="Cambria Math" panose="02040503050406030204" pitchFamily="18" charset="0"/>
                                      </a:rPr>
                                      <m:t>×0.333</m:t>
                                    </m:r>
                                  </m:sup>
                                </m:sSup>
                              </m:oMath>
                            </m:oMathPara>
                          </a14:m>
                          <a:endParaRPr lang="en-US" sz="16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AU" sz="1600" b="0" i="1" smtClean="0">
                                    <a:latin typeface="Cambria Math" panose="02040503050406030204" pitchFamily="18" charset="0"/>
                                  </a:rPr>
                                  <m:t>(100+100</m:t>
                                </m:r>
                                <m:r>
                                  <a:rPr lang="en-AU" sz="1600" b="0" i="1" smtClean="0">
                                    <a:latin typeface="Cambria Math" panose="02040503050406030204" pitchFamily="18" charset="0"/>
                                    <a:ea typeface="Cambria Math" panose="02040503050406030204" pitchFamily="18" charset="0"/>
                                  </a:rPr>
                                  <m:t>×4.6%×0.5)×</m:t>
                                </m:r>
                                <m:sSup>
                                  <m:sSupPr>
                                    <m:ctrlPr>
                                      <a:rPr lang="en-US" sz="1600" i="1" smtClean="0">
                                        <a:latin typeface="Cambria Math" panose="02040503050406030204" pitchFamily="18" charset="0"/>
                                      </a:rPr>
                                    </m:ctrlPr>
                                  </m:sSupPr>
                                  <m:e>
                                    <m:r>
                                      <a:rPr lang="en-AU" sz="1600" b="0" i="1" smtClean="0">
                                        <a:latin typeface="Cambria Math" panose="02040503050406030204" pitchFamily="18" charset="0"/>
                                      </a:rPr>
                                      <m:t>𝑒</m:t>
                                    </m:r>
                                  </m:e>
                                  <m:sup>
                                    <m:r>
                                      <a:rPr lang="en-AU" sz="1600" b="0" i="1" smtClean="0">
                                        <a:latin typeface="Cambria Math" panose="02040503050406030204" pitchFamily="18" charset="0"/>
                                      </a:rPr>
                                      <m:t>−0.05</m:t>
                                    </m:r>
                                    <m:r>
                                      <a:rPr lang="en-AU" sz="1600" b="0" i="1" smtClean="0">
                                        <a:latin typeface="Cambria Math" panose="02040503050406030204" pitchFamily="18" charset="0"/>
                                        <a:ea typeface="Cambria Math" panose="02040503050406030204" pitchFamily="18" charset="0"/>
                                      </a:rPr>
                                      <m:t>×0.333</m:t>
                                    </m:r>
                                  </m:sup>
                                </m:sSup>
                              </m:oMath>
                            </m:oMathPara>
                          </a14:m>
                          <a:endParaRPr lang="en-US" sz="1600" dirty="0"/>
                        </a:p>
                      </a:txBody>
                      <a:tcPr/>
                    </a:tc>
                    <a:extLst>
                      <a:ext uri="{0D108BD9-81ED-4DB2-BD59-A6C34878D82A}">
                        <a16:rowId xmlns:a16="http://schemas.microsoft.com/office/drawing/2014/main" val="3683376922"/>
                      </a:ext>
                    </a:extLst>
                  </a:tr>
                  <a:tr h="632274">
                    <a:tc>
                      <a:txBody>
                        <a:bodyPr/>
                        <a:lstStyle/>
                        <a:p>
                          <a:r>
                            <a:rPr lang="en-US" sz="1600" dirty="0"/>
                            <a:t>0.833</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AU" sz="1600" b="0" i="1" smtClean="0">
                                    <a:latin typeface="Cambria Math" panose="02040503050406030204" pitchFamily="18" charset="0"/>
                                  </a:rPr>
                                  <m:t>100+100</m:t>
                                </m:r>
                                <m:r>
                                  <a:rPr lang="en-AU" sz="1600" b="0" i="1" smtClean="0">
                                    <a:latin typeface="Cambria Math" panose="02040503050406030204" pitchFamily="18" charset="0"/>
                                    <a:ea typeface="Cambria Math" panose="02040503050406030204" pitchFamily="18" charset="0"/>
                                  </a:rPr>
                                  <m:t>×7%×0.5</m:t>
                                </m:r>
                              </m:oMath>
                            </m:oMathPara>
                          </a14:m>
                          <a:endParaRPr lang="en-US" sz="1600" dirty="0"/>
                        </a:p>
                      </a:txBody>
                      <a:tcPr/>
                    </a:tc>
                    <a:tc>
                      <a:txBody>
                        <a:bodyPr/>
                        <a:lstStyle/>
                        <a:p>
                          <a:endParaRPr lang="en-US" sz="1600" dirty="0"/>
                        </a:p>
                      </a:txBody>
                      <a:tcPr/>
                    </a:tc>
                    <a:tc>
                      <a:txBody>
                        <a:bodyPr/>
                        <a:lstStyle/>
                        <a:p>
                          <a:pPr/>
                          <a14:m>
                            <m:oMathPara xmlns:m="http://schemas.openxmlformats.org/officeDocument/2006/math">
                              <m:oMathParaPr>
                                <m:jc m:val="centerGroup"/>
                              </m:oMathParaPr>
                              <m:oMath xmlns:m="http://schemas.openxmlformats.org/officeDocument/2006/math">
                                <m:sSup>
                                  <m:sSupPr>
                                    <m:ctrlPr>
                                      <a:rPr lang="en-US" sz="1600" i="1" smtClean="0">
                                        <a:latin typeface="Cambria Math" panose="02040503050406030204" pitchFamily="18" charset="0"/>
                                      </a:rPr>
                                    </m:ctrlPr>
                                  </m:sSupPr>
                                  <m:e>
                                    <m:r>
                                      <a:rPr lang="en-AU" sz="1600" b="0" i="1" smtClean="0">
                                        <a:latin typeface="Cambria Math" panose="02040503050406030204" pitchFamily="18" charset="0"/>
                                      </a:rPr>
                                      <m:t>𝑒</m:t>
                                    </m:r>
                                  </m:e>
                                  <m:sup>
                                    <m:r>
                                      <a:rPr lang="en-AU" sz="1600" b="0" i="1" smtClean="0">
                                        <a:latin typeface="Cambria Math" panose="02040503050406030204" pitchFamily="18" charset="0"/>
                                      </a:rPr>
                                      <m:t>−0.05</m:t>
                                    </m:r>
                                    <m:r>
                                      <a:rPr lang="en-AU" sz="1600" b="0" i="1" smtClean="0">
                                        <a:latin typeface="Cambria Math" panose="02040503050406030204" pitchFamily="18" charset="0"/>
                                        <a:ea typeface="Cambria Math" panose="02040503050406030204" pitchFamily="18" charset="0"/>
                                      </a:rPr>
                                      <m:t>×0.833</m:t>
                                    </m:r>
                                  </m:sup>
                                </m:sSup>
                              </m:oMath>
                            </m:oMathPara>
                          </a14:m>
                          <a:endParaRPr lang="en-US" sz="16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AU" sz="1600" b="0" i="1" smtClean="0">
                                    <a:latin typeface="Cambria Math" panose="02040503050406030204" pitchFamily="18" charset="0"/>
                                  </a:rPr>
                                  <m:t>(100+100</m:t>
                                </m:r>
                                <m:r>
                                  <a:rPr lang="en-AU" sz="1600" b="0" i="1" smtClean="0">
                                    <a:latin typeface="Cambria Math" panose="02040503050406030204" pitchFamily="18" charset="0"/>
                                    <a:ea typeface="Cambria Math" panose="02040503050406030204" pitchFamily="18" charset="0"/>
                                  </a:rPr>
                                  <m:t>×7%×0.5)×</m:t>
                                </m:r>
                                <m:sSup>
                                  <m:sSupPr>
                                    <m:ctrlPr>
                                      <a:rPr lang="en-US" sz="1600" i="1" smtClean="0">
                                        <a:latin typeface="Cambria Math" panose="02040503050406030204" pitchFamily="18" charset="0"/>
                                      </a:rPr>
                                    </m:ctrlPr>
                                  </m:sSupPr>
                                  <m:e>
                                    <m:r>
                                      <a:rPr lang="en-AU" sz="1600" b="0" i="1" smtClean="0">
                                        <a:latin typeface="Cambria Math" panose="02040503050406030204" pitchFamily="18" charset="0"/>
                                      </a:rPr>
                                      <m:t>𝑒</m:t>
                                    </m:r>
                                  </m:e>
                                  <m:sup>
                                    <m:r>
                                      <a:rPr lang="en-AU" sz="1600" b="0" i="1" smtClean="0">
                                        <a:latin typeface="Cambria Math" panose="02040503050406030204" pitchFamily="18" charset="0"/>
                                      </a:rPr>
                                      <m:t>−0.05</m:t>
                                    </m:r>
                                    <m:r>
                                      <a:rPr lang="en-AU" sz="1600" b="0" i="1" smtClean="0">
                                        <a:latin typeface="Cambria Math" panose="02040503050406030204" pitchFamily="18" charset="0"/>
                                        <a:ea typeface="Cambria Math" panose="02040503050406030204" pitchFamily="18" charset="0"/>
                                      </a:rPr>
                                      <m:t>×0.833</m:t>
                                    </m:r>
                                  </m:sup>
                                </m:sSup>
                              </m:oMath>
                            </m:oMathPara>
                          </a14:m>
                          <a:endParaRPr lang="en-US" sz="1600" dirty="0"/>
                        </a:p>
                      </a:txBody>
                      <a:tcPr/>
                    </a:tc>
                    <a:tc>
                      <a:txBody>
                        <a:bodyPr/>
                        <a:lstStyle/>
                        <a:p>
                          <a:endParaRPr lang="en-US" sz="1600" dirty="0"/>
                        </a:p>
                      </a:txBody>
                      <a:tcPr/>
                    </a:tc>
                    <a:extLst>
                      <a:ext uri="{0D108BD9-81ED-4DB2-BD59-A6C34878D82A}">
                        <a16:rowId xmlns:a16="http://schemas.microsoft.com/office/drawing/2014/main" val="4138633012"/>
                      </a:ext>
                    </a:extLst>
                  </a:tr>
                  <a:tr h="632274">
                    <a:tc>
                      <a:txBody>
                        <a:bodyPr/>
                        <a:lstStyle/>
                        <a:p>
                          <a:r>
                            <a:rPr lang="en-US" sz="1600" dirty="0"/>
                            <a:t>Total</a:t>
                          </a:r>
                        </a:p>
                      </a:txBody>
                      <a:tcPr/>
                    </a:tc>
                    <a:tc>
                      <a:txBody>
                        <a:bodyPr/>
                        <a:lstStyle/>
                        <a:p>
                          <a:endParaRPr lang="en-US" sz="1600" dirty="0"/>
                        </a:p>
                      </a:txBody>
                      <a:tcPr/>
                    </a:tc>
                    <a:tc>
                      <a:txBody>
                        <a:bodyPr/>
                        <a:lstStyle/>
                        <a:p>
                          <a:endParaRPr lang="en-US" sz="1600" dirty="0"/>
                        </a:p>
                      </a:txBody>
                      <a:tcPr/>
                    </a:tc>
                    <a:tc>
                      <a:txBody>
                        <a:bodyPr/>
                        <a:lstStyle/>
                        <a:p>
                          <a:endParaRPr lang="en-US" sz="1600" dirty="0"/>
                        </a:p>
                      </a:txBody>
                      <a:tcPr/>
                    </a:tc>
                    <a:tc>
                      <a:txBody>
                        <a:bodyPr/>
                        <a:lstStyle/>
                        <a:p>
                          <a:r>
                            <a:rPr lang="en-US" sz="1600" b="1" dirty="0"/>
                            <a:t>102.718</a:t>
                          </a:r>
                        </a:p>
                      </a:txBody>
                      <a:tcPr/>
                    </a:tc>
                    <a:tc>
                      <a:txBody>
                        <a:bodyPr/>
                        <a:lstStyle/>
                        <a:p>
                          <a:r>
                            <a:rPr lang="en-US" sz="1600" b="1" dirty="0"/>
                            <a:t>100.609</a:t>
                          </a:r>
                        </a:p>
                      </a:txBody>
                      <a:tcPr/>
                    </a:tc>
                    <a:extLst>
                      <a:ext uri="{0D108BD9-81ED-4DB2-BD59-A6C34878D82A}">
                        <a16:rowId xmlns:a16="http://schemas.microsoft.com/office/drawing/2014/main" val="4176972528"/>
                      </a:ext>
                    </a:extLst>
                  </a:tr>
                </a:tbl>
              </a:graphicData>
            </a:graphic>
          </p:graphicFrame>
        </mc:Choice>
        <mc:Fallback xmlns="">
          <p:graphicFrame>
            <p:nvGraphicFramePr>
              <p:cNvPr id="6" name="Table 5">
                <a:extLst>
                  <a:ext uri="{FF2B5EF4-FFF2-40B4-BE49-F238E27FC236}">
                    <a16:creationId xmlns:a16="http://schemas.microsoft.com/office/drawing/2014/main" id="{4A559959-8CFA-23CF-64E8-09B4AA7CF112}"/>
                  </a:ext>
                </a:extLst>
              </p:cNvPr>
              <p:cNvGraphicFramePr>
                <a:graphicFrameLocks noGrp="1"/>
              </p:cNvGraphicFramePr>
              <p:nvPr>
                <p:extLst>
                  <p:ext uri="{D42A27DB-BD31-4B8C-83A1-F6EECF244321}">
                    <p14:modId xmlns:p14="http://schemas.microsoft.com/office/powerpoint/2010/main" val="3355763958"/>
                  </p:ext>
                </p:extLst>
              </p:nvPr>
            </p:nvGraphicFramePr>
            <p:xfrm>
              <a:off x="528576" y="3715736"/>
              <a:ext cx="11134848" cy="2923545"/>
            </p:xfrm>
            <a:graphic>
              <a:graphicData uri="http://schemas.openxmlformats.org/drawingml/2006/table">
                <a:tbl>
                  <a:tblPr firstRow="1" bandRow="1">
                    <a:tableStyleId>{5C22544A-7EE6-4342-B048-85BDC9FD1C3A}</a:tableStyleId>
                  </a:tblPr>
                  <a:tblGrid>
                    <a:gridCol w="1855808">
                      <a:extLst>
                        <a:ext uri="{9D8B030D-6E8A-4147-A177-3AD203B41FA5}">
                          <a16:colId xmlns:a16="http://schemas.microsoft.com/office/drawing/2014/main" val="1902593901"/>
                        </a:ext>
                      </a:extLst>
                    </a:gridCol>
                    <a:gridCol w="1855808">
                      <a:extLst>
                        <a:ext uri="{9D8B030D-6E8A-4147-A177-3AD203B41FA5}">
                          <a16:colId xmlns:a16="http://schemas.microsoft.com/office/drawing/2014/main" val="3932323135"/>
                        </a:ext>
                      </a:extLst>
                    </a:gridCol>
                    <a:gridCol w="1855808">
                      <a:extLst>
                        <a:ext uri="{9D8B030D-6E8A-4147-A177-3AD203B41FA5}">
                          <a16:colId xmlns:a16="http://schemas.microsoft.com/office/drawing/2014/main" val="3470556675"/>
                        </a:ext>
                      </a:extLst>
                    </a:gridCol>
                    <a:gridCol w="1855808">
                      <a:extLst>
                        <a:ext uri="{9D8B030D-6E8A-4147-A177-3AD203B41FA5}">
                          <a16:colId xmlns:a16="http://schemas.microsoft.com/office/drawing/2014/main" val="3707822957"/>
                        </a:ext>
                      </a:extLst>
                    </a:gridCol>
                    <a:gridCol w="1855808">
                      <a:extLst>
                        <a:ext uri="{9D8B030D-6E8A-4147-A177-3AD203B41FA5}">
                          <a16:colId xmlns:a16="http://schemas.microsoft.com/office/drawing/2014/main" val="3119402058"/>
                        </a:ext>
                      </a:extLst>
                    </a:gridCol>
                    <a:gridCol w="1855808">
                      <a:extLst>
                        <a:ext uri="{9D8B030D-6E8A-4147-A177-3AD203B41FA5}">
                          <a16:colId xmlns:a16="http://schemas.microsoft.com/office/drawing/2014/main" val="1766958485"/>
                        </a:ext>
                      </a:extLst>
                    </a:gridCol>
                  </a:tblGrid>
                  <a:tr h="662115">
                    <a:tc>
                      <a:txBody>
                        <a:bodyPr/>
                        <a:lstStyle/>
                        <a:p>
                          <a:r>
                            <a:rPr lang="en-US" dirty="0"/>
                            <a:t>Time</a:t>
                          </a:r>
                        </a:p>
                      </a:txBody>
                      <a:tcPr/>
                    </a:tc>
                    <a:tc>
                      <a:txBody>
                        <a:bodyPr/>
                        <a:lstStyle/>
                        <a:p>
                          <a:endParaRPr lang="en-US"/>
                        </a:p>
                      </a:txBody>
                      <a:tcPr>
                        <a:blipFill>
                          <a:blip r:embed="rId4"/>
                          <a:stretch>
                            <a:fillRect l="-100000" t="-3846" r="-399320" b="-348077"/>
                          </a:stretch>
                        </a:blipFill>
                      </a:tcPr>
                    </a:tc>
                    <a:tc>
                      <a:txBody>
                        <a:bodyPr/>
                        <a:lstStyle/>
                        <a:p>
                          <a:endParaRPr lang="en-US"/>
                        </a:p>
                      </a:txBody>
                      <a:tcPr>
                        <a:blipFill>
                          <a:blip r:embed="rId4"/>
                          <a:stretch>
                            <a:fillRect l="-201370" t="-3846" r="-302055" b="-348077"/>
                          </a:stretch>
                        </a:blipFill>
                      </a:tcPr>
                    </a:tc>
                    <a:tc>
                      <a:txBody>
                        <a:bodyPr/>
                        <a:lstStyle/>
                        <a:p>
                          <a:r>
                            <a:rPr lang="en-US" dirty="0"/>
                            <a:t>Discount factor</a:t>
                          </a:r>
                        </a:p>
                        <a:p>
                          <a:r>
                            <a:rPr lang="en-US" dirty="0"/>
                            <a:t>(3)</a:t>
                          </a:r>
                        </a:p>
                      </a:txBody>
                      <a:tcPr/>
                    </a:tc>
                    <a:tc>
                      <a:txBody>
                        <a:bodyPr/>
                        <a:lstStyle/>
                        <a:p>
                          <a:endParaRPr lang="en-US"/>
                        </a:p>
                      </a:txBody>
                      <a:tcPr>
                        <a:blipFill>
                          <a:blip r:embed="rId4"/>
                          <a:stretch>
                            <a:fillRect l="-398639" t="-3846" r="-100680" b="-348077"/>
                          </a:stretch>
                        </a:blipFill>
                      </a:tcPr>
                    </a:tc>
                    <a:tc>
                      <a:txBody>
                        <a:bodyPr/>
                        <a:lstStyle/>
                        <a:p>
                          <a:endParaRPr lang="en-US"/>
                        </a:p>
                      </a:txBody>
                      <a:tcPr>
                        <a:blipFill>
                          <a:blip r:embed="rId4"/>
                          <a:stretch>
                            <a:fillRect l="-502055" t="-3846" r="-1370" b="-348077"/>
                          </a:stretch>
                        </a:blipFill>
                      </a:tcPr>
                    </a:tc>
                    <a:extLst>
                      <a:ext uri="{0D108BD9-81ED-4DB2-BD59-A6C34878D82A}">
                        <a16:rowId xmlns:a16="http://schemas.microsoft.com/office/drawing/2014/main" val="1748611465"/>
                      </a:ext>
                    </a:extLst>
                  </a:tr>
                  <a:tr h="814578">
                    <a:tc>
                      <a:txBody>
                        <a:bodyPr/>
                        <a:lstStyle/>
                        <a:p>
                          <a:r>
                            <a:rPr lang="en-US" sz="1600" dirty="0"/>
                            <a:t>0.333</a:t>
                          </a:r>
                        </a:p>
                      </a:txBody>
                      <a:tcPr/>
                    </a:tc>
                    <a:tc>
                      <a:txBody>
                        <a:bodyPr/>
                        <a:lstStyle/>
                        <a:p>
                          <a:endParaRPr lang="en-US"/>
                        </a:p>
                      </a:txBody>
                      <a:tcPr>
                        <a:blipFill>
                          <a:blip r:embed="rId4"/>
                          <a:stretch>
                            <a:fillRect l="-100000" t="-83077" r="-399320" b="-178462"/>
                          </a:stretch>
                        </a:blipFill>
                      </a:tcPr>
                    </a:tc>
                    <a:tc>
                      <a:txBody>
                        <a:bodyPr/>
                        <a:lstStyle/>
                        <a:p>
                          <a:endParaRPr lang="en-US"/>
                        </a:p>
                      </a:txBody>
                      <a:tcPr>
                        <a:blipFill>
                          <a:blip r:embed="rId4"/>
                          <a:stretch>
                            <a:fillRect l="-201370" t="-83077" r="-302055" b="-178462"/>
                          </a:stretch>
                        </a:blipFill>
                      </a:tcPr>
                    </a:tc>
                    <a:tc>
                      <a:txBody>
                        <a:bodyPr/>
                        <a:lstStyle/>
                        <a:p>
                          <a:endParaRPr lang="en-US"/>
                        </a:p>
                      </a:txBody>
                      <a:tcPr>
                        <a:blipFill>
                          <a:blip r:embed="rId4"/>
                          <a:stretch>
                            <a:fillRect l="-301370" t="-83077" r="-202055" b="-178462"/>
                          </a:stretch>
                        </a:blipFill>
                      </a:tcPr>
                    </a:tc>
                    <a:tc>
                      <a:txBody>
                        <a:bodyPr/>
                        <a:lstStyle/>
                        <a:p>
                          <a:endParaRPr lang="en-US"/>
                        </a:p>
                      </a:txBody>
                      <a:tcPr>
                        <a:blipFill>
                          <a:blip r:embed="rId4"/>
                          <a:stretch>
                            <a:fillRect l="-398639" t="-83077" r="-100680" b="-178462"/>
                          </a:stretch>
                        </a:blipFill>
                      </a:tcPr>
                    </a:tc>
                    <a:tc>
                      <a:txBody>
                        <a:bodyPr/>
                        <a:lstStyle/>
                        <a:p>
                          <a:endParaRPr lang="en-US"/>
                        </a:p>
                      </a:txBody>
                      <a:tcPr>
                        <a:blipFill>
                          <a:blip r:embed="rId4"/>
                          <a:stretch>
                            <a:fillRect l="-502055" t="-83077" r="-1370" b="-178462"/>
                          </a:stretch>
                        </a:blipFill>
                      </a:tcPr>
                    </a:tc>
                    <a:extLst>
                      <a:ext uri="{0D108BD9-81ED-4DB2-BD59-A6C34878D82A}">
                        <a16:rowId xmlns:a16="http://schemas.microsoft.com/office/drawing/2014/main" val="3683376922"/>
                      </a:ext>
                    </a:extLst>
                  </a:tr>
                  <a:tr h="814578">
                    <a:tc>
                      <a:txBody>
                        <a:bodyPr/>
                        <a:lstStyle/>
                        <a:p>
                          <a:r>
                            <a:rPr lang="en-US" sz="1600" dirty="0"/>
                            <a:t>0.833</a:t>
                          </a:r>
                        </a:p>
                      </a:txBody>
                      <a:tcPr/>
                    </a:tc>
                    <a:tc>
                      <a:txBody>
                        <a:bodyPr/>
                        <a:lstStyle/>
                        <a:p>
                          <a:endParaRPr lang="en-US"/>
                        </a:p>
                      </a:txBody>
                      <a:tcPr>
                        <a:blipFill>
                          <a:blip r:embed="rId4"/>
                          <a:stretch>
                            <a:fillRect l="-100000" t="-185938" r="-399320" b="-81250"/>
                          </a:stretch>
                        </a:blipFill>
                      </a:tcPr>
                    </a:tc>
                    <a:tc>
                      <a:txBody>
                        <a:bodyPr/>
                        <a:lstStyle/>
                        <a:p>
                          <a:endParaRPr lang="en-US" sz="1600" dirty="0"/>
                        </a:p>
                      </a:txBody>
                      <a:tcPr/>
                    </a:tc>
                    <a:tc>
                      <a:txBody>
                        <a:bodyPr/>
                        <a:lstStyle/>
                        <a:p>
                          <a:endParaRPr lang="en-US"/>
                        </a:p>
                      </a:txBody>
                      <a:tcPr>
                        <a:blipFill>
                          <a:blip r:embed="rId4"/>
                          <a:stretch>
                            <a:fillRect l="-301370" t="-185938" r="-202055" b="-81250"/>
                          </a:stretch>
                        </a:blipFill>
                      </a:tcPr>
                    </a:tc>
                    <a:tc>
                      <a:txBody>
                        <a:bodyPr/>
                        <a:lstStyle/>
                        <a:p>
                          <a:endParaRPr lang="en-US"/>
                        </a:p>
                      </a:txBody>
                      <a:tcPr>
                        <a:blipFill>
                          <a:blip r:embed="rId4"/>
                          <a:stretch>
                            <a:fillRect l="-398639" t="-185938" r="-100680" b="-81250"/>
                          </a:stretch>
                        </a:blipFill>
                      </a:tcPr>
                    </a:tc>
                    <a:tc>
                      <a:txBody>
                        <a:bodyPr/>
                        <a:lstStyle/>
                        <a:p>
                          <a:endParaRPr lang="en-US" sz="1600" dirty="0"/>
                        </a:p>
                      </a:txBody>
                      <a:tcPr/>
                    </a:tc>
                    <a:extLst>
                      <a:ext uri="{0D108BD9-81ED-4DB2-BD59-A6C34878D82A}">
                        <a16:rowId xmlns:a16="http://schemas.microsoft.com/office/drawing/2014/main" val="4138633012"/>
                      </a:ext>
                    </a:extLst>
                  </a:tr>
                  <a:tr h="632274">
                    <a:tc>
                      <a:txBody>
                        <a:bodyPr/>
                        <a:lstStyle/>
                        <a:p>
                          <a:r>
                            <a:rPr lang="en-US" sz="1600" dirty="0"/>
                            <a:t>Total</a:t>
                          </a:r>
                        </a:p>
                      </a:txBody>
                      <a:tcPr/>
                    </a:tc>
                    <a:tc>
                      <a:txBody>
                        <a:bodyPr/>
                        <a:lstStyle/>
                        <a:p>
                          <a:endParaRPr lang="en-US" sz="1600" dirty="0"/>
                        </a:p>
                      </a:txBody>
                      <a:tcPr/>
                    </a:tc>
                    <a:tc>
                      <a:txBody>
                        <a:bodyPr/>
                        <a:lstStyle/>
                        <a:p>
                          <a:endParaRPr lang="en-US" sz="1600" dirty="0"/>
                        </a:p>
                      </a:txBody>
                      <a:tcPr/>
                    </a:tc>
                    <a:tc>
                      <a:txBody>
                        <a:bodyPr/>
                        <a:lstStyle/>
                        <a:p>
                          <a:endParaRPr lang="en-US" sz="1600" dirty="0"/>
                        </a:p>
                      </a:txBody>
                      <a:tcPr/>
                    </a:tc>
                    <a:tc>
                      <a:txBody>
                        <a:bodyPr/>
                        <a:lstStyle/>
                        <a:p>
                          <a:r>
                            <a:rPr lang="en-US" sz="1600" b="1" dirty="0"/>
                            <a:t>102.718</a:t>
                          </a:r>
                        </a:p>
                      </a:txBody>
                      <a:tcPr/>
                    </a:tc>
                    <a:tc>
                      <a:txBody>
                        <a:bodyPr/>
                        <a:lstStyle/>
                        <a:p>
                          <a:r>
                            <a:rPr lang="en-US" sz="1600" b="1" dirty="0"/>
                            <a:t>100.609</a:t>
                          </a:r>
                        </a:p>
                      </a:txBody>
                      <a:tcPr/>
                    </a:tc>
                    <a:extLst>
                      <a:ext uri="{0D108BD9-81ED-4DB2-BD59-A6C34878D82A}">
                        <a16:rowId xmlns:a16="http://schemas.microsoft.com/office/drawing/2014/main" val="4176972528"/>
                      </a:ext>
                    </a:extLst>
                  </a:tr>
                </a:tbl>
              </a:graphicData>
            </a:graphic>
          </p:graphicFrame>
        </mc:Fallback>
      </mc:AlternateContent>
      <p:sp>
        <p:nvSpPr>
          <p:cNvPr id="9" name="Date Placeholder 8">
            <a:extLst>
              <a:ext uri="{FF2B5EF4-FFF2-40B4-BE49-F238E27FC236}">
                <a16:creationId xmlns:a16="http://schemas.microsoft.com/office/drawing/2014/main" id="{D38F4901-E602-E18A-9188-1FBD254D8358}"/>
              </a:ext>
            </a:extLst>
          </p:cNvPr>
          <p:cNvSpPr>
            <a:spLocks noGrp="1"/>
          </p:cNvSpPr>
          <p:nvPr>
            <p:ph type="dt" sz="half" idx="10"/>
          </p:nvPr>
        </p:nvSpPr>
        <p:spPr/>
        <p:txBody>
          <a:bodyPr/>
          <a:lstStyle/>
          <a:p>
            <a:fld id="{7239D8D5-133D-7445-B7DA-AE1F39FB30BD}" type="datetime1">
              <a:rPr lang="en-AU" smtClean="0"/>
              <a:t>28/8/2026</a:t>
            </a:fld>
            <a:endParaRPr lang="en-US"/>
          </a:p>
        </p:txBody>
      </p:sp>
      <p:sp>
        <p:nvSpPr>
          <p:cNvPr id="10" name="Footer Placeholder 9">
            <a:extLst>
              <a:ext uri="{FF2B5EF4-FFF2-40B4-BE49-F238E27FC236}">
                <a16:creationId xmlns:a16="http://schemas.microsoft.com/office/drawing/2014/main" id="{A312DFCC-81A4-FD88-B44B-467C8E054318}"/>
              </a:ext>
            </a:extLst>
          </p:cNvPr>
          <p:cNvSpPr>
            <a:spLocks noGrp="1"/>
          </p:cNvSpPr>
          <p:nvPr>
            <p:ph type="ftr" sz="quarter" idx="11"/>
          </p:nvPr>
        </p:nvSpPr>
        <p:spPr/>
        <p:txBody>
          <a:bodyPr/>
          <a:lstStyle/>
          <a:p>
            <a:r>
              <a:rPr lang="en-US"/>
              <a:t>FINA2204 - Tutorial 5</a:t>
            </a:r>
          </a:p>
        </p:txBody>
      </p:sp>
      <p:sp>
        <p:nvSpPr>
          <p:cNvPr id="11" name="Slide Number Placeholder 10">
            <a:extLst>
              <a:ext uri="{FF2B5EF4-FFF2-40B4-BE49-F238E27FC236}">
                <a16:creationId xmlns:a16="http://schemas.microsoft.com/office/drawing/2014/main" id="{1E7D70AF-5E96-B0B5-A95F-50F7C846A257}"/>
              </a:ext>
            </a:extLst>
          </p:cNvPr>
          <p:cNvSpPr>
            <a:spLocks noGrp="1"/>
          </p:cNvSpPr>
          <p:nvPr>
            <p:ph type="sldNum" sz="quarter" idx="12"/>
          </p:nvPr>
        </p:nvSpPr>
        <p:spPr/>
        <p:txBody>
          <a:bodyPr/>
          <a:lstStyle/>
          <a:p>
            <a:fld id="{9855740F-6ECD-274F-B089-6B266B6B07F9}" type="slidenum">
              <a:rPr lang="en-US" smtClean="0"/>
              <a:t>36</a:t>
            </a:fld>
            <a:endParaRPr lang="en-US"/>
          </a:p>
        </p:txBody>
      </p:sp>
      <p:pic>
        <p:nvPicPr>
          <p:cNvPr id="13" name="Picture 12">
            <a:extLst>
              <a:ext uri="{FF2B5EF4-FFF2-40B4-BE49-F238E27FC236}">
                <a16:creationId xmlns:a16="http://schemas.microsoft.com/office/drawing/2014/main" id="{FC713632-E9D2-B89C-4A22-FA4E8DE076D6}"/>
              </a:ext>
            </a:extLst>
          </p:cNvPr>
          <p:cNvPicPr>
            <a:picLocks noChangeAspect="1"/>
          </p:cNvPicPr>
          <p:nvPr/>
        </p:nvPicPr>
        <p:blipFill>
          <a:blip r:embed="rId5"/>
          <a:stretch>
            <a:fillRect/>
          </a:stretch>
        </p:blipFill>
        <p:spPr>
          <a:xfrm>
            <a:off x="8032750" y="986194"/>
            <a:ext cx="3898900" cy="622300"/>
          </a:xfrm>
          <a:prstGeom prst="rect">
            <a:avLst/>
          </a:prstGeom>
        </p:spPr>
      </p:pic>
      <p:sp>
        <p:nvSpPr>
          <p:cNvPr id="17" name="Oval 16">
            <a:extLst>
              <a:ext uri="{FF2B5EF4-FFF2-40B4-BE49-F238E27FC236}">
                <a16:creationId xmlns:a16="http://schemas.microsoft.com/office/drawing/2014/main" id="{E8583F31-BAAE-2072-5BF6-CF437FE6061A}"/>
              </a:ext>
            </a:extLst>
          </p:cNvPr>
          <p:cNvSpPr/>
          <p:nvPr/>
        </p:nvSpPr>
        <p:spPr>
          <a:xfrm>
            <a:off x="9711160" y="4445734"/>
            <a:ext cx="2071867" cy="731774"/>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2" name="Straight Arrow Connector 21">
            <a:extLst>
              <a:ext uri="{FF2B5EF4-FFF2-40B4-BE49-F238E27FC236}">
                <a16:creationId xmlns:a16="http://schemas.microsoft.com/office/drawing/2014/main" id="{506B9440-28D6-452D-4FA0-60C94D6D682F}"/>
              </a:ext>
            </a:extLst>
          </p:cNvPr>
          <p:cNvCxnSpPr>
            <a:cxnSpLocks/>
          </p:cNvCxnSpPr>
          <p:nvPr/>
        </p:nvCxnSpPr>
        <p:spPr>
          <a:xfrm flipH="1" flipV="1">
            <a:off x="10602410" y="1791641"/>
            <a:ext cx="374247" cy="2470946"/>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3" name="TextBox 2">
            <a:extLst>
              <a:ext uri="{FF2B5EF4-FFF2-40B4-BE49-F238E27FC236}">
                <a16:creationId xmlns:a16="http://schemas.microsoft.com/office/drawing/2014/main" id="{AB9AD706-43AD-51F1-B695-A82C3496384A}"/>
              </a:ext>
            </a:extLst>
          </p:cNvPr>
          <p:cNvSpPr txBox="1"/>
          <p:nvPr/>
        </p:nvSpPr>
        <p:spPr>
          <a:xfrm>
            <a:off x="8462356" y="482138"/>
            <a:ext cx="3069943" cy="369332"/>
          </a:xfrm>
          <a:prstGeom prst="rect">
            <a:avLst/>
          </a:prstGeom>
          <a:noFill/>
        </p:spPr>
        <p:txBody>
          <a:bodyPr wrap="none" rtlCol="0">
            <a:spAutoFit/>
          </a:bodyPr>
          <a:lstStyle/>
          <a:p>
            <a:r>
              <a:rPr lang="en-US" dirty="0"/>
              <a:t>Floating rate shortcut version</a:t>
            </a:r>
          </a:p>
        </p:txBody>
      </p:sp>
      <p:sp>
        <p:nvSpPr>
          <p:cNvPr id="5" name="Rectangle 4">
            <a:extLst>
              <a:ext uri="{FF2B5EF4-FFF2-40B4-BE49-F238E27FC236}">
                <a16:creationId xmlns:a16="http://schemas.microsoft.com/office/drawing/2014/main" id="{6F6449EC-0EDF-409D-1961-25BBC4560D8C}"/>
              </a:ext>
            </a:extLst>
          </p:cNvPr>
          <p:cNvSpPr/>
          <p:nvPr/>
        </p:nvSpPr>
        <p:spPr>
          <a:xfrm>
            <a:off x="4221997" y="5177508"/>
            <a:ext cx="1874003" cy="857160"/>
          </a:xfrm>
          <a:prstGeom prst="rect">
            <a:avLst/>
          </a:prstGeom>
          <a:solidFill>
            <a:srgbClr val="FFFF00"/>
          </a:solid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N/A</a:t>
            </a:r>
          </a:p>
        </p:txBody>
      </p:sp>
    </p:spTree>
    <p:extLst>
      <p:ext uri="{BB962C8B-B14F-4D97-AF65-F5344CB8AC3E}">
        <p14:creationId xmlns:p14="http://schemas.microsoft.com/office/powerpoint/2010/main" val="21959251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2"/>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5"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87EEC2-4685-B0AC-634E-F53D2AB1739E}"/>
              </a:ext>
            </a:extLst>
          </p:cNvPr>
          <p:cNvSpPr>
            <a:spLocks noGrp="1"/>
          </p:cNvSpPr>
          <p:nvPr>
            <p:ph type="title"/>
          </p:nvPr>
        </p:nvSpPr>
        <p:spPr/>
        <p:txBody>
          <a:bodyPr/>
          <a:lstStyle/>
          <a:p>
            <a:r>
              <a:rPr lang="en-US" dirty="0"/>
              <a:t>Answer 7.2</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C5B5B3D-A15C-73E5-8F22-F2490ED70C21}"/>
                  </a:ext>
                </a:extLst>
              </p:cNvPr>
              <p:cNvSpPr>
                <a:spLocks noGrp="1"/>
              </p:cNvSpPr>
              <p:nvPr>
                <p:ph idx="1"/>
              </p:nvPr>
            </p:nvSpPr>
            <p:spPr/>
            <p:txBody>
              <a:bodyPr/>
              <a:lstStyle/>
              <a:p>
                <a14:m>
                  <m:oMath xmlns:m="http://schemas.openxmlformats.org/officeDocument/2006/math">
                    <m:r>
                      <a:rPr lang="en-AU" sz="2400" b="0" i="1" smtClean="0">
                        <a:solidFill>
                          <a:srgbClr val="0070C0"/>
                        </a:solidFill>
                        <a:latin typeface="Cambria Math" panose="02040503050406030204" pitchFamily="18" charset="0"/>
                      </a:rPr>
                      <m:t>𝑧𝑒𝑟𝑜</m:t>
                    </m:r>
                    <m:r>
                      <a:rPr lang="en-AU" sz="2400" b="0" i="1" smtClean="0">
                        <a:solidFill>
                          <a:srgbClr val="0070C0"/>
                        </a:solidFill>
                        <a:latin typeface="Cambria Math" panose="02040503050406030204" pitchFamily="18" charset="0"/>
                      </a:rPr>
                      <m:t> </m:t>
                    </m:r>
                    <m:r>
                      <a:rPr lang="en-AU" sz="2400" b="0" i="1" smtClean="0">
                        <a:solidFill>
                          <a:srgbClr val="0070C0"/>
                        </a:solidFill>
                        <a:latin typeface="Cambria Math" panose="02040503050406030204" pitchFamily="18" charset="0"/>
                      </a:rPr>
                      <m:t>𝑐𝑢𝑟𝑣𝑒</m:t>
                    </m:r>
                    <m:r>
                      <a:rPr lang="en-AU" sz="2400" b="0" i="1" smtClean="0">
                        <a:solidFill>
                          <a:srgbClr val="0070C0"/>
                        </a:solidFill>
                        <a:latin typeface="Cambria Math" panose="02040503050406030204" pitchFamily="18" charset="0"/>
                      </a:rPr>
                      <m:t> </m:t>
                    </m:r>
                    <m:d>
                      <m:dPr>
                        <m:ctrlPr>
                          <a:rPr lang="en-AU" sz="2400" b="1" i="1" smtClean="0">
                            <a:solidFill>
                              <a:srgbClr val="0070C0"/>
                            </a:solidFill>
                            <a:latin typeface="Cambria Math" panose="02040503050406030204" pitchFamily="18" charset="0"/>
                          </a:rPr>
                        </m:ctrlPr>
                      </m:dPr>
                      <m:e>
                        <m:r>
                          <a:rPr lang="en-AU" sz="2400" b="1" i="1" smtClean="0">
                            <a:solidFill>
                              <a:srgbClr val="0070C0"/>
                            </a:solidFill>
                            <a:latin typeface="Cambria Math" panose="02040503050406030204" pitchFamily="18" charset="0"/>
                          </a:rPr>
                          <m:t>𝒇𝒍𝒂𝒕</m:t>
                        </m:r>
                        <m:r>
                          <a:rPr lang="en-AU" sz="2400" b="1" i="1" smtClean="0">
                            <a:solidFill>
                              <a:srgbClr val="0070C0"/>
                            </a:solidFill>
                            <a:latin typeface="Cambria Math" panose="02040503050406030204" pitchFamily="18" charset="0"/>
                          </a:rPr>
                          <m:t> </m:t>
                        </m:r>
                        <m:r>
                          <a:rPr lang="en-AU" sz="2400" b="1" i="1" smtClean="0">
                            <a:solidFill>
                              <a:srgbClr val="0070C0"/>
                            </a:solidFill>
                            <a:latin typeface="Cambria Math" panose="02040503050406030204" pitchFamily="18" charset="0"/>
                          </a:rPr>
                          <m:t>𝟓</m:t>
                        </m:r>
                        <m:r>
                          <a:rPr lang="en-AU" sz="2400" b="1" i="1" smtClean="0">
                            <a:solidFill>
                              <a:srgbClr val="0070C0"/>
                            </a:solidFill>
                            <a:latin typeface="Cambria Math" panose="02040503050406030204" pitchFamily="18" charset="0"/>
                          </a:rPr>
                          <m:t>%</m:t>
                        </m:r>
                      </m:e>
                    </m:d>
                    <m:r>
                      <a:rPr lang="en-AU" sz="2400" b="0" i="1" smtClean="0">
                        <a:solidFill>
                          <a:srgbClr val="0070C0"/>
                        </a:solidFill>
                        <a:latin typeface="Cambria Math" panose="02040503050406030204" pitchFamily="18" charset="0"/>
                        <a:ea typeface="Cambria Math" panose="02040503050406030204" pitchFamily="18" charset="0"/>
                      </a:rPr>
                      <m:t>→</m:t>
                    </m:r>
                    <m:r>
                      <a:rPr lang="en-AU" sz="2400" b="0" i="1" smtClean="0">
                        <a:solidFill>
                          <a:srgbClr val="0070C0"/>
                        </a:solidFill>
                        <a:latin typeface="Cambria Math" panose="02040503050406030204" pitchFamily="18" charset="0"/>
                        <a:ea typeface="Cambria Math" panose="02040503050406030204" pitchFamily="18" charset="0"/>
                      </a:rPr>
                      <m:t>𝐼𝑚𝑝𝑙𝑖𝑒𝑑</m:t>
                    </m:r>
                    <m:r>
                      <a:rPr lang="en-AU" sz="2400" b="0" i="1" smtClean="0">
                        <a:solidFill>
                          <a:srgbClr val="0070C0"/>
                        </a:solidFill>
                        <a:latin typeface="Cambria Math" panose="02040503050406030204" pitchFamily="18" charset="0"/>
                        <a:ea typeface="Cambria Math" panose="02040503050406030204" pitchFamily="18" charset="0"/>
                      </a:rPr>
                      <m:t> 6−</m:t>
                    </m:r>
                    <m:r>
                      <a:rPr lang="en-AU" altLang="zh-CN" sz="2400" b="0" i="1" smtClean="0">
                        <a:solidFill>
                          <a:srgbClr val="0070C0"/>
                        </a:solidFill>
                        <a:latin typeface="Cambria Math" panose="02040503050406030204" pitchFamily="18" charset="0"/>
                        <a:ea typeface="Cambria Math" panose="02040503050406030204" pitchFamily="18" charset="0"/>
                      </a:rPr>
                      <m:t>𝑚𝑜𝑛𝑡h</m:t>
                    </m:r>
                    <m:r>
                      <a:rPr lang="en-AU" altLang="zh-CN" sz="2400" b="0" i="1" smtClean="0">
                        <a:solidFill>
                          <a:srgbClr val="0070C0"/>
                        </a:solidFill>
                        <a:latin typeface="Cambria Math" panose="02040503050406030204" pitchFamily="18" charset="0"/>
                        <a:ea typeface="Cambria Math" panose="02040503050406030204" pitchFamily="18" charset="0"/>
                      </a:rPr>
                      <m:t> </m:t>
                    </m:r>
                    <m:r>
                      <a:rPr lang="en-AU" altLang="zh-CN" sz="2400" b="0" i="1" smtClean="0">
                        <a:solidFill>
                          <a:srgbClr val="0070C0"/>
                        </a:solidFill>
                        <a:latin typeface="Cambria Math" panose="02040503050406030204" pitchFamily="18" charset="0"/>
                        <a:ea typeface="Cambria Math" panose="02040503050406030204" pitchFamily="18" charset="0"/>
                      </a:rPr>
                      <m:t>𝑓𝑜𝑟𝑤𝑎𝑟𝑑</m:t>
                    </m:r>
                    <m:r>
                      <a:rPr lang="en-AU" altLang="zh-CN" sz="2400" b="0" i="1" smtClean="0">
                        <a:solidFill>
                          <a:srgbClr val="0070C0"/>
                        </a:solidFill>
                        <a:latin typeface="Cambria Math" panose="02040503050406030204" pitchFamily="18" charset="0"/>
                        <a:ea typeface="Cambria Math" panose="02040503050406030204" pitchFamily="18" charset="0"/>
                      </a:rPr>
                      <m:t> </m:t>
                    </m:r>
                    <m:r>
                      <a:rPr lang="en-AU" altLang="zh-CN" sz="2400" b="0" i="1" smtClean="0">
                        <a:solidFill>
                          <a:srgbClr val="0070C0"/>
                        </a:solidFill>
                        <a:latin typeface="Cambria Math" panose="02040503050406030204" pitchFamily="18" charset="0"/>
                        <a:ea typeface="Cambria Math" panose="02040503050406030204" pitchFamily="18" charset="0"/>
                      </a:rPr>
                      <m:t>𝐵𝐵𝑆𝑊</m:t>
                    </m:r>
                    <m:r>
                      <a:rPr lang="en-AU" sz="2400" b="0" i="1" smtClean="0">
                        <a:solidFill>
                          <a:srgbClr val="0070C0"/>
                        </a:solidFill>
                        <a:latin typeface="Cambria Math" panose="02040503050406030204" pitchFamily="18" charset="0"/>
                        <a:ea typeface="Cambria Math" panose="02040503050406030204" pitchFamily="18" charset="0"/>
                      </a:rPr>
                      <m:t>→</m:t>
                    </m:r>
                    <m:r>
                      <a:rPr lang="en-AU" sz="2400" i="1" smtClean="0">
                        <a:solidFill>
                          <a:srgbClr val="0070C0"/>
                        </a:solidFill>
                        <a:latin typeface="Cambria Math" panose="02040503050406030204" pitchFamily="18" charset="0"/>
                      </a:rPr>
                      <m:t>(1+</m:t>
                    </m:r>
                    <m:f>
                      <m:fPr>
                        <m:ctrlPr>
                          <a:rPr lang="en-AU" sz="2400" i="1">
                            <a:solidFill>
                              <a:srgbClr val="0070C0"/>
                            </a:solidFill>
                            <a:latin typeface="Cambria Math" panose="02040503050406030204" pitchFamily="18" charset="0"/>
                          </a:rPr>
                        </m:ctrlPr>
                      </m:fPr>
                      <m:num>
                        <m:sSub>
                          <m:sSubPr>
                            <m:ctrlPr>
                              <a:rPr lang="en-US" sz="2400" i="1">
                                <a:solidFill>
                                  <a:srgbClr val="0070C0"/>
                                </a:solidFill>
                                <a:latin typeface="Cambria Math" panose="02040503050406030204" pitchFamily="18" charset="0"/>
                              </a:rPr>
                            </m:ctrlPr>
                          </m:sSubPr>
                          <m:e>
                            <m:r>
                              <a:rPr lang="en-AU" sz="2400" i="1">
                                <a:solidFill>
                                  <a:srgbClr val="0070C0"/>
                                </a:solidFill>
                                <a:latin typeface="Cambria Math" panose="02040503050406030204" pitchFamily="18" charset="0"/>
                              </a:rPr>
                              <m:t>𝑅</m:t>
                            </m:r>
                          </m:e>
                          <m:sub>
                            <m:r>
                              <a:rPr lang="en-AU" sz="2400" i="1">
                                <a:solidFill>
                                  <a:srgbClr val="0070C0"/>
                                </a:solidFill>
                                <a:latin typeface="Cambria Math" panose="02040503050406030204" pitchFamily="18" charset="0"/>
                              </a:rPr>
                              <m:t>𝑚</m:t>
                            </m:r>
                          </m:sub>
                        </m:sSub>
                      </m:num>
                      <m:den>
                        <m:r>
                          <a:rPr lang="en-AU" sz="2400" i="1">
                            <a:solidFill>
                              <a:srgbClr val="0070C0"/>
                            </a:solidFill>
                            <a:latin typeface="Cambria Math" panose="02040503050406030204" pitchFamily="18" charset="0"/>
                          </a:rPr>
                          <m:t>𝑚</m:t>
                        </m:r>
                      </m:den>
                    </m:f>
                    <m:sSup>
                      <m:sSupPr>
                        <m:ctrlPr>
                          <a:rPr lang="en-AU" sz="2400" i="1">
                            <a:solidFill>
                              <a:srgbClr val="0070C0"/>
                            </a:solidFill>
                            <a:latin typeface="Cambria Math" panose="02040503050406030204" pitchFamily="18" charset="0"/>
                          </a:rPr>
                        </m:ctrlPr>
                      </m:sSupPr>
                      <m:e>
                        <m:r>
                          <a:rPr lang="en-AU" sz="2400" i="1">
                            <a:solidFill>
                              <a:srgbClr val="0070C0"/>
                            </a:solidFill>
                            <a:latin typeface="Cambria Math" panose="02040503050406030204" pitchFamily="18" charset="0"/>
                          </a:rPr>
                          <m:t>)</m:t>
                        </m:r>
                      </m:e>
                      <m:sup>
                        <m:r>
                          <a:rPr lang="en-AU" sz="2400" i="1">
                            <a:solidFill>
                              <a:srgbClr val="0070C0"/>
                            </a:solidFill>
                            <a:latin typeface="Cambria Math" panose="02040503050406030204" pitchFamily="18" charset="0"/>
                          </a:rPr>
                          <m:t>𝑚𝑇</m:t>
                        </m:r>
                      </m:sup>
                    </m:sSup>
                    <m:r>
                      <a:rPr lang="en-US" altLang="zh-CN" sz="2400" i="1">
                        <a:solidFill>
                          <a:srgbClr val="0070C0"/>
                        </a:solidFill>
                        <a:latin typeface="Cambria Math" panose="02040503050406030204" pitchFamily="18" charset="0"/>
                      </a:rPr>
                      <m:t>=</m:t>
                    </m:r>
                    <m:sSup>
                      <m:sSupPr>
                        <m:ctrlPr>
                          <a:rPr lang="en-AU" sz="2400" i="1">
                            <a:solidFill>
                              <a:srgbClr val="0070C0"/>
                            </a:solidFill>
                            <a:latin typeface="Cambria Math" panose="02040503050406030204" pitchFamily="18" charset="0"/>
                          </a:rPr>
                        </m:ctrlPr>
                      </m:sSupPr>
                      <m:e>
                        <m:r>
                          <a:rPr lang="en-AU" sz="2400" i="1">
                            <a:solidFill>
                              <a:srgbClr val="0070C0"/>
                            </a:solidFill>
                            <a:latin typeface="Cambria Math" panose="02040503050406030204" pitchFamily="18" charset="0"/>
                          </a:rPr>
                          <m:t>𝑒</m:t>
                        </m:r>
                      </m:e>
                      <m:sup>
                        <m:sSub>
                          <m:sSubPr>
                            <m:ctrlPr>
                              <a:rPr lang="en-AU" sz="2400" i="1">
                                <a:solidFill>
                                  <a:srgbClr val="0070C0"/>
                                </a:solidFill>
                                <a:latin typeface="Cambria Math" panose="02040503050406030204" pitchFamily="18" charset="0"/>
                              </a:rPr>
                            </m:ctrlPr>
                          </m:sSubPr>
                          <m:e>
                            <m:r>
                              <a:rPr lang="en-AU" sz="2400" i="1">
                                <a:solidFill>
                                  <a:srgbClr val="0070C0"/>
                                </a:solidFill>
                                <a:latin typeface="Cambria Math" panose="02040503050406030204" pitchFamily="18" charset="0"/>
                              </a:rPr>
                              <m:t>𝑅</m:t>
                            </m:r>
                          </m:e>
                          <m:sub>
                            <m:r>
                              <a:rPr lang="en-AU" sz="2400" i="1">
                                <a:solidFill>
                                  <a:srgbClr val="0070C0"/>
                                </a:solidFill>
                                <a:latin typeface="Cambria Math" panose="02040503050406030204" pitchFamily="18" charset="0"/>
                              </a:rPr>
                              <m:t>𝑐</m:t>
                            </m:r>
                          </m:sub>
                        </m:sSub>
                        <m:r>
                          <a:rPr lang="en-AU" sz="2400" i="1">
                            <a:solidFill>
                              <a:srgbClr val="0070C0"/>
                            </a:solidFill>
                            <a:latin typeface="Cambria Math" panose="02040503050406030204" pitchFamily="18" charset="0"/>
                          </a:rPr>
                          <m:t>𝑇</m:t>
                        </m:r>
                      </m:sup>
                    </m:sSup>
                    <m:r>
                      <a:rPr lang="en-AU" sz="2400" i="1">
                        <a:solidFill>
                          <a:srgbClr val="0070C0"/>
                        </a:solidFill>
                        <a:latin typeface="Cambria Math" panose="02040503050406030204" pitchFamily="18" charset="0"/>
                        <a:ea typeface="Cambria Math" panose="02040503050406030204" pitchFamily="18" charset="0"/>
                      </a:rPr>
                      <m:t>→</m:t>
                    </m:r>
                    <m:r>
                      <a:rPr lang="en-US" altLang="zh-CN" sz="2400" b="0" i="1" smtClean="0">
                        <a:solidFill>
                          <a:srgbClr val="0070C0"/>
                        </a:solidFill>
                        <a:latin typeface="Cambria Math" panose="02040503050406030204" pitchFamily="18" charset="0"/>
                        <a:ea typeface="Cambria Math" panose="02040503050406030204" pitchFamily="18" charset="0"/>
                      </a:rPr>
                      <m:t>1+</m:t>
                    </m:r>
                    <m:f>
                      <m:fPr>
                        <m:ctrlPr>
                          <a:rPr lang="en-AU" sz="2400" i="1">
                            <a:solidFill>
                              <a:srgbClr val="0070C0"/>
                            </a:solidFill>
                            <a:latin typeface="Cambria Math" panose="02040503050406030204" pitchFamily="18" charset="0"/>
                          </a:rPr>
                        </m:ctrlPr>
                      </m:fPr>
                      <m:num>
                        <m:sSub>
                          <m:sSubPr>
                            <m:ctrlPr>
                              <a:rPr lang="en-US" sz="2400" i="1">
                                <a:solidFill>
                                  <a:srgbClr val="0070C0"/>
                                </a:solidFill>
                                <a:latin typeface="Cambria Math" panose="02040503050406030204" pitchFamily="18" charset="0"/>
                              </a:rPr>
                            </m:ctrlPr>
                          </m:sSubPr>
                          <m:e>
                            <m:r>
                              <a:rPr lang="en-AU" sz="2400" i="1">
                                <a:solidFill>
                                  <a:srgbClr val="0070C0"/>
                                </a:solidFill>
                                <a:latin typeface="Cambria Math" panose="02040503050406030204" pitchFamily="18" charset="0"/>
                              </a:rPr>
                              <m:t>𝑅</m:t>
                            </m:r>
                          </m:e>
                          <m:sub>
                            <m:r>
                              <a:rPr lang="en-AU" sz="2400" b="0" i="1" smtClean="0">
                                <a:solidFill>
                                  <a:srgbClr val="0070C0"/>
                                </a:solidFill>
                                <a:latin typeface="Cambria Math" panose="02040503050406030204" pitchFamily="18" charset="0"/>
                              </a:rPr>
                              <m:t>2</m:t>
                            </m:r>
                          </m:sub>
                        </m:sSub>
                      </m:num>
                      <m:den>
                        <m:r>
                          <a:rPr lang="en-US" altLang="zh-CN" sz="2400" b="0" i="1" smtClean="0">
                            <a:solidFill>
                              <a:srgbClr val="0070C0"/>
                            </a:solidFill>
                            <a:latin typeface="Cambria Math" panose="02040503050406030204" pitchFamily="18" charset="0"/>
                          </a:rPr>
                          <m:t>2</m:t>
                        </m:r>
                      </m:den>
                    </m:f>
                    <m:r>
                      <a:rPr lang="en-AU" sz="2400" b="0" i="1" smtClean="0">
                        <a:solidFill>
                          <a:srgbClr val="0070C0"/>
                        </a:solidFill>
                        <a:latin typeface="Cambria Math" panose="02040503050406030204" pitchFamily="18" charset="0"/>
                      </a:rPr>
                      <m:t>=</m:t>
                    </m:r>
                    <m:f>
                      <m:fPr>
                        <m:ctrlPr>
                          <a:rPr lang="en-AU" sz="2400" b="0" i="1" smtClean="0">
                            <a:solidFill>
                              <a:srgbClr val="0070C0"/>
                            </a:solidFill>
                            <a:latin typeface="Cambria Math" panose="02040503050406030204" pitchFamily="18" charset="0"/>
                          </a:rPr>
                        </m:ctrlPr>
                      </m:fPr>
                      <m:num>
                        <m:sSup>
                          <m:sSupPr>
                            <m:ctrlPr>
                              <a:rPr lang="en-AU" sz="2400" b="0" i="1" smtClean="0">
                                <a:solidFill>
                                  <a:srgbClr val="0070C0"/>
                                </a:solidFill>
                                <a:latin typeface="Cambria Math" panose="02040503050406030204" pitchFamily="18" charset="0"/>
                              </a:rPr>
                            </m:ctrlPr>
                          </m:sSupPr>
                          <m:e>
                            <m:r>
                              <a:rPr lang="en-AU" sz="2400" b="0" i="1" smtClean="0">
                                <a:solidFill>
                                  <a:srgbClr val="0070C0"/>
                                </a:solidFill>
                                <a:latin typeface="Cambria Math" panose="02040503050406030204" pitchFamily="18" charset="0"/>
                              </a:rPr>
                              <m:t>𝑒</m:t>
                            </m:r>
                          </m:e>
                          <m:sup>
                            <m:r>
                              <a:rPr lang="en-AU" sz="2400" b="0" i="1" smtClean="0">
                                <a:solidFill>
                                  <a:srgbClr val="0070C0"/>
                                </a:solidFill>
                                <a:latin typeface="Cambria Math" panose="02040503050406030204" pitchFamily="18" charset="0"/>
                              </a:rPr>
                              <m:t>0.05</m:t>
                            </m:r>
                            <m:r>
                              <a:rPr lang="en-AU" sz="2400" b="0" i="1" smtClean="0">
                                <a:solidFill>
                                  <a:srgbClr val="0070C0"/>
                                </a:solidFill>
                                <a:latin typeface="Cambria Math" panose="02040503050406030204" pitchFamily="18" charset="0"/>
                                <a:ea typeface="Cambria Math" panose="02040503050406030204" pitchFamily="18" charset="0"/>
                              </a:rPr>
                              <m:t>×0.833</m:t>
                            </m:r>
                          </m:sup>
                        </m:sSup>
                      </m:num>
                      <m:den>
                        <m:sSup>
                          <m:sSupPr>
                            <m:ctrlPr>
                              <a:rPr lang="en-AU" sz="2400" b="0" i="1" smtClean="0">
                                <a:solidFill>
                                  <a:srgbClr val="0070C0"/>
                                </a:solidFill>
                                <a:latin typeface="Cambria Math" panose="02040503050406030204" pitchFamily="18" charset="0"/>
                              </a:rPr>
                            </m:ctrlPr>
                          </m:sSupPr>
                          <m:e>
                            <m:r>
                              <a:rPr lang="en-AU" sz="2400" b="0" i="1" smtClean="0">
                                <a:solidFill>
                                  <a:srgbClr val="0070C0"/>
                                </a:solidFill>
                                <a:latin typeface="Cambria Math" panose="02040503050406030204" pitchFamily="18" charset="0"/>
                              </a:rPr>
                              <m:t>𝑒</m:t>
                            </m:r>
                          </m:e>
                          <m:sup>
                            <m:r>
                              <a:rPr lang="en-AU" sz="2400" b="0" i="1" smtClean="0">
                                <a:solidFill>
                                  <a:srgbClr val="0070C0"/>
                                </a:solidFill>
                                <a:latin typeface="Cambria Math" panose="02040503050406030204" pitchFamily="18" charset="0"/>
                              </a:rPr>
                              <m:t>0.05</m:t>
                            </m:r>
                            <m:r>
                              <a:rPr lang="en-AU" sz="2400" b="0" i="1" smtClean="0">
                                <a:solidFill>
                                  <a:srgbClr val="0070C0"/>
                                </a:solidFill>
                                <a:latin typeface="Cambria Math" panose="02040503050406030204" pitchFamily="18" charset="0"/>
                                <a:ea typeface="Cambria Math" panose="02040503050406030204" pitchFamily="18" charset="0"/>
                              </a:rPr>
                              <m:t>×0.333</m:t>
                            </m:r>
                          </m:sup>
                        </m:sSup>
                      </m:den>
                    </m:f>
                    <m:r>
                      <a:rPr lang="en-AU" sz="2400" b="0" i="1" smtClean="0">
                        <a:solidFill>
                          <a:srgbClr val="0070C0"/>
                        </a:solidFill>
                        <a:latin typeface="Cambria Math" panose="02040503050406030204" pitchFamily="18" charset="0"/>
                      </a:rPr>
                      <m:t>=</m:t>
                    </m:r>
                    <m:sSup>
                      <m:sSupPr>
                        <m:ctrlPr>
                          <a:rPr lang="en-AU" sz="2400" i="1">
                            <a:solidFill>
                              <a:srgbClr val="0070C0"/>
                            </a:solidFill>
                            <a:latin typeface="Cambria Math" panose="02040503050406030204" pitchFamily="18" charset="0"/>
                          </a:rPr>
                        </m:ctrlPr>
                      </m:sSupPr>
                      <m:e>
                        <m:r>
                          <a:rPr lang="en-AU" sz="2400" i="1">
                            <a:solidFill>
                              <a:srgbClr val="0070C0"/>
                            </a:solidFill>
                            <a:latin typeface="Cambria Math" panose="02040503050406030204" pitchFamily="18" charset="0"/>
                          </a:rPr>
                          <m:t>𝑒</m:t>
                        </m:r>
                      </m:e>
                      <m:sup>
                        <m:r>
                          <a:rPr lang="en-US" altLang="zh-CN" sz="2400" b="0" i="1" smtClean="0">
                            <a:solidFill>
                              <a:srgbClr val="0070C0"/>
                            </a:solidFill>
                            <a:latin typeface="Cambria Math" panose="02040503050406030204" pitchFamily="18" charset="0"/>
                          </a:rPr>
                          <m:t>0.05</m:t>
                        </m:r>
                        <m:r>
                          <a:rPr lang="en-US" altLang="zh-CN" sz="2400" b="0" i="1" smtClean="0">
                            <a:solidFill>
                              <a:srgbClr val="0070C0"/>
                            </a:solidFill>
                            <a:latin typeface="Cambria Math" panose="02040503050406030204" pitchFamily="18" charset="0"/>
                            <a:ea typeface="Cambria Math" panose="02040503050406030204" pitchFamily="18" charset="0"/>
                          </a:rPr>
                          <m:t>×0.5</m:t>
                        </m:r>
                      </m:sup>
                    </m:sSup>
                    <m:r>
                      <a:rPr lang="en-AU" sz="2400" i="1" smtClean="0">
                        <a:solidFill>
                          <a:srgbClr val="0070C0"/>
                        </a:solidFill>
                        <a:latin typeface="Cambria Math" panose="02040503050406030204" pitchFamily="18" charset="0"/>
                        <a:ea typeface="Cambria Math" panose="02040503050406030204" pitchFamily="18" charset="0"/>
                      </a:rPr>
                      <m:t>→</m:t>
                    </m:r>
                    <m:sSub>
                      <m:sSubPr>
                        <m:ctrlPr>
                          <a:rPr lang="en-US" sz="2400" i="1">
                            <a:solidFill>
                              <a:srgbClr val="0070C0"/>
                            </a:solidFill>
                            <a:latin typeface="Cambria Math" panose="02040503050406030204" pitchFamily="18" charset="0"/>
                          </a:rPr>
                        </m:ctrlPr>
                      </m:sSubPr>
                      <m:e>
                        <m:r>
                          <a:rPr lang="en-AU" sz="2400" i="1">
                            <a:solidFill>
                              <a:srgbClr val="0070C0"/>
                            </a:solidFill>
                            <a:latin typeface="Cambria Math" panose="02040503050406030204" pitchFamily="18" charset="0"/>
                          </a:rPr>
                          <m:t>𝑅</m:t>
                        </m:r>
                      </m:e>
                      <m:sub>
                        <m:r>
                          <a:rPr lang="en-AU" sz="2400" i="1">
                            <a:solidFill>
                              <a:srgbClr val="0070C0"/>
                            </a:solidFill>
                            <a:latin typeface="Cambria Math" panose="02040503050406030204" pitchFamily="18" charset="0"/>
                          </a:rPr>
                          <m:t>2</m:t>
                        </m:r>
                      </m:sub>
                    </m:sSub>
                    <m:r>
                      <a:rPr lang="en-AU" sz="2400" b="0" i="1" smtClean="0">
                        <a:solidFill>
                          <a:srgbClr val="0070C0"/>
                        </a:solidFill>
                        <a:latin typeface="Cambria Math" panose="02040503050406030204" pitchFamily="18" charset="0"/>
                      </a:rPr>
                      <m:t>=5.063%</m:t>
                    </m:r>
                  </m:oMath>
                </a14:m>
                <a:endParaRPr lang="en-US" sz="2400" dirty="0"/>
              </a:p>
              <a:p>
                <a:pPr>
                  <a:lnSpc>
                    <a:spcPct val="100000"/>
                  </a:lnSpc>
                  <a:spcBef>
                    <a:spcPts val="0"/>
                  </a:spcBef>
                  <a:defRPr/>
                </a:pPr>
                <a:endParaRPr lang="en-US" sz="2400" dirty="0"/>
              </a:p>
              <a:p>
                <a:pPr marL="0" indent="0">
                  <a:buNone/>
                </a:pPr>
                <a:endParaRPr lang="en-US" dirty="0"/>
              </a:p>
            </p:txBody>
          </p:sp>
        </mc:Choice>
        <mc:Fallback xmlns="">
          <p:sp>
            <p:nvSpPr>
              <p:cNvPr id="3" name="Content Placeholder 2">
                <a:extLst>
                  <a:ext uri="{FF2B5EF4-FFF2-40B4-BE49-F238E27FC236}">
                    <a16:creationId xmlns:a16="http://schemas.microsoft.com/office/drawing/2014/main" id="{1C5B5B3D-A15C-73E5-8F22-F2490ED70C21}"/>
                  </a:ext>
                </a:extLst>
              </p:cNvPr>
              <p:cNvSpPr>
                <a:spLocks noGrp="1" noRot="1" noChangeAspect="1" noMove="1" noResize="1" noEditPoints="1" noAdjustHandles="1" noChangeArrowheads="1" noChangeShapeType="1" noTextEdit="1"/>
              </p:cNvSpPr>
              <p:nvPr>
                <p:ph idx="1"/>
              </p:nvPr>
            </p:nvSpPr>
            <p:spPr>
              <a:blipFill>
                <a:blip r:embed="rId2"/>
                <a:stretch>
                  <a:fillRect l="-844" t="-1453"/>
                </a:stretch>
              </a:blipFill>
            </p:spPr>
            <p:txBody>
              <a:bodyPr/>
              <a:lstStyle/>
              <a:p>
                <a:r>
                  <a:rPr lang="en-US">
                    <a:noFill/>
                  </a:rPr>
                  <a:t> </a:t>
                </a:r>
              </a:p>
            </p:txBody>
          </p:sp>
        </mc:Fallback>
      </mc:AlternateContent>
      <p:sp>
        <p:nvSpPr>
          <p:cNvPr id="4" name="Date Placeholder 3">
            <a:extLst>
              <a:ext uri="{FF2B5EF4-FFF2-40B4-BE49-F238E27FC236}">
                <a16:creationId xmlns:a16="http://schemas.microsoft.com/office/drawing/2014/main" id="{579D2E15-D9CE-EF37-BCC6-B20EA5BBB211}"/>
              </a:ext>
            </a:extLst>
          </p:cNvPr>
          <p:cNvSpPr>
            <a:spLocks noGrp="1"/>
          </p:cNvSpPr>
          <p:nvPr>
            <p:ph type="dt" sz="half" idx="10"/>
          </p:nvPr>
        </p:nvSpPr>
        <p:spPr/>
        <p:txBody>
          <a:bodyPr/>
          <a:lstStyle/>
          <a:p>
            <a:fld id="{B0E461D4-3839-3748-8B1E-E90BB3DA99FF}" type="datetime1">
              <a:rPr lang="en-AU" smtClean="0"/>
              <a:t>28/8/2026</a:t>
            </a:fld>
            <a:endParaRPr lang="en-US"/>
          </a:p>
        </p:txBody>
      </p:sp>
      <p:sp>
        <p:nvSpPr>
          <p:cNvPr id="5" name="Footer Placeholder 4">
            <a:extLst>
              <a:ext uri="{FF2B5EF4-FFF2-40B4-BE49-F238E27FC236}">
                <a16:creationId xmlns:a16="http://schemas.microsoft.com/office/drawing/2014/main" id="{F6E60E7B-2B0C-FC6E-EA15-1FFEFF2E389E}"/>
              </a:ext>
            </a:extLst>
          </p:cNvPr>
          <p:cNvSpPr>
            <a:spLocks noGrp="1"/>
          </p:cNvSpPr>
          <p:nvPr>
            <p:ph type="ftr" sz="quarter" idx="11"/>
          </p:nvPr>
        </p:nvSpPr>
        <p:spPr/>
        <p:txBody>
          <a:bodyPr/>
          <a:lstStyle/>
          <a:p>
            <a:r>
              <a:rPr lang="en-US"/>
              <a:t>FINA2204 - Tutorial 5</a:t>
            </a:r>
          </a:p>
        </p:txBody>
      </p:sp>
      <p:sp>
        <p:nvSpPr>
          <p:cNvPr id="6" name="Slide Number Placeholder 5">
            <a:extLst>
              <a:ext uri="{FF2B5EF4-FFF2-40B4-BE49-F238E27FC236}">
                <a16:creationId xmlns:a16="http://schemas.microsoft.com/office/drawing/2014/main" id="{4C8FA256-7C55-6B50-5328-9990CCA79D08}"/>
              </a:ext>
            </a:extLst>
          </p:cNvPr>
          <p:cNvSpPr>
            <a:spLocks noGrp="1"/>
          </p:cNvSpPr>
          <p:nvPr>
            <p:ph type="sldNum" sz="quarter" idx="12"/>
          </p:nvPr>
        </p:nvSpPr>
        <p:spPr/>
        <p:txBody>
          <a:bodyPr/>
          <a:lstStyle/>
          <a:p>
            <a:fld id="{9855740F-6ECD-274F-B089-6B266B6B07F9}" type="slidenum">
              <a:rPr lang="en-US" smtClean="0"/>
              <a:t>37</a:t>
            </a:fld>
            <a:endParaRPr lang="en-US"/>
          </a:p>
        </p:txBody>
      </p:sp>
      <mc:AlternateContent xmlns:mc="http://schemas.openxmlformats.org/markup-compatibility/2006" xmlns:a14="http://schemas.microsoft.com/office/drawing/2010/main">
        <mc:Choice Requires="a14">
          <p:graphicFrame>
            <p:nvGraphicFramePr>
              <p:cNvPr id="8" name="Table 7">
                <a:extLst>
                  <a:ext uri="{FF2B5EF4-FFF2-40B4-BE49-F238E27FC236}">
                    <a16:creationId xmlns:a16="http://schemas.microsoft.com/office/drawing/2014/main" id="{A0A208C2-9593-6341-FD90-3AB23E825D0D}"/>
                  </a:ext>
                </a:extLst>
              </p:cNvPr>
              <p:cNvGraphicFramePr>
                <a:graphicFrameLocks noGrp="1"/>
              </p:cNvGraphicFramePr>
              <p:nvPr>
                <p:extLst>
                  <p:ext uri="{D42A27DB-BD31-4B8C-83A1-F6EECF244321}">
                    <p14:modId xmlns:p14="http://schemas.microsoft.com/office/powerpoint/2010/main" val="1368373109"/>
                  </p:ext>
                </p:extLst>
              </p:nvPr>
            </p:nvGraphicFramePr>
            <p:xfrm>
              <a:off x="528576" y="3671567"/>
              <a:ext cx="11134848" cy="2985081"/>
            </p:xfrm>
            <a:graphic>
              <a:graphicData uri="http://schemas.openxmlformats.org/drawingml/2006/table">
                <a:tbl>
                  <a:tblPr firstRow="1" bandRow="1">
                    <a:tableStyleId>{5C22544A-7EE6-4342-B048-85BDC9FD1C3A}</a:tableStyleId>
                  </a:tblPr>
                  <a:tblGrid>
                    <a:gridCol w="1855808">
                      <a:extLst>
                        <a:ext uri="{9D8B030D-6E8A-4147-A177-3AD203B41FA5}">
                          <a16:colId xmlns:a16="http://schemas.microsoft.com/office/drawing/2014/main" val="1902593901"/>
                        </a:ext>
                      </a:extLst>
                    </a:gridCol>
                    <a:gridCol w="1855808">
                      <a:extLst>
                        <a:ext uri="{9D8B030D-6E8A-4147-A177-3AD203B41FA5}">
                          <a16:colId xmlns:a16="http://schemas.microsoft.com/office/drawing/2014/main" val="3932323135"/>
                        </a:ext>
                      </a:extLst>
                    </a:gridCol>
                    <a:gridCol w="1855808">
                      <a:extLst>
                        <a:ext uri="{9D8B030D-6E8A-4147-A177-3AD203B41FA5}">
                          <a16:colId xmlns:a16="http://schemas.microsoft.com/office/drawing/2014/main" val="3470556675"/>
                        </a:ext>
                      </a:extLst>
                    </a:gridCol>
                    <a:gridCol w="1855808">
                      <a:extLst>
                        <a:ext uri="{9D8B030D-6E8A-4147-A177-3AD203B41FA5}">
                          <a16:colId xmlns:a16="http://schemas.microsoft.com/office/drawing/2014/main" val="3707822957"/>
                        </a:ext>
                      </a:extLst>
                    </a:gridCol>
                    <a:gridCol w="1855808">
                      <a:extLst>
                        <a:ext uri="{9D8B030D-6E8A-4147-A177-3AD203B41FA5}">
                          <a16:colId xmlns:a16="http://schemas.microsoft.com/office/drawing/2014/main" val="3119402058"/>
                        </a:ext>
                      </a:extLst>
                    </a:gridCol>
                    <a:gridCol w="1855808">
                      <a:extLst>
                        <a:ext uri="{9D8B030D-6E8A-4147-A177-3AD203B41FA5}">
                          <a16:colId xmlns:a16="http://schemas.microsoft.com/office/drawing/2014/main" val="1766958485"/>
                        </a:ext>
                      </a:extLst>
                    </a:gridCol>
                  </a:tblGrid>
                  <a:tr h="661182">
                    <a:tc>
                      <a:txBody>
                        <a:bodyPr/>
                        <a:lstStyle/>
                        <a:p>
                          <a:r>
                            <a:rPr lang="en-US" dirty="0"/>
                            <a:t>Time</a:t>
                          </a:r>
                        </a:p>
                      </a:txBody>
                      <a:tcPr/>
                    </a:tc>
                    <a:tc>
                      <a:txBody>
                        <a:bodyPr/>
                        <a:lstStyle/>
                        <a:p>
                          <a:pPr/>
                          <a14:m>
                            <m:oMathPara xmlns:m="http://schemas.openxmlformats.org/officeDocument/2006/math">
                              <m:oMathParaPr>
                                <m:jc m:val="centerGroup"/>
                              </m:oMathParaPr>
                              <m:oMath xmlns:m="http://schemas.openxmlformats.org/officeDocument/2006/math">
                                <m:sSub>
                                  <m:sSubPr>
                                    <m:ctrlPr>
                                      <a:rPr lang="en-AU" i="1" smtClean="0">
                                        <a:latin typeface="Cambria Math" panose="02040503050406030204" pitchFamily="18" charset="0"/>
                                      </a:rPr>
                                    </m:ctrlPr>
                                  </m:sSubPr>
                                  <m:e>
                                    <m:r>
                                      <a:rPr lang="en-AU" i="1">
                                        <a:latin typeface="Cambria Math" panose="02040503050406030204" pitchFamily="18" charset="0"/>
                                      </a:rPr>
                                      <m:t>𝐵</m:t>
                                    </m:r>
                                  </m:e>
                                  <m:sub>
                                    <m:r>
                                      <a:rPr lang="en-AU" i="1">
                                        <a:latin typeface="Cambria Math" panose="02040503050406030204" pitchFamily="18" charset="0"/>
                                      </a:rPr>
                                      <m:t>𝑓</m:t>
                                    </m:r>
                                    <m:r>
                                      <a:rPr lang="en-AU" b="0" i="1" smtClean="0">
                                        <a:latin typeface="Cambria Math" panose="02040503050406030204" pitchFamily="18" charset="0"/>
                                      </a:rPr>
                                      <m:t>𝑖𝑥</m:t>
                                    </m:r>
                                  </m:sub>
                                </m:sSub>
                                <m:r>
                                  <a:rPr lang="en-AU" b="1" i="0" smtClean="0">
                                    <a:latin typeface="Cambria Math" panose="02040503050406030204" pitchFamily="18" charset="0"/>
                                  </a:rPr>
                                  <m:t> </m:t>
                                </m:r>
                                <m:r>
                                  <a:rPr lang="en-AU" b="1" i="1" smtClean="0">
                                    <a:latin typeface="Cambria Math" panose="02040503050406030204" pitchFamily="18" charset="0"/>
                                  </a:rPr>
                                  <m:t>𝒄𝒂𝒔𝒉</m:t>
                                </m:r>
                                <m:r>
                                  <a:rPr lang="en-AU" b="1" i="1" smtClean="0">
                                    <a:latin typeface="Cambria Math" panose="02040503050406030204" pitchFamily="18" charset="0"/>
                                  </a:rPr>
                                  <m:t> </m:t>
                                </m:r>
                                <m:r>
                                  <a:rPr lang="en-AU" b="1" i="1" smtClean="0">
                                    <a:latin typeface="Cambria Math" panose="02040503050406030204" pitchFamily="18" charset="0"/>
                                  </a:rPr>
                                  <m:t>𝒇𝒍𝒐𝒘</m:t>
                                </m:r>
                              </m:oMath>
                            </m:oMathPara>
                          </a14:m>
                          <a:endParaRPr lang="en-US" dirty="0"/>
                        </a:p>
                        <a:p>
                          <a:r>
                            <a:rPr lang="en-US" dirty="0"/>
                            <a:t>(1)</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AU" i="1" smtClean="0">
                                        <a:latin typeface="Cambria Math" panose="02040503050406030204" pitchFamily="18" charset="0"/>
                                      </a:rPr>
                                    </m:ctrlPr>
                                  </m:sSubPr>
                                  <m:e>
                                    <m:r>
                                      <a:rPr lang="en-AU" i="1">
                                        <a:latin typeface="Cambria Math" panose="02040503050406030204" pitchFamily="18" charset="0"/>
                                      </a:rPr>
                                      <m:t>𝐵</m:t>
                                    </m:r>
                                  </m:e>
                                  <m:sub>
                                    <m:r>
                                      <a:rPr lang="en-AU" i="1">
                                        <a:latin typeface="Cambria Math" panose="02040503050406030204" pitchFamily="18" charset="0"/>
                                      </a:rPr>
                                      <m:t>𝑓</m:t>
                                    </m:r>
                                    <m:r>
                                      <a:rPr lang="en-AU" b="0" i="1" smtClean="0">
                                        <a:latin typeface="Cambria Math" panose="02040503050406030204" pitchFamily="18" charset="0"/>
                                      </a:rPr>
                                      <m:t>𝑙</m:t>
                                    </m:r>
                                  </m:sub>
                                </m:sSub>
                                <m:r>
                                  <a:rPr lang="en-AU" b="1" i="0" smtClean="0">
                                    <a:latin typeface="Cambria Math" panose="02040503050406030204" pitchFamily="18" charset="0"/>
                                  </a:rPr>
                                  <m:t> </m:t>
                                </m:r>
                                <m:r>
                                  <a:rPr lang="en-AU" b="1" i="1" smtClean="0">
                                    <a:latin typeface="Cambria Math" panose="02040503050406030204" pitchFamily="18" charset="0"/>
                                  </a:rPr>
                                  <m:t>𝒄𝒂𝒔𝒉</m:t>
                                </m:r>
                                <m:r>
                                  <a:rPr lang="en-AU" b="1" i="1" smtClean="0">
                                    <a:latin typeface="Cambria Math" panose="02040503050406030204" pitchFamily="18" charset="0"/>
                                  </a:rPr>
                                  <m:t> </m:t>
                                </m:r>
                                <m:r>
                                  <a:rPr lang="en-AU" b="1" i="1" smtClean="0">
                                    <a:latin typeface="Cambria Math" panose="02040503050406030204" pitchFamily="18" charset="0"/>
                                  </a:rPr>
                                  <m:t>𝒇𝒍𝒐𝒘</m:t>
                                </m:r>
                              </m:oMath>
                            </m:oMathPara>
                          </a14:m>
                          <a:endParaRPr lang="en-US" dirty="0"/>
                        </a:p>
                        <a:p>
                          <a:r>
                            <a:rPr lang="en-US" dirty="0"/>
                            <a:t>(2)</a:t>
                          </a:r>
                        </a:p>
                      </a:txBody>
                      <a:tcPr/>
                    </a:tc>
                    <a:tc>
                      <a:txBody>
                        <a:bodyPr/>
                        <a:lstStyle/>
                        <a:p>
                          <a:r>
                            <a:rPr lang="en-US" dirty="0"/>
                            <a:t>Discount factor</a:t>
                          </a:r>
                        </a:p>
                        <a:p>
                          <a:r>
                            <a:rPr lang="en-US" dirty="0"/>
                            <a:t>(3)</a:t>
                          </a:r>
                        </a:p>
                      </a:txBody>
                      <a:tcPr/>
                    </a:tc>
                    <a:tc>
                      <a:txBody>
                        <a:bodyPr/>
                        <a:lstStyle/>
                        <a:p>
                          <a:pPr/>
                          <a14:m>
                            <m:oMathPara xmlns:m="http://schemas.openxmlformats.org/officeDocument/2006/math">
                              <m:oMathParaPr>
                                <m:jc m:val="centerGroup"/>
                              </m:oMathParaPr>
                              <m:oMath xmlns:m="http://schemas.openxmlformats.org/officeDocument/2006/math">
                                <m:sSub>
                                  <m:sSubPr>
                                    <m:ctrlPr>
                                      <a:rPr lang="en-AU" i="1" smtClean="0">
                                        <a:latin typeface="Cambria Math" panose="02040503050406030204" pitchFamily="18" charset="0"/>
                                      </a:rPr>
                                    </m:ctrlPr>
                                  </m:sSubPr>
                                  <m:e>
                                    <m:r>
                                      <a:rPr lang="en-AU" b="1" i="1" smtClean="0">
                                        <a:latin typeface="Cambria Math" panose="02040503050406030204" pitchFamily="18" charset="0"/>
                                      </a:rPr>
                                      <m:t>𝑷𝑽</m:t>
                                    </m:r>
                                    <m:r>
                                      <a:rPr lang="en-AU" b="1" i="1" smtClean="0">
                                        <a:latin typeface="Cambria Math" panose="02040503050406030204" pitchFamily="18" charset="0"/>
                                      </a:rPr>
                                      <m:t> </m:t>
                                    </m:r>
                                    <m:r>
                                      <a:rPr lang="en-AU" b="1" i="1" smtClean="0">
                                        <a:latin typeface="Cambria Math" panose="02040503050406030204" pitchFamily="18" charset="0"/>
                                      </a:rPr>
                                      <m:t>𝒐𝒇</m:t>
                                    </m:r>
                                    <m:r>
                                      <a:rPr lang="en-AU" b="1" i="1" smtClean="0">
                                        <a:latin typeface="Cambria Math" panose="02040503050406030204" pitchFamily="18" charset="0"/>
                                      </a:rPr>
                                      <m:t> </m:t>
                                    </m:r>
                                    <m:r>
                                      <a:rPr lang="en-AU" i="1">
                                        <a:latin typeface="Cambria Math" panose="02040503050406030204" pitchFamily="18" charset="0"/>
                                      </a:rPr>
                                      <m:t>𝐵</m:t>
                                    </m:r>
                                  </m:e>
                                  <m:sub>
                                    <m:r>
                                      <a:rPr lang="en-AU" i="1">
                                        <a:latin typeface="Cambria Math" panose="02040503050406030204" pitchFamily="18" charset="0"/>
                                      </a:rPr>
                                      <m:t>𝑓</m:t>
                                    </m:r>
                                    <m:r>
                                      <a:rPr lang="en-AU" b="0" i="1" smtClean="0">
                                        <a:latin typeface="Cambria Math" panose="02040503050406030204" pitchFamily="18" charset="0"/>
                                      </a:rPr>
                                      <m:t>𝑖𝑥</m:t>
                                    </m:r>
                                  </m:sub>
                                </m:sSub>
                              </m:oMath>
                            </m:oMathPara>
                          </a14:m>
                          <a:endParaRPr lang="en-US" dirty="0"/>
                        </a:p>
                        <a:p>
                          <a:r>
                            <a:rPr lang="en-US" dirty="0"/>
                            <a:t>(1)*(3)</a:t>
                          </a:r>
                        </a:p>
                      </a:txBody>
                      <a:tcPr/>
                    </a:tc>
                    <a:tc>
                      <a:txBody>
                        <a:bodyPr/>
                        <a:lstStyle/>
                        <a:p>
                          <a:pPr/>
                          <a14:m>
                            <m:oMathPara xmlns:m="http://schemas.openxmlformats.org/officeDocument/2006/math">
                              <m:oMathParaPr>
                                <m:jc m:val="centerGroup"/>
                              </m:oMathParaPr>
                              <m:oMath xmlns:m="http://schemas.openxmlformats.org/officeDocument/2006/math">
                                <m:sSub>
                                  <m:sSubPr>
                                    <m:ctrlPr>
                                      <a:rPr lang="en-AU" i="1" smtClean="0">
                                        <a:latin typeface="Cambria Math" panose="02040503050406030204" pitchFamily="18" charset="0"/>
                                      </a:rPr>
                                    </m:ctrlPr>
                                  </m:sSubPr>
                                  <m:e>
                                    <m:r>
                                      <a:rPr lang="en-AU" b="1" i="1" smtClean="0">
                                        <a:latin typeface="Cambria Math" panose="02040503050406030204" pitchFamily="18" charset="0"/>
                                      </a:rPr>
                                      <m:t>𝑷𝑽</m:t>
                                    </m:r>
                                    <m:r>
                                      <a:rPr lang="en-AU" b="1" i="1" smtClean="0">
                                        <a:latin typeface="Cambria Math" panose="02040503050406030204" pitchFamily="18" charset="0"/>
                                      </a:rPr>
                                      <m:t> </m:t>
                                    </m:r>
                                    <m:r>
                                      <a:rPr lang="en-AU" b="1" i="1" smtClean="0">
                                        <a:latin typeface="Cambria Math" panose="02040503050406030204" pitchFamily="18" charset="0"/>
                                      </a:rPr>
                                      <m:t>𝒐𝒇</m:t>
                                    </m:r>
                                    <m:r>
                                      <a:rPr lang="en-AU" b="1" i="1" smtClean="0">
                                        <a:latin typeface="Cambria Math" panose="02040503050406030204" pitchFamily="18" charset="0"/>
                                      </a:rPr>
                                      <m:t> </m:t>
                                    </m:r>
                                    <m:r>
                                      <a:rPr lang="en-AU" i="1">
                                        <a:latin typeface="Cambria Math" panose="02040503050406030204" pitchFamily="18" charset="0"/>
                                      </a:rPr>
                                      <m:t>𝐵</m:t>
                                    </m:r>
                                  </m:e>
                                  <m:sub>
                                    <m:r>
                                      <a:rPr lang="en-AU" i="1">
                                        <a:latin typeface="Cambria Math" panose="02040503050406030204" pitchFamily="18" charset="0"/>
                                      </a:rPr>
                                      <m:t>𝑓</m:t>
                                    </m:r>
                                    <m:r>
                                      <a:rPr lang="en-AU" b="0" i="1" smtClean="0">
                                        <a:latin typeface="Cambria Math" panose="02040503050406030204" pitchFamily="18" charset="0"/>
                                      </a:rPr>
                                      <m:t>𝑙</m:t>
                                    </m:r>
                                  </m:sub>
                                </m:sSub>
                              </m:oMath>
                            </m:oMathPara>
                          </a14:m>
                          <a:endParaRPr lang="en-US" dirty="0"/>
                        </a:p>
                        <a:p>
                          <a:r>
                            <a:rPr lang="en-US" dirty="0"/>
                            <a:t>(2)*(3)</a:t>
                          </a:r>
                        </a:p>
                      </a:txBody>
                      <a:tcPr/>
                    </a:tc>
                    <a:extLst>
                      <a:ext uri="{0D108BD9-81ED-4DB2-BD59-A6C34878D82A}">
                        <a16:rowId xmlns:a16="http://schemas.microsoft.com/office/drawing/2014/main" val="1748611465"/>
                      </a:ext>
                    </a:extLst>
                  </a:tr>
                  <a:tr h="632274">
                    <a:tc>
                      <a:txBody>
                        <a:bodyPr/>
                        <a:lstStyle/>
                        <a:p>
                          <a:r>
                            <a:rPr lang="en-US" sz="1600" dirty="0"/>
                            <a:t>0.333</a:t>
                          </a:r>
                        </a:p>
                      </a:txBody>
                      <a:tcPr/>
                    </a:tc>
                    <a:tc>
                      <a:txBody>
                        <a:bodyPr/>
                        <a:lstStyle/>
                        <a:p>
                          <a:pPr/>
                          <a14:m>
                            <m:oMathPara xmlns:m="http://schemas.openxmlformats.org/officeDocument/2006/math">
                              <m:oMathParaPr>
                                <m:jc m:val="centerGroup"/>
                              </m:oMathParaPr>
                              <m:oMath xmlns:m="http://schemas.openxmlformats.org/officeDocument/2006/math">
                                <m:r>
                                  <a:rPr lang="en-AU" sz="1600" b="0" i="1" smtClean="0">
                                    <a:latin typeface="Cambria Math" panose="02040503050406030204" pitchFamily="18" charset="0"/>
                                  </a:rPr>
                                  <m:t>100</m:t>
                                </m:r>
                                <m:r>
                                  <a:rPr lang="en-AU" sz="1600" b="0" i="1" smtClean="0">
                                    <a:latin typeface="Cambria Math" panose="02040503050406030204" pitchFamily="18" charset="0"/>
                                    <a:ea typeface="Cambria Math" panose="02040503050406030204" pitchFamily="18" charset="0"/>
                                  </a:rPr>
                                  <m:t>×7%×0.5</m:t>
                                </m:r>
                              </m:oMath>
                            </m:oMathPara>
                          </a14:m>
                          <a:endParaRPr lang="en-US" sz="1600" dirty="0"/>
                        </a:p>
                      </a:txBody>
                      <a:tcPr/>
                    </a:tc>
                    <a:tc>
                      <a:txBody>
                        <a:bodyPr/>
                        <a:lstStyle/>
                        <a:p>
                          <a:pPr/>
                          <a14:m>
                            <m:oMathPara xmlns:m="http://schemas.openxmlformats.org/officeDocument/2006/math">
                              <m:oMathParaPr>
                                <m:jc m:val="centerGroup"/>
                              </m:oMathParaPr>
                              <m:oMath xmlns:m="http://schemas.openxmlformats.org/officeDocument/2006/math">
                                <m:r>
                                  <a:rPr lang="en-AU" sz="1600" b="0" i="1" smtClean="0">
                                    <a:latin typeface="Cambria Math" panose="02040503050406030204" pitchFamily="18" charset="0"/>
                                  </a:rPr>
                                  <m:t>100</m:t>
                                </m:r>
                                <m:r>
                                  <a:rPr lang="en-AU" sz="1600" b="0" i="1" smtClean="0">
                                    <a:latin typeface="Cambria Math" panose="02040503050406030204" pitchFamily="18" charset="0"/>
                                    <a:ea typeface="Cambria Math" panose="02040503050406030204" pitchFamily="18" charset="0"/>
                                  </a:rPr>
                                  <m:t>×4.6%×0.5</m:t>
                                </m:r>
                              </m:oMath>
                            </m:oMathPara>
                          </a14:m>
                          <a:endParaRPr lang="en-US" sz="1600" dirty="0"/>
                        </a:p>
                      </a:txBody>
                      <a:tcPr/>
                    </a:tc>
                    <a:tc>
                      <a:txBody>
                        <a:bodyPr/>
                        <a:lstStyle/>
                        <a:p>
                          <a:pPr/>
                          <a14:m>
                            <m:oMathPara xmlns:m="http://schemas.openxmlformats.org/officeDocument/2006/math">
                              <m:oMathParaPr>
                                <m:jc m:val="centerGroup"/>
                              </m:oMathParaPr>
                              <m:oMath xmlns:m="http://schemas.openxmlformats.org/officeDocument/2006/math">
                                <m:sSup>
                                  <m:sSupPr>
                                    <m:ctrlPr>
                                      <a:rPr lang="en-US" sz="1600" i="1" smtClean="0">
                                        <a:latin typeface="Cambria Math" panose="02040503050406030204" pitchFamily="18" charset="0"/>
                                      </a:rPr>
                                    </m:ctrlPr>
                                  </m:sSupPr>
                                  <m:e>
                                    <m:r>
                                      <a:rPr lang="en-AU" sz="1600" b="0" i="1" smtClean="0">
                                        <a:latin typeface="Cambria Math" panose="02040503050406030204" pitchFamily="18" charset="0"/>
                                      </a:rPr>
                                      <m:t>𝑒</m:t>
                                    </m:r>
                                  </m:e>
                                  <m:sup>
                                    <m:r>
                                      <a:rPr lang="en-AU" sz="1600" b="0" i="1" smtClean="0">
                                        <a:latin typeface="Cambria Math" panose="02040503050406030204" pitchFamily="18" charset="0"/>
                                      </a:rPr>
                                      <m:t>−0.05</m:t>
                                    </m:r>
                                    <m:r>
                                      <a:rPr lang="en-AU" sz="1600" b="0" i="1" smtClean="0">
                                        <a:latin typeface="Cambria Math" panose="02040503050406030204" pitchFamily="18" charset="0"/>
                                        <a:ea typeface="Cambria Math" panose="02040503050406030204" pitchFamily="18" charset="0"/>
                                      </a:rPr>
                                      <m:t>×0.333</m:t>
                                    </m:r>
                                  </m:sup>
                                </m:sSup>
                              </m:oMath>
                            </m:oMathPara>
                          </a14:m>
                          <a:endParaRPr lang="en-US" sz="16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AU" sz="1600" b="0" i="1" smtClean="0">
                                    <a:latin typeface="Cambria Math" panose="02040503050406030204" pitchFamily="18" charset="0"/>
                                  </a:rPr>
                                  <m:t>(100</m:t>
                                </m:r>
                                <m:r>
                                  <a:rPr lang="en-AU" sz="1600" b="0" i="1" smtClean="0">
                                    <a:latin typeface="Cambria Math" panose="02040503050406030204" pitchFamily="18" charset="0"/>
                                    <a:ea typeface="Cambria Math" panose="02040503050406030204" pitchFamily="18" charset="0"/>
                                  </a:rPr>
                                  <m:t>×7%×0.5)×</m:t>
                                </m:r>
                                <m:sSup>
                                  <m:sSupPr>
                                    <m:ctrlPr>
                                      <a:rPr lang="en-US" sz="1600" i="1" smtClean="0">
                                        <a:latin typeface="Cambria Math" panose="02040503050406030204" pitchFamily="18" charset="0"/>
                                      </a:rPr>
                                    </m:ctrlPr>
                                  </m:sSupPr>
                                  <m:e>
                                    <m:r>
                                      <a:rPr lang="en-AU" sz="1600" b="0" i="1" smtClean="0">
                                        <a:latin typeface="Cambria Math" panose="02040503050406030204" pitchFamily="18" charset="0"/>
                                      </a:rPr>
                                      <m:t>𝑒</m:t>
                                    </m:r>
                                  </m:e>
                                  <m:sup>
                                    <m:r>
                                      <a:rPr lang="en-AU" sz="1600" b="0" i="1" smtClean="0">
                                        <a:latin typeface="Cambria Math" panose="02040503050406030204" pitchFamily="18" charset="0"/>
                                      </a:rPr>
                                      <m:t>−0.05</m:t>
                                    </m:r>
                                    <m:r>
                                      <a:rPr lang="en-AU" sz="1600" b="0" i="1" smtClean="0">
                                        <a:latin typeface="Cambria Math" panose="02040503050406030204" pitchFamily="18" charset="0"/>
                                        <a:ea typeface="Cambria Math" panose="02040503050406030204" pitchFamily="18" charset="0"/>
                                      </a:rPr>
                                      <m:t>×0.333</m:t>
                                    </m:r>
                                  </m:sup>
                                </m:sSup>
                              </m:oMath>
                            </m:oMathPara>
                          </a14:m>
                          <a:endParaRPr lang="en-US" sz="16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AU" sz="1600" b="0" i="1" smtClean="0">
                                    <a:latin typeface="Cambria Math" panose="02040503050406030204" pitchFamily="18" charset="0"/>
                                  </a:rPr>
                                  <m:t>(100</m:t>
                                </m:r>
                                <m:r>
                                  <a:rPr lang="en-AU" sz="1600" b="0" i="1" smtClean="0">
                                    <a:latin typeface="Cambria Math" panose="02040503050406030204" pitchFamily="18" charset="0"/>
                                    <a:ea typeface="Cambria Math" panose="02040503050406030204" pitchFamily="18" charset="0"/>
                                  </a:rPr>
                                  <m:t>×4.6%×0.5)×</m:t>
                                </m:r>
                                <m:sSup>
                                  <m:sSupPr>
                                    <m:ctrlPr>
                                      <a:rPr lang="en-US" sz="1600" i="1" smtClean="0">
                                        <a:latin typeface="Cambria Math" panose="02040503050406030204" pitchFamily="18" charset="0"/>
                                      </a:rPr>
                                    </m:ctrlPr>
                                  </m:sSupPr>
                                  <m:e>
                                    <m:r>
                                      <a:rPr lang="en-AU" sz="1600" b="0" i="1" smtClean="0">
                                        <a:latin typeface="Cambria Math" panose="02040503050406030204" pitchFamily="18" charset="0"/>
                                      </a:rPr>
                                      <m:t>𝑒</m:t>
                                    </m:r>
                                  </m:e>
                                  <m:sup>
                                    <m:r>
                                      <a:rPr lang="en-AU" sz="1600" b="0" i="1" smtClean="0">
                                        <a:latin typeface="Cambria Math" panose="02040503050406030204" pitchFamily="18" charset="0"/>
                                      </a:rPr>
                                      <m:t>−0.05</m:t>
                                    </m:r>
                                    <m:r>
                                      <a:rPr lang="en-AU" sz="1600" b="0" i="1" smtClean="0">
                                        <a:latin typeface="Cambria Math" panose="02040503050406030204" pitchFamily="18" charset="0"/>
                                        <a:ea typeface="Cambria Math" panose="02040503050406030204" pitchFamily="18" charset="0"/>
                                      </a:rPr>
                                      <m:t>×0.333</m:t>
                                    </m:r>
                                  </m:sup>
                                </m:sSup>
                              </m:oMath>
                            </m:oMathPara>
                          </a14:m>
                          <a:endParaRPr lang="en-US" sz="1600" dirty="0"/>
                        </a:p>
                      </a:txBody>
                      <a:tcPr/>
                    </a:tc>
                    <a:extLst>
                      <a:ext uri="{0D108BD9-81ED-4DB2-BD59-A6C34878D82A}">
                        <a16:rowId xmlns:a16="http://schemas.microsoft.com/office/drawing/2014/main" val="3683376922"/>
                      </a:ext>
                    </a:extLst>
                  </a:tr>
                  <a:tr h="632274">
                    <a:tc>
                      <a:txBody>
                        <a:bodyPr/>
                        <a:lstStyle/>
                        <a:p>
                          <a:r>
                            <a:rPr lang="en-US" sz="1600" dirty="0"/>
                            <a:t>0.833</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AU" sz="1600" b="0" i="1" smtClean="0">
                                    <a:latin typeface="Cambria Math" panose="02040503050406030204" pitchFamily="18" charset="0"/>
                                  </a:rPr>
                                  <m:t>100+100</m:t>
                                </m:r>
                                <m:r>
                                  <a:rPr lang="en-AU" sz="1600" b="0" i="1" smtClean="0">
                                    <a:latin typeface="Cambria Math" panose="02040503050406030204" pitchFamily="18" charset="0"/>
                                    <a:ea typeface="Cambria Math" panose="02040503050406030204" pitchFamily="18" charset="0"/>
                                  </a:rPr>
                                  <m:t>×7%×0.5</m:t>
                                </m:r>
                              </m:oMath>
                            </m:oMathPara>
                          </a14:m>
                          <a:endParaRPr lang="en-US" sz="16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AU" sz="1600" b="0" i="1" smtClean="0">
                                    <a:latin typeface="Cambria Math" panose="02040503050406030204" pitchFamily="18" charset="0"/>
                                  </a:rPr>
                                  <m:t>100+100</m:t>
                                </m:r>
                                <m:r>
                                  <a:rPr lang="en-AU" sz="1600" b="0" i="1" smtClean="0">
                                    <a:latin typeface="Cambria Math" panose="02040503050406030204" pitchFamily="18" charset="0"/>
                                    <a:ea typeface="Cambria Math" panose="02040503050406030204" pitchFamily="18" charset="0"/>
                                  </a:rPr>
                                  <m:t>×</m:t>
                                </m:r>
                                <m:r>
                                  <a:rPr lang="en-AU" sz="1600" b="0" i="1" smtClean="0">
                                    <a:solidFill>
                                      <a:srgbClr val="0070C0"/>
                                    </a:solidFill>
                                    <a:latin typeface="Cambria Math" panose="02040503050406030204" pitchFamily="18" charset="0"/>
                                    <a:ea typeface="Cambria Math" panose="02040503050406030204" pitchFamily="18" charset="0"/>
                                  </a:rPr>
                                  <m:t>5.063%</m:t>
                                </m:r>
                                <m:r>
                                  <a:rPr lang="en-AU" sz="1600" b="0" i="1" smtClean="0">
                                    <a:latin typeface="Cambria Math" panose="02040503050406030204" pitchFamily="18" charset="0"/>
                                    <a:ea typeface="Cambria Math" panose="02040503050406030204" pitchFamily="18" charset="0"/>
                                  </a:rPr>
                                  <m:t>×0.5</m:t>
                                </m:r>
                              </m:oMath>
                            </m:oMathPara>
                          </a14:m>
                          <a:endParaRPr lang="en-US" sz="1600" dirty="0"/>
                        </a:p>
                        <a:p>
                          <a:endParaRPr lang="en-US" sz="1600" b="1" dirty="0"/>
                        </a:p>
                      </a:txBody>
                      <a:tcPr/>
                    </a:tc>
                    <a:tc>
                      <a:txBody>
                        <a:bodyPr/>
                        <a:lstStyle/>
                        <a:p>
                          <a:pPr/>
                          <a14:m>
                            <m:oMathPara xmlns:m="http://schemas.openxmlformats.org/officeDocument/2006/math">
                              <m:oMathParaPr>
                                <m:jc m:val="centerGroup"/>
                              </m:oMathParaPr>
                              <m:oMath xmlns:m="http://schemas.openxmlformats.org/officeDocument/2006/math">
                                <m:sSup>
                                  <m:sSupPr>
                                    <m:ctrlPr>
                                      <a:rPr lang="en-US" sz="1600" i="1" smtClean="0">
                                        <a:latin typeface="Cambria Math" panose="02040503050406030204" pitchFamily="18" charset="0"/>
                                      </a:rPr>
                                    </m:ctrlPr>
                                  </m:sSupPr>
                                  <m:e>
                                    <m:r>
                                      <a:rPr lang="en-AU" sz="1600" b="0" i="1" smtClean="0">
                                        <a:latin typeface="Cambria Math" panose="02040503050406030204" pitchFamily="18" charset="0"/>
                                      </a:rPr>
                                      <m:t>𝑒</m:t>
                                    </m:r>
                                  </m:e>
                                  <m:sup>
                                    <m:r>
                                      <a:rPr lang="en-AU" sz="1600" b="0" i="1" smtClean="0">
                                        <a:latin typeface="Cambria Math" panose="02040503050406030204" pitchFamily="18" charset="0"/>
                                      </a:rPr>
                                      <m:t>−0.05</m:t>
                                    </m:r>
                                    <m:r>
                                      <a:rPr lang="en-AU" sz="1600" b="0" i="1" smtClean="0">
                                        <a:latin typeface="Cambria Math" panose="02040503050406030204" pitchFamily="18" charset="0"/>
                                        <a:ea typeface="Cambria Math" panose="02040503050406030204" pitchFamily="18" charset="0"/>
                                      </a:rPr>
                                      <m:t>×0.833</m:t>
                                    </m:r>
                                  </m:sup>
                                </m:sSup>
                              </m:oMath>
                            </m:oMathPara>
                          </a14:m>
                          <a:endParaRPr lang="en-US" sz="16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AU" sz="1600" b="0" i="1" smtClean="0">
                                    <a:latin typeface="Cambria Math" panose="02040503050406030204" pitchFamily="18" charset="0"/>
                                  </a:rPr>
                                  <m:t>(100+100</m:t>
                                </m:r>
                                <m:r>
                                  <a:rPr lang="en-AU" sz="1600" b="0" i="1" smtClean="0">
                                    <a:latin typeface="Cambria Math" panose="02040503050406030204" pitchFamily="18" charset="0"/>
                                    <a:ea typeface="Cambria Math" panose="02040503050406030204" pitchFamily="18" charset="0"/>
                                  </a:rPr>
                                  <m:t>×7%×0.5)×</m:t>
                                </m:r>
                                <m:sSup>
                                  <m:sSupPr>
                                    <m:ctrlPr>
                                      <a:rPr lang="en-US" sz="1600" i="1" smtClean="0">
                                        <a:latin typeface="Cambria Math" panose="02040503050406030204" pitchFamily="18" charset="0"/>
                                      </a:rPr>
                                    </m:ctrlPr>
                                  </m:sSupPr>
                                  <m:e>
                                    <m:r>
                                      <a:rPr lang="en-AU" sz="1600" b="0" i="1" smtClean="0">
                                        <a:latin typeface="Cambria Math" panose="02040503050406030204" pitchFamily="18" charset="0"/>
                                      </a:rPr>
                                      <m:t>𝑒</m:t>
                                    </m:r>
                                  </m:e>
                                  <m:sup>
                                    <m:r>
                                      <a:rPr lang="en-AU" sz="1600" b="0" i="1" smtClean="0">
                                        <a:latin typeface="Cambria Math" panose="02040503050406030204" pitchFamily="18" charset="0"/>
                                      </a:rPr>
                                      <m:t>−0.05</m:t>
                                    </m:r>
                                    <m:r>
                                      <a:rPr lang="en-AU" sz="1600" b="0" i="1" smtClean="0">
                                        <a:latin typeface="Cambria Math" panose="02040503050406030204" pitchFamily="18" charset="0"/>
                                        <a:ea typeface="Cambria Math" panose="02040503050406030204" pitchFamily="18" charset="0"/>
                                      </a:rPr>
                                      <m:t>×0.833</m:t>
                                    </m:r>
                                  </m:sup>
                                </m:sSup>
                              </m:oMath>
                            </m:oMathPara>
                          </a14:m>
                          <a:endParaRPr lang="en-US" sz="16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AU" sz="1600" b="0" i="1" smtClean="0">
                                    <a:latin typeface="Cambria Math" panose="02040503050406030204" pitchFamily="18" charset="0"/>
                                  </a:rPr>
                                  <m:t>(100+100</m:t>
                                </m:r>
                                <m:r>
                                  <a:rPr lang="en-AU" sz="1600" b="0" i="1" smtClean="0">
                                    <a:latin typeface="Cambria Math" panose="02040503050406030204" pitchFamily="18" charset="0"/>
                                    <a:ea typeface="Cambria Math" panose="02040503050406030204" pitchFamily="18" charset="0"/>
                                  </a:rPr>
                                  <m:t>×5.063%×0.5</m:t>
                                </m:r>
                              </m:oMath>
                            </m:oMathPara>
                          </a14:m>
                          <a:endParaRPr lang="en-US" sz="1600" dirty="0"/>
                        </a:p>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AU" sz="1600" b="0" i="1" smtClean="0">
                                    <a:latin typeface="Cambria Math" panose="02040503050406030204" pitchFamily="18" charset="0"/>
                                    <a:ea typeface="Cambria Math" panose="02040503050406030204" pitchFamily="18" charset="0"/>
                                  </a:rPr>
                                  <m:t>)×</m:t>
                                </m:r>
                                <m:sSup>
                                  <m:sSupPr>
                                    <m:ctrlPr>
                                      <a:rPr lang="en-US" sz="1600" i="1" smtClean="0">
                                        <a:latin typeface="Cambria Math" panose="02040503050406030204" pitchFamily="18" charset="0"/>
                                      </a:rPr>
                                    </m:ctrlPr>
                                  </m:sSupPr>
                                  <m:e>
                                    <m:r>
                                      <a:rPr lang="en-AU" sz="1600" b="0" i="1" smtClean="0">
                                        <a:latin typeface="Cambria Math" panose="02040503050406030204" pitchFamily="18" charset="0"/>
                                      </a:rPr>
                                      <m:t>𝑒</m:t>
                                    </m:r>
                                  </m:e>
                                  <m:sup>
                                    <m:r>
                                      <a:rPr lang="en-AU" sz="1600" b="0" i="1" smtClean="0">
                                        <a:latin typeface="Cambria Math" panose="02040503050406030204" pitchFamily="18" charset="0"/>
                                      </a:rPr>
                                      <m:t>−0.05</m:t>
                                    </m:r>
                                    <m:r>
                                      <a:rPr lang="en-AU" sz="1600" b="0" i="1" smtClean="0">
                                        <a:latin typeface="Cambria Math" panose="02040503050406030204" pitchFamily="18" charset="0"/>
                                        <a:ea typeface="Cambria Math" panose="02040503050406030204" pitchFamily="18" charset="0"/>
                                      </a:rPr>
                                      <m:t>×0.833</m:t>
                                    </m:r>
                                  </m:sup>
                                </m:sSup>
                              </m:oMath>
                            </m:oMathPara>
                          </a14:m>
                          <a:endParaRPr lang="en-US" sz="1600" dirty="0"/>
                        </a:p>
                      </a:txBody>
                      <a:tcPr/>
                    </a:tc>
                    <a:extLst>
                      <a:ext uri="{0D108BD9-81ED-4DB2-BD59-A6C34878D82A}">
                        <a16:rowId xmlns:a16="http://schemas.microsoft.com/office/drawing/2014/main" val="4138633012"/>
                      </a:ext>
                    </a:extLst>
                  </a:tr>
                  <a:tr h="632274">
                    <a:tc>
                      <a:txBody>
                        <a:bodyPr/>
                        <a:lstStyle/>
                        <a:p>
                          <a:r>
                            <a:rPr lang="en-US" sz="1600" dirty="0"/>
                            <a:t>Total</a:t>
                          </a:r>
                        </a:p>
                      </a:txBody>
                      <a:tcPr/>
                    </a:tc>
                    <a:tc>
                      <a:txBody>
                        <a:bodyPr/>
                        <a:lstStyle/>
                        <a:p>
                          <a:endParaRPr lang="en-US" sz="1600" dirty="0"/>
                        </a:p>
                      </a:txBody>
                      <a:tcPr/>
                    </a:tc>
                    <a:tc>
                      <a:txBody>
                        <a:bodyPr/>
                        <a:lstStyle/>
                        <a:p>
                          <a:endParaRPr lang="en-US" sz="1600" dirty="0"/>
                        </a:p>
                      </a:txBody>
                      <a:tcPr/>
                    </a:tc>
                    <a:tc>
                      <a:txBody>
                        <a:bodyPr/>
                        <a:lstStyle/>
                        <a:p>
                          <a:endParaRPr lang="en-US" sz="1600" dirty="0"/>
                        </a:p>
                      </a:txBody>
                      <a:tcPr/>
                    </a:tc>
                    <a:tc>
                      <a:txBody>
                        <a:bodyPr/>
                        <a:lstStyle/>
                        <a:p>
                          <a:r>
                            <a:rPr lang="en-US" sz="1600" b="1" dirty="0"/>
                            <a:t>102.718</a:t>
                          </a:r>
                        </a:p>
                      </a:txBody>
                      <a:tcPr/>
                    </a:tc>
                    <a:tc>
                      <a:txBody>
                        <a:bodyPr/>
                        <a:lstStyle/>
                        <a:p>
                          <a:r>
                            <a:rPr lang="en-US" sz="1600" b="1" dirty="0"/>
                            <a:t>100.609</a:t>
                          </a:r>
                        </a:p>
                      </a:txBody>
                      <a:tcPr/>
                    </a:tc>
                    <a:extLst>
                      <a:ext uri="{0D108BD9-81ED-4DB2-BD59-A6C34878D82A}">
                        <a16:rowId xmlns:a16="http://schemas.microsoft.com/office/drawing/2014/main" val="4176972528"/>
                      </a:ext>
                    </a:extLst>
                  </a:tr>
                </a:tbl>
              </a:graphicData>
            </a:graphic>
          </p:graphicFrame>
        </mc:Choice>
        <mc:Fallback xmlns="">
          <p:graphicFrame>
            <p:nvGraphicFramePr>
              <p:cNvPr id="8" name="Table 7">
                <a:extLst>
                  <a:ext uri="{FF2B5EF4-FFF2-40B4-BE49-F238E27FC236}">
                    <a16:creationId xmlns:a16="http://schemas.microsoft.com/office/drawing/2014/main" id="{A0A208C2-9593-6341-FD90-3AB23E825D0D}"/>
                  </a:ext>
                </a:extLst>
              </p:cNvPr>
              <p:cNvGraphicFramePr>
                <a:graphicFrameLocks noGrp="1"/>
              </p:cNvGraphicFramePr>
              <p:nvPr>
                <p:extLst>
                  <p:ext uri="{D42A27DB-BD31-4B8C-83A1-F6EECF244321}">
                    <p14:modId xmlns:p14="http://schemas.microsoft.com/office/powerpoint/2010/main" val="1368373109"/>
                  </p:ext>
                </p:extLst>
              </p:nvPr>
            </p:nvGraphicFramePr>
            <p:xfrm>
              <a:off x="528576" y="3671567"/>
              <a:ext cx="11134848" cy="2985081"/>
            </p:xfrm>
            <a:graphic>
              <a:graphicData uri="http://schemas.openxmlformats.org/drawingml/2006/table">
                <a:tbl>
                  <a:tblPr firstRow="1" bandRow="1">
                    <a:tableStyleId>{5C22544A-7EE6-4342-B048-85BDC9FD1C3A}</a:tableStyleId>
                  </a:tblPr>
                  <a:tblGrid>
                    <a:gridCol w="1855808">
                      <a:extLst>
                        <a:ext uri="{9D8B030D-6E8A-4147-A177-3AD203B41FA5}">
                          <a16:colId xmlns:a16="http://schemas.microsoft.com/office/drawing/2014/main" val="1902593901"/>
                        </a:ext>
                      </a:extLst>
                    </a:gridCol>
                    <a:gridCol w="1855808">
                      <a:extLst>
                        <a:ext uri="{9D8B030D-6E8A-4147-A177-3AD203B41FA5}">
                          <a16:colId xmlns:a16="http://schemas.microsoft.com/office/drawing/2014/main" val="3932323135"/>
                        </a:ext>
                      </a:extLst>
                    </a:gridCol>
                    <a:gridCol w="1855808">
                      <a:extLst>
                        <a:ext uri="{9D8B030D-6E8A-4147-A177-3AD203B41FA5}">
                          <a16:colId xmlns:a16="http://schemas.microsoft.com/office/drawing/2014/main" val="3470556675"/>
                        </a:ext>
                      </a:extLst>
                    </a:gridCol>
                    <a:gridCol w="1855808">
                      <a:extLst>
                        <a:ext uri="{9D8B030D-6E8A-4147-A177-3AD203B41FA5}">
                          <a16:colId xmlns:a16="http://schemas.microsoft.com/office/drawing/2014/main" val="3707822957"/>
                        </a:ext>
                      </a:extLst>
                    </a:gridCol>
                    <a:gridCol w="1855808">
                      <a:extLst>
                        <a:ext uri="{9D8B030D-6E8A-4147-A177-3AD203B41FA5}">
                          <a16:colId xmlns:a16="http://schemas.microsoft.com/office/drawing/2014/main" val="3119402058"/>
                        </a:ext>
                      </a:extLst>
                    </a:gridCol>
                    <a:gridCol w="1855808">
                      <a:extLst>
                        <a:ext uri="{9D8B030D-6E8A-4147-A177-3AD203B41FA5}">
                          <a16:colId xmlns:a16="http://schemas.microsoft.com/office/drawing/2014/main" val="1766958485"/>
                        </a:ext>
                      </a:extLst>
                    </a:gridCol>
                  </a:tblGrid>
                  <a:tr h="662115">
                    <a:tc>
                      <a:txBody>
                        <a:bodyPr/>
                        <a:lstStyle/>
                        <a:p>
                          <a:r>
                            <a:rPr lang="en-US" dirty="0"/>
                            <a:t>Time</a:t>
                          </a:r>
                        </a:p>
                      </a:txBody>
                      <a:tcPr/>
                    </a:tc>
                    <a:tc>
                      <a:txBody>
                        <a:bodyPr/>
                        <a:lstStyle/>
                        <a:p>
                          <a:endParaRPr lang="en-US"/>
                        </a:p>
                      </a:txBody>
                      <a:tcPr>
                        <a:blipFill>
                          <a:blip r:embed="rId3"/>
                          <a:stretch>
                            <a:fillRect l="-100000" t="-3846" r="-399320" b="-355769"/>
                          </a:stretch>
                        </a:blipFill>
                      </a:tcPr>
                    </a:tc>
                    <a:tc>
                      <a:txBody>
                        <a:bodyPr/>
                        <a:lstStyle/>
                        <a:p>
                          <a:endParaRPr lang="en-US"/>
                        </a:p>
                      </a:txBody>
                      <a:tcPr>
                        <a:blipFill>
                          <a:blip r:embed="rId3"/>
                          <a:stretch>
                            <a:fillRect l="-201370" t="-3846" r="-302055" b="-355769"/>
                          </a:stretch>
                        </a:blipFill>
                      </a:tcPr>
                    </a:tc>
                    <a:tc>
                      <a:txBody>
                        <a:bodyPr/>
                        <a:lstStyle/>
                        <a:p>
                          <a:r>
                            <a:rPr lang="en-US" dirty="0"/>
                            <a:t>Discount factor</a:t>
                          </a:r>
                        </a:p>
                        <a:p>
                          <a:r>
                            <a:rPr lang="en-US" dirty="0"/>
                            <a:t>(3)</a:t>
                          </a:r>
                        </a:p>
                      </a:txBody>
                      <a:tcPr/>
                    </a:tc>
                    <a:tc>
                      <a:txBody>
                        <a:bodyPr/>
                        <a:lstStyle/>
                        <a:p>
                          <a:endParaRPr lang="en-US"/>
                        </a:p>
                      </a:txBody>
                      <a:tcPr>
                        <a:blipFill>
                          <a:blip r:embed="rId3"/>
                          <a:stretch>
                            <a:fillRect l="-398639" t="-3846" r="-100680" b="-355769"/>
                          </a:stretch>
                        </a:blipFill>
                      </a:tcPr>
                    </a:tc>
                    <a:tc>
                      <a:txBody>
                        <a:bodyPr/>
                        <a:lstStyle/>
                        <a:p>
                          <a:endParaRPr lang="en-US"/>
                        </a:p>
                      </a:txBody>
                      <a:tcPr>
                        <a:blipFill>
                          <a:blip r:embed="rId3"/>
                          <a:stretch>
                            <a:fillRect l="-502055" t="-3846" r="-1370" b="-355769"/>
                          </a:stretch>
                        </a:blipFill>
                      </a:tcPr>
                    </a:tc>
                    <a:extLst>
                      <a:ext uri="{0D108BD9-81ED-4DB2-BD59-A6C34878D82A}">
                        <a16:rowId xmlns:a16="http://schemas.microsoft.com/office/drawing/2014/main" val="1748611465"/>
                      </a:ext>
                    </a:extLst>
                  </a:tr>
                  <a:tr h="632274">
                    <a:tc>
                      <a:txBody>
                        <a:bodyPr/>
                        <a:lstStyle/>
                        <a:p>
                          <a:r>
                            <a:rPr lang="en-US" sz="1600" dirty="0"/>
                            <a:t>0.333</a:t>
                          </a:r>
                        </a:p>
                      </a:txBody>
                      <a:tcPr/>
                    </a:tc>
                    <a:tc>
                      <a:txBody>
                        <a:bodyPr/>
                        <a:lstStyle/>
                        <a:p>
                          <a:endParaRPr lang="en-US"/>
                        </a:p>
                      </a:txBody>
                      <a:tcPr>
                        <a:blipFill>
                          <a:blip r:embed="rId3"/>
                          <a:stretch>
                            <a:fillRect l="-100000" t="-108000" r="-399320" b="-270000"/>
                          </a:stretch>
                        </a:blipFill>
                      </a:tcPr>
                    </a:tc>
                    <a:tc>
                      <a:txBody>
                        <a:bodyPr/>
                        <a:lstStyle/>
                        <a:p>
                          <a:endParaRPr lang="en-US"/>
                        </a:p>
                      </a:txBody>
                      <a:tcPr>
                        <a:blipFill>
                          <a:blip r:embed="rId3"/>
                          <a:stretch>
                            <a:fillRect l="-201370" t="-108000" r="-302055" b="-270000"/>
                          </a:stretch>
                        </a:blipFill>
                      </a:tcPr>
                    </a:tc>
                    <a:tc>
                      <a:txBody>
                        <a:bodyPr/>
                        <a:lstStyle/>
                        <a:p>
                          <a:endParaRPr lang="en-US"/>
                        </a:p>
                      </a:txBody>
                      <a:tcPr>
                        <a:blipFill>
                          <a:blip r:embed="rId3"/>
                          <a:stretch>
                            <a:fillRect l="-301370" t="-108000" r="-202055" b="-270000"/>
                          </a:stretch>
                        </a:blipFill>
                      </a:tcPr>
                    </a:tc>
                    <a:tc>
                      <a:txBody>
                        <a:bodyPr/>
                        <a:lstStyle/>
                        <a:p>
                          <a:endParaRPr lang="en-US"/>
                        </a:p>
                      </a:txBody>
                      <a:tcPr>
                        <a:blipFill>
                          <a:blip r:embed="rId3"/>
                          <a:stretch>
                            <a:fillRect l="-398639" t="-108000" r="-100680" b="-270000"/>
                          </a:stretch>
                        </a:blipFill>
                      </a:tcPr>
                    </a:tc>
                    <a:tc>
                      <a:txBody>
                        <a:bodyPr/>
                        <a:lstStyle/>
                        <a:p>
                          <a:endParaRPr lang="en-US"/>
                        </a:p>
                      </a:txBody>
                      <a:tcPr>
                        <a:blipFill>
                          <a:blip r:embed="rId3"/>
                          <a:stretch>
                            <a:fillRect l="-502055" t="-108000" r="-1370" b="-270000"/>
                          </a:stretch>
                        </a:blipFill>
                      </a:tcPr>
                    </a:tc>
                    <a:extLst>
                      <a:ext uri="{0D108BD9-81ED-4DB2-BD59-A6C34878D82A}">
                        <a16:rowId xmlns:a16="http://schemas.microsoft.com/office/drawing/2014/main" val="3683376922"/>
                      </a:ext>
                    </a:extLst>
                  </a:tr>
                  <a:tr h="1058418">
                    <a:tc>
                      <a:txBody>
                        <a:bodyPr/>
                        <a:lstStyle/>
                        <a:p>
                          <a:r>
                            <a:rPr lang="en-US" sz="1600" dirty="0"/>
                            <a:t>0.833</a:t>
                          </a:r>
                        </a:p>
                      </a:txBody>
                      <a:tcPr/>
                    </a:tc>
                    <a:tc>
                      <a:txBody>
                        <a:bodyPr/>
                        <a:lstStyle/>
                        <a:p>
                          <a:endParaRPr lang="en-US"/>
                        </a:p>
                      </a:txBody>
                      <a:tcPr>
                        <a:blipFill>
                          <a:blip r:embed="rId3"/>
                          <a:stretch>
                            <a:fillRect l="-100000" t="-123810" r="-399320" b="-60714"/>
                          </a:stretch>
                        </a:blipFill>
                      </a:tcPr>
                    </a:tc>
                    <a:tc>
                      <a:txBody>
                        <a:bodyPr/>
                        <a:lstStyle/>
                        <a:p>
                          <a:endParaRPr lang="en-US"/>
                        </a:p>
                      </a:txBody>
                      <a:tcPr>
                        <a:blipFill>
                          <a:blip r:embed="rId3"/>
                          <a:stretch>
                            <a:fillRect l="-201370" t="-123810" r="-302055" b="-60714"/>
                          </a:stretch>
                        </a:blipFill>
                      </a:tcPr>
                    </a:tc>
                    <a:tc>
                      <a:txBody>
                        <a:bodyPr/>
                        <a:lstStyle/>
                        <a:p>
                          <a:endParaRPr lang="en-US"/>
                        </a:p>
                      </a:txBody>
                      <a:tcPr>
                        <a:blipFill>
                          <a:blip r:embed="rId3"/>
                          <a:stretch>
                            <a:fillRect l="-301370" t="-123810" r="-202055" b="-60714"/>
                          </a:stretch>
                        </a:blipFill>
                      </a:tcPr>
                    </a:tc>
                    <a:tc>
                      <a:txBody>
                        <a:bodyPr/>
                        <a:lstStyle/>
                        <a:p>
                          <a:endParaRPr lang="en-US"/>
                        </a:p>
                      </a:txBody>
                      <a:tcPr>
                        <a:blipFill>
                          <a:blip r:embed="rId3"/>
                          <a:stretch>
                            <a:fillRect l="-398639" t="-123810" r="-100680" b="-60714"/>
                          </a:stretch>
                        </a:blipFill>
                      </a:tcPr>
                    </a:tc>
                    <a:tc>
                      <a:txBody>
                        <a:bodyPr/>
                        <a:lstStyle/>
                        <a:p>
                          <a:endParaRPr lang="en-US"/>
                        </a:p>
                      </a:txBody>
                      <a:tcPr>
                        <a:blipFill>
                          <a:blip r:embed="rId3"/>
                          <a:stretch>
                            <a:fillRect l="-502055" t="-123810" r="-1370" b="-60714"/>
                          </a:stretch>
                        </a:blipFill>
                      </a:tcPr>
                    </a:tc>
                    <a:extLst>
                      <a:ext uri="{0D108BD9-81ED-4DB2-BD59-A6C34878D82A}">
                        <a16:rowId xmlns:a16="http://schemas.microsoft.com/office/drawing/2014/main" val="4138633012"/>
                      </a:ext>
                    </a:extLst>
                  </a:tr>
                  <a:tr h="632274">
                    <a:tc>
                      <a:txBody>
                        <a:bodyPr/>
                        <a:lstStyle/>
                        <a:p>
                          <a:r>
                            <a:rPr lang="en-US" sz="1600" dirty="0"/>
                            <a:t>Total</a:t>
                          </a:r>
                        </a:p>
                      </a:txBody>
                      <a:tcPr/>
                    </a:tc>
                    <a:tc>
                      <a:txBody>
                        <a:bodyPr/>
                        <a:lstStyle/>
                        <a:p>
                          <a:endParaRPr lang="en-US" sz="1600" dirty="0"/>
                        </a:p>
                      </a:txBody>
                      <a:tcPr/>
                    </a:tc>
                    <a:tc>
                      <a:txBody>
                        <a:bodyPr/>
                        <a:lstStyle/>
                        <a:p>
                          <a:endParaRPr lang="en-US" sz="1600" dirty="0"/>
                        </a:p>
                      </a:txBody>
                      <a:tcPr/>
                    </a:tc>
                    <a:tc>
                      <a:txBody>
                        <a:bodyPr/>
                        <a:lstStyle/>
                        <a:p>
                          <a:endParaRPr lang="en-US" sz="1600" dirty="0"/>
                        </a:p>
                      </a:txBody>
                      <a:tcPr/>
                    </a:tc>
                    <a:tc>
                      <a:txBody>
                        <a:bodyPr/>
                        <a:lstStyle/>
                        <a:p>
                          <a:r>
                            <a:rPr lang="en-US" sz="1600" b="1" dirty="0"/>
                            <a:t>102.718</a:t>
                          </a:r>
                        </a:p>
                      </a:txBody>
                      <a:tcPr/>
                    </a:tc>
                    <a:tc>
                      <a:txBody>
                        <a:bodyPr/>
                        <a:lstStyle/>
                        <a:p>
                          <a:r>
                            <a:rPr lang="en-US" sz="1600" b="1" dirty="0"/>
                            <a:t>100.609</a:t>
                          </a:r>
                        </a:p>
                      </a:txBody>
                      <a:tcPr/>
                    </a:tc>
                    <a:extLst>
                      <a:ext uri="{0D108BD9-81ED-4DB2-BD59-A6C34878D82A}">
                        <a16:rowId xmlns:a16="http://schemas.microsoft.com/office/drawing/2014/main" val="4176972528"/>
                      </a:ext>
                    </a:extLst>
                  </a:tr>
                </a:tbl>
              </a:graphicData>
            </a:graphic>
          </p:graphicFrame>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009BD8F9-BE8F-6C46-2D49-D1DD8A5CA53C}"/>
                  </a:ext>
                </a:extLst>
              </p:cNvPr>
              <p:cNvSpPr txBox="1"/>
              <p:nvPr/>
            </p:nvSpPr>
            <p:spPr>
              <a:xfrm>
                <a:off x="4267166" y="3027876"/>
                <a:ext cx="3657668" cy="369332"/>
              </a:xfrm>
              <a:prstGeom prst="rect">
                <a:avLst/>
              </a:prstGeom>
            </p:spPr>
            <p:style>
              <a:lnRef idx="2">
                <a:schemeClr val="accent2"/>
              </a:lnRef>
              <a:fillRef idx="1">
                <a:schemeClr val="lt1"/>
              </a:fillRef>
              <a:effectRef idx="0">
                <a:schemeClr val="accent2"/>
              </a:effectRef>
              <a:fontRef idx="minor">
                <a:schemeClr val="dk1"/>
              </a:fontRef>
            </p:style>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2400" i="1" smtClean="0">
                          <a:latin typeface="Cambria Math" panose="02040503050406030204" pitchFamily="18" charset="0"/>
                        </a:rPr>
                        <m:t>5</m:t>
                      </m:r>
                      <m:r>
                        <a:rPr lang="en-AU" sz="2400" b="0" i="1" smtClean="0">
                          <a:latin typeface="Cambria Math" panose="02040503050406030204" pitchFamily="18" charset="0"/>
                        </a:rPr>
                        <m:t>% </m:t>
                      </m:r>
                      <m:d>
                        <m:dPr>
                          <m:ctrlPr>
                            <a:rPr lang="en-AU" sz="2400" b="0" i="1" smtClean="0">
                              <a:latin typeface="Cambria Math" panose="02040503050406030204" pitchFamily="18" charset="0"/>
                            </a:rPr>
                          </m:ctrlPr>
                        </m:dPr>
                        <m:e>
                          <m:r>
                            <a:rPr lang="en-AU" sz="2400" b="0" i="1" smtClean="0">
                              <a:latin typeface="Cambria Math" panose="02040503050406030204" pitchFamily="18" charset="0"/>
                            </a:rPr>
                            <m:t>𝑐</m:t>
                          </m:r>
                          <m:r>
                            <a:rPr lang="en-AU" sz="2400" b="0" i="1" smtClean="0">
                              <a:latin typeface="Cambria Math" panose="02040503050406030204" pitchFamily="18" charset="0"/>
                            </a:rPr>
                            <m:t>.</m:t>
                          </m:r>
                          <m:r>
                            <a:rPr lang="en-AU" sz="2400" b="0" i="1" smtClean="0">
                              <a:latin typeface="Cambria Math" panose="02040503050406030204" pitchFamily="18" charset="0"/>
                            </a:rPr>
                            <m:t>𝑐</m:t>
                          </m:r>
                        </m:e>
                      </m:d>
                      <m:r>
                        <a:rPr lang="en-AU" sz="2400" b="0" i="1" smtClean="0">
                          <a:latin typeface="Cambria Math" panose="02040503050406030204" pitchFamily="18" charset="0"/>
                        </a:rPr>
                        <m:t> </m:t>
                      </m:r>
                      <m:r>
                        <a:rPr lang="en-AU" sz="2400" b="0" i="1" smtClean="0">
                          <a:latin typeface="Cambria Math" panose="02040503050406030204" pitchFamily="18" charset="0"/>
                          <a:ea typeface="Cambria Math" panose="02040503050406030204" pitchFamily="18" charset="0"/>
                        </a:rPr>
                        <m:t>↔</m:t>
                      </m:r>
                      <m:r>
                        <a:rPr lang="en-AU" sz="2400" b="1" i="1" smtClean="0">
                          <a:latin typeface="Cambria Math" panose="02040503050406030204" pitchFamily="18" charset="0"/>
                          <a:ea typeface="Cambria Math" panose="02040503050406030204" pitchFamily="18" charset="0"/>
                        </a:rPr>
                        <m:t>𝟓</m:t>
                      </m:r>
                      <m:r>
                        <a:rPr lang="en-AU" sz="2400" b="1" i="1" smtClean="0">
                          <a:latin typeface="Cambria Math" panose="02040503050406030204" pitchFamily="18" charset="0"/>
                          <a:ea typeface="Cambria Math" panose="02040503050406030204" pitchFamily="18" charset="0"/>
                        </a:rPr>
                        <m:t>.</m:t>
                      </m:r>
                      <m:r>
                        <a:rPr lang="en-AU" sz="2400" b="1" i="1" smtClean="0">
                          <a:latin typeface="Cambria Math" panose="02040503050406030204" pitchFamily="18" charset="0"/>
                          <a:ea typeface="Cambria Math" panose="02040503050406030204" pitchFamily="18" charset="0"/>
                        </a:rPr>
                        <m:t>𝟎𝟔𝟑</m:t>
                      </m:r>
                      <m:r>
                        <a:rPr lang="en-AU" sz="2400" b="1"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 (</m:t>
                      </m:r>
                      <m:r>
                        <a:rPr lang="en-AU" sz="2400" b="0" i="1" smtClean="0">
                          <a:latin typeface="Cambria Math" panose="02040503050406030204" pitchFamily="18" charset="0"/>
                          <a:ea typeface="Cambria Math" panose="02040503050406030204" pitchFamily="18" charset="0"/>
                        </a:rPr>
                        <m:t>𝑠</m:t>
                      </m:r>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𝑎</m:t>
                      </m:r>
                      <m:r>
                        <a:rPr lang="en-AU" sz="2400" b="0" i="1" smtClean="0">
                          <a:latin typeface="Cambria Math" panose="02040503050406030204" pitchFamily="18" charset="0"/>
                          <a:ea typeface="Cambria Math" panose="02040503050406030204" pitchFamily="18" charset="0"/>
                        </a:rPr>
                        <m:t>)</m:t>
                      </m:r>
                    </m:oMath>
                  </m:oMathPara>
                </a14:m>
                <a:endParaRPr lang="en-US" sz="2400" dirty="0"/>
              </a:p>
            </p:txBody>
          </p:sp>
        </mc:Choice>
        <mc:Fallback xmlns="">
          <p:sp>
            <p:nvSpPr>
              <p:cNvPr id="11" name="TextBox 10">
                <a:extLst>
                  <a:ext uri="{FF2B5EF4-FFF2-40B4-BE49-F238E27FC236}">
                    <a16:creationId xmlns:a16="http://schemas.microsoft.com/office/drawing/2014/main" id="{009BD8F9-BE8F-6C46-2D49-D1DD8A5CA53C}"/>
                  </a:ext>
                </a:extLst>
              </p:cNvPr>
              <p:cNvSpPr txBox="1">
                <a:spLocks noRot="1" noChangeAspect="1" noMove="1" noResize="1" noEditPoints="1" noAdjustHandles="1" noChangeArrowheads="1" noChangeShapeType="1" noTextEdit="1"/>
              </p:cNvSpPr>
              <p:nvPr/>
            </p:nvSpPr>
            <p:spPr>
              <a:xfrm>
                <a:off x="4267166" y="3027876"/>
                <a:ext cx="3657668" cy="369332"/>
              </a:xfrm>
              <a:prstGeom prst="rect">
                <a:avLst/>
              </a:prstGeom>
              <a:blipFill>
                <a:blip r:embed="rId4"/>
                <a:stretch>
                  <a:fillRect l="-1379" t="-9677" r="-2414" b="-29032"/>
                </a:stretch>
              </a:blipFill>
            </p:spPr>
            <p:txBody>
              <a:bodyPr/>
              <a:lstStyle/>
              <a:p>
                <a:r>
                  <a:rPr lang="en-US">
                    <a:noFill/>
                  </a:rPr>
                  <a:t> </a:t>
                </a:r>
              </a:p>
            </p:txBody>
          </p:sp>
        </mc:Fallback>
      </mc:AlternateContent>
    </p:spTree>
    <p:extLst>
      <p:ext uri="{BB962C8B-B14F-4D97-AF65-F5344CB8AC3E}">
        <p14:creationId xmlns:p14="http://schemas.microsoft.com/office/powerpoint/2010/main" val="156060546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33617C-EDE5-1792-AF96-2751707EED80}"/>
              </a:ext>
            </a:extLst>
          </p:cNvPr>
          <p:cNvSpPr>
            <a:spLocks noGrp="1"/>
          </p:cNvSpPr>
          <p:nvPr>
            <p:ph type="title"/>
          </p:nvPr>
        </p:nvSpPr>
        <p:spPr/>
        <p:txBody>
          <a:bodyPr/>
          <a:lstStyle/>
          <a:p>
            <a:r>
              <a:rPr lang="en-US" dirty="0"/>
              <a:t>Answer 7.2</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8584872-5315-211F-F6D8-171F50D29694}"/>
                  </a:ext>
                </a:extLst>
              </p:cNvPr>
              <p:cNvSpPr>
                <a:spLocks noGrp="1"/>
              </p:cNvSpPr>
              <p:nvPr>
                <p:ph idx="1"/>
              </p:nvPr>
            </p:nvSpPr>
            <p:spPr/>
            <p:txBody>
              <a:bodyPr/>
              <a:lstStyle/>
              <a:p>
                <a:r>
                  <a:rPr lang="en-US" dirty="0"/>
                  <a:t>The value of the swap to the party </a:t>
                </a:r>
                <a:r>
                  <a:rPr lang="en-US" b="1" dirty="0"/>
                  <a:t>paying floating </a:t>
                </a:r>
                <a:r>
                  <a:rPr lang="en-US" dirty="0"/>
                  <a:t>is</a:t>
                </a:r>
              </a:p>
              <a:p>
                <a:endParaRPr lang="en-US" dirty="0"/>
              </a:p>
              <a:p>
                <a:pPr marL="0" indent="0">
                  <a:buNone/>
                </a:pPr>
                <a:endParaRPr lang="en-US" dirty="0"/>
              </a:p>
              <a:p>
                <a:pPr marL="0" indent="0">
                  <a:buNone/>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AU" b="0" i="1" smtClean="0">
                              <a:latin typeface="Cambria Math" panose="02040503050406030204" pitchFamily="18" charset="0"/>
                            </a:rPr>
                            <m:t>𝑉</m:t>
                          </m:r>
                        </m:e>
                        <m:sub>
                          <m:r>
                            <a:rPr lang="en-AU" b="0" i="1" smtClean="0">
                              <a:latin typeface="Cambria Math" panose="02040503050406030204" pitchFamily="18" charset="0"/>
                            </a:rPr>
                            <m:t>𝑠𝑤𝑎𝑝</m:t>
                          </m:r>
                        </m:sub>
                      </m:sSub>
                      <m:r>
                        <a:rPr lang="en-AU" b="0" i="1" smtClean="0">
                          <a:latin typeface="Cambria Math" panose="02040503050406030204" pitchFamily="18" charset="0"/>
                        </a:rPr>
                        <m:t>=102.718−100.609=$2.109</m:t>
                      </m:r>
                      <m:r>
                        <a:rPr lang="en-AU" b="0" i="1" smtClean="0">
                          <a:latin typeface="Cambria Math" panose="02040503050406030204" pitchFamily="18" charset="0"/>
                        </a:rPr>
                        <m:t>𝑚</m:t>
                      </m:r>
                    </m:oMath>
                  </m:oMathPara>
                </a14:m>
                <a:endParaRPr lang="en-US" dirty="0"/>
              </a:p>
              <a:p>
                <a:r>
                  <a:rPr lang="en-US" dirty="0"/>
                  <a:t>The value of the swap to the party </a:t>
                </a:r>
                <a:r>
                  <a:rPr lang="en-US" b="1" dirty="0"/>
                  <a:t>paying fixed </a:t>
                </a:r>
                <a:r>
                  <a:rPr lang="en-US" dirty="0"/>
                  <a:t>is</a:t>
                </a:r>
              </a:p>
              <a:p>
                <a:pPr marL="0" indent="0">
                  <a:buNone/>
                </a:pPr>
                <a14:m>
                  <m:oMathPara xmlns:m="http://schemas.openxmlformats.org/officeDocument/2006/math">
                    <m:oMathParaPr>
                      <m:jc m:val="centerGroup"/>
                    </m:oMathParaPr>
                    <m:oMath xmlns:m="http://schemas.openxmlformats.org/officeDocument/2006/math">
                      <m:sSub>
                        <m:sSubPr>
                          <m:ctrlPr>
                            <a:rPr lang="en-AU" sz="4000" i="1" smtClean="0">
                              <a:solidFill>
                                <a:schemeClr val="tx1"/>
                              </a:solidFill>
                              <a:latin typeface="Cambria Math" panose="02040503050406030204" pitchFamily="18" charset="0"/>
                            </a:rPr>
                          </m:ctrlPr>
                        </m:sSubPr>
                        <m:e>
                          <m:sSub>
                            <m:sSubPr>
                              <m:ctrlPr>
                                <a:rPr lang="en-AU" sz="4000" i="1">
                                  <a:solidFill>
                                    <a:schemeClr val="tx1"/>
                                  </a:solidFill>
                                  <a:latin typeface="Cambria Math" panose="02040503050406030204" pitchFamily="18" charset="0"/>
                                </a:rPr>
                              </m:ctrlPr>
                            </m:sSubPr>
                            <m:e>
                              <m:r>
                                <a:rPr lang="en-AU" sz="4000" i="1">
                                  <a:solidFill>
                                    <a:schemeClr val="tx1"/>
                                  </a:solidFill>
                                  <a:latin typeface="Cambria Math" panose="02040503050406030204" pitchFamily="18" charset="0"/>
                                </a:rPr>
                                <m:t>𝑉</m:t>
                              </m:r>
                            </m:e>
                            <m:sub>
                              <m:r>
                                <a:rPr lang="en-AU" sz="4000" i="1">
                                  <a:solidFill>
                                    <a:schemeClr val="tx1"/>
                                  </a:solidFill>
                                  <a:latin typeface="Cambria Math" panose="02040503050406030204" pitchFamily="18" charset="0"/>
                                </a:rPr>
                                <m:t>𝑠𝑤𝑎𝑝</m:t>
                              </m:r>
                            </m:sub>
                          </m:sSub>
                          <m:r>
                            <a:rPr lang="en-AU" sz="4000" i="1">
                              <a:solidFill>
                                <a:schemeClr val="tx1"/>
                              </a:solidFill>
                              <a:latin typeface="Cambria Math" panose="02040503050406030204" pitchFamily="18" charset="0"/>
                            </a:rPr>
                            <m:t>=</m:t>
                          </m:r>
                          <m:sSub>
                            <m:sSubPr>
                              <m:ctrlPr>
                                <a:rPr lang="en-AU" sz="4000" i="1">
                                  <a:solidFill>
                                    <a:schemeClr val="tx1"/>
                                  </a:solidFill>
                                  <a:latin typeface="Cambria Math" panose="02040503050406030204" pitchFamily="18" charset="0"/>
                                </a:rPr>
                              </m:ctrlPr>
                            </m:sSubPr>
                            <m:e>
                              <m:r>
                                <a:rPr lang="en-AU" sz="4000" i="1">
                                  <a:solidFill>
                                    <a:schemeClr val="tx1"/>
                                  </a:solidFill>
                                  <a:latin typeface="Cambria Math" panose="02040503050406030204" pitchFamily="18" charset="0"/>
                                </a:rPr>
                                <m:t>𝐵</m:t>
                              </m:r>
                            </m:e>
                            <m:sub>
                              <m:r>
                                <a:rPr lang="en-AU" sz="4000" i="1">
                                  <a:solidFill>
                                    <a:schemeClr val="tx1"/>
                                  </a:solidFill>
                                  <a:latin typeface="Cambria Math" panose="02040503050406030204" pitchFamily="18" charset="0"/>
                                </a:rPr>
                                <m:t>𝑓𝑙</m:t>
                              </m:r>
                            </m:sub>
                          </m:sSub>
                          <m:r>
                            <a:rPr lang="en-AU" sz="4000" i="1">
                              <a:solidFill>
                                <a:schemeClr val="tx1"/>
                              </a:solidFill>
                              <a:latin typeface="Cambria Math" panose="02040503050406030204" pitchFamily="18" charset="0"/>
                            </a:rPr>
                            <m:t>−</m:t>
                          </m:r>
                          <m:r>
                            <a:rPr lang="en-AU" sz="4000" i="1">
                              <a:solidFill>
                                <a:schemeClr val="tx1"/>
                              </a:solidFill>
                              <a:latin typeface="Cambria Math" panose="02040503050406030204" pitchFamily="18" charset="0"/>
                            </a:rPr>
                            <m:t>𝐵</m:t>
                          </m:r>
                        </m:e>
                        <m:sub>
                          <m:r>
                            <a:rPr lang="en-AU" sz="4000" i="1">
                              <a:solidFill>
                                <a:schemeClr val="tx1"/>
                              </a:solidFill>
                              <a:latin typeface="Cambria Math" panose="02040503050406030204" pitchFamily="18" charset="0"/>
                            </a:rPr>
                            <m:t>𝑓𝑖𝑥</m:t>
                          </m:r>
                        </m:sub>
                      </m:sSub>
                    </m:oMath>
                  </m:oMathPara>
                </a14:m>
                <a:endParaRPr lang="en-US" dirty="0"/>
              </a:p>
              <a:p>
                <a:pPr marL="0" indent="0">
                  <a:buNone/>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a:rPr lang="en-AU" i="1">
                              <a:latin typeface="Cambria Math" panose="02040503050406030204" pitchFamily="18" charset="0"/>
                            </a:rPr>
                            <m:t>𝑉</m:t>
                          </m:r>
                        </m:e>
                        <m:sub>
                          <m:r>
                            <a:rPr lang="en-AU" i="1">
                              <a:latin typeface="Cambria Math" panose="02040503050406030204" pitchFamily="18" charset="0"/>
                            </a:rPr>
                            <m:t>𝑠𝑤𝑎𝑝</m:t>
                          </m:r>
                        </m:sub>
                      </m:sSub>
                      <m:r>
                        <a:rPr lang="en-AU" i="1">
                          <a:latin typeface="Cambria Math" panose="02040503050406030204" pitchFamily="18" charset="0"/>
                        </a:rPr>
                        <m:t>=</m:t>
                      </m:r>
                      <m:r>
                        <a:rPr lang="en-AU" b="0" i="1" smtClean="0">
                          <a:solidFill>
                            <a:srgbClr val="FF0000"/>
                          </a:solidFill>
                          <a:latin typeface="Cambria Math" panose="02040503050406030204" pitchFamily="18" charset="0"/>
                        </a:rPr>
                        <m:t>−</m:t>
                      </m:r>
                      <m:d>
                        <m:dPr>
                          <m:ctrlPr>
                            <a:rPr lang="en-AU" b="0" i="1" smtClean="0">
                              <a:latin typeface="Cambria Math" panose="02040503050406030204" pitchFamily="18" charset="0"/>
                            </a:rPr>
                          </m:ctrlPr>
                        </m:dPr>
                        <m:e>
                          <m:r>
                            <a:rPr lang="en-AU" i="1">
                              <a:latin typeface="Cambria Math" panose="02040503050406030204" pitchFamily="18" charset="0"/>
                            </a:rPr>
                            <m:t>102.718−100.609</m:t>
                          </m:r>
                        </m:e>
                      </m:d>
                      <m:r>
                        <a:rPr lang="en-AU" i="1">
                          <a:latin typeface="Cambria Math" panose="02040503050406030204" pitchFamily="18" charset="0"/>
                        </a:rPr>
                        <m:t>=</m:t>
                      </m:r>
                      <m:r>
                        <a:rPr lang="en-AU" b="0" i="1" smtClean="0">
                          <a:latin typeface="Cambria Math" panose="02040503050406030204" pitchFamily="18" charset="0"/>
                        </a:rPr>
                        <m:t>$−</m:t>
                      </m:r>
                      <m:r>
                        <a:rPr lang="en-AU" i="1">
                          <a:latin typeface="Cambria Math" panose="02040503050406030204" pitchFamily="18" charset="0"/>
                        </a:rPr>
                        <m:t>2.109</m:t>
                      </m:r>
                      <m:r>
                        <a:rPr lang="en-AU" b="0" i="1" smtClean="0">
                          <a:latin typeface="Cambria Math" panose="02040503050406030204" pitchFamily="18" charset="0"/>
                        </a:rPr>
                        <m:t>𝑚</m:t>
                      </m:r>
                    </m:oMath>
                  </m:oMathPara>
                </a14:m>
                <a:endParaRPr lang="en-US" dirty="0"/>
              </a:p>
            </p:txBody>
          </p:sp>
        </mc:Choice>
        <mc:Fallback xmlns="">
          <p:sp>
            <p:nvSpPr>
              <p:cNvPr id="3" name="Content Placeholder 2">
                <a:extLst>
                  <a:ext uri="{FF2B5EF4-FFF2-40B4-BE49-F238E27FC236}">
                    <a16:creationId xmlns:a16="http://schemas.microsoft.com/office/drawing/2014/main" id="{48584872-5315-211F-F6D8-171F50D29694}"/>
                  </a:ext>
                </a:extLst>
              </p:cNvPr>
              <p:cNvSpPr>
                <a:spLocks noGrp="1" noRot="1" noChangeAspect="1" noMove="1" noResize="1" noEditPoints="1" noAdjustHandles="1" noChangeArrowheads="1" noChangeShapeType="1" noTextEdit="1"/>
              </p:cNvSpPr>
              <p:nvPr>
                <p:ph idx="1"/>
              </p:nvPr>
            </p:nvSpPr>
            <p:spPr>
              <a:blipFill>
                <a:blip r:embed="rId2"/>
                <a:stretch>
                  <a:fillRect l="-1086" t="-2326"/>
                </a:stretch>
              </a:blipFill>
            </p:spPr>
            <p:txBody>
              <a:bodyPr/>
              <a:lstStyle/>
              <a:p>
                <a:r>
                  <a:rPr lang="en-US">
                    <a:noFill/>
                  </a:rPr>
                  <a:t> </a:t>
                </a:r>
              </a:p>
            </p:txBody>
          </p:sp>
        </mc:Fallback>
      </mc:AlternateContent>
      <p:sp>
        <p:nvSpPr>
          <p:cNvPr id="5" name="Date Placeholder 4">
            <a:extLst>
              <a:ext uri="{FF2B5EF4-FFF2-40B4-BE49-F238E27FC236}">
                <a16:creationId xmlns:a16="http://schemas.microsoft.com/office/drawing/2014/main" id="{9671DEB5-5035-851B-3213-7F5FFB9B9F14}"/>
              </a:ext>
            </a:extLst>
          </p:cNvPr>
          <p:cNvSpPr>
            <a:spLocks noGrp="1"/>
          </p:cNvSpPr>
          <p:nvPr>
            <p:ph type="dt" sz="half" idx="10"/>
          </p:nvPr>
        </p:nvSpPr>
        <p:spPr/>
        <p:txBody>
          <a:bodyPr/>
          <a:lstStyle/>
          <a:p>
            <a:fld id="{48729175-DB5E-1F4C-8610-941833ED9828}" type="datetime1">
              <a:rPr lang="en-AU" smtClean="0"/>
              <a:t>28/8/2026</a:t>
            </a:fld>
            <a:endParaRPr lang="en-US"/>
          </a:p>
        </p:txBody>
      </p:sp>
      <p:sp>
        <p:nvSpPr>
          <p:cNvPr id="6" name="Footer Placeholder 5">
            <a:extLst>
              <a:ext uri="{FF2B5EF4-FFF2-40B4-BE49-F238E27FC236}">
                <a16:creationId xmlns:a16="http://schemas.microsoft.com/office/drawing/2014/main" id="{133A8389-7EA6-5546-2381-49032251FDD3}"/>
              </a:ext>
            </a:extLst>
          </p:cNvPr>
          <p:cNvSpPr>
            <a:spLocks noGrp="1"/>
          </p:cNvSpPr>
          <p:nvPr>
            <p:ph type="ftr" sz="quarter" idx="11"/>
          </p:nvPr>
        </p:nvSpPr>
        <p:spPr/>
        <p:txBody>
          <a:bodyPr/>
          <a:lstStyle/>
          <a:p>
            <a:r>
              <a:rPr lang="en-US"/>
              <a:t>FINA2204 - Tutorial 5</a:t>
            </a:r>
          </a:p>
        </p:txBody>
      </p:sp>
      <p:sp>
        <p:nvSpPr>
          <p:cNvPr id="7" name="Slide Number Placeholder 6">
            <a:extLst>
              <a:ext uri="{FF2B5EF4-FFF2-40B4-BE49-F238E27FC236}">
                <a16:creationId xmlns:a16="http://schemas.microsoft.com/office/drawing/2014/main" id="{BD055B6C-DA86-71C3-D052-284DC98C90CB}"/>
              </a:ext>
            </a:extLst>
          </p:cNvPr>
          <p:cNvSpPr>
            <a:spLocks noGrp="1"/>
          </p:cNvSpPr>
          <p:nvPr>
            <p:ph type="sldNum" sz="quarter" idx="12"/>
          </p:nvPr>
        </p:nvSpPr>
        <p:spPr/>
        <p:txBody>
          <a:bodyPr/>
          <a:lstStyle/>
          <a:p>
            <a:fld id="{9855740F-6ECD-274F-B089-6B266B6B07F9}" type="slidenum">
              <a:rPr lang="en-US" smtClean="0"/>
              <a:t>38</a:t>
            </a:fld>
            <a:endParaRPr lang="en-US"/>
          </a:p>
        </p:txBody>
      </p:sp>
      <p:pic>
        <p:nvPicPr>
          <p:cNvPr id="8" name="Picture 7" descr="A black text on a white background&#10;&#10;AI-generated content may be incorrect.">
            <a:extLst>
              <a:ext uri="{FF2B5EF4-FFF2-40B4-BE49-F238E27FC236}">
                <a16:creationId xmlns:a16="http://schemas.microsoft.com/office/drawing/2014/main" id="{8859DCE5-BDD1-7198-7C67-B4B32962ECFD}"/>
              </a:ext>
            </a:extLst>
          </p:cNvPr>
          <p:cNvPicPr>
            <a:picLocks noChangeAspect="1"/>
          </p:cNvPicPr>
          <p:nvPr/>
        </p:nvPicPr>
        <p:blipFill>
          <a:blip r:embed="rId3"/>
          <a:stretch>
            <a:fillRect/>
          </a:stretch>
        </p:blipFill>
        <p:spPr>
          <a:xfrm>
            <a:off x="4038600" y="2312857"/>
            <a:ext cx="4124447" cy="918469"/>
          </a:xfrm>
          <a:prstGeom prst="rect">
            <a:avLst/>
          </a:prstGeom>
        </p:spPr>
      </p:pic>
    </p:spTree>
    <p:extLst>
      <p:ext uri="{BB962C8B-B14F-4D97-AF65-F5344CB8AC3E}">
        <p14:creationId xmlns:p14="http://schemas.microsoft.com/office/powerpoint/2010/main" val="396011402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C64B81-C2C9-D7B2-2387-87BBE4545D15}"/>
              </a:ext>
            </a:extLst>
          </p:cNvPr>
          <p:cNvSpPr>
            <a:spLocks noGrp="1"/>
          </p:cNvSpPr>
          <p:nvPr>
            <p:ph type="title"/>
          </p:nvPr>
        </p:nvSpPr>
        <p:spPr/>
        <p:txBody>
          <a:bodyPr/>
          <a:lstStyle/>
          <a:p>
            <a:r>
              <a:rPr lang="en-US" dirty="0"/>
              <a:t>Problem 7.23</a:t>
            </a:r>
          </a:p>
        </p:txBody>
      </p:sp>
      <p:sp>
        <p:nvSpPr>
          <p:cNvPr id="3" name="Content Placeholder 2">
            <a:extLst>
              <a:ext uri="{FF2B5EF4-FFF2-40B4-BE49-F238E27FC236}">
                <a16:creationId xmlns:a16="http://schemas.microsoft.com/office/drawing/2014/main" id="{1F2DA39D-F15C-BDAB-684A-1275D11822E8}"/>
              </a:ext>
            </a:extLst>
          </p:cNvPr>
          <p:cNvSpPr>
            <a:spLocks noGrp="1"/>
          </p:cNvSpPr>
          <p:nvPr>
            <p:ph idx="1"/>
          </p:nvPr>
        </p:nvSpPr>
        <p:spPr/>
        <p:txBody>
          <a:bodyPr>
            <a:normAutofit/>
          </a:bodyPr>
          <a:lstStyle/>
          <a:p>
            <a:r>
              <a:rPr lang="en-AU" i="1" dirty="0"/>
              <a:t>In an interest rate swap, a financial institution pays 10% per annum and</a:t>
            </a:r>
            <a:r>
              <a:rPr lang="en-AU" dirty="0"/>
              <a:t> </a:t>
            </a:r>
            <a:r>
              <a:rPr lang="en-AU" i="1" dirty="0"/>
              <a:t>receives three-month BBSW in return on a notional principal of $100</a:t>
            </a:r>
            <a:r>
              <a:rPr lang="en-AU" dirty="0"/>
              <a:t> </a:t>
            </a:r>
            <a:r>
              <a:rPr lang="en-AU" i="1" dirty="0"/>
              <a:t>million with payments being exchanged every three months. The swap</a:t>
            </a:r>
            <a:r>
              <a:rPr lang="en-AU" dirty="0"/>
              <a:t> </a:t>
            </a:r>
            <a:r>
              <a:rPr lang="en-AU" i="1" dirty="0"/>
              <a:t>has a remaining life of 14 months. The average of the bid and offer fixed</a:t>
            </a:r>
            <a:r>
              <a:rPr lang="en-AU" dirty="0"/>
              <a:t> </a:t>
            </a:r>
            <a:r>
              <a:rPr lang="en-AU" i="1" dirty="0"/>
              <a:t>rates currently being swapped for three-month BBSW is 12% per annum for all maturities. The three-month BBSW rate one month ago was 11.8%</a:t>
            </a:r>
            <a:r>
              <a:rPr lang="en-AU" dirty="0"/>
              <a:t> </a:t>
            </a:r>
            <a:r>
              <a:rPr lang="en-AU" i="1" dirty="0"/>
              <a:t>per annum. All rates are compounded quarterly. </a:t>
            </a:r>
          </a:p>
          <a:p>
            <a:r>
              <a:rPr lang="en-AU" i="1" dirty="0"/>
              <a:t>What is the value of the</a:t>
            </a:r>
            <a:r>
              <a:rPr lang="en-AU" dirty="0"/>
              <a:t> </a:t>
            </a:r>
            <a:r>
              <a:rPr lang="en-AU" i="1" dirty="0"/>
              <a:t>swap?</a:t>
            </a:r>
            <a:endParaRPr lang="en-AU" dirty="0"/>
          </a:p>
          <a:p>
            <a:endParaRPr lang="en-US" dirty="0"/>
          </a:p>
        </p:txBody>
      </p:sp>
      <p:cxnSp>
        <p:nvCxnSpPr>
          <p:cNvPr id="7" name="Straight Connector 6">
            <a:extLst>
              <a:ext uri="{FF2B5EF4-FFF2-40B4-BE49-F238E27FC236}">
                <a16:creationId xmlns:a16="http://schemas.microsoft.com/office/drawing/2014/main" id="{D6F25B45-9D35-7F3E-29F2-BB65E181C6FF}"/>
              </a:ext>
            </a:extLst>
          </p:cNvPr>
          <p:cNvCxnSpPr>
            <a:cxnSpLocks/>
          </p:cNvCxnSpPr>
          <p:nvPr/>
        </p:nvCxnSpPr>
        <p:spPr>
          <a:xfrm>
            <a:off x="9927547" y="4599270"/>
            <a:ext cx="1138243" cy="0"/>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DC2CAC3F-A271-9A30-B5EA-3ABDA9FE6A9E}"/>
              </a:ext>
            </a:extLst>
          </p:cNvPr>
          <p:cNvCxnSpPr>
            <a:cxnSpLocks/>
          </p:cNvCxnSpPr>
          <p:nvPr/>
        </p:nvCxnSpPr>
        <p:spPr>
          <a:xfrm>
            <a:off x="1226916" y="4988688"/>
            <a:ext cx="3887525" cy="0"/>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12" name="Date Placeholder 11">
            <a:extLst>
              <a:ext uri="{FF2B5EF4-FFF2-40B4-BE49-F238E27FC236}">
                <a16:creationId xmlns:a16="http://schemas.microsoft.com/office/drawing/2014/main" id="{B35640D1-FD30-CEA0-BD95-F141DBC8788B}"/>
              </a:ext>
            </a:extLst>
          </p:cNvPr>
          <p:cNvSpPr>
            <a:spLocks noGrp="1"/>
          </p:cNvSpPr>
          <p:nvPr>
            <p:ph type="dt" sz="half" idx="10"/>
          </p:nvPr>
        </p:nvSpPr>
        <p:spPr/>
        <p:txBody>
          <a:bodyPr/>
          <a:lstStyle/>
          <a:p>
            <a:fld id="{3DC844CD-D7B9-174A-AC9A-2E246D331868}" type="datetime1">
              <a:rPr lang="en-AU" smtClean="0"/>
              <a:t>28/8/2026</a:t>
            </a:fld>
            <a:endParaRPr lang="en-US"/>
          </a:p>
        </p:txBody>
      </p:sp>
      <p:sp>
        <p:nvSpPr>
          <p:cNvPr id="13" name="Footer Placeholder 12">
            <a:extLst>
              <a:ext uri="{FF2B5EF4-FFF2-40B4-BE49-F238E27FC236}">
                <a16:creationId xmlns:a16="http://schemas.microsoft.com/office/drawing/2014/main" id="{AC80094C-A1A0-12E0-3ACF-CD1D567ED733}"/>
              </a:ext>
            </a:extLst>
          </p:cNvPr>
          <p:cNvSpPr>
            <a:spLocks noGrp="1"/>
          </p:cNvSpPr>
          <p:nvPr>
            <p:ph type="ftr" sz="quarter" idx="11"/>
          </p:nvPr>
        </p:nvSpPr>
        <p:spPr/>
        <p:txBody>
          <a:bodyPr/>
          <a:lstStyle/>
          <a:p>
            <a:r>
              <a:rPr lang="en-US"/>
              <a:t>FINA2204 - Tutorial 5</a:t>
            </a:r>
          </a:p>
        </p:txBody>
      </p:sp>
      <p:sp>
        <p:nvSpPr>
          <p:cNvPr id="14" name="Slide Number Placeholder 13">
            <a:extLst>
              <a:ext uri="{FF2B5EF4-FFF2-40B4-BE49-F238E27FC236}">
                <a16:creationId xmlns:a16="http://schemas.microsoft.com/office/drawing/2014/main" id="{EBB4BCBB-2BC9-0CC9-5E28-D76562BBBD41}"/>
              </a:ext>
            </a:extLst>
          </p:cNvPr>
          <p:cNvSpPr>
            <a:spLocks noGrp="1"/>
          </p:cNvSpPr>
          <p:nvPr>
            <p:ph type="sldNum" sz="quarter" idx="12"/>
          </p:nvPr>
        </p:nvSpPr>
        <p:spPr/>
        <p:txBody>
          <a:bodyPr/>
          <a:lstStyle/>
          <a:p>
            <a:fld id="{9855740F-6ECD-274F-B089-6B266B6B07F9}" type="slidenum">
              <a:rPr lang="en-US" smtClean="0"/>
              <a:t>39</a:t>
            </a:fld>
            <a:endParaRPr lang="en-US"/>
          </a:p>
        </p:txBody>
      </p:sp>
      <p:cxnSp>
        <p:nvCxnSpPr>
          <p:cNvPr id="5" name="Straight Connector 4">
            <a:extLst>
              <a:ext uri="{FF2B5EF4-FFF2-40B4-BE49-F238E27FC236}">
                <a16:creationId xmlns:a16="http://schemas.microsoft.com/office/drawing/2014/main" id="{9D5130B5-B90A-B740-0309-F02DEF1BAC40}"/>
              </a:ext>
            </a:extLst>
          </p:cNvPr>
          <p:cNvCxnSpPr/>
          <p:nvPr/>
        </p:nvCxnSpPr>
        <p:spPr>
          <a:xfrm>
            <a:off x="4308529" y="2619213"/>
            <a:ext cx="3006671" cy="0"/>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5420380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107BCC-469B-9E25-3EFB-7CD3488ADD4A}"/>
              </a:ext>
            </a:extLst>
          </p:cNvPr>
          <p:cNvSpPr>
            <a:spLocks noGrp="1"/>
          </p:cNvSpPr>
          <p:nvPr>
            <p:ph type="title"/>
          </p:nvPr>
        </p:nvSpPr>
        <p:spPr/>
        <p:txBody>
          <a:bodyPr/>
          <a:lstStyle/>
          <a:p>
            <a:r>
              <a:rPr lang="en-US" dirty="0"/>
              <a:t>Answer 7.23</a:t>
            </a:r>
          </a:p>
        </p:txBody>
      </p:sp>
      <p:sp>
        <p:nvSpPr>
          <p:cNvPr id="3" name="Content Placeholder 2">
            <a:extLst>
              <a:ext uri="{FF2B5EF4-FFF2-40B4-BE49-F238E27FC236}">
                <a16:creationId xmlns:a16="http://schemas.microsoft.com/office/drawing/2014/main" id="{C39339DF-AB96-5CEA-564D-F938CA3D7261}"/>
              </a:ext>
            </a:extLst>
          </p:cNvPr>
          <p:cNvSpPr>
            <a:spLocks noGrp="1"/>
          </p:cNvSpPr>
          <p:nvPr>
            <p:ph idx="1"/>
          </p:nvPr>
        </p:nvSpPr>
        <p:spPr/>
        <p:txBody>
          <a:bodyPr/>
          <a:lstStyle/>
          <a:p>
            <a:pPr marL="0" indent="0">
              <a:buNone/>
            </a:pPr>
            <a:r>
              <a:rPr lang="en-US" b="1" dirty="0"/>
              <a:t>Setup</a:t>
            </a:r>
          </a:p>
          <a:p>
            <a:r>
              <a:rPr lang="en-US" dirty="0"/>
              <a:t>Notional: $100m</a:t>
            </a:r>
          </a:p>
          <a:p>
            <a:r>
              <a:rPr lang="en-US" dirty="0"/>
              <a:t>Fixed (10%</a:t>
            </a:r>
            <a:r>
              <a:rPr lang="en-AU" dirty="0"/>
              <a:t>)</a:t>
            </a:r>
            <a:r>
              <a:rPr lang="en-US" dirty="0"/>
              <a:t> &gt;&gt; Floating (three-month BBSW)</a:t>
            </a:r>
          </a:p>
          <a:p>
            <a:r>
              <a:rPr lang="en-AU" dirty="0"/>
              <a:t>Last</a:t>
            </a:r>
            <a:r>
              <a:rPr lang="zh-CN" altLang="en-US" dirty="0"/>
              <a:t> </a:t>
            </a:r>
            <a:r>
              <a:rPr lang="en-US" altLang="zh-CN" dirty="0"/>
              <a:t>BBSW reset rate (1 month ago)</a:t>
            </a:r>
            <a:r>
              <a:rPr lang="en-AU" dirty="0"/>
              <a:t>: 11.8%</a:t>
            </a:r>
          </a:p>
          <a:p>
            <a:r>
              <a:rPr lang="en-US" dirty="0"/>
              <a:t>Discount rate: </a:t>
            </a:r>
            <a:r>
              <a:rPr lang="en-AU" dirty="0"/>
              <a:t>12%</a:t>
            </a:r>
            <a:r>
              <a:rPr lang="en-AU" b="1" dirty="0">
                <a:solidFill>
                  <a:srgbClr val="FF0000"/>
                </a:solidFill>
              </a:rPr>
              <a:t> </a:t>
            </a:r>
            <a:r>
              <a:rPr lang="en-AU" dirty="0">
                <a:solidFill>
                  <a:srgbClr val="FF0000"/>
                </a:solidFill>
              </a:rPr>
              <a:t>(quarterly compounded!)</a:t>
            </a:r>
          </a:p>
          <a:p>
            <a:r>
              <a:rPr lang="en-AU" dirty="0"/>
              <a:t>Remaining life: 14 months</a:t>
            </a:r>
          </a:p>
          <a:p>
            <a:r>
              <a:rPr lang="en-US" dirty="0"/>
              <a:t>Payment dates: month 14, month (14-3), month (14-3-3), month (14-3-3-3), month (14-3-3-3-3).</a:t>
            </a:r>
            <a:endParaRPr lang="en-AU" b="1" dirty="0">
              <a:solidFill>
                <a:srgbClr val="FF0000"/>
              </a:solidFill>
            </a:endParaRPr>
          </a:p>
          <a:p>
            <a:endParaRPr lang="en-US" dirty="0"/>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46A0F7C9-1DE8-E1F2-2184-956E0BBA9B3E}"/>
                  </a:ext>
                </a:extLst>
              </p:cNvPr>
              <p:cNvSpPr txBox="1"/>
              <p:nvPr/>
            </p:nvSpPr>
            <p:spPr>
              <a:xfrm>
                <a:off x="7743463" y="3816628"/>
                <a:ext cx="3342190" cy="63478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AU" b="0" i="1" smtClean="0">
                          <a:latin typeface="Cambria Math" panose="02040503050406030204" pitchFamily="18" charset="0"/>
                          <a:ea typeface="Cambria Math" panose="02040503050406030204" pitchFamily="18" charset="0"/>
                        </a:rPr>
                        <m:t>→</m:t>
                      </m:r>
                      <m:r>
                        <a:rPr lang="en-AU" b="0" i="1" smtClean="0">
                          <a:latin typeface="Cambria Math" panose="02040503050406030204" pitchFamily="18" charset="0"/>
                        </a:rPr>
                        <m:t>𝑃𝑉</m:t>
                      </m:r>
                      <m:r>
                        <a:rPr lang="en-AU" b="0" i="1" smtClean="0">
                          <a:latin typeface="Cambria Math" panose="02040503050406030204" pitchFamily="18" charset="0"/>
                        </a:rPr>
                        <m:t>=</m:t>
                      </m:r>
                      <m:r>
                        <a:rPr lang="en-AU" b="0" i="1" smtClean="0">
                          <a:latin typeface="Cambria Math" panose="02040503050406030204" pitchFamily="18" charset="0"/>
                        </a:rPr>
                        <m:t>𝐹𝑉</m:t>
                      </m:r>
                      <m:r>
                        <a:rPr lang="en-AU" b="0" i="1" smtClean="0">
                          <a:solidFill>
                            <a:srgbClr val="7030A0"/>
                          </a:solidFill>
                          <a:latin typeface="Cambria Math" panose="02040503050406030204" pitchFamily="18" charset="0"/>
                        </a:rPr>
                        <m:t>(1+</m:t>
                      </m:r>
                      <m:f>
                        <m:fPr>
                          <m:ctrlPr>
                            <a:rPr lang="en-AU" b="0" i="1" smtClean="0">
                              <a:solidFill>
                                <a:srgbClr val="7030A0"/>
                              </a:solidFill>
                              <a:latin typeface="Cambria Math" panose="02040503050406030204" pitchFamily="18" charset="0"/>
                            </a:rPr>
                          </m:ctrlPr>
                        </m:fPr>
                        <m:num>
                          <m:r>
                            <a:rPr lang="en-AU" b="0" i="1" smtClean="0">
                              <a:solidFill>
                                <a:srgbClr val="7030A0"/>
                              </a:solidFill>
                              <a:latin typeface="Cambria Math" panose="02040503050406030204" pitchFamily="18" charset="0"/>
                            </a:rPr>
                            <m:t>12%</m:t>
                          </m:r>
                        </m:num>
                        <m:den>
                          <m:r>
                            <a:rPr lang="en-AU" b="0" i="1" smtClean="0">
                              <a:solidFill>
                                <a:srgbClr val="7030A0"/>
                              </a:solidFill>
                              <a:latin typeface="Cambria Math" panose="02040503050406030204" pitchFamily="18" charset="0"/>
                            </a:rPr>
                            <m:t>4</m:t>
                          </m:r>
                        </m:den>
                      </m:f>
                      <m:sSup>
                        <m:sSupPr>
                          <m:ctrlPr>
                            <a:rPr lang="en-AU" b="0" i="1" smtClean="0">
                              <a:solidFill>
                                <a:srgbClr val="7030A0"/>
                              </a:solidFill>
                              <a:latin typeface="Cambria Math" panose="02040503050406030204" pitchFamily="18" charset="0"/>
                            </a:rPr>
                          </m:ctrlPr>
                        </m:sSupPr>
                        <m:e>
                          <m:r>
                            <a:rPr lang="en-AU" b="0" i="1" smtClean="0">
                              <a:solidFill>
                                <a:srgbClr val="7030A0"/>
                              </a:solidFill>
                              <a:latin typeface="Cambria Math" panose="02040503050406030204" pitchFamily="18" charset="0"/>
                            </a:rPr>
                            <m:t>)</m:t>
                          </m:r>
                        </m:e>
                        <m:sup>
                          <m:r>
                            <a:rPr lang="en-AU" b="0" i="1" smtClean="0">
                              <a:solidFill>
                                <a:srgbClr val="7030A0"/>
                              </a:solidFill>
                              <a:latin typeface="Cambria Math" panose="02040503050406030204" pitchFamily="18" charset="0"/>
                            </a:rPr>
                            <m:t>−4</m:t>
                          </m:r>
                          <m:r>
                            <a:rPr lang="en-AU" b="0" i="1" smtClean="0">
                              <a:solidFill>
                                <a:srgbClr val="7030A0"/>
                              </a:solidFill>
                              <a:latin typeface="Cambria Math" panose="02040503050406030204" pitchFamily="18" charset="0"/>
                            </a:rPr>
                            <m:t>𝑇</m:t>
                          </m:r>
                        </m:sup>
                      </m:sSup>
                    </m:oMath>
                  </m:oMathPara>
                </a14:m>
                <a:endParaRPr lang="en-US" dirty="0"/>
              </a:p>
            </p:txBody>
          </p:sp>
        </mc:Choice>
        <mc:Fallback xmlns="">
          <p:sp>
            <p:nvSpPr>
              <p:cNvPr id="5" name="TextBox 4">
                <a:extLst>
                  <a:ext uri="{FF2B5EF4-FFF2-40B4-BE49-F238E27FC236}">
                    <a16:creationId xmlns:a16="http://schemas.microsoft.com/office/drawing/2014/main" id="{46A0F7C9-1DE8-E1F2-2184-956E0BBA9B3E}"/>
                  </a:ext>
                </a:extLst>
              </p:cNvPr>
              <p:cNvSpPr txBox="1">
                <a:spLocks noRot="1" noChangeAspect="1" noMove="1" noResize="1" noEditPoints="1" noAdjustHandles="1" noChangeArrowheads="1" noChangeShapeType="1" noTextEdit="1"/>
              </p:cNvSpPr>
              <p:nvPr/>
            </p:nvSpPr>
            <p:spPr>
              <a:xfrm>
                <a:off x="7743463" y="3816628"/>
                <a:ext cx="3342190" cy="634789"/>
              </a:xfrm>
              <a:prstGeom prst="rect">
                <a:avLst/>
              </a:prstGeom>
              <a:blipFill>
                <a:blip r:embed="rId3"/>
                <a:stretch>
                  <a:fillRect/>
                </a:stretch>
              </a:blipFill>
            </p:spPr>
            <p:txBody>
              <a:bodyPr/>
              <a:lstStyle/>
              <a:p>
                <a:r>
                  <a:rPr lang="en-US">
                    <a:noFill/>
                  </a:rPr>
                  <a:t> </a:t>
                </a:r>
              </a:p>
            </p:txBody>
          </p:sp>
        </mc:Fallback>
      </mc:AlternateContent>
      <p:sp>
        <p:nvSpPr>
          <p:cNvPr id="6" name="Oval 5">
            <a:extLst>
              <a:ext uri="{FF2B5EF4-FFF2-40B4-BE49-F238E27FC236}">
                <a16:creationId xmlns:a16="http://schemas.microsoft.com/office/drawing/2014/main" id="{C6C26A43-61A2-1AC8-9395-2F0BD8793B91}"/>
              </a:ext>
            </a:extLst>
          </p:cNvPr>
          <p:cNvSpPr/>
          <p:nvPr/>
        </p:nvSpPr>
        <p:spPr>
          <a:xfrm>
            <a:off x="9363919" y="3816628"/>
            <a:ext cx="1388962" cy="566694"/>
          </a:xfrm>
          <a:prstGeom prst="ellipse">
            <a:avLst/>
          </a:prstGeom>
          <a:no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8" name="Straight Connector 7">
            <a:extLst>
              <a:ext uri="{FF2B5EF4-FFF2-40B4-BE49-F238E27FC236}">
                <a16:creationId xmlns:a16="http://schemas.microsoft.com/office/drawing/2014/main" id="{CD504CF0-E552-8133-89CF-22C7386557A0}"/>
              </a:ext>
            </a:extLst>
          </p:cNvPr>
          <p:cNvCxnSpPr/>
          <p:nvPr/>
        </p:nvCxnSpPr>
        <p:spPr>
          <a:xfrm flipH="1" flipV="1">
            <a:off x="9745883" y="3331557"/>
            <a:ext cx="370390" cy="350134"/>
          </a:xfrm>
          <a:prstGeom prst="line">
            <a:avLst/>
          </a:prstGeom>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F162C0C3-F76E-A865-9A92-8CD241B75141}"/>
              </a:ext>
            </a:extLst>
          </p:cNvPr>
          <p:cNvSpPr txBox="1"/>
          <p:nvPr/>
        </p:nvSpPr>
        <p:spPr>
          <a:xfrm>
            <a:off x="8184941" y="2915379"/>
            <a:ext cx="4007059" cy="338554"/>
          </a:xfrm>
          <a:prstGeom prst="rect">
            <a:avLst/>
          </a:prstGeom>
          <a:noFill/>
        </p:spPr>
        <p:txBody>
          <a:bodyPr wrap="none" rtlCol="0">
            <a:spAutoFit/>
          </a:bodyPr>
          <a:lstStyle/>
          <a:p>
            <a:r>
              <a:rPr lang="en-US" sz="1600" dirty="0">
                <a:solidFill>
                  <a:srgbClr val="0070C0"/>
                </a:solidFill>
              </a:rPr>
              <a:t>Discount factor with discrete compounding</a:t>
            </a:r>
          </a:p>
        </p:txBody>
      </p:sp>
      <p:sp>
        <p:nvSpPr>
          <p:cNvPr id="10" name="Date Placeholder 9">
            <a:extLst>
              <a:ext uri="{FF2B5EF4-FFF2-40B4-BE49-F238E27FC236}">
                <a16:creationId xmlns:a16="http://schemas.microsoft.com/office/drawing/2014/main" id="{B20B6A98-AAFA-A9FB-5FE6-3C72CA15BB60}"/>
              </a:ext>
            </a:extLst>
          </p:cNvPr>
          <p:cNvSpPr>
            <a:spLocks noGrp="1"/>
          </p:cNvSpPr>
          <p:nvPr>
            <p:ph type="dt" sz="half" idx="10"/>
          </p:nvPr>
        </p:nvSpPr>
        <p:spPr/>
        <p:txBody>
          <a:bodyPr/>
          <a:lstStyle/>
          <a:p>
            <a:fld id="{8A97B962-5AF5-3F45-92AF-F12B6513E12B}" type="datetime1">
              <a:rPr lang="en-AU" smtClean="0"/>
              <a:t>28/8/2026</a:t>
            </a:fld>
            <a:endParaRPr lang="en-US"/>
          </a:p>
        </p:txBody>
      </p:sp>
      <p:sp>
        <p:nvSpPr>
          <p:cNvPr id="11" name="Footer Placeholder 10">
            <a:extLst>
              <a:ext uri="{FF2B5EF4-FFF2-40B4-BE49-F238E27FC236}">
                <a16:creationId xmlns:a16="http://schemas.microsoft.com/office/drawing/2014/main" id="{2DB01EF2-C6A0-C2CB-04B2-81A946EFA8B5}"/>
              </a:ext>
            </a:extLst>
          </p:cNvPr>
          <p:cNvSpPr>
            <a:spLocks noGrp="1"/>
          </p:cNvSpPr>
          <p:nvPr>
            <p:ph type="ftr" sz="quarter" idx="11"/>
          </p:nvPr>
        </p:nvSpPr>
        <p:spPr/>
        <p:txBody>
          <a:bodyPr/>
          <a:lstStyle/>
          <a:p>
            <a:r>
              <a:rPr lang="en-US"/>
              <a:t>FINA2204 - Tutorial 5</a:t>
            </a:r>
          </a:p>
        </p:txBody>
      </p:sp>
      <p:sp>
        <p:nvSpPr>
          <p:cNvPr id="12" name="Slide Number Placeholder 11">
            <a:extLst>
              <a:ext uri="{FF2B5EF4-FFF2-40B4-BE49-F238E27FC236}">
                <a16:creationId xmlns:a16="http://schemas.microsoft.com/office/drawing/2014/main" id="{BFF2D39F-D70C-A907-664C-CBFC59FC0F56}"/>
              </a:ext>
            </a:extLst>
          </p:cNvPr>
          <p:cNvSpPr>
            <a:spLocks noGrp="1"/>
          </p:cNvSpPr>
          <p:nvPr>
            <p:ph type="sldNum" sz="quarter" idx="12"/>
          </p:nvPr>
        </p:nvSpPr>
        <p:spPr/>
        <p:txBody>
          <a:bodyPr/>
          <a:lstStyle/>
          <a:p>
            <a:fld id="{9855740F-6ECD-274F-B089-6B266B6B07F9}" type="slidenum">
              <a:rPr lang="en-US" smtClean="0"/>
              <a:t>40</a:t>
            </a:fld>
            <a:endParaRPr lang="en-US"/>
          </a:p>
        </p:txBody>
      </p:sp>
    </p:spTree>
    <p:extLst>
      <p:ext uri="{BB962C8B-B14F-4D97-AF65-F5344CB8AC3E}">
        <p14:creationId xmlns:p14="http://schemas.microsoft.com/office/powerpoint/2010/main" val="3250094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9"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63E42A-3276-CD7D-0C80-689095E88804}"/>
              </a:ext>
            </a:extLst>
          </p:cNvPr>
          <p:cNvSpPr>
            <a:spLocks noGrp="1"/>
          </p:cNvSpPr>
          <p:nvPr>
            <p:ph type="title"/>
          </p:nvPr>
        </p:nvSpPr>
        <p:spPr/>
        <p:txBody>
          <a:bodyPr/>
          <a:lstStyle/>
          <a:p>
            <a:endParaRPr lang="en-US"/>
          </a:p>
        </p:txBody>
      </p:sp>
      <mc:AlternateContent xmlns:mc="http://schemas.openxmlformats.org/markup-compatibility/2006" xmlns:a14="http://schemas.microsoft.com/office/drawing/2010/main">
        <mc:Choice Requires="a14">
          <p:graphicFrame>
            <p:nvGraphicFramePr>
              <p:cNvPr id="4" name="Table 3">
                <a:extLst>
                  <a:ext uri="{FF2B5EF4-FFF2-40B4-BE49-F238E27FC236}">
                    <a16:creationId xmlns:a16="http://schemas.microsoft.com/office/drawing/2014/main" id="{79F2819B-3BA1-A383-EA9F-235B7A190FC4}"/>
                  </a:ext>
                </a:extLst>
              </p:cNvPr>
              <p:cNvGraphicFramePr>
                <a:graphicFrameLocks noGrp="1"/>
              </p:cNvGraphicFramePr>
              <p:nvPr>
                <p:extLst>
                  <p:ext uri="{D42A27DB-BD31-4B8C-83A1-F6EECF244321}">
                    <p14:modId xmlns:p14="http://schemas.microsoft.com/office/powerpoint/2010/main" val="3573623331"/>
                  </p:ext>
                </p:extLst>
              </p:nvPr>
            </p:nvGraphicFramePr>
            <p:xfrm>
              <a:off x="107065" y="220182"/>
              <a:ext cx="11977873" cy="5282325"/>
            </p:xfrm>
            <a:graphic>
              <a:graphicData uri="http://schemas.openxmlformats.org/drawingml/2006/table">
                <a:tbl>
                  <a:tblPr firstRow="1" bandRow="1">
                    <a:tableStyleId>{5C22544A-7EE6-4342-B048-85BDC9FD1C3A}</a:tableStyleId>
                  </a:tblPr>
                  <a:tblGrid>
                    <a:gridCol w="1172693">
                      <a:extLst>
                        <a:ext uri="{9D8B030D-6E8A-4147-A177-3AD203B41FA5}">
                          <a16:colId xmlns:a16="http://schemas.microsoft.com/office/drawing/2014/main" val="1902593901"/>
                        </a:ext>
                      </a:extLst>
                    </a:gridCol>
                    <a:gridCol w="2161036">
                      <a:extLst>
                        <a:ext uri="{9D8B030D-6E8A-4147-A177-3AD203B41FA5}">
                          <a16:colId xmlns:a16="http://schemas.microsoft.com/office/drawing/2014/main" val="3932323135"/>
                        </a:ext>
                      </a:extLst>
                    </a:gridCol>
                    <a:gridCol w="2161036">
                      <a:extLst>
                        <a:ext uri="{9D8B030D-6E8A-4147-A177-3AD203B41FA5}">
                          <a16:colId xmlns:a16="http://schemas.microsoft.com/office/drawing/2014/main" val="3470556675"/>
                        </a:ext>
                      </a:extLst>
                    </a:gridCol>
                    <a:gridCol w="2161036">
                      <a:extLst>
                        <a:ext uri="{9D8B030D-6E8A-4147-A177-3AD203B41FA5}">
                          <a16:colId xmlns:a16="http://schemas.microsoft.com/office/drawing/2014/main" val="3707822957"/>
                        </a:ext>
                      </a:extLst>
                    </a:gridCol>
                    <a:gridCol w="2161036">
                      <a:extLst>
                        <a:ext uri="{9D8B030D-6E8A-4147-A177-3AD203B41FA5}">
                          <a16:colId xmlns:a16="http://schemas.microsoft.com/office/drawing/2014/main" val="3119402058"/>
                        </a:ext>
                      </a:extLst>
                    </a:gridCol>
                    <a:gridCol w="2161036">
                      <a:extLst>
                        <a:ext uri="{9D8B030D-6E8A-4147-A177-3AD203B41FA5}">
                          <a16:colId xmlns:a16="http://schemas.microsoft.com/office/drawing/2014/main" val="1766958485"/>
                        </a:ext>
                      </a:extLst>
                    </a:gridCol>
                  </a:tblGrid>
                  <a:tr h="661182">
                    <a:tc>
                      <a:txBody>
                        <a:bodyPr/>
                        <a:lstStyle/>
                        <a:p>
                          <a:r>
                            <a:rPr lang="en-US" dirty="0"/>
                            <a:t>Time</a:t>
                          </a:r>
                        </a:p>
                      </a:txBody>
                      <a:tcPr/>
                    </a:tc>
                    <a:tc>
                      <a:txBody>
                        <a:bodyPr/>
                        <a:lstStyle/>
                        <a:p>
                          <a:pPr/>
                          <a14:m>
                            <m:oMathPara xmlns:m="http://schemas.openxmlformats.org/officeDocument/2006/math">
                              <m:oMathParaPr>
                                <m:jc m:val="centerGroup"/>
                              </m:oMathParaPr>
                              <m:oMath xmlns:m="http://schemas.openxmlformats.org/officeDocument/2006/math">
                                <m:sSub>
                                  <m:sSubPr>
                                    <m:ctrlPr>
                                      <a:rPr lang="en-AU" i="1" smtClean="0">
                                        <a:latin typeface="Cambria Math" panose="02040503050406030204" pitchFamily="18" charset="0"/>
                                      </a:rPr>
                                    </m:ctrlPr>
                                  </m:sSubPr>
                                  <m:e>
                                    <m:r>
                                      <a:rPr lang="en-AU" i="1">
                                        <a:latin typeface="Cambria Math" panose="02040503050406030204" pitchFamily="18" charset="0"/>
                                      </a:rPr>
                                      <m:t>𝐵</m:t>
                                    </m:r>
                                  </m:e>
                                  <m:sub>
                                    <m:r>
                                      <a:rPr lang="en-AU" i="1">
                                        <a:latin typeface="Cambria Math" panose="02040503050406030204" pitchFamily="18" charset="0"/>
                                      </a:rPr>
                                      <m:t>𝑓</m:t>
                                    </m:r>
                                    <m:r>
                                      <a:rPr lang="en-AU" b="0" i="1" smtClean="0">
                                        <a:latin typeface="Cambria Math" panose="02040503050406030204" pitchFamily="18" charset="0"/>
                                      </a:rPr>
                                      <m:t>𝑖𝑥</m:t>
                                    </m:r>
                                  </m:sub>
                                </m:sSub>
                                <m:r>
                                  <a:rPr lang="en-AU" b="1" i="0" smtClean="0">
                                    <a:latin typeface="Cambria Math" panose="02040503050406030204" pitchFamily="18" charset="0"/>
                                  </a:rPr>
                                  <m:t> </m:t>
                                </m:r>
                                <m:r>
                                  <a:rPr lang="en-AU" b="1" i="1" smtClean="0">
                                    <a:latin typeface="Cambria Math" panose="02040503050406030204" pitchFamily="18" charset="0"/>
                                  </a:rPr>
                                  <m:t>𝒄𝒂𝒔𝒉</m:t>
                                </m:r>
                                <m:r>
                                  <a:rPr lang="en-AU" b="1" i="1" smtClean="0">
                                    <a:latin typeface="Cambria Math" panose="02040503050406030204" pitchFamily="18" charset="0"/>
                                  </a:rPr>
                                  <m:t> </m:t>
                                </m:r>
                                <m:r>
                                  <a:rPr lang="en-AU" b="1" i="1" smtClean="0">
                                    <a:latin typeface="Cambria Math" panose="02040503050406030204" pitchFamily="18" charset="0"/>
                                  </a:rPr>
                                  <m:t>𝒇𝒍𝒐𝒘</m:t>
                                </m:r>
                              </m:oMath>
                            </m:oMathPara>
                          </a14:m>
                          <a:endParaRPr lang="en-US" dirty="0"/>
                        </a:p>
                        <a:p>
                          <a:r>
                            <a:rPr lang="en-US" dirty="0"/>
                            <a:t>(1)</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AU" i="1" smtClean="0">
                                        <a:latin typeface="Cambria Math" panose="02040503050406030204" pitchFamily="18" charset="0"/>
                                      </a:rPr>
                                    </m:ctrlPr>
                                  </m:sSubPr>
                                  <m:e>
                                    <m:r>
                                      <a:rPr lang="en-AU" i="1">
                                        <a:latin typeface="Cambria Math" panose="02040503050406030204" pitchFamily="18" charset="0"/>
                                      </a:rPr>
                                      <m:t>𝐵</m:t>
                                    </m:r>
                                  </m:e>
                                  <m:sub>
                                    <m:r>
                                      <a:rPr lang="en-AU" i="1">
                                        <a:latin typeface="Cambria Math" panose="02040503050406030204" pitchFamily="18" charset="0"/>
                                      </a:rPr>
                                      <m:t>𝑓</m:t>
                                    </m:r>
                                    <m:r>
                                      <a:rPr lang="en-AU" b="0" i="1" smtClean="0">
                                        <a:latin typeface="Cambria Math" panose="02040503050406030204" pitchFamily="18" charset="0"/>
                                      </a:rPr>
                                      <m:t>𝑙</m:t>
                                    </m:r>
                                  </m:sub>
                                </m:sSub>
                                <m:r>
                                  <a:rPr lang="en-AU" b="1" i="0" smtClean="0">
                                    <a:latin typeface="Cambria Math" panose="02040503050406030204" pitchFamily="18" charset="0"/>
                                  </a:rPr>
                                  <m:t> </m:t>
                                </m:r>
                                <m:r>
                                  <a:rPr lang="en-AU" b="1" i="1" smtClean="0">
                                    <a:latin typeface="Cambria Math" panose="02040503050406030204" pitchFamily="18" charset="0"/>
                                  </a:rPr>
                                  <m:t>𝒄𝒂𝒔𝒉</m:t>
                                </m:r>
                                <m:r>
                                  <a:rPr lang="en-AU" b="1" i="1" smtClean="0">
                                    <a:latin typeface="Cambria Math" panose="02040503050406030204" pitchFamily="18" charset="0"/>
                                  </a:rPr>
                                  <m:t> </m:t>
                                </m:r>
                                <m:r>
                                  <a:rPr lang="en-AU" b="1" i="1" smtClean="0">
                                    <a:latin typeface="Cambria Math" panose="02040503050406030204" pitchFamily="18" charset="0"/>
                                  </a:rPr>
                                  <m:t>𝒇𝒍𝒐𝒘</m:t>
                                </m:r>
                              </m:oMath>
                            </m:oMathPara>
                          </a14:m>
                          <a:endParaRPr lang="en-US" dirty="0"/>
                        </a:p>
                        <a:p>
                          <a:r>
                            <a:rPr lang="en-US" dirty="0"/>
                            <a:t>(2)</a:t>
                          </a:r>
                        </a:p>
                      </a:txBody>
                      <a:tcPr/>
                    </a:tc>
                    <a:tc>
                      <a:txBody>
                        <a:bodyPr/>
                        <a:lstStyle/>
                        <a:p>
                          <a:r>
                            <a:rPr lang="en-US" dirty="0"/>
                            <a:t>Discount factor</a:t>
                          </a:r>
                        </a:p>
                        <a:p>
                          <a:r>
                            <a:rPr lang="en-US" dirty="0"/>
                            <a:t>(3)</a:t>
                          </a:r>
                        </a:p>
                      </a:txBody>
                      <a:tcPr/>
                    </a:tc>
                    <a:tc>
                      <a:txBody>
                        <a:bodyPr/>
                        <a:lstStyle/>
                        <a:p>
                          <a:pPr/>
                          <a14:m>
                            <m:oMathPara xmlns:m="http://schemas.openxmlformats.org/officeDocument/2006/math">
                              <m:oMathParaPr>
                                <m:jc m:val="centerGroup"/>
                              </m:oMathParaPr>
                              <m:oMath xmlns:m="http://schemas.openxmlformats.org/officeDocument/2006/math">
                                <m:sSub>
                                  <m:sSubPr>
                                    <m:ctrlPr>
                                      <a:rPr lang="en-AU" i="1" smtClean="0">
                                        <a:latin typeface="Cambria Math" panose="02040503050406030204" pitchFamily="18" charset="0"/>
                                      </a:rPr>
                                    </m:ctrlPr>
                                  </m:sSubPr>
                                  <m:e>
                                    <m:r>
                                      <a:rPr lang="en-AU" b="1" i="1" smtClean="0">
                                        <a:latin typeface="Cambria Math" panose="02040503050406030204" pitchFamily="18" charset="0"/>
                                      </a:rPr>
                                      <m:t>𝑷𝑽</m:t>
                                    </m:r>
                                    <m:r>
                                      <a:rPr lang="en-AU" b="1" i="1" smtClean="0">
                                        <a:latin typeface="Cambria Math" panose="02040503050406030204" pitchFamily="18" charset="0"/>
                                      </a:rPr>
                                      <m:t> </m:t>
                                    </m:r>
                                    <m:r>
                                      <a:rPr lang="en-AU" b="1" i="1" smtClean="0">
                                        <a:latin typeface="Cambria Math" panose="02040503050406030204" pitchFamily="18" charset="0"/>
                                      </a:rPr>
                                      <m:t>𝒐𝒇</m:t>
                                    </m:r>
                                    <m:r>
                                      <a:rPr lang="en-AU" b="1" i="1" smtClean="0">
                                        <a:latin typeface="Cambria Math" panose="02040503050406030204" pitchFamily="18" charset="0"/>
                                      </a:rPr>
                                      <m:t> </m:t>
                                    </m:r>
                                    <m:r>
                                      <a:rPr lang="en-AU" i="1">
                                        <a:latin typeface="Cambria Math" panose="02040503050406030204" pitchFamily="18" charset="0"/>
                                      </a:rPr>
                                      <m:t>𝐵</m:t>
                                    </m:r>
                                  </m:e>
                                  <m:sub>
                                    <m:r>
                                      <a:rPr lang="en-AU" i="1">
                                        <a:latin typeface="Cambria Math" panose="02040503050406030204" pitchFamily="18" charset="0"/>
                                      </a:rPr>
                                      <m:t>𝑓</m:t>
                                    </m:r>
                                    <m:r>
                                      <a:rPr lang="en-AU" b="0" i="1" smtClean="0">
                                        <a:latin typeface="Cambria Math" panose="02040503050406030204" pitchFamily="18" charset="0"/>
                                      </a:rPr>
                                      <m:t>𝑖𝑥</m:t>
                                    </m:r>
                                  </m:sub>
                                </m:sSub>
                              </m:oMath>
                            </m:oMathPara>
                          </a14:m>
                          <a:endParaRPr lang="en-US" dirty="0"/>
                        </a:p>
                        <a:p>
                          <a:r>
                            <a:rPr lang="en-US" dirty="0"/>
                            <a:t>(1)*(3)</a:t>
                          </a:r>
                        </a:p>
                      </a:txBody>
                      <a:tcPr/>
                    </a:tc>
                    <a:tc>
                      <a:txBody>
                        <a:bodyPr/>
                        <a:lstStyle/>
                        <a:p>
                          <a:pPr/>
                          <a14:m>
                            <m:oMathPara xmlns:m="http://schemas.openxmlformats.org/officeDocument/2006/math">
                              <m:oMathParaPr>
                                <m:jc m:val="centerGroup"/>
                              </m:oMathParaPr>
                              <m:oMath xmlns:m="http://schemas.openxmlformats.org/officeDocument/2006/math">
                                <m:sSub>
                                  <m:sSubPr>
                                    <m:ctrlPr>
                                      <a:rPr lang="en-AU" i="1" smtClean="0">
                                        <a:latin typeface="Cambria Math" panose="02040503050406030204" pitchFamily="18" charset="0"/>
                                      </a:rPr>
                                    </m:ctrlPr>
                                  </m:sSubPr>
                                  <m:e>
                                    <m:r>
                                      <a:rPr lang="en-AU" b="1" i="1" smtClean="0">
                                        <a:latin typeface="Cambria Math" panose="02040503050406030204" pitchFamily="18" charset="0"/>
                                      </a:rPr>
                                      <m:t>𝑷𝑽</m:t>
                                    </m:r>
                                    <m:r>
                                      <a:rPr lang="en-AU" b="1" i="1" smtClean="0">
                                        <a:latin typeface="Cambria Math" panose="02040503050406030204" pitchFamily="18" charset="0"/>
                                      </a:rPr>
                                      <m:t> </m:t>
                                    </m:r>
                                    <m:r>
                                      <a:rPr lang="en-AU" b="1" i="1" smtClean="0">
                                        <a:latin typeface="Cambria Math" panose="02040503050406030204" pitchFamily="18" charset="0"/>
                                      </a:rPr>
                                      <m:t>𝒐𝒇</m:t>
                                    </m:r>
                                    <m:r>
                                      <a:rPr lang="en-AU" b="1" i="1" smtClean="0">
                                        <a:latin typeface="Cambria Math" panose="02040503050406030204" pitchFamily="18" charset="0"/>
                                      </a:rPr>
                                      <m:t> </m:t>
                                    </m:r>
                                    <m:r>
                                      <a:rPr lang="en-AU" i="1">
                                        <a:latin typeface="Cambria Math" panose="02040503050406030204" pitchFamily="18" charset="0"/>
                                      </a:rPr>
                                      <m:t>𝐵</m:t>
                                    </m:r>
                                  </m:e>
                                  <m:sub>
                                    <m:r>
                                      <a:rPr lang="en-AU" i="1">
                                        <a:latin typeface="Cambria Math" panose="02040503050406030204" pitchFamily="18" charset="0"/>
                                      </a:rPr>
                                      <m:t>𝑓</m:t>
                                    </m:r>
                                    <m:r>
                                      <a:rPr lang="en-AU" b="0" i="1" smtClean="0">
                                        <a:latin typeface="Cambria Math" panose="02040503050406030204" pitchFamily="18" charset="0"/>
                                      </a:rPr>
                                      <m:t>𝑙</m:t>
                                    </m:r>
                                  </m:sub>
                                </m:sSub>
                              </m:oMath>
                            </m:oMathPara>
                          </a14:m>
                          <a:endParaRPr lang="en-US" dirty="0"/>
                        </a:p>
                        <a:p>
                          <a:r>
                            <a:rPr lang="en-US" dirty="0"/>
                            <a:t>(2)*(3)</a:t>
                          </a:r>
                        </a:p>
                      </a:txBody>
                      <a:tcPr/>
                    </a:tc>
                    <a:extLst>
                      <a:ext uri="{0D108BD9-81ED-4DB2-BD59-A6C34878D82A}">
                        <a16:rowId xmlns:a16="http://schemas.microsoft.com/office/drawing/2014/main" val="1748611465"/>
                      </a:ext>
                    </a:extLst>
                  </a:tr>
                  <a:tr h="632274">
                    <a:tc>
                      <a:txBody>
                        <a:bodyPr/>
                        <a:lstStyle/>
                        <a:p>
                          <a:r>
                            <a:rPr lang="en-US" sz="1600" dirty="0"/>
                            <a:t>2/12</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AU" sz="1600" b="0" i="1" smtClean="0">
                                    <a:latin typeface="Cambria Math" panose="02040503050406030204" pitchFamily="18" charset="0"/>
                                  </a:rPr>
                                  <m:t>100</m:t>
                                </m:r>
                                <m:r>
                                  <a:rPr lang="en-AU" sz="1600" b="0" i="1" smtClean="0">
                                    <a:latin typeface="Cambria Math" panose="02040503050406030204" pitchFamily="18" charset="0"/>
                                    <a:ea typeface="Cambria Math" panose="02040503050406030204" pitchFamily="18" charset="0"/>
                                  </a:rPr>
                                  <m:t>×10%×0.25</m:t>
                                </m:r>
                              </m:oMath>
                            </m:oMathPara>
                          </a14:m>
                          <a:endParaRPr lang="en-US" sz="1600" dirty="0"/>
                        </a:p>
                        <a:p>
                          <a:endParaRPr lang="en-US" sz="16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AU" sz="1600" b="0" i="1" smtClean="0">
                                    <a:latin typeface="Cambria Math" panose="02040503050406030204" pitchFamily="18" charset="0"/>
                                  </a:rPr>
                                  <m:t>100+100</m:t>
                                </m:r>
                                <m:r>
                                  <a:rPr lang="en-AU" sz="1600" b="0" i="1" smtClean="0">
                                    <a:latin typeface="Cambria Math" panose="02040503050406030204" pitchFamily="18" charset="0"/>
                                    <a:ea typeface="Cambria Math" panose="02040503050406030204" pitchFamily="18" charset="0"/>
                                  </a:rPr>
                                  <m:t>×11.8%×0.25</m:t>
                                </m:r>
                              </m:oMath>
                            </m:oMathPara>
                          </a14:m>
                          <a:endParaRPr lang="en-US" sz="1600" dirty="0"/>
                        </a:p>
                      </a:txBody>
                      <a:tcPr/>
                    </a:tc>
                    <a:tc>
                      <a:txBody>
                        <a:bodyPr/>
                        <a:lstStyle/>
                        <a:p>
                          <a:pPr/>
                          <a14:m>
                            <m:oMathPara xmlns:m="http://schemas.openxmlformats.org/officeDocument/2006/math">
                              <m:oMathParaPr>
                                <m:jc m:val="centerGroup"/>
                              </m:oMathParaPr>
                              <m:oMath xmlns:m="http://schemas.openxmlformats.org/officeDocument/2006/math">
                                <m:r>
                                  <a:rPr lang="en-AU" sz="1600" b="0" i="1" smtClean="0">
                                    <a:latin typeface="Cambria Math" panose="02040503050406030204" pitchFamily="18" charset="0"/>
                                  </a:rPr>
                                  <m:t>(1+3%</m:t>
                                </m:r>
                                <m:sSup>
                                  <m:sSupPr>
                                    <m:ctrlPr>
                                      <a:rPr lang="en-AU" sz="1600" b="0" i="1" smtClean="0">
                                        <a:latin typeface="Cambria Math" panose="02040503050406030204" pitchFamily="18" charset="0"/>
                                      </a:rPr>
                                    </m:ctrlPr>
                                  </m:sSupPr>
                                  <m:e>
                                    <m:r>
                                      <a:rPr lang="en-AU" sz="1600" b="0" i="1" smtClean="0">
                                        <a:latin typeface="Cambria Math" panose="02040503050406030204" pitchFamily="18" charset="0"/>
                                      </a:rPr>
                                      <m:t>)</m:t>
                                    </m:r>
                                  </m:e>
                                  <m:sup>
                                    <m:r>
                                      <a:rPr lang="en-AU" sz="1600" b="0" i="1" smtClean="0">
                                        <a:latin typeface="Cambria Math" panose="02040503050406030204" pitchFamily="18" charset="0"/>
                                      </a:rPr>
                                      <m:t>−4</m:t>
                                    </m:r>
                                    <m:r>
                                      <a:rPr lang="en-AU" sz="1600" b="0" i="1" smtClean="0">
                                        <a:latin typeface="Cambria Math" panose="02040503050406030204" pitchFamily="18" charset="0"/>
                                        <a:ea typeface="Cambria Math" panose="02040503050406030204" pitchFamily="18" charset="0"/>
                                      </a:rPr>
                                      <m:t>×2/12</m:t>
                                    </m:r>
                                  </m:sup>
                                </m:sSup>
                              </m:oMath>
                            </m:oMathPara>
                          </a14:m>
                          <a:endParaRPr lang="en-US" sz="16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AU" sz="1600" b="0" i="1" smtClean="0">
                                    <a:latin typeface="Cambria Math" panose="02040503050406030204" pitchFamily="18" charset="0"/>
                                  </a:rPr>
                                  <m:t>(100</m:t>
                                </m:r>
                                <m:r>
                                  <a:rPr lang="en-AU" sz="1600" b="0" i="1" smtClean="0">
                                    <a:latin typeface="Cambria Math" panose="02040503050406030204" pitchFamily="18" charset="0"/>
                                    <a:ea typeface="Cambria Math" panose="02040503050406030204" pitchFamily="18" charset="0"/>
                                  </a:rPr>
                                  <m:t>×10%×0.25</m:t>
                                </m:r>
                              </m:oMath>
                            </m:oMathPara>
                          </a14:m>
                          <a:endParaRPr lang="en-US" sz="1600" dirty="0"/>
                        </a:p>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AU" sz="1600" b="0" i="1" smtClean="0">
                                    <a:latin typeface="Cambria Math" panose="02040503050406030204" pitchFamily="18" charset="0"/>
                                    <a:ea typeface="Cambria Math" panose="02040503050406030204" pitchFamily="18" charset="0"/>
                                  </a:rPr>
                                  <m:t>)×</m:t>
                                </m:r>
                                <m:r>
                                  <a:rPr lang="en-AU" sz="1600" b="0" i="1" smtClean="0">
                                    <a:latin typeface="Cambria Math" panose="02040503050406030204" pitchFamily="18" charset="0"/>
                                  </a:rPr>
                                  <m:t>(1+3%</m:t>
                                </m:r>
                                <m:sSup>
                                  <m:sSupPr>
                                    <m:ctrlPr>
                                      <a:rPr lang="en-AU" sz="1600" b="0" i="1" smtClean="0">
                                        <a:latin typeface="Cambria Math" panose="02040503050406030204" pitchFamily="18" charset="0"/>
                                      </a:rPr>
                                    </m:ctrlPr>
                                  </m:sSupPr>
                                  <m:e>
                                    <m:r>
                                      <a:rPr lang="en-AU" sz="1600" b="0" i="1" smtClean="0">
                                        <a:latin typeface="Cambria Math" panose="02040503050406030204" pitchFamily="18" charset="0"/>
                                      </a:rPr>
                                      <m:t>)</m:t>
                                    </m:r>
                                  </m:e>
                                  <m:sup>
                                    <m:r>
                                      <a:rPr lang="en-AU" sz="1600" b="0" i="1" smtClean="0">
                                        <a:latin typeface="Cambria Math" panose="02040503050406030204" pitchFamily="18" charset="0"/>
                                      </a:rPr>
                                      <m:t>−4</m:t>
                                    </m:r>
                                    <m:r>
                                      <a:rPr lang="en-AU" sz="1600" b="0" i="1" smtClean="0">
                                        <a:latin typeface="Cambria Math" panose="02040503050406030204" pitchFamily="18" charset="0"/>
                                        <a:ea typeface="Cambria Math" panose="02040503050406030204" pitchFamily="18" charset="0"/>
                                      </a:rPr>
                                      <m:t>×2/12</m:t>
                                    </m:r>
                                  </m:sup>
                                </m:sSup>
                              </m:oMath>
                            </m:oMathPara>
                          </a14:m>
                          <a:endParaRPr lang="en-US" sz="160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6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AU" sz="1600" b="0" i="1" smtClean="0">
                                    <a:latin typeface="Cambria Math" panose="02040503050406030204" pitchFamily="18" charset="0"/>
                                  </a:rPr>
                                  <m:t>(100+100</m:t>
                                </m:r>
                                <m:r>
                                  <a:rPr lang="en-AU" sz="1600" b="0" i="1" smtClean="0">
                                    <a:latin typeface="Cambria Math" panose="02040503050406030204" pitchFamily="18" charset="0"/>
                                    <a:ea typeface="Cambria Math" panose="02040503050406030204" pitchFamily="18" charset="0"/>
                                  </a:rPr>
                                  <m:t>×11.8%×0.25)×</m:t>
                                </m:r>
                                <m:r>
                                  <a:rPr lang="en-AU" sz="1600" b="0" i="1" smtClean="0">
                                    <a:latin typeface="Cambria Math" panose="02040503050406030204" pitchFamily="18" charset="0"/>
                                  </a:rPr>
                                  <m:t>(1+3%</m:t>
                                </m:r>
                                <m:sSup>
                                  <m:sSupPr>
                                    <m:ctrlPr>
                                      <a:rPr lang="en-AU" sz="1600" b="0" i="1" smtClean="0">
                                        <a:latin typeface="Cambria Math" panose="02040503050406030204" pitchFamily="18" charset="0"/>
                                      </a:rPr>
                                    </m:ctrlPr>
                                  </m:sSupPr>
                                  <m:e>
                                    <m:r>
                                      <a:rPr lang="en-AU" sz="1600" b="0" i="1" smtClean="0">
                                        <a:latin typeface="Cambria Math" panose="02040503050406030204" pitchFamily="18" charset="0"/>
                                      </a:rPr>
                                      <m:t>)</m:t>
                                    </m:r>
                                  </m:e>
                                  <m:sup>
                                    <m:r>
                                      <a:rPr lang="en-AU" sz="1600" b="0" i="1" smtClean="0">
                                        <a:latin typeface="Cambria Math" panose="02040503050406030204" pitchFamily="18" charset="0"/>
                                      </a:rPr>
                                      <m:t>−4</m:t>
                                    </m:r>
                                    <m:r>
                                      <a:rPr lang="en-AU" sz="1600" b="0" i="1" smtClean="0">
                                        <a:latin typeface="Cambria Math" panose="02040503050406030204" pitchFamily="18" charset="0"/>
                                        <a:ea typeface="Cambria Math" panose="02040503050406030204" pitchFamily="18" charset="0"/>
                                      </a:rPr>
                                      <m:t>×2/12</m:t>
                                    </m:r>
                                  </m:sup>
                                </m:sSup>
                              </m:oMath>
                            </m:oMathPara>
                          </a14:m>
                          <a:endParaRPr lang="en-US" sz="160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600" dirty="0"/>
                        </a:p>
                      </a:txBody>
                      <a:tcPr/>
                    </a:tc>
                    <a:extLst>
                      <a:ext uri="{0D108BD9-81ED-4DB2-BD59-A6C34878D82A}">
                        <a16:rowId xmlns:a16="http://schemas.microsoft.com/office/drawing/2014/main" val="3461340188"/>
                      </a:ext>
                    </a:extLst>
                  </a:tr>
                  <a:tr h="632274">
                    <a:tc>
                      <a:txBody>
                        <a:bodyPr/>
                        <a:lstStyle/>
                        <a:p>
                          <a:r>
                            <a:rPr lang="en-US" sz="1600" dirty="0"/>
                            <a:t>5/12</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AU" sz="1600" b="0" i="1" smtClean="0">
                                    <a:latin typeface="Cambria Math" panose="02040503050406030204" pitchFamily="18" charset="0"/>
                                  </a:rPr>
                                  <m:t>100</m:t>
                                </m:r>
                                <m:r>
                                  <a:rPr lang="en-AU" sz="1600" b="0" i="1" smtClean="0">
                                    <a:latin typeface="Cambria Math" panose="02040503050406030204" pitchFamily="18" charset="0"/>
                                    <a:ea typeface="Cambria Math" panose="02040503050406030204" pitchFamily="18" charset="0"/>
                                  </a:rPr>
                                  <m:t>×10%×0.25</m:t>
                                </m:r>
                              </m:oMath>
                            </m:oMathPara>
                          </a14:m>
                          <a:endParaRPr lang="en-US" sz="1600" dirty="0"/>
                        </a:p>
                        <a:p>
                          <a:endParaRPr lang="en-US" sz="1600" dirty="0"/>
                        </a:p>
                      </a:txBody>
                      <a:tcPr/>
                    </a:tc>
                    <a:tc>
                      <a:txBody>
                        <a:bodyPr/>
                        <a:lstStyle/>
                        <a:p>
                          <a:endParaRPr lang="en-US" sz="1600" dirty="0"/>
                        </a:p>
                      </a:txBody>
                      <a:tcPr/>
                    </a:tc>
                    <a:tc>
                      <a:txBody>
                        <a:bodyPr/>
                        <a:lstStyle/>
                        <a:p>
                          <a:pPr/>
                          <a14:m>
                            <m:oMathPara xmlns:m="http://schemas.openxmlformats.org/officeDocument/2006/math">
                              <m:oMathParaPr>
                                <m:jc m:val="centerGroup"/>
                              </m:oMathParaPr>
                              <m:oMath xmlns:m="http://schemas.openxmlformats.org/officeDocument/2006/math">
                                <m:r>
                                  <a:rPr lang="en-AU" sz="1600" b="0" i="1" smtClean="0">
                                    <a:latin typeface="Cambria Math" panose="02040503050406030204" pitchFamily="18" charset="0"/>
                                  </a:rPr>
                                  <m:t>(1+3%</m:t>
                                </m:r>
                                <m:sSup>
                                  <m:sSupPr>
                                    <m:ctrlPr>
                                      <a:rPr lang="en-AU" sz="1600" b="0" i="1" smtClean="0">
                                        <a:latin typeface="Cambria Math" panose="02040503050406030204" pitchFamily="18" charset="0"/>
                                      </a:rPr>
                                    </m:ctrlPr>
                                  </m:sSupPr>
                                  <m:e>
                                    <m:r>
                                      <a:rPr lang="en-AU" sz="1600" b="0" i="1" smtClean="0">
                                        <a:latin typeface="Cambria Math" panose="02040503050406030204" pitchFamily="18" charset="0"/>
                                      </a:rPr>
                                      <m:t>)</m:t>
                                    </m:r>
                                  </m:e>
                                  <m:sup>
                                    <m:r>
                                      <a:rPr lang="en-AU" sz="1600" b="0" i="1" smtClean="0">
                                        <a:latin typeface="Cambria Math" panose="02040503050406030204" pitchFamily="18" charset="0"/>
                                      </a:rPr>
                                      <m:t>−4</m:t>
                                    </m:r>
                                    <m:r>
                                      <a:rPr lang="en-AU" sz="1600" b="0" i="1" smtClean="0">
                                        <a:latin typeface="Cambria Math" panose="02040503050406030204" pitchFamily="18" charset="0"/>
                                        <a:ea typeface="Cambria Math" panose="02040503050406030204" pitchFamily="18" charset="0"/>
                                      </a:rPr>
                                      <m:t>×5/12</m:t>
                                    </m:r>
                                  </m:sup>
                                </m:sSup>
                              </m:oMath>
                            </m:oMathPara>
                          </a14:m>
                          <a:endParaRPr lang="en-US" sz="16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AU" sz="1600" b="0" i="1" smtClean="0">
                                    <a:latin typeface="Cambria Math" panose="02040503050406030204" pitchFamily="18" charset="0"/>
                                  </a:rPr>
                                  <m:t>(100</m:t>
                                </m:r>
                                <m:r>
                                  <a:rPr lang="en-AU" sz="1600" b="0" i="1" smtClean="0">
                                    <a:latin typeface="Cambria Math" panose="02040503050406030204" pitchFamily="18" charset="0"/>
                                    <a:ea typeface="Cambria Math" panose="02040503050406030204" pitchFamily="18" charset="0"/>
                                  </a:rPr>
                                  <m:t>×10%×0.25</m:t>
                                </m:r>
                              </m:oMath>
                            </m:oMathPara>
                          </a14:m>
                          <a:endParaRPr lang="en-US" sz="1600" dirty="0"/>
                        </a:p>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AU" sz="1600" b="0" i="1" smtClean="0">
                                    <a:latin typeface="Cambria Math" panose="02040503050406030204" pitchFamily="18" charset="0"/>
                                    <a:ea typeface="Cambria Math" panose="02040503050406030204" pitchFamily="18" charset="0"/>
                                  </a:rPr>
                                  <m:t>)×</m:t>
                                </m:r>
                                <m:r>
                                  <a:rPr lang="en-AU" sz="1600" b="0" i="1" smtClean="0">
                                    <a:latin typeface="Cambria Math" panose="02040503050406030204" pitchFamily="18" charset="0"/>
                                  </a:rPr>
                                  <m:t>(1+3%</m:t>
                                </m:r>
                                <m:sSup>
                                  <m:sSupPr>
                                    <m:ctrlPr>
                                      <a:rPr lang="en-AU" sz="1600" b="0" i="1" smtClean="0">
                                        <a:latin typeface="Cambria Math" panose="02040503050406030204" pitchFamily="18" charset="0"/>
                                      </a:rPr>
                                    </m:ctrlPr>
                                  </m:sSupPr>
                                  <m:e>
                                    <m:r>
                                      <a:rPr lang="en-AU" sz="1600" b="0" i="1" smtClean="0">
                                        <a:latin typeface="Cambria Math" panose="02040503050406030204" pitchFamily="18" charset="0"/>
                                      </a:rPr>
                                      <m:t>)</m:t>
                                    </m:r>
                                  </m:e>
                                  <m:sup>
                                    <m:r>
                                      <a:rPr lang="en-AU" sz="1600" b="0" i="1" smtClean="0">
                                        <a:latin typeface="Cambria Math" panose="02040503050406030204" pitchFamily="18" charset="0"/>
                                      </a:rPr>
                                      <m:t>−4</m:t>
                                    </m:r>
                                    <m:r>
                                      <a:rPr lang="en-AU" sz="1600" b="0" i="1" smtClean="0">
                                        <a:latin typeface="Cambria Math" panose="02040503050406030204" pitchFamily="18" charset="0"/>
                                        <a:ea typeface="Cambria Math" panose="02040503050406030204" pitchFamily="18" charset="0"/>
                                      </a:rPr>
                                      <m:t>×5/12</m:t>
                                    </m:r>
                                  </m:sup>
                                </m:sSup>
                              </m:oMath>
                            </m:oMathPara>
                          </a14:m>
                          <a:endParaRPr lang="en-US" sz="160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6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600" dirty="0"/>
                        </a:p>
                      </a:txBody>
                      <a:tcPr/>
                    </a:tc>
                    <a:extLst>
                      <a:ext uri="{0D108BD9-81ED-4DB2-BD59-A6C34878D82A}">
                        <a16:rowId xmlns:a16="http://schemas.microsoft.com/office/drawing/2014/main" val="955542237"/>
                      </a:ext>
                    </a:extLst>
                  </a:tr>
                  <a:tr h="632274">
                    <a:tc>
                      <a:txBody>
                        <a:bodyPr/>
                        <a:lstStyle/>
                        <a:p>
                          <a:r>
                            <a:rPr lang="en-US" sz="1600" dirty="0"/>
                            <a:t>8/12</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AU" sz="1600" b="0" i="1" smtClean="0">
                                    <a:latin typeface="Cambria Math" panose="02040503050406030204" pitchFamily="18" charset="0"/>
                                  </a:rPr>
                                  <m:t>100</m:t>
                                </m:r>
                                <m:r>
                                  <a:rPr lang="en-AU" sz="1600" b="0" i="1" smtClean="0">
                                    <a:latin typeface="Cambria Math" panose="02040503050406030204" pitchFamily="18" charset="0"/>
                                    <a:ea typeface="Cambria Math" panose="02040503050406030204" pitchFamily="18" charset="0"/>
                                  </a:rPr>
                                  <m:t>×10%×0.25</m:t>
                                </m:r>
                              </m:oMath>
                            </m:oMathPara>
                          </a14:m>
                          <a:endParaRPr lang="en-US" sz="1600" dirty="0"/>
                        </a:p>
                        <a:p>
                          <a:endParaRPr lang="en-US" sz="1600" dirty="0"/>
                        </a:p>
                      </a:txBody>
                      <a:tcPr/>
                    </a:tc>
                    <a:tc>
                      <a:txBody>
                        <a:bodyPr/>
                        <a:lstStyle/>
                        <a:p>
                          <a:endParaRPr lang="en-US" sz="1600" dirty="0"/>
                        </a:p>
                      </a:txBody>
                      <a:tcPr/>
                    </a:tc>
                    <a:tc>
                      <a:txBody>
                        <a:bodyPr/>
                        <a:lstStyle/>
                        <a:p>
                          <a:pPr/>
                          <a14:m>
                            <m:oMathPara xmlns:m="http://schemas.openxmlformats.org/officeDocument/2006/math">
                              <m:oMathParaPr>
                                <m:jc m:val="centerGroup"/>
                              </m:oMathParaPr>
                              <m:oMath xmlns:m="http://schemas.openxmlformats.org/officeDocument/2006/math">
                                <m:r>
                                  <a:rPr lang="en-AU" sz="1600" b="0" i="1" smtClean="0">
                                    <a:latin typeface="Cambria Math" panose="02040503050406030204" pitchFamily="18" charset="0"/>
                                  </a:rPr>
                                  <m:t>(1+3%</m:t>
                                </m:r>
                                <m:sSup>
                                  <m:sSupPr>
                                    <m:ctrlPr>
                                      <a:rPr lang="en-AU" sz="1600" b="0" i="1" smtClean="0">
                                        <a:latin typeface="Cambria Math" panose="02040503050406030204" pitchFamily="18" charset="0"/>
                                      </a:rPr>
                                    </m:ctrlPr>
                                  </m:sSupPr>
                                  <m:e>
                                    <m:r>
                                      <a:rPr lang="en-AU" sz="1600" b="0" i="1" smtClean="0">
                                        <a:latin typeface="Cambria Math" panose="02040503050406030204" pitchFamily="18" charset="0"/>
                                      </a:rPr>
                                      <m:t>)</m:t>
                                    </m:r>
                                  </m:e>
                                  <m:sup>
                                    <m:r>
                                      <a:rPr lang="en-AU" sz="1600" b="0" i="1" smtClean="0">
                                        <a:latin typeface="Cambria Math" panose="02040503050406030204" pitchFamily="18" charset="0"/>
                                      </a:rPr>
                                      <m:t>−4</m:t>
                                    </m:r>
                                    <m:r>
                                      <a:rPr lang="en-AU" sz="1600" b="0" i="1" smtClean="0">
                                        <a:latin typeface="Cambria Math" panose="02040503050406030204" pitchFamily="18" charset="0"/>
                                        <a:ea typeface="Cambria Math" panose="02040503050406030204" pitchFamily="18" charset="0"/>
                                      </a:rPr>
                                      <m:t>×8/12</m:t>
                                    </m:r>
                                  </m:sup>
                                </m:sSup>
                              </m:oMath>
                            </m:oMathPara>
                          </a14:m>
                          <a:endParaRPr lang="en-US" sz="16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AU" sz="1600" b="0" i="1" smtClean="0">
                                    <a:latin typeface="Cambria Math" panose="02040503050406030204" pitchFamily="18" charset="0"/>
                                  </a:rPr>
                                  <m:t>(100</m:t>
                                </m:r>
                                <m:r>
                                  <a:rPr lang="en-AU" sz="1600" b="0" i="1" smtClean="0">
                                    <a:latin typeface="Cambria Math" panose="02040503050406030204" pitchFamily="18" charset="0"/>
                                    <a:ea typeface="Cambria Math" panose="02040503050406030204" pitchFamily="18" charset="0"/>
                                  </a:rPr>
                                  <m:t>×10%×0.25</m:t>
                                </m:r>
                              </m:oMath>
                            </m:oMathPara>
                          </a14:m>
                          <a:endParaRPr lang="en-US" sz="1600" dirty="0"/>
                        </a:p>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AU" sz="1600" b="0" i="1" smtClean="0">
                                    <a:latin typeface="Cambria Math" panose="02040503050406030204" pitchFamily="18" charset="0"/>
                                    <a:ea typeface="Cambria Math" panose="02040503050406030204" pitchFamily="18" charset="0"/>
                                  </a:rPr>
                                  <m:t>)×</m:t>
                                </m:r>
                                <m:r>
                                  <a:rPr lang="en-AU" sz="1600" b="0" i="1" smtClean="0">
                                    <a:latin typeface="Cambria Math" panose="02040503050406030204" pitchFamily="18" charset="0"/>
                                  </a:rPr>
                                  <m:t>(1+3%</m:t>
                                </m:r>
                                <m:sSup>
                                  <m:sSupPr>
                                    <m:ctrlPr>
                                      <a:rPr lang="en-AU" sz="1600" b="0" i="1" smtClean="0">
                                        <a:latin typeface="Cambria Math" panose="02040503050406030204" pitchFamily="18" charset="0"/>
                                      </a:rPr>
                                    </m:ctrlPr>
                                  </m:sSupPr>
                                  <m:e>
                                    <m:r>
                                      <a:rPr lang="en-AU" sz="1600" b="0" i="1" smtClean="0">
                                        <a:latin typeface="Cambria Math" panose="02040503050406030204" pitchFamily="18" charset="0"/>
                                      </a:rPr>
                                      <m:t>)</m:t>
                                    </m:r>
                                  </m:e>
                                  <m:sup>
                                    <m:r>
                                      <a:rPr lang="en-AU" sz="1600" b="0" i="1" smtClean="0">
                                        <a:latin typeface="Cambria Math" panose="02040503050406030204" pitchFamily="18" charset="0"/>
                                      </a:rPr>
                                      <m:t>−4</m:t>
                                    </m:r>
                                    <m:r>
                                      <a:rPr lang="en-AU" sz="1600" b="0" i="1" smtClean="0">
                                        <a:latin typeface="Cambria Math" panose="02040503050406030204" pitchFamily="18" charset="0"/>
                                        <a:ea typeface="Cambria Math" panose="02040503050406030204" pitchFamily="18" charset="0"/>
                                      </a:rPr>
                                      <m:t>×8/12</m:t>
                                    </m:r>
                                  </m:sup>
                                </m:sSup>
                              </m:oMath>
                            </m:oMathPara>
                          </a14:m>
                          <a:endParaRPr lang="en-US" sz="16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600" dirty="0"/>
                        </a:p>
                      </a:txBody>
                      <a:tcPr/>
                    </a:tc>
                    <a:extLst>
                      <a:ext uri="{0D108BD9-81ED-4DB2-BD59-A6C34878D82A}">
                        <a16:rowId xmlns:a16="http://schemas.microsoft.com/office/drawing/2014/main" val="3421536430"/>
                      </a:ext>
                    </a:extLst>
                  </a:tr>
                  <a:tr h="632274">
                    <a:tc>
                      <a:txBody>
                        <a:bodyPr/>
                        <a:lstStyle/>
                        <a:p>
                          <a:r>
                            <a:rPr lang="en-US" sz="1600" dirty="0"/>
                            <a:t>11/12</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AU" sz="1600" b="0" i="1" smtClean="0">
                                    <a:latin typeface="Cambria Math" panose="02040503050406030204" pitchFamily="18" charset="0"/>
                                  </a:rPr>
                                  <m:t>100</m:t>
                                </m:r>
                                <m:r>
                                  <a:rPr lang="en-AU" sz="1600" b="0" i="1" smtClean="0">
                                    <a:latin typeface="Cambria Math" panose="02040503050406030204" pitchFamily="18" charset="0"/>
                                    <a:ea typeface="Cambria Math" panose="02040503050406030204" pitchFamily="18" charset="0"/>
                                  </a:rPr>
                                  <m:t>×10%×0.25</m:t>
                                </m:r>
                              </m:oMath>
                            </m:oMathPara>
                          </a14:m>
                          <a:endParaRPr lang="en-US" sz="1600" dirty="0"/>
                        </a:p>
                      </a:txBody>
                      <a:tcPr/>
                    </a:tc>
                    <a:tc>
                      <a:txBody>
                        <a:bodyPr/>
                        <a:lstStyle/>
                        <a:p>
                          <a:endParaRPr lang="en-US" sz="1600" dirty="0"/>
                        </a:p>
                      </a:txBody>
                      <a:tcPr/>
                    </a:tc>
                    <a:tc>
                      <a:txBody>
                        <a:bodyPr/>
                        <a:lstStyle/>
                        <a:p>
                          <a:pPr/>
                          <a14:m>
                            <m:oMathPara xmlns:m="http://schemas.openxmlformats.org/officeDocument/2006/math">
                              <m:oMathParaPr>
                                <m:jc m:val="centerGroup"/>
                              </m:oMathParaPr>
                              <m:oMath xmlns:m="http://schemas.openxmlformats.org/officeDocument/2006/math">
                                <m:r>
                                  <a:rPr lang="en-AU" sz="1600" b="0" i="1" smtClean="0">
                                    <a:latin typeface="Cambria Math" panose="02040503050406030204" pitchFamily="18" charset="0"/>
                                  </a:rPr>
                                  <m:t>(1+3%</m:t>
                                </m:r>
                                <m:sSup>
                                  <m:sSupPr>
                                    <m:ctrlPr>
                                      <a:rPr lang="en-AU" sz="1600" b="0" i="1" smtClean="0">
                                        <a:latin typeface="Cambria Math" panose="02040503050406030204" pitchFamily="18" charset="0"/>
                                      </a:rPr>
                                    </m:ctrlPr>
                                  </m:sSupPr>
                                  <m:e>
                                    <m:r>
                                      <a:rPr lang="en-AU" sz="1600" b="0" i="1" smtClean="0">
                                        <a:latin typeface="Cambria Math" panose="02040503050406030204" pitchFamily="18" charset="0"/>
                                      </a:rPr>
                                      <m:t>)</m:t>
                                    </m:r>
                                  </m:e>
                                  <m:sup>
                                    <m:r>
                                      <a:rPr lang="en-AU" sz="1600" b="0" i="1" smtClean="0">
                                        <a:latin typeface="Cambria Math" panose="02040503050406030204" pitchFamily="18" charset="0"/>
                                      </a:rPr>
                                      <m:t>−4</m:t>
                                    </m:r>
                                    <m:r>
                                      <a:rPr lang="en-AU" sz="1600" b="0" i="1" smtClean="0">
                                        <a:latin typeface="Cambria Math" panose="02040503050406030204" pitchFamily="18" charset="0"/>
                                        <a:ea typeface="Cambria Math" panose="02040503050406030204" pitchFamily="18" charset="0"/>
                                      </a:rPr>
                                      <m:t>×11/12</m:t>
                                    </m:r>
                                  </m:sup>
                                </m:sSup>
                              </m:oMath>
                            </m:oMathPara>
                          </a14:m>
                          <a:endParaRPr lang="en-US" sz="16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AU" sz="1600" b="0" i="1" smtClean="0">
                                    <a:latin typeface="Cambria Math" panose="02040503050406030204" pitchFamily="18" charset="0"/>
                                  </a:rPr>
                                  <m:t>(100</m:t>
                                </m:r>
                                <m:r>
                                  <a:rPr lang="en-AU" sz="1600" b="0" i="1" smtClean="0">
                                    <a:latin typeface="Cambria Math" panose="02040503050406030204" pitchFamily="18" charset="0"/>
                                    <a:ea typeface="Cambria Math" panose="02040503050406030204" pitchFamily="18" charset="0"/>
                                  </a:rPr>
                                  <m:t>×10%×0.25</m:t>
                                </m:r>
                              </m:oMath>
                            </m:oMathPara>
                          </a14:m>
                          <a:endParaRPr lang="en-US" sz="1600" dirty="0"/>
                        </a:p>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AU" sz="1600" b="0" i="1" smtClean="0">
                                    <a:latin typeface="Cambria Math" panose="02040503050406030204" pitchFamily="18" charset="0"/>
                                    <a:ea typeface="Cambria Math" panose="02040503050406030204" pitchFamily="18" charset="0"/>
                                  </a:rPr>
                                  <m:t>)×</m:t>
                                </m:r>
                                <m:r>
                                  <a:rPr lang="en-AU" sz="1600" b="0" i="1" smtClean="0">
                                    <a:latin typeface="Cambria Math" panose="02040503050406030204" pitchFamily="18" charset="0"/>
                                  </a:rPr>
                                  <m:t>(1+3%</m:t>
                                </m:r>
                                <m:sSup>
                                  <m:sSupPr>
                                    <m:ctrlPr>
                                      <a:rPr lang="en-AU" sz="1600" b="0" i="1" smtClean="0">
                                        <a:latin typeface="Cambria Math" panose="02040503050406030204" pitchFamily="18" charset="0"/>
                                      </a:rPr>
                                    </m:ctrlPr>
                                  </m:sSupPr>
                                  <m:e>
                                    <m:r>
                                      <a:rPr lang="en-AU" sz="1600" b="0" i="1" smtClean="0">
                                        <a:latin typeface="Cambria Math" panose="02040503050406030204" pitchFamily="18" charset="0"/>
                                      </a:rPr>
                                      <m:t>)</m:t>
                                    </m:r>
                                  </m:e>
                                  <m:sup>
                                    <m:r>
                                      <a:rPr lang="en-AU" sz="1600" b="0" i="1" smtClean="0">
                                        <a:latin typeface="Cambria Math" panose="02040503050406030204" pitchFamily="18" charset="0"/>
                                      </a:rPr>
                                      <m:t>−4</m:t>
                                    </m:r>
                                    <m:r>
                                      <a:rPr lang="en-AU" sz="1600" b="0" i="1" smtClean="0">
                                        <a:latin typeface="Cambria Math" panose="02040503050406030204" pitchFamily="18" charset="0"/>
                                        <a:ea typeface="Cambria Math" panose="02040503050406030204" pitchFamily="18" charset="0"/>
                                      </a:rPr>
                                      <m:t>×11/12</m:t>
                                    </m:r>
                                  </m:sup>
                                </m:sSup>
                              </m:oMath>
                            </m:oMathPara>
                          </a14:m>
                          <a:endParaRPr lang="en-US" sz="16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600" dirty="0"/>
                        </a:p>
                      </a:txBody>
                      <a:tcPr/>
                    </a:tc>
                    <a:extLst>
                      <a:ext uri="{0D108BD9-81ED-4DB2-BD59-A6C34878D82A}">
                        <a16:rowId xmlns:a16="http://schemas.microsoft.com/office/drawing/2014/main" val="3683376922"/>
                      </a:ext>
                    </a:extLst>
                  </a:tr>
                  <a:tr h="632274">
                    <a:tc>
                      <a:txBody>
                        <a:bodyPr/>
                        <a:lstStyle/>
                        <a:p>
                          <a:r>
                            <a:rPr lang="en-US" sz="1600" dirty="0"/>
                            <a:t>14/12</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AU" sz="1600" b="0" i="1" smtClean="0">
                                    <a:latin typeface="Cambria Math" panose="02040503050406030204" pitchFamily="18" charset="0"/>
                                  </a:rPr>
                                  <m:t>100+100</m:t>
                                </m:r>
                                <m:r>
                                  <a:rPr lang="en-AU" sz="1600" b="0" i="1" smtClean="0">
                                    <a:latin typeface="Cambria Math" panose="02040503050406030204" pitchFamily="18" charset="0"/>
                                    <a:ea typeface="Cambria Math" panose="02040503050406030204" pitchFamily="18" charset="0"/>
                                  </a:rPr>
                                  <m:t>×10%×0.25</m:t>
                                </m:r>
                              </m:oMath>
                            </m:oMathPara>
                          </a14:m>
                          <a:endParaRPr lang="en-US" sz="160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600" dirty="0"/>
                        </a:p>
                      </a:txBody>
                      <a:tcPr/>
                    </a:tc>
                    <a:tc>
                      <a:txBody>
                        <a:bodyPr/>
                        <a:lstStyle/>
                        <a:p>
                          <a:endParaRPr lang="en-US" sz="1600" dirty="0"/>
                        </a:p>
                      </a:txBody>
                      <a:tcPr/>
                    </a:tc>
                    <a:tc>
                      <a:txBody>
                        <a:bodyPr/>
                        <a:lstStyle/>
                        <a:p>
                          <a:pPr/>
                          <a14:m>
                            <m:oMathPara xmlns:m="http://schemas.openxmlformats.org/officeDocument/2006/math">
                              <m:oMathParaPr>
                                <m:jc m:val="centerGroup"/>
                              </m:oMathParaPr>
                              <m:oMath xmlns:m="http://schemas.openxmlformats.org/officeDocument/2006/math">
                                <m:r>
                                  <a:rPr lang="en-AU" sz="1600" b="0" i="1" smtClean="0">
                                    <a:latin typeface="Cambria Math" panose="02040503050406030204" pitchFamily="18" charset="0"/>
                                  </a:rPr>
                                  <m:t>(1+3%</m:t>
                                </m:r>
                                <m:sSup>
                                  <m:sSupPr>
                                    <m:ctrlPr>
                                      <a:rPr lang="en-AU" sz="1600" b="0" i="1" smtClean="0">
                                        <a:latin typeface="Cambria Math" panose="02040503050406030204" pitchFamily="18" charset="0"/>
                                      </a:rPr>
                                    </m:ctrlPr>
                                  </m:sSupPr>
                                  <m:e>
                                    <m:r>
                                      <a:rPr lang="en-AU" sz="1600" b="0" i="1" smtClean="0">
                                        <a:latin typeface="Cambria Math" panose="02040503050406030204" pitchFamily="18" charset="0"/>
                                      </a:rPr>
                                      <m:t>)</m:t>
                                    </m:r>
                                  </m:e>
                                  <m:sup>
                                    <m:r>
                                      <a:rPr lang="en-AU" sz="1600" b="0" i="1" smtClean="0">
                                        <a:latin typeface="Cambria Math" panose="02040503050406030204" pitchFamily="18" charset="0"/>
                                      </a:rPr>
                                      <m:t>−4</m:t>
                                    </m:r>
                                    <m:r>
                                      <a:rPr lang="en-AU" sz="1600" b="0" i="1" smtClean="0">
                                        <a:latin typeface="Cambria Math" panose="02040503050406030204" pitchFamily="18" charset="0"/>
                                        <a:ea typeface="Cambria Math" panose="02040503050406030204" pitchFamily="18" charset="0"/>
                                      </a:rPr>
                                      <m:t>×14/12</m:t>
                                    </m:r>
                                  </m:sup>
                                </m:sSup>
                              </m:oMath>
                            </m:oMathPara>
                          </a14:m>
                          <a:endParaRPr lang="en-US" sz="16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AU" sz="1600" b="0" i="1" smtClean="0">
                                    <a:latin typeface="Cambria Math" panose="02040503050406030204" pitchFamily="18" charset="0"/>
                                  </a:rPr>
                                  <m:t>(100+100</m:t>
                                </m:r>
                                <m:r>
                                  <a:rPr lang="en-AU" sz="1600" b="0" i="1" smtClean="0">
                                    <a:latin typeface="Cambria Math" panose="02040503050406030204" pitchFamily="18" charset="0"/>
                                    <a:ea typeface="Cambria Math" panose="02040503050406030204" pitchFamily="18" charset="0"/>
                                  </a:rPr>
                                  <m:t>×10%×0.25</m:t>
                                </m:r>
                              </m:oMath>
                            </m:oMathPara>
                          </a14:m>
                          <a:endParaRPr lang="en-US" sz="1600" dirty="0"/>
                        </a:p>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AU" sz="1600" b="0" i="1" smtClean="0">
                                    <a:latin typeface="Cambria Math" panose="02040503050406030204" pitchFamily="18" charset="0"/>
                                    <a:ea typeface="Cambria Math" panose="02040503050406030204" pitchFamily="18" charset="0"/>
                                  </a:rPr>
                                  <m:t>)×</m:t>
                                </m:r>
                                <m:r>
                                  <a:rPr lang="en-AU" sz="1600" b="0" i="1" smtClean="0">
                                    <a:latin typeface="Cambria Math" panose="02040503050406030204" pitchFamily="18" charset="0"/>
                                  </a:rPr>
                                  <m:t>(1+3%</m:t>
                                </m:r>
                                <m:sSup>
                                  <m:sSupPr>
                                    <m:ctrlPr>
                                      <a:rPr lang="en-AU" sz="1600" b="0" i="1" smtClean="0">
                                        <a:latin typeface="Cambria Math" panose="02040503050406030204" pitchFamily="18" charset="0"/>
                                      </a:rPr>
                                    </m:ctrlPr>
                                  </m:sSupPr>
                                  <m:e>
                                    <m:r>
                                      <a:rPr lang="en-AU" sz="1600" b="0" i="1" smtClean="0">
                                        <a:latin typeface="Cambria Math" panose="02040503050406030204" pitchFamily="18" charset="0"/>
                                      </a:rPr>
                                      <m:t>)</m:t>
                                    </m:r>
                                  </m:e>
                                  <m:sup>
                                    <m:r>
                                      <a:rPr lang="en-AU" sz="1600" b="0" i="1" smtClean="0">
                                        <a:latin typeface="Cambria Math" panose="02040503050406030204" pitchFamily="18" charset="0"/>
                                      </a:rPr>
                                      <m:t>−4</m:t>
                                    </m:r>
                                    <m:r>
                                      <a:rPr lang="en-AU" sz="1600" b="0" i="1" smtClean="0">
                                        <a:latin typeface="Cambria Math" panose="02040503050406030204" pitchFamily="18" charset="0"/>
                                        <a:ea typeface="Cambria Math" panose="02040503050406030204" pitchFamily="18" charset="0"/>
                                      </a:rPr>
                                      <m:t>×14/12</m:t>
                                    </m:r>
                                  </m:sup>
                                </m:sSup>
                              </m:oMath>
                            </m:oMathPara>
                          </a14:m>
                          <a:endParaRPr lang="en-US" sz="1600" dirty="0"/>
                        </a:p>
                      </a:txBody>
                      <a:tcPr/>
                    </a:tc>
                    <a:tc>
                      <a:txBody>
                        <a:bodyPr/>
                        <a:lstStyle/>
                        <a:p>
                          <a:endParaRPr lang="en-US" sz="1600" dirty="0"/>
                        </a:p>
                      </a:txBody>
                      <a:tcPr/>
                    </a:tc>
                    <a:extLst>
                      <a:ext uri="{0D108BD9-81ED-4DB2-BD59-A6C34878D82A}">
                        <a16:rowId xmlns:a16="http://schemas.microsoft.com/office/drawing/2014/main" val="4138633012"/>
                      </a:ext>
                    </a:extLst>
                  </a:tr>
                  <a:tr h="632274">
                    <a:tc>
                      <a:txBody>
                        <a:bodyPr/>
                        <a:lstStyle/>
                        <a:p>
                          <a:r>
                            <a:rPr lang="en-US" sz="1600" dirty="0"/>
                            <a:t>Total</a:t>
                          </a:r>
                        </a:p>
                      </a:txBody>
                      <a:tcPr/>
                    </a:tc>
                    <a:tc>
                      <a:txBody>
                        <a:bodyPr/>
                        <a:lstStyle/>
                        <a:p>
                          <a:endParaRPr lang="en-US" sz="1600" dirty="0"/>
                        </a:p>
                      </a:txBody>
                      <a:tcPr/>
                    </a:tc>
                    <a:tc>
                      <a:txBody>
                        <a:bodyPr/>
                        <a:lstStyle/>
                        <a:p>
                          <a:endParaRPr lang="en-US" sz="1600" dirty="0"/>
                        </a:p>
                      </a:txBody>
                      <a:tcPr/>
                    </a:tc>
                    <a:tc>
                      <a:txBody>
                        <a:bodyPr/>
                        <a:lstStyle/>
                        <a:p>
                          <a:endParaRPr lang="en-US" sz="1600" dirty="0"/>
                        </a:p>
                      </a:txBody>
                      <a:tcPr/>
                    </a:tc>
                    <a:tc>
                      <a:txBody>
                        <a:bodyPr/>
                        <a:lstStyle/>
                        <a:p>
                          <a:r>
                            <a:rPr lang="en-US" sz="1600" b="1" dirty="0"/>
                            <a:t>98.678</a:t>
                          </a:r>
                        </a:p>
                      </a:txBody>
                      <a:tcPr/>
                    </a:tc>
                    <a:tc>
                      <a:txBody>
                        <a:bodyPr/>
                        <a:lstStyle/>
                        <a:p>
                          <a:r>
                            <a:rPr lang="en-US" sz="1600" b="1" dirty="0"/>
                            <a:t>100.941</a:t>
                          </a:r>
                        </a:p>
                      </a:txBody>
                      <a:tcPr/>
                    </a:tc>
                    <a:extLst>
                      <a:ext uri="{0D108BD9-81ED-4DB2-BD59-A6C34878D82A}">
                        <a16:rowId xmlns:a16="http://schemas.microsoft.com/office/drawing/2014/main" val="4176972528"/>
                      </a:ext>
                    </a:extLst>
                  </a:tr>
                </a:tbl>
              </a:graphicData>
            </a:graphic>
          </p:graphicFrame>
        </mc:Choice>
        <mc:Fallback xmlns="">
          <p:graphicFrame>
            <p:nvGraphicFramePr>
              <p:cNvPr id="4" name="Table 3">
                <a:extLst>
                  <a:ext uri="{FF2B5EF4-FFF2-40B4-BE49-F238E27FC236}">
                    <a16:creationId xmlns:a16="http://schemas.microsoft.com/office/drawing/2014/main" id="{79F2819B-3BA1-A383-EA9F-235B7A190FC4}"/>
                  </a:ext>
                </a:extLst>
              </p:cNvPr>
              <p:cNvGraphicFramePr>
                <a:graphicFrameLocks noGrp="1"/>
              </p:cNvGraphicFramePr>
              <p:nvPr>
                <p:extLst>
                  <p:ext uri="{D42A27DB-BD31-4B8C-83A1-F6EECF244321}">
                    <p14:modId xmlns:p14="http://schemas.microsoft.com/office/powerpoint/2010/main" val="3573623331"/>
                  </p:ext>
                </p:extLst>
              </p:nvPr>
            </p:nvGraphicFramePr>
            <p:xfrm>
              <a:off x="107065" y="220182"/>
              <a:ext cx="11977873" cy="5282325"/>
            </p:xfrm>
            <a:graphic>
              <a:graphicData uri="http://schemas.openxmlformats.org/drawingml/2006/table">
                <a:tbl>
                  <a:tblPr firstRow="1" bandRow="1">
                    <a:tableStyleId>{5C22544A-7EE6-4342-B048-85BDC9FD1C3A}</a:tableStyleId>
                  </a:tblPr>
                  <a:tblGrid>
                    <a:gridCol w="1172693">
                      <a:extLst>
                        <a:ext uri="{9D8B030D-6E8A-4147-A177-3AD203B41FA5}">
                          <a16:colId xmlns:a16="http://schemas.microsoft.com/office/drawing/2014/main" val="1902593901"/>
                        </a:ext>
                      </a:extLst>
                    </a:gridCol>
                    <a:gridCol w="2161036">
                      <a:extLst>
                        <a:ext uri="{9D8B030D-6E8A-4147-A177-3AD203B41FA5}">
                          <a16:colId xmlns:a16="http://schemas.microsoft.com/office/drawing/2014/main" val="3932323135"/>
                        </a:ext>
                      </a:extLst>
                    </a:gridCol>
                    <a:gridCol w="2161036">
                      <a:extLst>
                        <a:ext uri="{9D8B030D-6E8A-4147-A177-3AD203B41FA5}">
                          <a16:colId xmlns:a16="http://schemas.microsoft.com/office/drawing/2014/main" val="3470556675"/>
                        </a:ext>
                      </a:extLst>
                    </a:gridCol>
                    <a:gridCol w="2161036">
                      <a:extLst>
                        <a:ext uri="{9D8B030D-6E8A-4147-A177-3AD203B41FA5}">
                          <a16:colId xmlns:a16="http://schemas.microsoft.com/office/drawing/2014/main" val="3707822957"/>
                        </a:ext>
                      </a:extLst>
                    </a:gridCol>
                    <a:gridCol w="2161036">
                      <a:extLst>
                        <a:ext uri="{9D8B030D-6E8A-4147-A177-3AD203B41FA5}">
                          <a16:colId xmlns:a16="http://schemas.microsoft.com/office/drawing/2014/main" val="3119402058"/>
                        </a:ext>
                      </a:extLst>
                    </a:gridCol>
                    <a:gridCol w="2161036">
                      <a:extLst>
                        <a:ext uri="{9D8B030D-6E8A-4147-A177-3AD203B41FA5}">
                          <a16:colId xmlns:a16="http://schemas.microsoft.com/office/drawing/2014/main" val="1766958485"/>
                        </a:ext>
                      </a:extLst>
                    </a:gridCol>
                  </a:tblGrid>
                  <a:tr h="662115">
                    <a:tc>
                      <a:txBody>
                        <a:bodyPr/>
                        <a:lstStyle/>
                        <a:p>
                          <a:r>
                            <a:rPr lang="en-US" dirty="0"/>
                            <a:t>Time</a:t>
                          </a:r>
                        </a:p>
                      </a:txBody>
                      <a:tcPr/>
                    </a:tc>
                    <a:tc>
                      <a:txBody>
                        <a:bodyPr/>
                        <a:lstStyle/>
                        <a:p>
                          <a:endParaRPr lang="en-US"/>
                        </a:p>
                      </a:txBody>
                      <a:tcPr>
                        <a:blipFill>
                          <a:blip r:embed="rId3"/>
                          <a:stretch>
                            <a:fillRect l="-54386" t="-3846" r="-399415" b="-703846"/>
                          </a:stretch>
                        </a:blipFill>
                      </a:tcPr>
                    </a:tc>
                    <a:tc>
                      <a:txBody>
                        <a:bodyPr/>
                        <a:lstStyle/>
                        <a:p>
                          <a:endParaRPr lang="en-US"/>
                        </a:p>
                      </a:txBody>
                      <a:tcPr>
                        <a:blipFill>
                          <a:blip r:embed="rId3"/>
                          <a:stretch>
                            <a:fillRect l="-155294" t="-3846" r="-301765" b="-703846"/>
                          </a:stretch>
                        </a:blipFill>
                      </a:tcPr>
                    </a:tc>
                    <a:tc>
                      <a:txBody>
                        <a:bodyPr/>
                        <a:lstStyle/>
                        <a:p>
                          <a:r>
                            <a:rPr lang="en-US" dirty="0"/>
                            <a:t>Discount factor</a:t>
                          </a:r>
                        </a:p>
                        <a:p>
                          <a:r>
                            <a:rPr lang="en-US" dirty="0"/>
                            <a:t>(3)</a:t>
                          </a:r>
                        </a:p>
                      </a:txBody>
                      <a:tcPr/>
                    </a:tc>
                    <a:tc>
                      <a:txBody>
                        <a:bodyPr/>
                        <a:lstStyle/>
                        <a:p>
                          <a:endParaRPr lang="en-US"/>
                        </a:p>
                      </a:txBody>
                      <a:tcPr>
                        <a:blipFill>
                          <a:blip r:embed="rId3"/>
                          <a:stretch>
                            <a:fillRect l="-353216" t="-3846" r="-100585" b="-703846"/>
                          </a:stretch>
                        </a:blipFill>
                      </a:tcPr>
                    </a:tc>
                    <a:tc>
                      <a:txBody>
                        <a:bodyPr/>
                        <a:lstStyle/>
                        <a:p>
                          <a:endParaRPr lang="en-US"/>
                        </a:p>
                      </a:txBody>
                      <a:tcPr>
                        <a:blipFill>
                          <a:blip r:embed="rId3"/>
                          <a:stretch>
                            <a:fillRect l="-455882" t="-3846" r="-1176" b="-703846"/>
                          </a:stretch>
                        </a:blipFill>
                      </a:tcPr>
                    </a:tc>
                    <a:extLst>
                      <a:ext uri="{0D108BD9-81ED-4DB2-BD59-A6C34878D82A}">
                        <a16:rowId xmlns:a16="http://schemas.microsoft.com/office/drawing/2014/main" val="1748611465"/>
                      </a:ext>
                    </a:extLst>
                  </a:tr>
                  <a:tr h="1064768">
                    <a:tc>
                      <a:txBody>
                        <a:bodyPr/>
                        <a:lstStyle/>
                        <a:p>
                          <a:r>
                            <a:rPr lang="en-US" sz="1600" dirty="0"/>
                            <a:t>2/12</a:t>
                          </a:r>
                        </a:p>
                      </a:txBody>
                      <a:tcPr/>
                    </a:tc>
                    <a:tc>
                      <a:txBody>
                        <a:bodyPr/>
                        <a:lstStyle/>
                        <a:p>
                          <a:endParaRPr lang="en-US"/>
                        </a:p>
                      </a:txBody>
                      <a:tcPr>
                        <a:blipFill>
                          <a:blip r:embed="rId3"/>
                          <a:stretch>
                            <a:fillRect l="-54386" t="-64286" r="-399415" b="-335714"/>
                          </a:stretch>
                        </a:blipFill>
                      </a:tcPr>
                    </a:tc>
                    <a:tc>
                      <a:txBody>
                        <a:bodyPr/>
                        <a:lstStyle/>
                        <a:p>
                          <a:endParaRPr lang="en-US"/>
                        </a:p>
                      </a:txBody>
                      <a:tcPr>
                        <a:blipFill>
                          <a:blip r:embed="rId3"/>
                          <a:stretch>
                            <a:fillRect l="-155294" t="-64286" r="-301765" b="-335714"/>
                          </a:stretch>
                        </a:blipFill>
                      </a:tcPr>
                    </a:tc>
                    <a:tc>
                      <a:txBody>
                        <a:bodyPr/>
                        <a:lstStyle/>
                        <a:p>
                          <a:endParaRPr lang="en-US"/>
                        </a:p>
                      </a:txBody>
                      <a:tcPr>
                        <a:blipFill>
                          <a:blip r:embed="rId3"/>
                          <a:stretch>
                            <a:fillRect l="-255294" t="-64286" r="-201765" b="-335714"/>
                          </a:stretch>
                        </a:blipFill>
                      </a:tcPr>
                    </a:tc>
                    <a:tc>
                      <a:txBody>
                        <a:bodyPr/>
                        <a:lstStyle/>
                        <a:p>
                          <a:endParaRPr lang="en-US"/>
                        </a:p>
                      </a:txBody>
                      <a:tcPr>
                        <a:blipFill>
                          <a:blip r:embed="rId3"/>
                          <a:stretch>
                            <a:fillRect l="-353216" t="-64286" r="-100585" b="-335714"/>
                          </a:stretch>
                        </a:blipFill>
                      </a:tcPr>
                    </a:tc>
                    <a:tc>
                      <a:txBody>
                        <a:bodyPr/>
                        <a:lstStyle/>
                        <a:p>
                          <a:endParaRPr lang="en-US"/>
                        </a:p>
                      </a:txBody>
                      <a:tcPr>
                        <a:blipFill>
                          <a:blip r:embed="rId3"/>
                          <a:stretch>
                            <a:fillRect l="-455882" t="-64286" r="-1176" b="-335714"/>
                          </a:stretch>
                        </a:blipFill>
                      </a:tcPr>
                    </a:tc>
                    <a:extLst>
                      <a:ext uri="{0D108BD9-81ED-4DB2-BD59-A6C34878D82A}">
                        <a16:rowId xmlns:a16="http://schemas.microsoft.com/office/drawing/2014/main" val="3461340188"/>
                      </a:ext>
                    </a:extLst>
                  </a:tr>
                  <a:tr h="832104">
                    <a:tc>
                      <a:txBody>
                        <a:bodyPr/>
                        <a:lstStyle/>
                        <a:p>
                          <a:r>
                            <a:rPr lang="en-US" sz="1600" dirty="0"/>
                            <a:t>5/12</a:t>
                          </a:r>
                        </a:p>
                      </a:txBody>
                      <a:tcPr/>
                    </a:tc>
                    <a:tc>
                      <a:txBody>
                        <a:bodyPr/>
                        <a:lstStyle/>
                        <a:p>
                          <a:endParaRPr lang="en-US"/>
                        </a:p>
                      </a:txBody>
                      <a:tcPr>
                        <a:blipFill>
                          <a:blip r:embed="rId3"/>
                          <a:stretch>
                            <a:fillRect l="-54386" t="-209091" r="-399415" b="-327273"/>
                          </a:stretch>
                        </a:blipFill>
                      </a:tcPr>
                    </a:tc>
                    <a:tc>
                      <a:txBody>
                        <a:bodyPr/>
                        <a:lstStyle/>
                        <a:p>
                          <a:endParaRPr lang="en-US" sz="1600" dirty="0"/>
                        </a:p>
                      </a:txBody>
                      <a:tcPr/>
                    </a:tc>
                    <a:tc>
                      <a:txBody>
                        <a:bodyPr/>
                        <a:lstStyle/>
                        <a:p>
                          <a:endParaRPr lang="en-US"/>
                        </a:p>
                      </a:txBody>
                      <a:tcPr>
                        <a:blipFill>
                          <a:blip r:embed="rId3"/>
                          <a:stretch>
                            <a:fillRect l="-255294" t="-209091" r="-201765" b="-327273"/>
                          </a:stretch>
                        </a:blipFill>
                      </a:tcPr>
                    </a:tc>
                    <a:tc>
                      <a:txBody>
                        <a:bodyPr/>
                        <a:lstStyle/>
                        <a:p>
                          <a:endParaRPr lang="en-US"/>
                        </a:p>
                      </a:txBody>
                      <a:tcPr>
                        <a:blipFill>
                          <a:blip r:embed="rId3"/>
                          <a:stretch>
                            <a:fillRect l="-353216" t="-209091" r="-100585" b="-327273"/>
                          </a:stretch>
                        </a:blip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600" dirty="0"/>
                        </a:p>
                      </a:txBody>
                      <a:tcPr/>
                    </a:tc>
                    <a:extLst>
                      <a:ext uri="{0D108BD9-81ED-4DB2-BD59-A6C34878D82A}">
                        <a16:rowId xmlns:a16="http://schemas.microsoft.com/office/drawing/2014/main" val="955542237"/>
                      </a:ext>
                    </a:extLst>
                  </a:tr>
                  <a:tr h="632274">
                    <a:tc>
                      <a:txBody>
                        <a:bodyPr/>
                        <a:lstStyle/>
                        <a:p>
                          <a:r>
                            <a:rPr lang="en-US" sz="1600" dirty="0"/>
                            <a:t>8/12</a:t>
                          </a:r>
                        </a:p>
                      </a:txBody>
                      <a:tcPr/>
                    </a:tc>
                    <a:tc>
                      <a:txBody>
                        <a:bodyPr/>
                        <a:lstStyle/>
                        <a:p>
                          <a:endParaRPr lang="en-US"/>
                        </a:p>
                      </a:txBody>
                      <a:tcPr>
                        <a:blipFill>
                          <a:blip r:embed="rId3"/>
                          <a:stretch>
                            <a:fillRect l="-54386" t="-408000" r="-399415" b="-332000"/>
                          </a:stretch>
                        </a:blipFill>
                      </a:tcPr>
                    </a:tc>
                    <a:tc>
                      <a:txBody>
                        <a:bodyPr/>
                        <a:lstStyle/>
                        <a:p>
                          <a:endParaRPr lang="en-US" sz="1600" dirty="0"/>
                        </a:p>
                      </a:txBody>
                      <a:tcPr/>
                    </a:tc>
                    <a:tc>
                      <a:txBody>
                        <a:bodyPr/>
                        <a:lstStyle/>
                        <a:p>
                          <a:endParaRPr lang="en-US"/>
                        </a:p>
                      </a:txBody>
                      <a:tcPr>
                        <a:blipFill>
                          <a:blip r:embed="rId3"/>
                          <a:stretch>
                            <a:fillRect l="-255294" t="-408000" r="-201765" b="-332000"/>
                          </a:stretch>
                        </a:blipFill>
                      </a:tcPr>
                    </a:tc>
                    <a:tc>
                      <a:txBody>
                        <a:bodyPr/>
                        <a:lstStyle/>
                        <a:p>
                          <a:endParaRPr lang="en-US"/>
                        </a:p>
                      </a:txBody>
                      <a:tcPr>
                        <a:blipFill>
                          <a:blip r:embed="rId3"/>
                          <a:stretch>
                            <a:fillRect l="-353216" t="-408000" r="-100585" b="-332000"/>
                          </a:stretch>
                        </a:blip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600" dirty="0"/>
                        </a:p>
                      </a:txBody>
                      <a:tcPr/>
                    </a:tc>
                    <a:extLst>
                      <a:ext uri="{0D108BD9-81ED-4DB2-BD59-A6C34878D82A}">
                        <a16:rowId xmlns:a16="http://schemas.microsoft.com/office/drawing/2014/main" val="3421536430"/>
                      </a:ext>
                    </a:extLst>
                  </a:tr>
                  <a:tr h="632274">
                    <a:tc>
                      <a:txBody>
                        <a:bodyPr/>
                        <a:lstStyle/>
                        <a:p>
                          <a:r>
                            <a:rPr lang="en-US" sz="1600" dirty="0"/>
                            <a:t>11/12</a:t>
                          </a:r>
                        </a:p>
                      </a:txBody>
                      <a:tcPr/>
                    </a:tc>
                    <a:tc>
                      <a:txBody>
                        <a:bodyPr/>
                        <a:lstStyle/>
                        <a:p>
                          <a:endParaRPr lang="en-US"/>
                        </a:p>
                      </a:txBody>
                      <a:tcPr>
                        <a:blipFill>
                          <a:blip r:embed="rId3"/>
                          <a:stretch>
                            <a:fillRect l="-54386" t="-508000" r="-399415" b="-232000"/>
                          </a:stretch>
                        </a:blipFill>
                      </a:tcPr>
                    </a:tc>
                    <a:tc>
                      <a:txBody>
                        <a:bodyPr/>
                        <a:lstStyle/>
                        <a:p>
                          <a:endParaRPr lang="en-US" sz="1600" dirty="0"/>
                        </a:p>
                      </a:txBody>
                      <a:tcPr/>
                    </a:tc>
                    <a:tc>
                      <a:txBody>
                        <a:bodyPr/>
                        <a:lstStyle/>
                        <a:p>
                          <a:endParaRPr lang="en-US"/>
                        </a:p>
                      </a:txBody>
                      <a:tcPr>
                        <a:blipFill>
                          <a:blip r:embed="rId3"/>
                          <a:stretch>
                            <a:fillRect l="-255294" t="-508000" r="-201765" b="-232000"/>
                          </a:stretch>
                        </a:blipFill>
                      </a:tcPr>
                    </a:tc>
                    <a:tc>
                      <a:txBody>
                        <a:bodyPr/>
                        <a:lstStyle/>
                        <a:p>
                          <a:endParaRPr lang="en-US"/>
                        </a:p>
                      </a:txBody>
                      <a:tcPr>
                        <a:blipFill>
                          <a:blip r:embed="rId3"/>
                          <a:stretch>
                            <a:fillRect l="-353216" t="-508000" r="-100585" b="-232000"/>
                          </a:stretch>
                        </a:blip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600" dirty="0"/>
                        </a:p>
                      </a:txBody>
                      <a:tcPr/>
                    </a:tc>
                    <a:extLst>
                      <a:ext uri="{0D108BD9-81ED-4DB2-BD59-A6C34878D82A}">
                        <a16:rowId xmlns:a16="http://schemas.microsoft.com/office/drawing/2014/main" val="3683376922"/>
                      </a:ext>
                    </a:extLst>
                  </a:tr>
                  <a:tr h="826516">
                    <a:tc>
                      <a:txBody>
                        <a:bodyPr/>
                        <a:lstStyle/>
                        <a:p>
                          <a:r>
                            <a:rPr lang="en-US" sz="1600" dirty="0"/>
                            <a:t>14/12</a:t>
                          </a:r>
                        </a:p>
                      </a:txBody>
                      <a:tcPr/>
                    </a:tc>
                    <a:tc>
                      <a:txBody>
                        <a:bodyPr/>
                        <a:lstStyle/>
                        <a:p>
                          <a:endParaRPr lang="en-US"/>
                        </a:p>
                      </a:txBody>
                      <a:tcPr>
                        <a:blipFill>
                          <a:blip r:embed="rId3"/>
                          <a:stretch>
                            <a:fillRect l="-54386" t="-467692" r="-399415" b="-78462"/>
                          </a:stretch>
                        </a:blipFill>
                      </a:tcPr>
                    </a:tc>
                    <a:tc>
                      <a:txBody>
                        <a:bodyPr/>
                        <a:lstStyle/>
                        <a:p>
                          <a:endParaRPr lang="en-US" sz="1600" dirty="0"/>
                        </a:p>
                      </a:txBody>
                      <a:tcPr/>
                    </a:tc>
                    <a:tc>
                      <a:txBody>
                        <a:bodyPr/>
                        <a:lstStyle/>
                        <a:p>
                          <a:endParaRPr lang="en-US"/>
                        </a:p>
                      </a:txBody>
                      <a:tcPr>
                        <a:blipFill>
                          <a:blip r:embed="rId3"/>
                          <a:stretch>
                            <a:fillRect l="-255294" t="-467692" r="-201765" b="-78462"/>
                          </a:stretch>
                        </a:blipFill>
                      </a:tcPr>
                    </a:tc>
                    <a:tc>
                      <a:txBody>
                        <a:bodyPr/>
                        <a:lstStyle/>
                        <a:p>
                          <a:endParaRPr lang="en-US"/>
                        </a:p>
                      </a:txBody>
                      <a:tcPr>
                        <a:blipFill>
                          <a:blip r:embed="rId3"/>
                          <a:stretch>
                            <a:fillRect l="-353216" t="-467692" r="-100585" b="-78462"/>
                          </a:stretch>
                        </a:blipFill>
                      </a:tcPr>
                    </a:tc>
                    <a:tc>
                      <a:txBody>
                        <a:bodyPr/>
                        <a:lstStyle/>
                        <a:p>
                          <a:endParaRPr lang="en-US" sz="1600" dirty="0"/>
                        </a:p>
                      </a:txBody>
                      <a:tcPr/>
                    </a:tc>
                    <a:extLst>
                      <a:ext uri="{0D108BD9-81ED-4DB2-BD59-A6C34878D82A}">
                        <a16:rowId xmlns:a16="http://schemas.microsoft.com/office/drawing/2014/main" val="4138633012"/>
                      </a:ext>
                    </a:extLst>
                  </a:tr>
                  <a:tr h="632274">
                    <a:tc>
                      <a:txBody>
                        <a:bodyPr/>
                        <a:lstStyle/>
                        <a:p>
                          <a:r>
                            <a:rPr lang="en-US" sz="1600" dirty="0"/>
                            <a:t>Total</a:t>
                          </a:r>
                        </a:p>
                      </a:txBody>
                      <a:tcPr/>
                    </a:tc>
                    <a:tc>
                      <a:txBody>
                        <a:bodyPr/>
                        <a:lstStyle/>
                        <a:p>
                          <a:endParaRPr lang="en-US" sz="1600" dirty="0"/>
                        </a:p>
                      </a:txBody>
                      <a:tcPr/>
                    </a:tc>
                    <a:tc>
                      <a:txBody>
                        <a:bodyPr/>
                        <a:lstStyle/>
                        <a:p>
                          <a:endParaRPr lang="en-US" sz="1600" dirty="0"/>
                        </a:p>
                      </a:txBody>
                      <a:tcPr/>
                    </a:tc>
                    <a:tc>
                      <a:txBody>
                        <a:bodyPr/>
                        <a:lstStyle/>
                        <a:p>
                          <a:endParaRPr lang="en-US" sz="1600" dirty="0"/>
                        </a:p>
                      </a:txBody>
                      <a:tcPr/>
                    </a:tc>
                    <a:tc>
                      <a:txBody>
                        <a:bodyPr/>
                        <a:lstStyle/>
                        <a:p>
                          <a:r>
                            <a:rPr lang="en-US" sz="1600" b="1" dirty="0"/>
                            <a:t>98.678</a:t>
                          </a:r>
                        </a:p>
                      </a:txBody>
                      <a:tcPr/>
                    </a:tc>
                    <a:tc>
                      <a:txBody>
                        <a:bodyPr/>
                        <a:lstStyle/>
                        <a:p>
                          <a:r>
                            <a:rPr lang="en-US" sz="1600" b="1" dirty="0"/>
                            <a:t>100.941</a:t>
                          </a:r>
                        </a:p>
                      </a:txBody>
                      <a:tcPr/>
                    </a:tc>
                    <a:extLst>
                      <a:ext uri="{0D108BD9-81ED-4DB2-BD59-A6C34878D82A}">
                        <a16:rowId xmlns:a16="http://schemas.microsoft.com/office/drawing/2014/main" val="4176972528"/>
                      </a:ext>
                    </a:extLst>
                  </a:tr>
                </a:tbl>
              </a:graphicData>
            </a:graphic>
          </p:graphicFrame>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75C69DAB-829C-9FD9-0E48-3120C81BF425}"/>
                  </a:ext>
                </a:extLst>
              </p:cNvPr>
              <p:cNvSpPr txBox="1"/>
              <p:nvPr/>
            </p:nvSpPr>
            <p:spPr>
              <a:xfrm>
                <a:off x="107065" y="5685872"/>
                <a:ext cx="11351872" cy="510011"/>
              </a:xfrm>
              <a:prstGeom prst="rect">
                <a:avLst/>
              </a:prstGeom>
              <a:noFill/>
            </p:spPr>
            <p:txBody>
              <a:bodyPr wrap="square">
                <a:spAutoFit/>
              </a:bodyPr>
              <a:lstStyle/>
              <a:p>
                <a:r>
                  <a:rPr lang="en-AU" b="0" dirty="0">
                    <a:solidFill>
                      <a:srgbClr val="0070C0"/>
                    </a:solidFill>
                  </a:rPr>
                  <a:t>Discrete compounding: </a:t>
                </a:r>
                <a14:m>
                  <m:oMath xmlns:m="http://schemas.openxmlformats.org/officeDocument/2006/math">
                    <m:r>
                      <m:rPr>
                        <m:sty m:val="p"/>
                      </m:rPr>
                      <a:rPr lang="en-AU" b="0" i="0" smtClean="0">
                        <a:solidFill>
                          <a:srgbClr val="0070C0"/>
                        </a:solidFill>
                        <a:latin typeface="Cambria Math" panose="02040503050406030204" pitchFamily="18" charset="0"/>
                      </a:rPr>
                      <m:t>PV</m:t>
                    </m:r>
                    <m:r>
                      <a:rPr lang="en-AU" b="0" i="0" smtClean="0">
                        <a:solidFill>
                          <a:srgbClr val="0070C0"/>
                        </a:solidFill>
                        <a:latin typeface="Cambria Math" panose="02040503050406030204" pitchFamily="18" charset="0"/>
                      </a:rPr>
                      <m:t>=</m:t>
                    </m:r>
                    <m:r>
                      <m:rPr>
                        <m:sty m:val="p"/>
                      </m:rPr>
                      <a:rPr lang="en-AU" b="0" i="0" smtClean="0">
                        <a:solidFill>
                          <a:srgbClr val="0070C0"/>
                        </a:solidFill>
                        <a:latin typeface="Cambria Math" panose="02040503050406030204" pitchFamily="18" charset="0"/>
                      </a:rPr>
                      <m:t>FV</m:t>
                    </m:r>
                    <m:r>
                      <a:rPr lang="en-AU" b="0" i="1" smtClean="0">
                        <a:solidFill>
                          <a:srgbClr val="0070C0"/>
                        </a:solidFill>
                        <a:latin typeface="Cambria Math" panose="02040503050406030204" pitchFamily="18" charset="0"/>
                      </a:rPr>
                      <m:t>(1+</m:t>
                    </m:r>
                    <m:f>
                      <m:fPr>
                        <m:ctrlPr>
                          <a:rPr lang="en-AU" b="0" i="1" smtClean="0">
                            <a:solidFill>
                              <a:srgbClr val="0070C0"/>
                            </a:solidFill>
                            <a:latin typeface="Cambria Math" panose="02040503050406030204" pitchFamily="18" charset="0"/>
                          </a:rPr>
                        </m:ctrlPr>
                      </m:fPr>
                      <m:num>
                        <m:sSub>
                          <m:sSubPr>
                            <m:ctrlPr>
                              <a:rPr lang="en-AU" b="0" i="1" smtClean="0">
                                <a:solidFill>
                                  <a:srgbClr val="0070C0"/>
                                </a:solidFill>
                                <a:latin typeface="Cambria Math" panose="02040503050406030204" pitchFamily="18" charset="0"/>
                              </a:rPr>
                            </m:ctrlPr>
                          </m:sSubPr>
                          <m:e>
                            <m:r>
                              <a:rPr lang="en-AU" b="0" i="1" smtClean="0">
                                <a:solidFill>
                                  <a:srgbClr val="0070C0"/>
                                </a:solidFill>
                                <a:latin typeface="Cambria Math" panose="02040503050406030204" pitchFamily="18" charset="0"/>
                              </a:rPr>
                              <m:t>𝑅</m:t>
                            </m:r>
                          </m:e>
                          <m:sub>
                            <m:r>
                              <a:rPr lang="en-AU" b="0" i="1" smtClean="0">
                                <a:solidFill>
                                  <a:srgbClr val="0070C0"/>
                                </a:solidFill>
                                <a:latin typeface="Cambria Math" panose="02040503050406030204" pitchFamily="18" charset="0"/>
                              </a:rPr>
                              <m:t>𝑚</m:t>
                            </m:r>
                          </m:sub>
                        </m:sSub>
                      </m:num>
                      <m:den>
                        <m:r>
                          <a:rPr lang="en-AU" b="0" i="1" smtClean="0">
                            <a:solidFill>
                              <a:srgbClr val="0070C0"/>
                            </a:solidFill>
                            <a:latin typeface="Cambria Math" panose="02040503050406030204" pitchFamily="18" charset="0"/>
                          </a:rPr>
                          <m:t>𝑚</m:t>
                        </m:r>
                      </m:den>
                    </m:f>
                    <m:sSup>
                      <m:sSupPr>
                        <m:ctrlPr>
                          <a:rPr lang="en-AU" b="0" i="1" smtClean="0">
                            <a:solidFill>
                              <a:srgbClr val="0070C0"/>
                            </a:solidFill>
                            <a:latin typeface="Cambria Math" panose="02040503050406030204" pitchFamily="18" charset="0"/>
                          </a:rPr>
                        </m:ctrlPr>
                      </m:sSupPr>
                      <m:e>
                        <m:r>
                          <a:rPr lang="en-AU" b="0" i="1" smtClean="0">
                            <a:solidFill>
                              <a:srgbClr val="0070C0"/>
                            </a:solidFill>
                            <a:latin typeface="Cambria Math" panose="02040503050406030204" pitchFamily="18" charset="0"/>
                          </a:rPr>
                          <m:t>)</m:t>
                        </m:r>
                      </m:e>
                      <m:sup>
                        <m:r>
                          <a:rPr lang="en-AU" b="0" i="1" smtClean="0">
                            <a:solidFill>
                              <a:srgbClr val="0070C0"/>
                            </a:solidFill>
                            <a:latin typeface="Cambria Math" panose="02040503050406030204" pitchFamily="18" charset="0"/>
                          </a:rPr>
                          <m:t>−</m:t>
                        </m:r>
                        <m:r>
                          <a:rPr lang="en-AU" b="0" i="1" smtClean="0">
                            <a:solidFill>
                              <a:srgbClr val="0070C0"/>
                            </a:solidFill>
                            <a:latin typeface="Cambria Math" panose="02040503050406030204" pitchFamily="18" charset="0"/>
                          </a:rPr>
                          <m:t>𝑚𝑇</m:t>
                        </m:r>
                      </m:sup>
                    </m:sSup>
                    <m:r>
                      <a:rPr lang="en-AU" b="0" i="1" smtClean="0">
                        <a:solidFill>
                          <a:srgbClr val="0070C0"/>
                        </a:solidFill>
                        <a:latin typeface="Cambria Math" panose="02040503050406030204" pitchFamily="18" charset="0"/>
                        <a:ea typeface="Cambria Math" panose="02040503050406030204" pitchFamily="18" charset="0"/>
                      </a:rPr>
                      <m:t>→</m:t>
                    </m:r>
                    <m:r>
                      <a:rPr lang="en-AU" b="0" i="1" smtClean="0">
                        <a:solidFill>
                          <a:srgbClr val="0070C0"/>
                        </a:solidFill>
                        <a:latin typeface="Cambria Math" panose="02040503050406030204" pitchFamily="18" charset="0"/>
                        <a:ea typeface="Cambria Math" panose="02040503050406030204" pitchFamily="18" charset="0"/>
                      </a:rPr>
                      <m:t>𝑚</m:t>
                    </m:r>
                    <m:r>
                      <a:rPr lang="en-AU" b="0" i="1" smtClean="0">
                        <a:solidFill>
                          <a:srgbClr val="0070C0"/>
                        </a:solidFill>
                        <a:latin typeface="Cambria Math" panose="02040503050406030204" pitchFamily="18" charset="0"/>
                        <a:ea typeface="Cambria Math" panose="02040503050406030204" pitchFamily="18" charset="0"/>
                      </a:rPr>
                      <m:t>=4,  </m:t>
                    </m:r>
                    <m:r>
                      <a:rPr lang="en-AU" b="0" i="1" smtClean="0">
                        <a:solidFill>
                          <a:srgbClr val="0070C0"/>
                        </a:solidFill>
                        <a:latin typeface="Cambria Math" panose="02040503050406030204" pitchFamily="18" charset="0"/>
                        <a:ea typeface="Cambria Math" panose="02040503050406030204" pitchFamily="18" charset="0"/>
                      </a:rPr>
                      <m:t>𝑑𝑖𝑠𝑐𝑜𝑢𝑛𝑡</m:t>
                    </m:r>
                    <m:r>
                      <a:rPr lang="en-AU" b="0" i="1" smtClean="0">
                        <a:solidFill>
                          <a:srgbClr val="0070C0"/>
                        </a:solidFill>
                        <a:latin typeface="Cambria Math" panose="02040503050406030204" pitchFamily="18" charset="0"/>
                        <a:ea typeface="Cambria Math" panose="02040503050406030204" pitchFamily="18" charset="0"/>
                      </a:rPr>
                      <m:t> </m:t>
                    </m:r>
                    <m:r>
                      <a:rPr lang="en-AU" b="0" i="1" smtClean="0">
                        <a:solidFill>
                          <a:srgbClr val="0070C0"/>
                        </a:solidFill>
                        <a:latin typeface="Cambria Math" panose="02040503050406030204" pitchFamily="18" charset="0"/>
                        <a:ea typeface="Cambria Math" panose="02040503050406030204" pitchFamily="18" charset="0"/>
                      </a:rPr>
                      <m:t>𝑓𝑎𝑐𝑡𝑜𝑟</m:t>
                    </m:r>
                    <m:r>
                      <a:rPr lang="en-AU" b="0" i="1" smtClean="0">
                        <a:solidFill>
                          <a:srgbClr val="0070C0"/>
                        </a:solidFill>
                        <a:latin typeface="Cambria Math" panose="02040503050406030204" pitchFamily="18" charset="0"/>
                        <a:ea typeface="Cambria Math" panose="02040503050406030204" pitchFamily="18" charset="0"/>
                      </a:rPr>
                      <m:t>=(1+</m:t>
                    </m:r>
                    <m:f>
                      <m:fPr>
                        <m:ctrlPr>
                          <a:rPr lang="en-AU" i="1">
                            <a:solidFill>
                              <a:srgbClr val="0070C0"/>
                            </a:solidFill>
                            <a:latin typeface="Cambria Math" panose="02040503050406030204" pitchFamily="18" charset="0"/>
                          </a:rPr>
                        </m:ctrlPr>
                      </m:fPr>
                      <m:num>
                        <m:r>
                          <a:rPr lang="en-AU" b="0" i="1" smtClean="0">
                            <a:solidFill>
                              <a:srgbClr val="0070C0"/>
                            </a:solidFill>
                            <a:latin typeface="Cambria Math" panose="02040503050406030204" pitchFamily="18" charset="0"/>
                          </a:rPr>
                          <m:t>12%</m:t>
                        </m:r>
                      </m:num>
                      <m:den>
                        <m:r>
                          <a:rPr lang="en-AU" b="0" i="1" smtClean="0">
                            <a:solidFill>
                              <a:srgbClr val="0070C0"/>
                            </a:solidFill>
                            <a:latin typeface="Cambria Math" panose="02040503050406030204" pitchFamily="18" charset="0"/>
                          </a:rPr>
                          <m:t>4</m:t>
                        </m:r>
                      </m:den>
                    </m:f>
                    <m:sSup>
                      <m:sSupPr>
                        <m:ctrlPr>
                          <a:rPr lang="en-AU" i="1">
                            <a:solidFill>
                              <a:srgbClr val="0070C0"/>
                            </a:solidFill>
                            <a:latin typeface="Cambria Math" panose="02040503050406030204" pitchFamily="18" charset="0"/>
                          </a:rPr>
                        </m:ctrlPr>
                      </m:sSupPr>
                      <m:e>
                        <m:r>
                          <a:rPr lang="en-AU" i="1">
                            <a:solidFill>
                              <a:srgbClr val="0070C0"/>
                            </a:solidFill>
                            <a:latin typeface="Cambria Math" panose="02040503050406030204" pitchFamily="18" charset="0"/>
                          </a:rPr>
                          <m:t>)</m:t>
                        </m:r>
                      </m:e>
                      <m:sup>
                        <m:r>
                          <a:rPr lang="en-AU" i="1">
                            <a:solidFill>
                              <a:srgbClr val="0070C0"/>
                            </a:solidFill>
                            <a:latin typeface="Cambria Math" panose="02040503050406030204" pitchFamily="18" charset="0"/>
                          </a:rPr>
                          <m:t>−</m:t>
                        </m:r>
                        <m:r>
                          <a:rPr lang="en-AU" b="0" i="1" smtClean="0">
                            <a:solidFill>
                              <a:srgbClr val="0070C0"/>
                            </a:solidFill>
                            <a:latin typeface="Cambria Math" panose="02040503050406030204" pitchFamily="18" charset="0"/>
                          </a:rPr>
                          <m:t>4</m:t>
                        </m:r>
                        <m:r>
                          <a:rPr lang="en-AU" i="1">
                            <a:solidFill>
                              <a:srgbClr val="0070C0"/>
                            </a:solidFill>
                            <a:latin typeface="Cambria Math" panose="02040503050406030204" pitchFamily="18" charset="0"/>
                          </a:rPr>
                          <m:t>𝑇</m:t>
                        </m:r>
                      </m:sup>
                    </m:sSup>
                  </m:oMath>
                </a14:m>
                <a:endParaRPr lang="en-US" dirty="0"/>
              </a:p>
            </p:txBody>
          </p:sp>
        </mc:Choice>
        <mc:Fallback xmlns="">
          <p:sp>
            <p:nvSpPr>
              <p:cNvPr id="6" name="TextBox 5">
                <a:extLst>
                  <a:ext uri="{FF2B5EF4-FFF2-40B4-BE49-F238E27FC236}">
                    <a16:creationId xmlns:a16="http://schemas.microsoft.com/office/drawing/2014/main" id="{75C69DAB-829C-9FD9-0E48-3120C81BF425}"/>
                  </a:ext>
                </a:extLst>
              </p:cNvPr>
              <p:cNvSpPr txBox="1">
                <a:spLocks noRot="1" noChangeAspect="1" noMove="1" noResize="1" noEditPoints="1" noAdjustHandles="1" noChangeArrowheads="1" noChangeShapeType="1" noTextEdit="1"/>
              </p:cNvSpPr>
              <p:nvPr/>
            </p:nvSpPr>
            <p:spPr>
              <a:xfrm>
                <a:off x="107065" y="5685872"/>
                <a:ext cx="11351872" cy="510011"/>
              </a:xfrm>
              <a:prstGeom prst="rect">
                <a:avLst/>
              </a:prstGeom>
              <a:blipFill>
                <a:blip r:embed="rId4"/>
                <a:stretch>
                  <a:fillRect l="-447" b="-4878"/>
                </a:stretch>
              </a:blipFill>
            </p:spPr>
            <p:txBody>
              <a:bodyPr/>
              <a:lstStyle/>
              <a:p>
                <a:r>
                  <a:rPr lang="en-US">
                    <a:noFill/>
                  </a:rPr>
                  <a:t> </a:t>
                </a:r>
              </a:p>
            </p:txBody>
          </p:sp>
        </mc:Fallback>
      </mc:AlternateContent>
      <p:sp>
        <p:nvSpPr>
          <p:cNvPr id="7" name="Oval 6">
            <a:extLst>
              <a:ext uri="{FF2B5EF4-FFF2-40B4-BE49-F238E27FC236}">
                <a16:creationId xmlns:a16="http://schemas.microsoft.com/office/drawing/2014/main" id="{D2186DBE-0DD1-D0AC-3AB9-2E32F220293E}"/>
              </a:ext>
            </a:extLst>
          </p:cNvPr>
          <p:cNvSpPr/>
          <p:nvPr/>
        </p:nvSpPr>
        <p:spPr>
          <a:xfrm>
            <a:off x="5636871" y="-91682"/>
            <a:ext cx="1886673" cy="5685872"/>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Straight Arrow Connector 8">
            <a:extLst>
              <a:ext uri="{FF2B5EF4-FFF2-40B4-BE49-F238E27FC236}">
                <a16:creationId xmlns:a16="http://schemas.microsoft.com/office/drawing/2014/main" id="{6C4F7202-2C91-0CF5-618C-1435077FB95F}"/>
              </a:ext>
            </a:extLst>
          </p:cNvPr>
          <p:cNvCxnSpPr/>
          <p:nvPr/>
        </p:nvCxnSpPr>
        <p:spPr>
          <a:xfrm flipH="1" flipV="1">
            <a:off x="6991109" y="4502552"/>
            <a:ext cx="949124" cy="118332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10" name="Date Placeholder 9">
            <a:extLst>
              <a:ext uri="{FF2B5EF4-FFF2-40B4-BE49-F238E27FC236}">
                <a16:creationId xmlns:a16="http://schemas.microsoft.com/office/drawing/2014/main" id="{CB666040-ED7D-4314-99CC-6B940A9602C7}"/>
              </a:ext>
            </a:extLst>
          </p:cNvPr>
          <p:cNvSpPr>
            <a:spLocks noGrp="1"/>
          </p:cNvSpPr>
          <p:nvPr>
            <p:ph type="dt" sz="half" idx="10"/>
          </p:nvPr>
        </p:nvSpPr>
        <p:spPr/>
        <p:txBody>
          <a:bodyPr/>
          <a:lstStyle/>
          <a:p>
            <a:fld id="{8E0BCD99-822F-6D48-905C-B51F0C146CE5}" type="datetime1">
              <a:rPr lang="en-AU" smtClean="0"/>
              <a:t>28/8/2026</a:t>
            </a:fld>
            <a:endParaRPr lang="en-US"/>
          </a:p>
        </p:txBody>
      </p:sp>
      <p:sp>
        <p:nvSpPr>
          <p:cNvPr id="11" name="Footer Placeholder 10">
            <a:extLst>
              <a:ext uri="{FF2B5EF4-FFF2-40B4-BE49-F238E27FC236}">
                <a16:creationId xmlns:a16="http://schemas.microsoft.com/office/drawing/2014/main" id="{058AF7E1-0F71-130C-4312-5B77E23996F0}"/>
              </a:ext>
            </a:extLst>
          </p:cNvPr>
          <p:cNvSpPr>
            <a:spLocks noGrp="1"/>
          </p:cNvSpPr>
          <p:nvPr>
            <p:ph type="ftr" sz="quarter" idx="11"/>
          </p:nvPr>
        </p:nvSpPr>
        <p:spPr/>
        <p:txBody>
          <a:bodyPr/>
          <a:lstStyle/>
          <a:p>
            <a:r>
              <a:rPr lang="en-US"/>
              <a:t>FINA2204 - Tutorial 5</a:t>
            </a:r>
          </a:p>
        </p:txBody>
      </p:sp>
      <p:sp>
        <p:nvSpPr>
          <p:cNvPr id="12" name="Slide Number Placeholder 11">
            <a:extLst>
              <a:ext uri="{FF2B5EF4-FFF2-40B4-BE49-F238E27FC236}">
                <a16:creationId xmlns:a16="http://schemas.microsoft.com/office/drawing/2014/main" id="{959125E7-2FDA-F9E1-1C81-05CB2FC15FA6}"/>
              </a:ext>
            </a:extLst>
          </p:cNvPr>
          <p:cNvSpPr>
            <a:spLocks noGrp="1"/>
          </p:cNvSpPr>
          <p:nvPr>
            <p:ph type="sldNum" sz="quarter" idx="12"/>
          </p:nvPr>
        </p:nvSpPr>
        <p:spPr/>
        <p:txBody>
          <a:bodyPr/>
          <a:lstStyle/>
          <a:p>
            <a:fld id="{9855740F-6ECD-274F-B089-6B266B6B07F9}" type="slidenum">
              <a:rPr lang="en-US" smtClean="0"/>
              <a:t>41</a:t>
            </a:fld>
            <a:endParaRPr lang="en-US"/>
          </a:p>
        </p:txBody>
      </p:sp>
      <p:sp>
        <p:nvSpPr>
          <p:cNvPr id="3" name="Rectangle 2">
            <a:extLst>
              <a:ext uri="{FF2B5EF4-FFF2-40B4-BE49-F238E27FC236}">
                <a16:creationId xmlns:a16="http://schemas.microsoft.com/office/drawing/2014/main" id="{0718FFA4-ECD8-DAC9-C227-E10F009B142D}"/>
              </a:ext>
            </a:extLst>
          </p:cNvPr>
          <p:cNvSpPr/>
          <p:nvPr/>
        </p:nvSpPr>
        <p:spPr>
          <a:xfrm>
            <a:off x="3581400" y="1968285"/>
            <a:ext cx="1874003" cy="2898183"/>
          </a:xfrm>
          <a:prstGeom prst="rect">
            <a:avLst/>
          </a:prstGeom>
          <a:solidFill>
            <a:srgbClr val="FFFF00"/>
          </a:solid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N/A</a:t>
            </a:r>
          </a:p>
        </p:txBody>
      </p:sp>
    </p:spTree>
    <p:extLst>
      <p:ext uri="{BB962C8B-B14F-4D97-AF65-F5344CB8AC3E}">
        <p14:creationId xmlns:p14="http://schemas.microsoft.com/office/powerpoint/2010/main" val="38907499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3"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6BA5DD-4DB3-1BF0-F540-724D797EB312}"/>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C48CB70B-7A0D-A029-CFAB-8A84761B00E8}"/>
              </a:ext>
            </a:extLst>
          </p:cNvPr>
          <p:cNvSpPr>
            <a:spLocks noGrp="1"/>
          </p:cNvSpPr>
          <p:nvPr>
            <p:ph idx="1"/>
          </p:nvPr>
        </p:nvSpPr>
        <p:spPr/>
        <p:txBody>
          <a:bodyPr/>
          <a:lstStyle/>
          <a:p>
            <a:endParaRPr lang="en-US"/>
          </a:p>
        </p:txBody>
      </p:sp>
      <p:sp>
        <p:nvSpPr>
          <p:cNvPr id="4" name="Date Placeholder 3">
            <a:extLst>
              <a:ext uri="{FF2B5EF4-FFF2-40B4-BE49-F238E27FC236}">
                <a16:creationId xmlns:a16="http://schemas.microsoft.com/office/drawing/2014/main" id="{F70D7F99-98E3-FF44-8998-5797238178EC}"/>
              </a:ext>
            </a:extLst>
          </p:cNvPr>
          <p:cNvSpPr>
            <a:spLocks noGrp="1"/>
          </p:cNvSpPr>
          <p:nvPr>
            <p:ph type="dt" sz="half" idx="10"/>
          </p:nvPr>
        </p:nvSpPr>
        <p:spPr/>
        <p:txBody>
          <a:bodyPr/>
          <a:lstStyle/>
          <a:p>
            <a:fld id="{B0E461D4-3839-3748-8B1E-E90BB3DA99FF}" type="datetime1">
              <a:rPr lang="en-AU" smtClean="0"/>
              <a:t>28/8/2026</a:t>
            </a:fld>
            <a:endParaRPr lang="en-US"/>
          </a:p>
        </p:txBody>
      </p:sp>
      <p:sp>
        <p:nvSpPr>
          <p:cNvPr id="5" name="Footer Placeholder 4">
            <a:extLst>
              <a:ext uri="{FF2B5EF4-FFF2-40B4-BE49-F238E27FC236}">
                <a16:creationId xmlns:a16="http://schemas.microsoft.com/office/drawing/2014/main" id="{37CCFB9A-A926-EA8F-6283-617CF7A7D95D}"/>
              </a:ext>
            </a:extLst>
          </p:cNvPr>
          <p:cNvSpPr>
            <a:spLocks noGrp="1"/>
          </p:cNvSpPr>
          <p:nvPr>
            <p:ph type="ftr" sz="quarter" idx="11"/>
          </p:nvPr>
        </p:nvSpPr>
        <p:spPr/>
        <p:txBody>
          <a:bodyPr/>
          <a:lstStyle/>
          <a:p>
            <a:r>
              <a:rPr lang="en-US"/>
              <a:t>FINA2204 - Tutorial 5</a:t>
            </a:r>
          </a:p>
        </p:txBody>
      </p:sp>
      <p:sp>
        <p:nvSpPr>
          <p:cNvPr id="6" name="Slide Number Placeholder 5">
            <a:extLst>
              <a:ext uri="{FF2B5EF4-FFF2-40B4-BE49-F238E27FC236}">
                <a16:creationId xmlns:a16="http://schemas.microsoft.com/office/drawing/2014/main" id="{DA5FCC4A-AA5F-8A3B-C65F-B3155036729B}"/>
              </a:ext>
            </a:extLst>
          </p:cNvPr>
          <p:cNvSpPr>
            <a:spLocks noGrp="1"/>
          </p:cNvSpPr>
          <p:nvPr>
            <p:ph type="sldNum" sz="quarter" idx="12"/>
          </p:nvPr>
        </p:nvSpPr>
        <p:spPr/>
        <p:txBody>
          <a:bodyPr/>
          <a:lstStyle/>
          <a:p>
            <a:fld id="{9855740F-6ECD-274F-B089-6B266B6B07F9}" type="slidenum">
              <a:rPr lang="en-US" smtClean="0"/>
              <a:t>42</a:t>
            </a:fld>
            <a:endParaRPr lang="en-US"/>
          </a:p>
        </p:txBody>
      </p:sp>
      <mc:AlternateContent xmlns:mc="http://schemas.openxmlformats.org/markup-compatibility/2006" xmlns:a14="http://schemas.microsoft.com/office/drawing/2010/main">
        <mc:Choice Requires="a14">
          <p:graphicFrame>
            <p:nvGraphicFramePr>
              <p:cNvPr id="7" name="Table 6">
                <a:extLst>
                  <a:ext uri="{FF2B5EF4-FFF2-40B4-BE49-F238E27FC236}">
                    <a16:creationId xmlns:a16="http://schemas.microsoft.com/office/drawing/2014/main" id="{03C16262-E66F-0F22-6F67-6AC9257F826C}"/>
                  </a:ext>
                </a:extLst>
              </p:cNvPr>
              <p:cNvGraphicFramePr>
                <a:graphicFrameLocks noGrp="1"/>
              </p:cNvGraphicFramePr>
              <p:nvPr>
                <p:extLst>
                  <p:ext uri="{D42A27DB-BD31-4B8C-83A1-F6EECF244321}">
                    <p14:modId xmlns:p14="http://schemas.microsoft.com/office/powerpoint/2010/main" val="4069702989"/>
                  </p:ext>
                </p:extLst>
              </p:nvPr>
            </p:nvGraphicFramePr>
            <p:xfrm>
              <a:off x="107065" y="220182"/>
              <a:ext cx="11977873" cy="5676397"/>
            </p:xfrm>
            <a:graphic>
              <a:graphicData uri="http://schemas.openxmlformats.org/drawingml/2006/table">
                <a:tbl>
                  <a:tblPr firstRow="1" bandRow="1">
                    <a:tableStyleId>{5C22544A-7EE6-4342-B048-85BDC9FD1C3A}</a:tableStyleId>
                  </a:tblPr>
                  <a:tblGrid>
                    <a:gridCol w="1172693">
                      <a:extLst>
                        <a:ext uri="{9D8B030D-6E8A-4147-A177-3AD203B41FA5}">
                          <a16:colId xmlns:a16="http://schemas.microsoft.com/office/drawing/2014/main" val="1902593901"/>
                        </a:ext>
                      </a:extLst>
                    </a:gridCol>
                    <a:gridCol w="2161036">
                      <a:extLst>
                        <a:ext uri="{9D8B030D-6E8A-4147-A177-3AD203B41FA5}">
                          <a16:colId xmlns:a16="http://schemas.microsoft.com/office/drawing/2014/main" val="3932323135"/>
                        </a:ext>
                      </a:extLst>
                    </a:gridCol>
                    <a:gridCol w="2161036">
                      <a:extLst>
                        <a:ext uri="{9D8B030D-6E8A-4147-A177-3AD203B41FA5}">
                          <a16:colId xmlns:a16="http://schemas.microsoft.com/office/drawing/2014/main" val="3470556675"/>
                        </a:ext>
                      </a:extLst>
                    </a:gridCol>
                    <a:gridCol w="2161036">
                      <a:extLst>
                        <a:ext uri="{9D8B030D-6E8A-4147-A177-3AD203B41FA5}">
                          <a16:colId xmlns:a16="http://schemas.microsoft.com/office/drawing/2014/main" val="3707822957"/>
                        </a:ext>
                      </a:extLst>
                    </a:gridCol>
                    <a:gridCol w="2161036">
                      <a:extLst>
                        <a:ext uri="{9D8B030D-6E8A-4147-A177-3AD203B41FA5}">
                          <a16:colId xmlns:a16="http://schemas.microsoft.com/office/drawing/2014/main" val="3119402058"/>
                        </a:ext>
                      </a:extLst>
                    </a:gridCol>
                    <a:gridCol w="2161036">
                      <a:extLst>
                        <a:ext uri="{9D8B030D-6E8A-4147-A177-3AD203B41FA5}">
                          <a16:colId xmlns:a16="http://schemas.microsoft.com/office/drawing/2014/main" val="1766958485"/>
                        </a:ext>
                      </a:extLst>
                    </a:gridCol>
                  </a:tblGrid>
                  <a:tr h="661182">
                    <a:tc>
                      <a:txBody>
                        <a:bodyPr/>
                        <a:lstStyle/>
                        <a:p>
                          <a:r>
                            <a:rPr lang="en-US" dirty="0"/>
                            <a:t>Time</a:t>
                          </a:r>
                        </a:p>
                      </a:txBody>
                      <a:tcPr/>
                    </a:tc>
                    <a:tc>
                      <a:txBody>
                        <a:bodyPr/>
                        <a:lstStyle/>
                        <a:p>
                          <a:pPr/>
                          <a14:m>
                            <m:oMathPara xmlns:m="http://schemas.openxmlformats.org/officeDocument/2006/math">
                              <m:oMathParaPr>
                                <m:jc m:val="centerGroup"/>
                              </m:oMathParaPr>
                              <m:oMath xmlns:m="http://schemas.openxmlformats.org/officeDocument/2006/math">
                                <m:sSub>
                                  <m:sSubPr>
                                    <m:ctrlPr>
                                      <a:rPr lang="en-AU" i="1" smtClean="0">
                                        <a:latin typeface="Cambria Math" panose="02040503050406030204" pitchFamily="18" charset="0"/>
                                      </a:rPr>
                                    </m:ctrlPr>
                                  </m:sSubPr>
                                  <m:e>
                                    <m:r>
                                      <a:rPr lang="en-AU" i="1">
                                        <a:latin typeface="Cambria Math" panose="02040503050406030204" pitchFamily="18" charset="0"/>
                                      </a:rPr>
                                      <m:t>𝐵</m:t>
                                    </m:r>
                                  </m:e>
                                  <m:sub>
                                    <m:r>
                                      <a:rPr lang="en-AU" i="1">
                                        <a:latin typeface="Cambria Math" panose="02040503050406030204" pitchFamily="18" charset="0"/>
                                      </a:rPr>
                                      <m:t>𝑓</m:t>
                                    </m:r>
                                    <m:r>
                                      <a:rPr lang="en-AU" b="0" i="1" smtClean="0">
                                        <a:latin typeface="Cambria Math" panose="02040503050406030204" pitchFamily="18" charset="0"/>
                                      </a:rPr>
                                      <m:t>𝑖𝑥</m:t>
                                    </m:r>
                                  </m:sub>
                                </m:sSub>
                                <m:r>
                                  <a:rPr lang="en-AU" b="1" i="0" smtClean="0">
                                    <a:latin typeface="Cambria Math" panose="02040503050406030204" pitchFamily="18" charset="0"/>
                                  </a:rPr>
                                  <m:t> </m:t>
                                </m:r>
                                <m:r>
                                  <a:rPr lang="en-AU" b="1" i="1" smtClean="0">
                                    <a:latin typeface="Cambria Math" panose="02040503050406030204" pitchFamily="18" charset="0"/>
                                  </a:rPr>
                                  <m:t>𝒄𝒂𝒔𝒉</m:t>
                                </m:r>
                                <m:r>
                                  <a:rPr lang="en-AU" b="1" i="1" smtClean="0">
                                    <a:latin typeface="Cambria Math" panose="02040503050406030204" pitchFamily="18" charset="0"/>
                                  </a:rPr>
                                  <m:t> </m:t>
                                </m:r>
                                <m:r>
                                  <a:rPr lang="en-AU" b="1" i="1" smtClean="0">
                                    <a:latin typeface="Cambria Math" panose="02040503050406030204" pitchFamily="18" charset="0"/>
                                  </a:rPr>
                                  <m:t>𝒇𝒍𝒐𝒘</m:t>
                                </m:r>
                              </m:oMath>
                            </m:oMathPara>
                          </a14:m>
                          <a:endParaRPr lang="en-US" dirty="0"/>
                        </a:p>
                        <a:p>
                          <a:r>
                            <a:rPr lang="en-US" dirty="0"/>
                            <a:t>(1)</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AU" i="1" smtClean="0">
                                        <a:latin typeface="Cambria Math" panose="02040503050406030204" pitchFamily="18" charset="0"/>
                                      </a:rPr>
                                    </m:ctrlPr>
                                  </m:sSubPr>
                                  <m:e>
                                    <m:r>
                                      <a:rPr lang="en-AU" i="1">
                                        <a:latin typeface="Cambria Math" panose="02040503050406030204" pitchFamily="18" charset="0"/>
                                      </a:rPr>
                                      <m:t>𝐵</m:t>
                                    </m:r>
                                  </m:e>
                                  <m:sub>
                                    <m:r>
                                      <a:rPr lang="en-AU" i="1">
                                        <a:latin typeface="Cambria Math" panose="02040503050406030204" pitchFamily="18" charset="0"/>
                                      </a:rPr>
                                      <m:t>𝑓</m:t>
                                    </m:r>
                                    <m:r>
                                      <a:rPr lang="en-AU" b="0" i="1" smtClean="0">
                                        <a:latin typeface="Cambria Math" panose="02040503050406030204" pitchFamily="18" charset="0"/>
                                      </a:rPr>
                                      <m:t>𝑙</m:t>
                                    </m:r>
                                  </m:sub>
                                </m:sSub>
                                <m:r>
                                  <a:rPr lang="en-AU" b="1" i="0" smtClean="0">
                                    <a:latin typeface="Cambria Math" panose="02040503050406030204" pitchFamily="18" charset="0"/>
                                  </a:rPr>
                                  <m:t> </m:t>
                                </m:r>
                                <m:r>
                                  <a:rPr lang="en-AU" b="1" i="1" smtClean="0">
                                    <a:latin typeface="Cambria Math" panose="02040503050406030204" pitchFamily="18" charset="0"/>
                                  </a:rPr>
                                  <m:t>𝒄𝒂𝒔𝒉</m:t>
                                </m:r>
                                <m:r>
                                  <a:rPr lang="en-AU" b="1" i="1" smtClean="0">
                                    <a:latin typeface="Cambria Math" panose="02040503050406030204" pitchFamily="18" charset="0"/>
                                  </a:rPr>
                                  <m:t> </m:t>
                                </m:r>
                                <m:r>
                                  <a:rPr lang="en-AU" b="1" i="1" smtClean="0">
                                    <a:latin typeface="Cambria Math" panose="02040503050406030204" pitchFamily="18" charset="0"/>
                                  </a:rPr>
                                  <m:t>𝒇𝒍𝒐𝒘</m:t>
                                </m:r>
                              </m:oMath>
                            </m:oMathPara>
                          </a14:m>
                          <a:endParaRPr lang="en-US" dirty="0"/>
                        </a:p>
                        <a:p>
                          <a:r>
                            <a:rPr lang="en-US" dirty="0"/>
                            <a:t>(2)</a:t>
                          </a:r>
                        </a:p>
                      </a:txBody>
                      <a:tcPr/>
                    </a:tc>
                    <a:tc>
                      <a:txBody>
                        <a:bodyPr/>
                        <a:lstStyle/>
                        <a:p>
                          <a:r>
                            <a:rPr lang="en-US" dirty="0"/>
                            <a:t>Discount factor</a:t>
                          </a:r>
                        </a:p>
                        <a:p>
                          <a:r>
                            <a:rPr lang="en-US" dirty="0"/>
                            <a:t>(3)</a:t>
                          </a:r>
                        </a:p>
                      </a:txBody>
                      <a:tcPr/>
                    </a:tc>
                    <a:tc>
                      <a:txBody>
                        <a:bodyPr/>
                        <a:lstStyle/>
                        <a:p>
                          <a:pPr/>
                          <a14:m>
                            <m:oMathPara xmlns:m="http://schemas.openxmlformats.org/officeDocument/2006/math">
                              <m:oMathParaPr>
                                <m:jc m:val="centerGroup"/>
                              </m:oMathParaPr>
                              <m:oMath xmlns:m="http://schemas.openxmlformats.org/officeDocument/2006/math">
                                <m:sSub>
                                  <m:sSubPr>
                                    <m:ctrlPr>
                                      <a:rPr lang="en-AU" i="1" smtClean="0">
                                        <a:latin typeface="Cambria Math" panose="02040503050406030204" pitchFamily="18" charset="0"/>
                                      </a:rPr>
                                    </m:ctrlPr>
                                  </m:sSubPr>
                                  <m:e>
                                    <m:r>
                                      <a:rPr lang="en-AU" b="1" i="1" smtClean="0">
                                        <a:latin typeface="Cambria Math" panose="02040503050406030204" pitchFamily="18" charset="0"/>
                                      </a:rPr>
                                      <m:t>𝑷𝑽</m:t>
                                    </m:r>
                                    <m:r>
                                      <a:rPr lang="en-AU" b="1" i="1" smtClean="0">
                                        <a:latin typeface="Cambria Math" panose="02040503050406030204" pitchFamily="18" charset="0"/>
                                      </a:rPr>
                                      <m:t> </m:t>
                                    </m:r>
                                    <m:r>
                                      <a:rPr lang="en-AU" b="1" i="1" smtClean="0">
                                        <a:latin typeface="Cambria Math" panose="02040503050406030204" pitchFamily="18" charset="0"/>
                                      </a:rPr>
                                      <m:t>𝒐𝒇</m:t>
                                    </m:r>
                                    <m:r>
                                      <a:rPr lang="en-AU" b="1" i="1" smtClean="0">
                                        <a:latin typeface="Cambria Math" panose="02040503050406030204" pitchFamily="18" charset="0"/>
                                      </a:rPr>
                                      <m:t> </m:t>
                                    </m:r>
                                    <m:r>
                                      <a:rPr lang="en-AU" i="1">
                                        <a:latin typeface="Cambria Math" panose="02040503050406030204" pitchFamily="18" charset="0"/>
                                      </a:rPr>
                                      <m:t>𝐵</m:t>
                                    </m:r>
                                  </m:e>
                                  <m:sub>
                                    <m:r>
                                      <a:rPr lang="en-AU" i="1">
                                        <a:latin typeface="Cambria Math" panose="02040503050406030204" pitchFamily="18" charset="0"/>
                                      </a:rPr>
                                      <m:t>𝑓</m:t>
                                    </m:r>
                                    <m:r>
                                      <a:rPr lang="en-AU" b="0" i="1" smtClean="0">
                                        <a:latin typeface="Cambria Math" panose="02040503050406030204" pitchFamily="18" charset="0"/>
                                      </a:rPr>
                                      <m:t>𝑖𝑥</m:t>
                                    </m:r>
                                  </m:sub>
                                </m:sSub>
                              </m:oMath>
                            </m:oMathPara>
                          </a14:m>
                          <a:endParaRPr lang="en-US" dirty="0"/>
                        </a:p>
                        <a:p>
                          <a:r>
                            <a:rPr lang="en-US" dirty="0"/>
                            <a:t>(1)*(3)</a:t>
                          </a:r>
                        </a:p>
                      </a:txBody>
                      <a:tcPr/>
                    </a:tc>
                    <a:tc>
                      <a:txBody>
                        <a:bodyPr/>
                        <a:lstStyle/>
                        <a:p>
                          <a:pPr/>
                          <a14:m>
                            <m:oMathPara xmlns:m="http://schemas.openxmlformats.org/officeDocument/2006/math">
                              <m:oMathParaPr>
                                <m:jc m:val="centerGroup"/>
                              </m:oMathParaPr>
                              <m:oMath xmlns:m="http://schemas.openxmlformats.org/officeDocument/2006/math">
                                <m:sSub>
                                  <m:sSubPr>
                                    <m:ctrlPr>
                                      <a:rPr lang="en-AU" i="1" smtClean="0">
                                        <a:latin typeface="Cambria Math" panose="02040503050406030204" pitchFamily="18" charset="0"/>
                                      </a:rPr>
                                    </m:ctrlPr>
                                  </m:sSubPr>
                                  <m:e>
                                    <m:r>
                                      <a:rPr lang="en-AU" b="1" i="1" smtClean="0">
                                        <a:latin typeface="Cambria Math" panose="02040503050406030204" pitchFamily="18" charset="0"/>
                                      </a:rPr>
                                      <m:t>𝑷𝑽</m:t>
                                    </m:r>
                                    <m:r>
                                      <a:rPr lang="en-AU" b="1" i="1" smtClean="0">
                                        <a:latin typeface="Cambria Math" panose="02040503050406030204" pitchFamily="18" charset="0"/>
                                      </a:rPr>
                                      <m:t> </m:t>
                                    </m:r>
                                    <m:r>
                                      <a:rPr lang="en-AU" b="1" i="1" smtClean="0">
                                        <a:latin typeface="Cambria Math" panose="02040503050406030204" pitchFamily="18" charset="0"/>
                                      </a:rPr>
                                      <m:t>𝒐𝒇</m:t>
                                    </m:r>
                                    <m:r>
                                      <a:rPr lang="en-AU" b="1" i="1" smtClean="0">
                                        <a:latin typeface="Cambria Math" panose="02040503050406030204" pitchFamily="18" charset="0"/>
                                      </a:rPr>
                                      <m:t> </m:t>
                                    </m:r>
                                    <m:r>
                                      <a:rPr lang="en-AU" i="1">
                                        <a:latin typeface="Cambria Math" panose="02040503050406030204" pitchFamily="18" charset="0"/>
                                      </a:rPr>
                                      <m:t>𝐵</m:t>
                                    </m:r>
                                  </m:e>
                                  <m:sub>
                                    <m:r>
                                      <a:rPr lang="en-AU" i="1">
                                        <a:latin typeface="Cambria Math" panose="02040503050406030204" pitchFamily="18" charset="0"/>
                                      </a:rPr>
                                      <m:t>𝑓</m:t>
                                    </m:r>
                                    <m:r>
                                      <a:rPr lang="en-AU" b="0" i="1" smtClean="0">
                                        <a:latin typeface="Cambria Math" panose="02040503050406030204" pitchFamily="18" charset="0"/>
                                      </a:rPr>
                                      <m:t>𝑙</m:t>
                                    </m:r>
                                  </m:sub>
                                </m:sSub>
                              </m:oMath>
                            </m:oMathPara>
                          </a14:m>
                          <a:endParaRPr lang="en-US" dirty="0"/>
                        </a:p>
                        <a:p>
                          <a:r>
                            <a:rPr lang="en-US" dirty="0"/>
                            <a:t>(2)*(3)</a:t>
                          </a:r>
                        </a:p>
                      </a:txBody>
                      <a:tcPr/>
                    </a:tc>
                    <a:extLst>
                      <a:ext uri="{0D108BD9-81ED-4DB2-BD59-A6C34878D82A}">
                        <a16:rowId xmlns:a16="http://schemas.microsoft.com/office/drawing/2014/main" val="1748611465"/>
                      </a:ext>
                    </a:extLst>
                  </a:tr>
                  <a:tr h="632274">
                    <a:tc>
                      <a:txBody>
                        <a:bodyPr/>
                        <a:lstStyle/>
                        <a:p>
                          <a:r>
                            <a:rPr lang="en-US" sz="1600" dirty="0"/>
                            <a:t>2/12</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AU" sz="1600" b="0" i="1" smtClean="0">
                                    <a:latin typeface="Cambria Math" panose="02040503050406030204" pitchFamily="18" charset="0"/>
                                  </a:rPr>
                                  <m:t>100</m:t>
                                </m:r>
                                <m:r>
                                  <a:rPr lang="en-AU" sz="1600" b="0" i="1" smtClean="0">
                                    <a:latin typeface="Cambria Math" panose="02040503050406030204" pitchFamily="18" charset="0"/>
                                    <a:ea typeface="Cambria Math" panose="02040503050406030204" pitchFamily="18" charset="0"/>
                                  </a:rPr>
                                  <m:t>×10%×0.25</m:t>
                                </m:r>
                              </m:oMath>
                            </m:oMathPara>
                          </a14:m>
                          <a:endParaRPr lang="en-US" sz="1600" dirty="0"/>
                        </a:p>
                        <a:p>
                          <a:endParaRPr lang="en-US" sz="16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AU" sz="1600" b="0" i="1" smtClean="0">
                                    <a:latin typeface="Cambria Math" panose="02040503050406030204" pitchFamily="18" charset="0"/>
                                  </a:rPr>
                                  <m:t>100</m:t>
                                </m:r>
                                <m:r>
                                  <a:rPr lang="en-AU" sz="1600" b="0" i="1" smtClean="0">
                                    <a:latin typeface="Cambria Math" panose="02040503050406030204" pitchFamily="18" charset="0"/>
                                    <a:ea typeface="Cambria Math" panose="02040503050406030204" pitchFamily="18" charset="0"/>
                                  </a:rPr>
                                  <m:t>×11.8%×0.25</m:t>
                                </m:r>
                              </m:oMath>
                            </m:oMathPara>
                          </a14:m>
                          <a:endParaRPr lang="en-US" sz="1600" dirty="0"/>
                        </a:p>
                      </a:txBody>
                      <a:tcPr/>
                    </a:tc>
                    <a:tc>
                      <a:txBody>
                        <a:bodyPr/>
                        <a:lstStyle/>
                        <a:p>
                          <a:pPr/>
                          <a14:m>
                            <m:oMathPara xmlns:m="http://schemas.openxmlformats.org/officeDocument/2006/math">
                              <m:oMathParaPr>
                                <m:jc m:val="centerGroup"/>
                              </m:oMathParaPr>
                              <m:oMath xmlns:m="http://schemas.openxmlformats.org/officeDocument/2006/math">
                                <m:r>
                                  <a:rPr lang="en-AU" sz="1600" b="0" i="1" smtClean="0">
                                    <a:latin typeface="Cambria Math" panose="02040503050406030204" pitchFamily="18" charset="0"/>
                                  </a:rPr>
                                  <m:t>(1+3%</m:t>
                                </m:r>
                                <m:sSup>
                                  <m:sSupPr>
                                    <m:ctrlPr>
                                      <a:rPr lang="en-AU" sz="1600" b="0" i="1" smtClean="0">
                                        <a:latin typeface="Cambria Math" panose="02040503050406030204" pitchFamily="18" charset="0"/>
                                      </a:rPr>
                                    </m:ctrlPr>
                                  </m:sSupPr>
                                  <m:e>
                                    <m:r>
                                      <a:rPr lang="en-AU" sz="1600" b="0" i="1" smtClean="0">
                                        <a:latin typeface="Cambria Math" panose="02040503050406030204" pitchFamily="18" charset="0"/>
                                      </a:rPr>
                                      <m:t>)</m:t>
                                    </m:r>
                                  </m:e>
                                  <m:sup>
                                    <m:r>
                                      <a:rPr lang="en-AU" sz="1600" b="0" i="1" smtClean="0">
                                        <a:latin typeface="Cambria Math" panose="02040503050406030204" pitchFamily="18" charset="0"/>
                                      </a:rPr>
                                      <m:t>−4</m:t>
                                    </m:r>
                                    <m:r>
                                      <a:rPr lang="en-AU" sz="1600" b="0" i="1" smtClean="0">
                                        <a:latin typeface="Cambria Math" panose="02040503050406030204" pitchFamily="18" charset="0"/>
                                        <a:ea typeface="Cambria Math" panose="02040503050406030204" pitchFamily="18" charset="0"/>
                                      </a:rPr>
                                      <m:t>×2/12</m:t>
                                    </m:r>
                                  </m:sup>
                                </m:sSup>
                              </m:oMath>
                            </m:oMathPara>
                          </a14:m>
                          <a:endParaRPr lang="en-US" sz="16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AU" sz="1600" b="0" i="1" smtClean="0">
                                    <a:latin typeface="Cambria Math" panose="02040503050406030204" pitchFamily="18" charset="0"/>
                                  </a:rPr>
                                  <m:t>(100</m:t>
                                </m:r>
                                <m:r>
                                  <a:rPr lang="en-AU" sz="1600" b="0" i="1" smtClean="0">
                                    <a:latin typeface="Cambria Math" panose="02040503050406030204" pitchFamily="18" charset="0"/>
                                    <a:ea typeface="Cambria Math" panose="02040503050406030204" pitchFamily="18" charset="0"/>
                                  </a:rPr>
                                  <m:t>×10%×0.25</m:t>
                                </m:r>
                              </m:oMath>
                            </m:oMathPara>
                          </a14:m>
                          <a:endParaRPr lang="en-US" sz="1600" dirty="0"/>
                        </a:p>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AU" sz="1600" b="0" i="1" smtClean="0">
                                    <a:latin typeface="Cambria Math" panose="02040503050406030204" pitchFamily="18" charset="0"/>
                                    <a:ea typeface="Cambria Math" panose="02040503050406030204" pitchFamily="18" charset="0"/>
                                  </a:rPr>
                                  <m:t>)×</m:t>
                                </m:r>
                                <m:r>
                                  <a:rPr lang="en-AU" sz="1600" b="0" i="1" smtClean="0">
                                    <a:latin typeface="Cambria Math" panose="02040503050406030204" pitchFamily="18" charset="0"/>
                                  </a:rPr>
                                  <m:t>(1+3%</m:t>
                                </m:r>
                                <m:sSup>
                                  <m:sSupPr>
                                    <m:ctrlPr>
                                      <a:rPr lang="en-AU" sz="1600" b="0" i="1" smtClean="0">
                                        <a:latin typeface="Cambria Math" panose="02040503050406030204" pitchFamily="18" charset="0"/>
                                      </a:rPr>
                                    </m:ctrlPr>
                                  </m:sSupPr>
                                  <m:e>
                                    <m:r>
                                      <a:rPr lang="en-AU" sz="1600" b="0" i="1" smtClean="0">
                                        <a:latin typeface="Cambria Math" panose="02040503050406030204" pitchFamily="18" charset="0"/>
                                      </a:rPr>
                                      <m:t>)</m:t>
                                    </m:r>
                                  </m:e>
                                  <m:sup>
                                    <m:r>
                                      <a:rPr lang="en-AU" sz="1600" b="0" i="1" smtClean="0">
                                        <a:latin typeface="Cambria Math" panose="02040503050406030204" pitchFamily="18" charset="0"/>
                                      </a:rPr>
                                      <m:t>−4</m:t>
                                    </m:r>
                                    <m:r>
                                      <a:rPr lang="en-AU" sz="1600" b="0" i="1" smtClean="0">
                                        <a:latin typeface="Cambria Math" panose="02040503050406030204" pitchFamily="18" charset="0"/>
                                        <a:ea typeface="Cambria Math" panose="02040503050406030204" pitchFamily="18" charset="0"/>
                                      </a:rPr>
                                      <m:t>×2/12</m:t>
                                    </m:r>
                                  </m:sup>
                                </m:sSup>
                              </m:oMath>
                            </m:oMathPara>
                          </a14:m>
                          <a:endParaRPr lang="en-US" sz="160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6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AU" sz="1600" b="0" i="1" smtClean="0">
                                    <a:latin typeface="Cambria Math" panose="02040503050406030204" pitchFamily="18" charset="0"/>
                                  </a:rPr>
                                  <m:t>(100</m:t>
                                </m:r>
                                <m:r>
                                  <a:rPr lang="en-AU" sz="1600" b="0" i="1" smtClean="0">
                                    <a:latin typeface="Cambria Math" panose="02040503050406030204" pitchFamily="18" charset="0"/>
                                    <a:ea typeface="Cambria Math" panose="02040503050406030204" pitchFamily="18" charset="0"/>
                                  </a:rPr>
                                  <m:t>×11.8%×0.25)×</m:t>
                                </m:r>
                                <m:r>
                                  <a:rPr lang="en-AU" sz="1600" b="0" i="1" smtClean="0">
                                    <a:latin typeface="Cambria Math" panose="02040503050406030204" pitchFamily="18" charset="0"/>
                                  </a:rPr>
                                  <m:t>(1+3%</m:t>
                                </m:r>
                                <m:sSup>
                                  <m:sSupPr>
                                    <m:ctrlPr>
                                      <a:rPr lang="en-AU" sz="1600" b="0" i="1" smtClean="0">
                                        <a:latin typeface="Cambria Math" panose="02040503050406030204" pitchFamily="18" charset="0"/>
                                      </a:rPr>
                                    </m:ctrlPr>
                                  </m:sSupPr>
                                  <m:e>
                                    <m:r>
                                      <a:rPr lang="en-AU" sz="1600" b="0" i="1" smtClean="0">
                                        <a:latin typeface="Cambria Math" panose="02040503050406030204" pitchFamily="18" charset="0"/>
                                      </a:rPr>
                                      <m:t>)</m:t>
                                    </m:r>
                                  </m:e>
                                  <m:sup>
                                    <m:r>
                                      <a:rPr lang="en-AU" sz="1600" b="0" i="1" smtClean="0">
                                        <a:latin typeface="Cambria Math" panose="02040503050406030204" pitchFamily="18" charset="0"/>
                                      </a:rPr>
                                      <m:t>−4</m:t>
                                    </m:r>
                                    <m:r>
                                      <a:rPr lang="en-AU" sz="1600" b="0" i="1" smtClean="0">
                                        <a:latin typeface="Cambria Math" panose="02040503050406030204" pitchFamily="18" charset="0"/>
                                        <a:ea typeface="Cambria Math" panose="02040503050406030204" pitchFamily="18" charset="0"/>
                                      </a:rPr>
                                      <m:t>×2/12</m:t>
                                    </m:r>
                                  </m:sup>
                                </m:sSup>
                              </m:oMath>
                            </m:oMathPara>
                          </a14:m>
                          <a:endParaRPr lang="en-US" sz="160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600" dirty="0"/>
                        </a:p>
                      </a:txBody>
                      <a:tcPr/>
                    </a:tc>
                    <a:extLst>
                      <a:ext uri="{0D108BD9-81ED-4DB2-BD59-A6C34878D82A}">
                        <a16:rowId xmlns:a16="http://schemas.microsoft.com/office/drawing/2014/main" val="3461340188"/>
                      </a:ext>
                    </a:extLst>
                  </a:tr>
                  <a:tr h="632274">
                    <a:tc>
                      <a:txBody>
                        <a:bodyPr/>
                        <a:lstStyle/>
                        <a:p>
                          <a:r>
                            <a:rPr lang="en-US" sz="1600" dirty="0"/>
                            <a:t>5/12</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AU" sz="1600" b="0" i="1" smtClean="0">
                                    <a:latin typeface="Cambria Math" panose="02040503050406030204" pitchFamily="18" charset="0"/>
                                  </a:rPr>
                                  <m:t>100</m:t>
                                </m:r>
                                <m:r>
                                  <a:rPr lang="en-AU" sz="1600" b="0" i="1" smtClean="0">
                                    <a:latin typeface="Cambria Math" panose="02040503050406030204" pitchFamily="18" charset="0"/>
                                    <a:ea typeface="Cambria Math" panose="02040503050406030204" pitchFamily="18" charset="0"/>
                                  </a:rPr>
                                  <m:t>×10%×0.25</m:t>
                                </m:r>
                              </m:oMath>
                            </m:oMathPara>
                          </a14:m>
                          <a:endParaRPr lang="en-US" sz="1600" dirty="0"/>
                        </a:p>
                        <a:p>
                          <a:endParaRPr lang="en-US" sz="16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AU" sz="1600" b="0" i="1" smtClean="0">
                                    <a:latin typeface="Cambria Math" panose="02040503050406030204" pitchFamily="18" charset="0"/>
                                  </a:rPr>
                                  <m:t>100</m:t>
                                </m:r>
                                <m:r>
                                  <a:rPr lang="en-AU" sz="1600" b="0" i="1" smtClean="0">
                                    <a:latin typeface="Cambria Math" panose="02040503050406030204" pitchFamily="18" charset="0"/>
                                    <a:ea typeface="Cambria Math" panose="02040503050406030204" pitchFamily="18" charset="0"/>
                                  </a:rPr>
                                  <m:t>×12%×0.25</m:t>
                                </m:r>
                              </m:oMath>
                            </m:oMathPara>
                          </a14:m>
                          <a:endParaRPr lang="en-US" sz="1600" dirty="0"/>
                        </a:p>
                        <a:p>
                          <a:endParaRPr lang="en-US" sz="1600" dirty="0"/>
                        </a:p>
                      </a:txBody>
                      <a:tcPr/>
                    </a:tc>
                    <a:tc>
                      <a:txBody>
                        <a:bodyPr/>
                        <a:lstStyle/>
                        <a:p>
                          <a:pPr/>
                          <a14:m>
                            <m:oMathPara xmlns:m="http://schemas.openxmlformats.org/officeDocument/2006/math">
                              <m:oMathParaPr>
                                <m:jc m:val="centerGroup"/>
                              </m:oMathParaPr>
                              <m:oMath xmlns:m="http://schemas.openxmlformats.org/officeDocument/2006/math">
                                <m:r>
                                  <a:rPr lang="en-AU" sz="1600" b="0" i="1" smtClean="0">
                                    <a:latin typeface="Cambria Math" panose="02040503050406030204" pitchFamily="18" charset="0"/>
                                  </a:rPr>
                                  <m:t>(1+3%</m:t>
                                </m:r>
                                <m:sSup>
                                  <m:sSupPr>
                                    <m:ctrlPr>
                                      <a:rPr lang="en-AU" sz="1600" b="0" i="1" smtClean="0">
                                        <a:latin typeface="Cambria Math" panose="02040503050406030204" pitchFamily="18" charset="0"/>
                                      </a:rPr>
                                    </m:ctrlPr>
                                  </m:sSupPr>
                                  <m:e>
                                    <m:r>
                                      <a:rPr lang="en-AU" sz="1600" b="0" i="1" smtClean="0">
                                        <a:latin typeface="Cambria Math" panose="02040503050406030204" pitchFamily="18" charset="0"/>
                                      </a:rPr>
                                      <m:t>)</m:t>
                                    </m:r>
                                  </m:e>
                                  <m:sup>
                                    <m:r>
                                      <a:rPr lang="en-AU" sz="1600" b="0" i="1" smtClean="0">
                                        <a:latin typeface="Cambria Math" panose="02040503050406030204" pitchFamily="18" charset="0"/>
                                      </a:rPr>
                                      <m:t>−4</m:t>
                                    </m:r>
                                    <m:r>
                                      <a:rPr lang="en-AU" sz="1600" b="0" i="1" smtClean="0">
                                        <a:latin typeface="Cambria Math" panose="02040503050406030204" pitchFamily="18" charset="0"/>
                                        <a:ea typeface="Cambria Math" panose="02040503050406030204" pitchFamily="18" charset="0"/>
                                      </a:rPr>
                                      <m:t>×5/12</m:t>
                                    </m:r>
                                  </m:sup>
                                </m:sSup>
                              </m:oMath>
                            </m:oMathPara>
                          </a14:m>
                          <a:endParaRPr lang="en-US" sz="16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AU" sz="1600" b="0" i="1" smtClean="0">
                                    <a:latin typeface="Cambria Math" panose="02040503050406030204" pitchFamily="18" charset="0"/>
                                  </a:rPr>
                                  <m:t>(100</m:t>
                                </m:r>
                                <m:r>
                                  <a:rPr lang="en-AU" sz="1600" b="0" i="1" smtClean="0">
                                    <a:latin typeface="Cambria Math" panose="02040503050406030204" pitchFamily="18" charset="0"/>
                                    <a:ea typeface="Cambria Math" panose="02040503050406030204" pitchFamily="18" charset="0"/>
                                  </a:rPr>
                                  <m:t>×10%×0.25</m:t>
                                </m:r>
                              </m:oMath>
                            </m:oMathPara>
                          </a14:m>
                          <a:endParaRPr lang="en-US" sz="1600" dirty="0"/>
                        </a:p>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AU" sz="1600" b="0" i="1" smtClean="0">
                                    <a:latin typeface="Cambria Math" panose="02040503050406030204" pitchFamily="18" charset="0"/>
                                    <a:ea typeface="Cambria Math" panose="02040503050406030204" pitchFamily="18" charset="0"/>
                                  </a:rPr>
                                  <m:t>)×</m:t>
                                </m:r>
                                <m:r>
                                  <a:rPr lang="en-AU" sz="1600" b="0" i="1" smtClean="0">
                                    <a:latin typeface="Cambria Math" panose="02040503050406030204" pitchFamily="18" charset="0"/>
                                  </a:rPr>
                                  <m:t>(1+3%</m:t>
                                </m:r>
                                <m:sSup>
                                  <m:sSupPr>
                                    <m:ctrlPr>
                                      <a:rPr lang="en-AU" sz="1600" b="0" i="1" smtClean="0">
                                        <a:latin typeface="Cambria Math" panose="02040503050406030204" pitchFamily="18" charset="0"/>
                                      </a:rPr>
                                    </m:ctrlPr>
                                  </m:sSupPr>
                                  <m:e>
                                    <m:r>
                                      <a:rPr lang="en-AU" sz="1600" b="0" i="1" smtClean="0">
                                        <a:latin typeface="Cambria Math" panose="02040503050406030204" pitchFamily="18" charset="0"/>
                                      </a:rPr>
                                      <m:t>)</m:t>
                                    </m:r>
                                  </m:e>
                                  <m:sup>
                                    <m:r>
                                      <a:rPr lang="en-AU" sz="1600" b="0" i="1" smtClean="0">
                                        <a:latin typeface="Cambria Math" panose="02040503050406030204" pitchFamily="18" charset="0"/>
                                      </a:rPr>
                                      <m:t>−4</m:t>
                                    </m:r>
                                    <m:r>
                                      <a:rPr lang="en-AU" sz="1600" b="0" i="1" smtClean="0">
                                        <a:latin typeface="Cambria Math" panose="02040503050406030204" pitchFamily="18" charset="0"/>
                                        <a:ea typeface="Cambria Math" panose="02040503050406030204" pitchFamily="18" charset="0"/>
                                      </a:rPr>
                                      <m:t>×5/12</m:t>
                                    </m:r>
                                  </m:sup>
                                </m:sSup>
                              </m:oMath>
                            </m:oMathPara>
                          </a14:m>
                          <a:endParaRPr lang="en-US" sz="160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6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AU" sz="1600" b="0" i="1" smtClean="0">
                                    <a:latin typeface="Cambria Math" panose="02040503050406030204" pitchFamily="18" charset="0"/>
                                  </a:rPr>
                                  <m:t>(100</m:t>
                                </m:r>
                                <m:r>
                                  <a:rPr lang="en-AU" sz="1600" b="0" i="1" smtClean="0">
                                    <a:latin typeface="Cambria Math" panose="02040503050406030204" pitchFamily="18" charset="0"/>
                                    <a:ea typeface="Cambria Math" panose="02040503050406030204" pitchFamily="18" charset="0"/>
                                  </a:rPr>
                                  <m:t>×12%×0.25)×</m:t>
                                </m:r>
                                <m:r>
                                  <a:rPr lang="en-AU" sz="1600" b="0" i="1" smtClean="0">
                                    <a:latin typeface="Cambria Math" panose="02040503050406030204" pitchFamily="18" charset="0"/>
                                  </a:rPr>
                                  <m:t>(1+3%</m:t>
                                </m:r>
                                <m:sSup>
                                  <m:sSupPr>
                                    <m:ctrlPr>
                                      <a:rPr lang="en-AU" sz="1600" b="0" i="1" smtClean="0">
                                        <a:latin typeface="Cambria Math" panose="02040503050406030204" pitchFamily="18" charset="0"/>
                                      </a:rPr>
                                    </m:ctrlPr>
                                  </m:sSupPr>
                                  <m:e>
                                    <m:r>
                                      <a:rPr lang="en-AU" sz="1600" b="0" i="1" smtClean="0">
                                        <a:latin typeface="Cambria Math" panose="02040503050406030204" pitchFamily="18" charset="0"/>
                                      </a:rPr>
                                      <m:t>)</m:t>
                                    </m:r>
                                  </m:e>
                                  <m:sup>
                                    <m:r>
                                      <a:rPr lang="en-AU" sz="1600" b="0" i="1" smtClean="0">
                                        <a:latin typeface="Cambria Math" panose="02040503050406030204" pitchFamily="18" charset="0"/>
                                      </a:rPr>
                                      <m:t>−4</m:t>
                                    </m:r>
                                    <m:r>
                                      <a:rPr lang="en-AU" sz="1600" b="0" i="1" smtClean="0">
                                        <a:latin typeface="Cambria Math" panose="02040503050406030204" pitchFamily="18" charset="0"/>
                                        <a:ea typeface="Cambria Math" panose="02040503050406030204" pitchFamily="18" charset="0"/>
                                      </a:rPr>
                                      <m:t>×5/12</m:t>
                                    </m:r>
                                  </m:sup>
                                </m:sSup>
                              </m:oMath>
                            </m:oMathPara>
                          </a14:m>
                          <a:endParaRPr lang="en-US" sz="160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600" dirty="0"/>
                        </a:p>
                      </a:txBody>
                      <a:tcPr/>
                    </a:tc>
                    <a:extLst>
                      <a:ext uri="{0D108BD9-81ED-4DB2-BD59-A6C34878D82A}">
                        <a16:rowId xmlns:a16="http://schemas.microsoft.com/office/drawing/2014/main" val="955542237"/>
                      </a:ext>
                    </a:extLst>
                  </a:tr>
                  <a:tr h="632274">
                    <a:tc>
                      <a:txBody>
                        <a:bodyPr/>
                        <a:lstStyle/>
                        <a:p>
                          <a:r>
                            <a:rPr lang="en-US" sz="1600" dirty="0"/>
                            <a:t>8/12</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AU" sz="1600" b="0" i="1" smtClean="0">
                                    <a:latin typeface="Cambria Math" panose="02040503050406030204" pitchFamily="18" charset="0"/>
                                  </a:rPr>
                                  <m:t>100</m:t>
                                </m:r>
                                <m:r>
                                  <a:rPr lang="en-AU" sz="1600" b="0" i="1" smtClean="0">
                                    <a:latin typeface="Cambria Math" panose="02040503050406030204" pitchFamily="18" charset="0"/>
                                    <a:ea typeface="Cambria Math" panose="02040503050406030204" pitchFamily="18" charset="0"/>
                                  </a:rPr>
                                  <m:t>×10%×0.25</m:t>
                                </m:r>
                              </m:oMath>
                            </m:oMathPara>
                          </a14:m>
                          <a:endParaRPr lang="en-US" sz="1600" dirty="0"/>
                        </a:p>
                        <a:p>
                          <a:endParaRPr lang="en-US" sz="16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AU" sz="1600" b="0" i="1" smtClean="0">
                                    <a:latin typeface="Cambria Math" panose="02040503050406030204" pitchFamily="18" charset="0"/>
                                  </a:rPr>
                                  <m:t>100</m:t>
                                </m:r>
                                <m:r>
                                  <a:rPr lang="en-AU" sz="1600" b="0" i="1" smtClean="0">
                                    <a:latin typeface="Cambria Math" panose="02040503050406030204" pitchFamily="18" charset="0"/>
                                    <a:ea typeface="Cambria Math" panose="02040503050406030204" pitchFamily="18" charset="0"/>
                                  </a:rPr>
                                  <m:t>×12%×0.25</m:t>
                                </m:r>
                              </m:oMath>
                            </m:oMathPara>
                          </a14:m>
                          <a:endParaRPr lang="en-US" sz="1600" dirty="0"/>
                        </a:p>
                        <a:p>
                          <a:endParaRPr lang="en-US" sz="1600" dirty="0"/>
                        </a:p>
                      </a:txBody>
                      <a:tcPr/>
                    </a:tc>
                    <a:tc>
                      <a:txBody>
                        <a:bodyPr/>
                        <a:lstStyle/>
                        <a:p>
                          <a:pPr/>
                          <a14:m>
                            <m:oMathPara xmlns:m="http://schemas.openxmlformats.org/officeDocument/2006/math">
                              <m:oMathParaPr>
                                <m:jc m:val="centerGroup"/>
                              </m:oMathParaPr>
                              <m:oMath xmlns:m="http://schemas.openxmlformats.org/officeDocument/2006/math">
                                <m:r>
                                  <a:rPr lang="en-AU" sz="1600" b="0" i="1" smtClean="0">
                                    <a:latin typeface="Cambria Math" panose="02040503050406030204" pitchFamily="18" charset="0"/>
                                  </a:rPr>
                                  <m:t>(1+3%</m:t>
                                </m:r>
                                <m:sSup>
                                  <m:sSupPr>
                                    <m:ctrlPr>
                                      <a:rPr lang="en-AU" sz="1600" b="0" i="1" smtClean="0">
                                        <a:latin typeface="Cambria Math" panose="02040503050406030204" pitchFamily="18" charset="0"/>
                                      </a:rPr>
                                    </m:ctrlPr>
                                  </m:sSupPr>
                                  <m:e>
                                    <m:r>
                                      <a:rPr lang="en-AU" sz="1600" b="0" i="1" smtClean="0">
                                        <a:latin typeface="Cambria Math" panose="02040503050406030204" pitchFamily="18" charset="0"/>
                                      </a:rPr>
                                      <m:t>)</m:t>
                                    </m:r>
                                  </m:e>
                                  <m:sup>
                                    <m:r>
                                      <a:rPr lang="en-AU" sz="1600" b="0" i="1" smtClean="0">
                                        <a:latin typeface="Cambria Math" panose="02040503050406030204" pitchFamily="18" charset="0"/>
                                      </a:rPr>
                                      <m:t>−4</m:t>
                                    </m:r>
                                    <m:r>
                                      <a:rPr lang="en-AU" sz="1600" b="0" i="1" smtClean="0">
                                        <a:latin typeface="Cambria Math" panose="02040503050406030204" pitchFamily="18" charset="0"/>
                                        <a:ea typeface="Cambria Math" panose="02040503050406030204" pitchFamily="18" charset="0"/>
                                      </a:rPr>
                                      <m:t>×8/12</m:t>
                                    </m:r>
                                  </m:sup>
                                </m:sSup>
                              </m:oMath>
                            </m:oMathPara>
                          </a14:m>
                          <a:endParaRPr lang="en-US" sz="16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AU" sz="1600" b="0" i="1" smtClean="0">
                                    <a:latin typeface="Cambria Math" panose="02040503050406030204" pitchFamily="18" charset="0"/>
                                  </a:rPr>
                                  <m:t>(100</m:t>
                                </m:r>
                                <m:r>
                                  <a:rPr lang="en-AU" sz="1600" b="0" i="1" smtClean="0">
                                    <a:latin typeface="Cambria Math" panose="02040503050406030204" pitchFamily="18" charset="0"/>
                                    <a:ea typeface="Cambria Math" panose="02040503050406030204" pitchFamily="18" charset="0"/>
                                  </a:rPr>
                                  <m:t>×10%×0.25</m:t>
                                </m:r>
                              </m:oMath>
                            </m:oMathPara>
                          </a14:m>
                          <a:endParaRPr lang="en-US" sz="1600" dirty="0"/>
                        </a:p>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AU" sz="1600" b="0" i="1" smtClean="0">
                                    <a:latin typeface="Cambria Math" panose="02040503050406030204" pitchFamily="18" charset="0"/>
                                    <a:ea typeface="Cambria Math" panose="02040503050406030204" pitchFamily="18" charset="0"/>
                                  </a:rPr>
                                  <m:t>)×</m:t>
                                </m:r>
                                <m:r>
                                  <a:rPr lang="en-AU" sz="1600" b="0" i="1" smtClean="0">
                                    <a:latin typeface="Cambria Math" panose="02040503050406030204" pitchFamily="18" charset="0"/>
                                  </a:rPr>
                                  <m:t>(1+3%</m:t>
                                </m:r>
                                <m:sSup>
                                  <m:sSupPr>
                                    <m:ctrlPr>
                                      <a:rPr lang="en-AU" sz="1600" b="0" i="1" smtClean="0">
                                        <a:latin typeface="Cambria Math" panose="02040503050406030204" pitchFamily="18" charset="0"/>
                                      </a:rPr>
                                    </m:ctrlPr>
                                  </m:sSupPr>
                                  <m:e>
                                    <m:r>
                                      <a:rPr lang="en-AU" sz="1600" b="0" i="1" smtClean="0">
                                        <a:latin typeface="Cambria Math" panose="02040503050406030204" pitchFamily="18" charset="0"/>
                                      </a:rPr>
                                      <m:t>)</m:t>
                                    </m:r>
                                  </m:e>
                                  <m:sup>
                                    <m:r>
                                      <a:rPr lang="en-AU" sz="1600" b="0" i="1" smtClean="0">
                                        <a:latin typeface="Cambria Math" panose="02040503050406030204" pitchFamily="18" charset="0"/>
                                      </a:rPr>
                                      <m:t>−4</m:t>
                                    </m:r>
                                    <m:r>
                                      <a:rPr lang="en-AU" sz="1600" b="0" i="1" smtClean="0">
                                        <a:latin typeface="Cambria Math" panose="02040503050406030204" pitchFamily="18" charset="0"/>
                                        <a:ea typeface="Cambria Math" panose="02040503050406030204" pitchFamily="18" charset="0"/>
                                      </a:rPr>
                                      <m:t>×8/12</m:t>
                                    </m:r>
                                  </m:sup>
                                </m:sSup>
                              </m:oMath>
                            </m:oMathPara>
                          </a14:m>
                          <a:endParaRPr lang="en-US" sz="16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AU" sz="1600" b="0" i="1" smtClean="0">
                                    <a:latin typeface="Cambria Math" panose="02040503050406030204" pitchFamily="18" charset="0"/>
                                  </a:rPr>
                                  <m:t>(100</m:t>
                                </m:r>
                                <m:r>
                                  <a:rPr lang="en-AU" sz="1600" b="0" i="1" smtClean="0">
                                    <a:latin typeface="Cambria Math" panose="02040503050406030204" pitchFamily="18" charset="0"/>
                                    <a:ea typeface="Cambria Math" panose="02040503050406030204" pitchFamily="18" charset="0"/>
                                  </a:rPr>
                                  <m:t>×12%×0.25)×</m:t>
                                </m:r>
                                <m:r>
                                  <a:rPr lang="en-AU" sz="1600" b="0" i="1" smtClean="0">
                                    <a:latin typeface="Cambria Math" panose="02040503050406030204" pitchFamily="18" charset="0"/>
                                  </a:rPr>
                                  <m:t>(1+3%</m:t>
                                </m:r>
                                <m:sSup>
                                  <m:sSupPr>
                                    <m:ctrlPr>
                                      <a:rPr lang="en-AU" sz="1600" b="0" i="1" smtClean="0">
                                        <a:latin typeface="Cambria Math" panose="02040503050406030204" pitchFamily="18" charset="0"/>
                                      </a:rPr>
                                    </m:ctrlPr>
                                  </m:sSupPr>
                                  <m:e>
                                    <m:r>
                                      <a:rPr lang="en-AU" sz="1600" b="0" i="1" smtClean="0">
                                        <a:latin typeface="Cambria Math" panose="02040503050406030204" pitchFamily="18" charset="0"/>
                                      </a:rPr>
                                      <m:t>)</m:t>
                                    </m:r>
                                  </m:e>
                                  <m:sup>
                                    <m:r>
                                      <a:rPr lang="en-AU" sz="1600" b="0" i="1" smtClean="0">
                                        <a:latin typeface="Cambria Math" panose="02040503050406030204" pitchFamily="18" charset="0"/>
                                      </a:rPr>
                                      <m:t>−4</m:t>
                                    </m:r>
                                    <m:r>
                                      <a:rPr lang="en-AU" sz="1600" b="0" i="1" smtClean="0">
                                        <a:latin typeface="Cambria Math" panose="02040503050406030204" pitchFamily="18" charset="0"/>
                                        <a:ea typeface="Cambria Math" panose="02040503050406030204" pitchFamily="18" charset="0"/>
                                      </a:rPr>
                                      <m:t>×8/12</m:t>
                                    </m:r>
                                  </m:sup>
                                </m:sSup>
                              </m:oMath>
                            </m:oMathPara>
                          </a14:m>
                          <a:endParaRPr lang="en-US" sz="160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600" dirty="0"/>
                        </a:p>
                      </a:txBody>
                      <a:tcPr/>
                    </a:tc>
                    <a:extLst>
                      <a:ext uri="{0D108BD9-81ED-4DB2-BD59-A6C34878D82A}">
                        <a16:rowId xmlns:a16="http://schemas.microsoft.com/office/drawing/2014/main" val="3421536430"/>
                      </a:ext>
                    </a:extLst>
                  </a:tr>
                  <a:tr h="632274">
                    <a:tc>
                      <a:txBody>
                        <a:bodyPr/>
                        <a:lstStyle/>
                        <a:p>
                          <a:r>
                            <a:rPr lang="en-US" sz="1600" dirty="0"/>
                            <a:t>11/12</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AU" sz="1600" b="0" i="1" smtClean="0">
                                    <a:latin typeface="Cambria Math" panose="02040503050406030204" pitchFamily="18" charset="0"/>
                                  </a:rPr>
                                  <m:t>100</m:t>
                                </m:r>
                                <m:r>
                                  <a:rPr lang="en-AU" sz="1600" b="0" i="1" smtClean="0">
                                    <a:latin typeface="Cambria Math" panose="02040503050406030204" pitchFamily="18" charset="0"/>
                                    <a:ea typeface="Cambria Math" panose="02040503050406030204" pitchFamily="18" charset="0"/>
                                  </a:rPr>
                                  <m:t>×10%×0.25</m:t>
                                </m:r>
                              </m:oMath>
                            </m:oMathPara>
                          </a14:m>
                          <a:endParaRPr lang="en-US" sz="16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AU" sz="1600" b="0" i="1" smtClean="0">
                                    <a:latin typeface="Cambria Math" panose="02040503050406030204" pitchFamily="18" charset="0"/>
                                  </a:rPr>
                                  <m:t>100</m:t>
                                </m:r>
                                <m:r>
                                  <a:rPr lang="en-AU" sz="1600" b="0" i="1" smtClean="0">
                                    <a:latin typeface="Cambria Math" panose="02040503050406030204" pitchFamily="18" charset="0"/>
                                    <a:ea typeface="Cambria Math" panose="02040503050406030204" pitchFamily="18" charset="0"/>
                                  </a:rPr>
                                  <m:t>×12%×0.25</m:t>
                                </m:r>
                              </m:oMath>
                            </m:oMathPara>
                          </a14:m>
                          <a:endParaRPr lang="en-US" sz="1600" dirty="0"/>
                        </a:p>
                        <a:p>
                          <a:endParaRPr lang="en-US" sz="1600" dirty="0"/>
                        </a:p>
                      </a:txBody>
                      <a:tcPr/>
                    </a:tc>
                    <a:tc>
                      <a:txBody>
                        <a:bodyPr/>
                        <a:lstStyle/>
                        <a:p>
                          <a:pPr/>
                          <a14:m>
                            <m:oMathPara xmlns:m="http://schemas.openxmlformats.org/officeDocument/2006/math">
                              <m:oMathParaPr>
                                <m:jc m:val="centerGroup"/>
                              </m:oMathParaPr>
                              <m:oMath xmlns:m="http://schemas.openxmlformats.org/officeDocument/2006/math">
                                <m:r>
                                  <a:rPr lang="en-AU" sz="1600" b="0" i="1" smtClean="0">
                                    <a:latin typeface="Cambria Math" panose="02040503050406030204" pitchFamily="18" charset="0"/>
                                  </a:rPr>
                                  <m:t>(1+3%</m:t>
                                </m:r>
                                <m:sSup>
                                  <m:sSupPr>
                                    <m:ctrlPr>
                                      <a:rPr lang="en-AU" sz="1600" b="0" i="1" smtClean="0">
                                        <a:latin typeface="Cambria Math" panose="02040503050406030204" pitchFamily="18" charset="0"/>
                                      </a:rPr>
                                    </m:ctrlPr>
                                  </m:sSupPr>
                                  <m:e>
                                    <m:r>
                                      <a:rPr lang="en-AU" sz="1600" b="0" i="1" smtClean="0">
                                        <a:latin typeface="Cambria Math" panose="02040503050406030204" pitchFamily="18" charset="0"/>
                                      </a:rPr>
                                      <m:t>)</m:t>
                                    </m:r>
                                  </m:e>
                                  <m:sup>
                                    <m:r>
                                      <a:rPr lang="en-AU" sz="1600" b="0" i="1" smtClean="0">
                                        <a:latin typeface="Cambria Math" panose="02040503050406030204" pitchFamily="18" charset="0"/>
                                      </a:rPr>
                                      <m:t>−4</m:t>
                                    </m:r>
                                    <m:r>
                                      <a:rPr lang="en-AU" sz="1600" b="0" i="1" smtClean="0">
                                        <a:latin typeface="Cambria Math" panose="02040503050406030204" pitchFamily="18" charset="0"/>
                                        <a:ea typeface="Cambria Math" panose="02040503050406030204" pitchFamily="18" charset="0"/>
                                      </a:rPr>
                                      <m:t>×11/12</m:t>
                                    </m:r>
                                  </m:sup>
                                </m:sSup>
                              </m:oMath>
                            </m:oMathPara>
                          </a14:m>
                          <a:endParaRPr lang="en-US" sz="16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AU" sz="1600" b="0" i="1" smtClean="0">
                                    <a:latin typeface="Cambria Math" panose="02040503050406030204" pitchFamily="18" charset="0"/>
                                  </a:rPr>
                                  <m:t>(100</m:t>
                                </m:r>
                                <m:r>
                                  <a:rPr lang="en-AU" sz="1600" b="0" i="1" smtClean="0">
                                    <a:latin typeface="Cambria Math" panose="02040503050406030204" pitchFamily="18" charset="0"/>
                                    <a:ea typeface="Cambria Math" panose="02040503050406030204" pitchFamily="18" charset="0"/>
                                  </a:rPr>
                                  <m:t>×10%×0.25</m:t>
                                </m:r>
                              </m:oMath>
                            </m:oMathPara>
                          </a14:m>
                          <a:endParaRPr lang="en-US" sz="1600" dirty="0"/>
                        </a:p>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AU" sz="1600" b="0" i="1" smtClean="0">
                                    <a:latin typeface="Cambria Math" panose="02040503050406030204" pitchFamily="18" charset="0"/>
                                    <a:ea typeface="Cambria Math" panose="02040503050406030204" pitchFamily="18" charset="0"/>
                                  </a:rPr>
                                  <m:t>)×</m:t>
                                </m:r>
                                <m:r>
                                  <a:rPr lang="en-AU" sz="1600" b="0" i="1" smtClean="0">
                                    <a:latin typeface="Cambria Math" panose="02040503050406030204" pitchFamily="18" charset="0"/>
                                  </a:rPr>
                                  <m:t>(1+3%</m:t>
                                </m:r>
                                <m:sSup>
                                  <m:sSupPr>
                                    <m:ctrlPr>
                                      <a:rPr lang="en-AU" sz="1600" b="0" i="1" smtClean="0">
                                        <a:latin typeface="Cambria Math" panose="02040503050406030204" pitchFamily="18" charset="0"/>
                                      </a:rPr>
                                    </m:ctrlPr>
                                  </m:sSupPr>
                                  <m:e>
                                    <m:r>
                                      <a:rPr lang="en-AU" sz="1600" b="0" i="1" smtClean="0">
                                        <a:latin typeface="Cambria Math" panose="02040503050406030204" pitchFamily="18" charset="0"/>
                                      </a:rPr>
                                      <m:t>)</m:t>
                                    </m:r>
                                  </m:e>
                                  <m:sup>
                                    <m:r>
                                      <a:rPr lang="en-AU" sz="1600" b="0" i="1" smtClean="0">
                                        <a:latin typeface="Cambria Math" panose="02040503050406030204" pitchFamily="18" charset="0"/>
                                      </a:rPr>
                                      <m:t>−4</m:t>
                                    </m:r>
                                    <m:r>
                                      <a:rPr lang="en-AU" sz="1600" b="0" i="1" smtClean="0">
                                        <a:latin typeface="Cambria Math" panose="02040503050406030204" pitchFamily="18" charset="0"/>
                                        <a:ea typeface="Cambria Math" panose="02040503050406030204" pitchFamily="18" charset="0"/>
                                      </a:rPr>
                                      <m:t>×11/12</m:t>
                                    </m:r>
                                  </m:sup>
                                </m:sSup>
                              </m:oMath>
                            </m:oMathPara>
                          </a14:m>
                          <a:endParaRPr lang="en-US" sz="16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AU" sz="1600" b="0" i="1" smtClean="0">
                                    <a:latin typeface="Cambria Math" panose="02040503050406030204" pitchFamily="18" charset="0"/>
                                  </a:rPr>
                                  <m:t>(100</m:t>
                                </m:r>
                                <m:r>
                                  <a:rPr lang="en-AU" sz="1600" b="0" i="1" smtClean="0">
                                    <a:latin typeface="Cambria Math" panose="02040503050406030204" pitchFamily="18" charset="0"/>
                                    <a:ea typeface="Cambria Math" panose="02040503050406030204" pitchFamily="18" charset="0"/>
                                  </a:rPr>
                                  <m:t>×12%×0.25)×</m:t>
                                </m:r>
                                <m:r>
                                  <a:rPr lang="en-AU" sz="1600" b="0" i="1" smtClean="0">
                                    <a:latin typeface="Cambria Math" panose="02040503050406030204" pitchFamily="18" charset="0"/>
                                  </a:rPr>
                                  <m:t>(1+3%</m:t>
                                </m:r>
                                <m:sSup>
                                  <m:sSupPr>
                                    <m:ctrlPr>
                                      <a:rPr lang="en-AU" sz="1600" b="0" i="1" smtClean="0">
                                        <a:latin typeface="Cambria Math" panose="02040503050406030204" pitchFamily="18" charset="0"/>
                                      </a:rPr>
                                    </m:ctrlPr>
                                  </m:sSupPr>
                                  <m:e>
                                    <m:r>
                                      <a:rPr lang="en-AU" sz="1600" b="0" i="1" smtClean="0">
                                        <a:latin typeface="Cambria Math" panose="02040503050406030204" pitchFamily="18" charset="0"/>
                                      </a:rPr>
                                      <m:t>)</m:t>
                                    </m:r>
                                  </m:e>
                                  <m:sup>
                                    <m:r>
                                      <a:rPr lang="en-AU" sz="1600" b="0" i="1" smtClean="0">
                                        <a:latin typeface="Cambria Math" panose="02040503050406030204" pitchFamily="18" charset="0"/>
                                      </a:rPr>
                                      <m:t>−4</m:t>
                                    </m:r>
                                    <m:r>
                                      <a:rPr lang="en-AU" sz="1600" b="0" i="1" smtClean="0">
                                        <a:latin typeface="Cambria Math" panose="02040503050406030204" pitchFamily="18" charset="0"/>
                                        <a:ea typeface="Cambria Math" panose="02040503050406030204" pitchFamily="18" charset="0"/>
                                      </a:rPr>
                                      <m:t>×11/12</m:t>
                                    </m:r>
                                  </m:sup>
                                </m:sSup>
                              </m:oMath>
                            </m:oMathPara>
                          </a14:m>
                          <a:endParaRPr lang="en-US" sz="160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600" dirty="0"/>
                        </a:p>
                      </a:txBody>
                      <a:tcPr/>
                    </a:tc>
                    <a:extLst>
                      <a:ext uri="{0D108BD9-81ED-4DB2-BD59-A6C34878D82A}">
                        <a16:rowId xmlns:a16="http://schemas.microsoft.com/office/drawing/2014/main" val="3683376922"/>
                      </a:ext>
                    </a:extLst>
                  </a:tr>
                  <a:tr h="632274">
                    <a:tc>
                      <a:txBody>
                        <a:bodyPr/>
                        <a:lstStyle/>
                        <a:p>
                          <a:r>
                            <a:rPr lang="en-US" sz="1600" dirty="0"/>
                            <a:t>14/12</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AU" sz="1600" b="0" i="1" smtClean="0">
                                    <a:latin typeface="Cambria Math" panose="02040503050406030204" pitchFamily="18" charset="0"/>
                                  </a:rPr>
                                  <m:t>100+100</m:t>
                                </m:r>
                                <m:r>
                                  <a:rPr lang="en-AU" sz="1600" b="0" i="1" smtClean="0">
                                    <a:latin typeface="Cambria Math" panose="02040503050406030204" pitchFamily="18" charset="0"/>
                                    <a:ea typeface="Cambria Math" panose="02040503050406030204" pitchFamily="18" charset="0"/>
                                  </a:rPr>
                                  <m:t>×10%×0.25</m:t>
                                </m:r>
                              </m:oMath>
                            </m:oMathPara>
                          </a14:m>
                          <a:endParaRPr lang="en-US" sz="160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6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AU" sz="1600" b="0" i="1" smtClean="0">
                                    <a:latin typeface="Cambria Math" panose="02040503050406030204" pitchFamily="18" charset="0"/>
                                  </a:rPr>
                                  <m:t>100+100</m:t>
                                </m:r>
                                <m:r>
                                  <a:rPr lang="en-AU" sz="1600" b="0" i="1" smtClean="0">
                                    <a:latin typeface="Cambria Math" panose="02040503050406030204" pitchFamily="18" charset="0"/>
                                    <a:ea typeface="Cambria Math" panose="02040503050406030204" pitchFamily="18" charset="0"/>
                                  </a:rPr>
                                  <m:t>×12%×0.25</m:t>
                                </m:r>
                              </m:oMath>
                            </m:oMathPara>
                          </a14:m>
                          <a:endParaRPr lang="en-US" sz="1600" dirty="0"/>
                        </a:p>
                        <a:p>
                          <a:endParaRPr lang="en-US" sz="1600" dirty="0"/>
                        </a:p>
                      </a:txBody>
                      <a:tcPr/>
                    </a:tc>
                    <a:tc>
                      <a:txBody>
                        <a:bodyPr/>
                        <a:lstStyle/>
                        <a:p>
                          <a:pPr/>
                          <a14:m>
                            <m:oMathPara xmlns:m="http://schemas.openxmlformats.org/officeDocument/2006/math">
                              <m:oMathParaPr>
                                <m:jc m:val="centerGroup"/>
                              </m:oMathParaPr>
                              <m:oMath xmlns:m="http://schemas.openxmlformats.org/officeDocument/2006/math">
                                <m:r>
                                  <a:rPr lang="en-AU" sz="1600" b="0" i="1" smtClean="0">
                                    <a:latin typeface="Cambria Math" panose="02040503050406030204" pitchFamily="18" charset="0"/>
                                  </a:rPr>
                                  <m:t>(1+3%</m:t>
                                </m:r>
                                <m:sSup>
                                  <m:sSupPr>
                                    <m:ctrlPr>
                                      <a:rPr lang="en-AU" sz="1600" b="0" i="1" smtClean="0">
                                        <a:latin typeface="Cambria Math" panose="02040503050406030204" pitchFamily="18" charset="0"/>
                                      </a:rPr>
                                    </m:ctrlPr>
                                  </m:sSupPr>
                                  <m:e>
                                    <m:r>
                                      <a:rPr lang="en-AU" sz="1600" b="0" i="1" smtClean="0">
                                        <a:latin typeface="Cambria Math" panose="02040503050406030204" pitchFamily="18" charset="0"/>
                                      </a:rPr>
                                      <m:t>)</m:t>
                                    </m:r>
                                  </m:e>
                                  <m:sup>
                                    <m:r>
                                      <a:rPr lang="en-AU" sz="1600" b="0" i="1" smtClean="0">
                                        <a:latin typeface="Cambria Math" panose="02040503050406030204" pitchFamily="18" charset="0"/>
                                      </a:rPr>
                                      <m:t>−4</m:t>
                                    </m:r>
                                    <m:r>
                                      <a:rPr lang="en-AU" sz="1600" b="0" i="1" smtClean="0">
                                        <a:latin typeface="Cambria Math" panose="02040503050406030204" pitchFamily="18" charset="0"/>
                                        <a:ea typeface="Cambria Math" panose="02040503050406030204" pitchFamily="18" charset="0"/>
                                      </a:rPr>
                                      <m:t>×14/12</m:t>
                                    </m:r>
                                  </m:sup>
                                </m:sSup>
                              </m:oMath>
                            </m:oMathPara>
                          </a14:m>
                          <a:endParaRPr lang="en-US" sz="16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AU" sz="1600" b="0" i="1" smtClean="0">
                                    <a:latin typeface="Cambria Math" panose="02040503050406030204" pitchFamily="18" charset="0"/>
                                  </a:rPr>
                                  <m:t>(100+100</m:t>
                                </m:r>
                                <m:r>
                                  <a:rPr lang="en-AU" sz="1600" b="0" i="1" smtClean="0">
                                    <a:latin typeface="Cambria Math" panose="02040503050406030204" pitchFamily="18" charset="0"/>
                                    <a:ea typeface="Cambria Math" panose="02040503050406030204" pitchFamily="18" charset="0"/>
                                  </a:rPr>
                                  <m:t>×10%×0.25</m:t>
                                </m:r>
                              </m:oMath>
                            </m:oMathPara>
                          </a14:m>
                          <a:endParaRPr lang="en-US" sz="1600" dirty="0"/>
                        </a:p>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AU" sz="1600" b="0" i="1" smtClean="0">
                                    <a:latin typeface="Cambria Math" panose="02040503050406030204" pitchFamily="18" charset="0"/>
                                    <a:ea typeface="Cambria Math" panose="02040503050406030204" pitchFamily="18" charset="0"/>
                                  </a:rPr>
                                  <m:t>)×</m:t>
                                </m:r>
                                <m:r>
                                  <a:rPr lang="en-AU" sz="1600" b="0" i="1" smtClean="0">
                                    <a:latin typeface="Cambria Math" panose="02040503050406030204" pitchFamily="18" charset="0"/>
                                  </a:rPr>
                                  <m:t>(1+3%</m:t>
                                </m:r>
                                <m:sSup>
                                  <m:sSupPr>
                                    <m:ctrlPr>
                                      <a:rPr lang="en-AU" sz="1600" b="0" i="1" smtClean="0">
                                        <a:latin typeface="Cambria Math" panose="02040503050406030204" pitchFamily="18" charset="0"/>
                                      </a:rPr>
                                    </m:ctrlPr>
                                  </m:sSupPr>
                                  <m:e>
                                    <m:r>
                                      <a:rPr lang="en-AU" sz="1600" b="0" i="1" smtClean="0">
                                        <a:latin typeface="Cambria Math" panose="02040503050406030204" pitchFamily="18" charset="0"/>
                                      </a:rPr>
                                      <m:t>)</m:t>
                                    </m:r>
                                  </m:e>
                                  <m:sup>
                                    <m:r>
                                      <a:rPr lang="en-AU" sz="1600" b="0" i="1" smtClean="0">
                                        <a:latin typeface="Cambria Math" panose="02040503050406030204" pitchFamily="18" charset="0"/>
                                      </a:rPr>
                                      <m:t>−4</m:t>
                                    </m:r>
                                    <m:r>
                                      <a:rPr lang="en-AU" sz="1600" b="0" i="1" smtClean="0">
                                        <a:latin typeface="Cambria Math" panose="02040503050406030204" pitchFamily="18" charset="0"/>
                                        <a:ea typeface="Cambria Math" panose="02040503050406030204" pitchFamily="18" charset="0"/>
                                      </a:rPr>
                                      <m:t>×14/12</m:t>
                                    </m:r>
                                  </m:sup>
                                </m:sSup>
                              </m:oMath>
                            </m:oMathPara>
                          </a14:m>
                          <a:endParaRPr lang="en-US" sz="16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AU" sz="1600" b="0" i="1" smtClean="0">
                                    <a:latin typeface="Cambria Math" panose="02040503050406030204" pitchFamily="18" charset="0"/>
                                  </a:rPr>
                                  <m:t>(100+100</m:t>
                                </m:r>
                                <m:r>
                                  <a:rPr lang="en-AU" sz="1600" b="0" i="1" smtClean="0">
                                    <a:latin typeface="Cambria Math" panose="02040503050406030204" pitchFamily="18" charset="0"/>
                                    <a:ea typeface="Cambria Math" panose="02040503050406030204" pitchFamily="18" charset="0"/>
                                  </a:rPr>
                                  <m:t>×12%×0.25)×</m:t>
                                </m:r>
                                <m:r>
                                  <a:rPr lang="en-AU" sz="1600" b="0" i="1" smtClean="0">
                                    <a:latin typeface="Cambria Math" panose="02040503050406030204" pitchFamily="18" charset="0"/>
                                  </a:rPr>
                                  <m:t>(1+3%</m:t>
                                </m:r>
                                <m:sSup>
                                  <m:sSupPr>
                                    <m:ctrlPr>
                                      <a:rPr lang="en-AU" sz="1600" b="0" i="1" smtClean="0">
                                        <a:latin typeface="Cambria Math" panose="02040503050406030204" pitchFamily="18" charset="0"/>
                                      </a:rPr>
                                    </m:ctrlPr>
                                  </m:sSupPr>
                                  <m:e>
                                    <m:r>
                                      <a:rPr lang="en-AU" sz="1600" b="0" i="1" smtClean="0">
                                        <a:latin typeface="Cambria Math" panose="02040503050406030204" pitchFamily="18" charset="0"/>
                                      </a:rPr>
                                      <m:t>)</m:t>
                                    </m:r>
                                  </m:e>
                                  <m:sup>
                                    <m:r>
                                      <a:rPr lang="en-AU" sz="1600" b="0" i="1" smtClean="0">
                                        <a:latin typeface="Cambria Math" panose="02040503050406030204" pitchFamily="18" charset="0"/>
                                      </a:rPr>
                                      <m:t>−4</m:t>
                                    </m:r>
                                    <m:r>
                                      <a:rPr lang="en-AU" sz="1600" b="0" i="1" smtClean="0">
                                        <a:latin typeface="Cambria Math" panose="02040503050406030204" pitchFamily="18" charset="0"/>
                                        <a:ea typeface="Cambria Math" panose="02040503050406030204" pitchFamily="18" charset="0"/>
                                      </a:rPr>
                                      <m:t>×14/12</m:t>
                                    </m:r>
                                  </m:sup>
                                </m:sSup>
                              </m:oMath>
                            </m:oMathPara>
                          </a14:m>
                          <a:endParaRPr lang="en-US" sz="1600" dirty="0"/>
                        </a:p>
                        <a:p>
                          <a:endParaRPr lang="en-US" sz="1600" dirty="0"/>
                        </a:p>
                      </a:txBody>
                      <a:tcPr/>
                    </a:tc>
                    <a:extLst>
                      <a:ext uri="{0D108BD9-81ED-4DB2-BD59-A6C34878D82A}">
                        <a16:rowId xmlns:a16="http://schemas.microsoft.com/office/drawing/2014/main" val="4138633012"/>
                      </a:ext>
                    </a:extLst>
                  </a:tr>
                  <a:tr h="632274">
                    <a:tc>
                      <a:txBody>
                        <a:bodyPr/>
                        <a:lstStyle/>
                        <a:p>
                          <a:r>
                            <a:rPr lang="en-US" sz="1600" dirty="0"/>
                            <a:t>Total</a:t>
                          </a:r>
                        </a:p>
                      </a:txBody>
                      <a:tcPr/>
                    </a:tc>
                    <a:tc>
                      <a:txBody>
                        <a:bodyPr/>
                        <a:lstStyle/>
                        <a:p>
                          <a:endParaRPr lang="en-US" sz="1600" dirty="0"/>
                        </a:p>
                      </a:txBody>
                      <a:tcPr/>
                    </a:tc>
                    <a:tc>
                      <a:txBody>
                        <a:bodyPr/>
                        <a:lstStyle/>
                        <a:p>
                          <a:endParaRPr lang="en-US" sz="1600" dirty="0"/>
                        </a:p>
                      </a:txBody>
                      <a:tcPr/>
                    </a:tc>
                    <a:tc>
                      <a:txBody>
                        <a:bodyPr/>
                        <a:lstStyle/>
                        <a:p>
                          <a:endParaRPr lang="en-US" sz="1600" dirty="0"/>
                        </a:p>
                      </a:txBody>
                      <a:tcPr/>
                    </a:tc>
                    <a:tc>
                      <a:txBody>
                        <a:bodyPr/>
                        <a:lstStyle/>
                        <a:p>
                          <a:r>
                            <a:rPr lang="en-US" sz="1600" b="1" dirty="0"/>
                            <a:t>98.678</a:t>
                          </a:r>
                        </a:p>
                      </a:txBody>
                      <a:tcPr/>
                    </a:tc>
                    <a:tc>
                      <a:txBody>
                        <a:bodyPr/>
                        <a:lstStyle/>
                        <a:p>
                          <a:r>
                            <a:rPr lang="en-US" sz="1600" b="1" dirty="0"/>
                            <a:t>100.941</a:t>
                          </a:r>
                        </a:p>
                      </a:txBody>
                      <a:tcPr/>
                    </a:tc>
                    <a:extLst>
                      <a:ext uri="{0D108BD9-81ED-4DB2-BD59-A6C34878D82A}">
                        <a16:rowId xmlns:a16="http://schemas.microsoft.com/office/drawing/2014/main" val="4176972528"/>
                      </a:ext>
                    </a:extLst>
                  </a:tr>
                </a:tbl>
              </a:graphicData>
            </a:graphic>
          </p:graphicFrame>
        </mc:Choice>
        <mc:Fallback xmlns="">
          <p:graphicFrame>
            <p:nvGraphicFramePr>
              <p:cNvPr id="7" name="Table 6">
                <a:extLst>
                  <a:ext uri="{FF2B5EF4-FFF2-40B4-BE49-F238E27FC236}">
                    <a16:creationId xmlns:a16="http://schemas.microsoft.com/office/drawing/2014/main" id="{03C16262-E66F-0F22-6F67-6AC9257F826C}"/>
                  </a:ext>
                </a:extLst>
              </p:cNvPr>
              <p:cNvGraphicFramePr>
                <a:graphicFrameLocks noGrp="1"/>
              </p:cNvGraphicFramePr>
              <p:nvPr>
                <p:extLst>
                  <p:ext uri="{D42A27DB-BD31-4B8C-83A1-F6EECF244321}">
                    <p14:modId xmlns:p14="http://schemas.microsoft.com/office/powerpoint/2010/main" val="4069702989"/>
                  </p:ext>
                </p:extLst>
              </p:nvPr>
            </p:nvGraphicFramePr>
            <p:xfrm>
              <a:off x="107065" y="220182"/>
              <a:ext cx="11977873" cy="5676397"/>
            </p:xfrm>
            <a:graphic>
              <a:graphicData uri="http://schemas.openxmlformats.org/drawingml/2006/table">
                <a:tbl>
                  <a:tblPr firstRow="1" bandRow="1">
                    <a:tableStyleId>{5C22544A-7EE6-4342-B048-85BDC9FD1C3A}</a:tableStyleId>
                  </a:tblPr>
                  <a:tblGrid>
                    <a:gridCol w="1172693">
                      <a:extLst>
                        <a:ext uri="{9D8B030D-6E8A-4147-A177-3AD203B41FA5}">
                          <a16:colId xmlns:a16="http://schemas.microsoft.com/office/drawing/2014/main" val="1902593901"/>
                        </a:ext>
                      </a:extLst>
                    </a:gridCol>
                    <a:gridCol w="2161036">
                      <a:extLst>
                        <a:ext uri="{9D8B030D-6E8A-4147-A177-3AD203B41FA5}">
                          <a16:colId xmlns:a16="http://schemas.microsoft.com/office/drawing/2014/main" val="3932323135"/>
                        </a:ext>
                      </a:extLst>
                    </a:gridCol>
                    <a:gridCol w="2161036">
                      <a:extLst>
                        <a:ext uri="{9D8B030D-6E8A-4147-A177-3AD203B41FA5}">
                          <a16:colId xmlns:a16="http://schemas.microsoft.com/office/drawing/2014/main" val="3470556675"/>
                        </a:ext>
                      </a:extLst>
                    </a:gridCol>
                    <a:gridCol w="2161036">
                      <a:extLst>
                        <a:ext uri="{9D8B030D-6E8A-4147-A177-3AD203B41FA5}">
                          <a16:colId xmlns:a16="http://schemas.microsoft.com/office/drawing/2014/main" val="3707822957"/>
                        </a:ext>
                      </a:extLst>
                    </a:gridCol>
                    <a:gridCol w="2161036">
                      <a:extLst>
                        <a:ext uri="{9D8B030D-6E8A-4147-A177-3AD203B41FA5}">
                          <a16:colId xmlns:a16="http://schemas.microsoft.com/office/drawing/2014/main" val="3119402058"/>
                        </a:ext>
                      </a:extLst>
                    </a:gridCol>
                    <a:gridCol w="2161036">
                      <a:extLst>
                        <a:ext uri="{9D8B030D-6E8A-4147-A177-3AD203B41FA5}">
                          <a16:colId xmlns:a16="http://schemas.microsoft.com/office/drawing/2014/main" val="1766958485"/>
                        </a:ext>
                      </a:extLst>
                    </a:gridCol>
                  </a:tblGrid>
                  <a:tr h="662115">
                    <a:tc>
                      <a:txBody>
                        <a:bodyPr/>
                        <a:lstStyle/>
                        <a:p>
                          <a:r>
                            <a:rPr lang="en-US" dirty="0"/>
                            <a:t>Time</a:t>
                          </a:r>
                        </a:p>
                      </a:txBody>
                      <a:tcPr/>
                    </a:tc>
                    <a:tc>
                      <a:txBody>
                        <a:bodyPr/>
                        <a:lstStyle/>
                        <a:p>
                          <a:endParaRPr lang="en-US"/>
                        </a:p>
                      </a:txBody>
                      <a:tcPr>
                        <a:blipFill>
                          <a:blip r:embed="rId2"/>
                          <a:stretch>
                            <a:fillRect l="-54386" t="-3846" r="-399415" b="-763462"/>
                          </a:stretch>
                        </a:blipFill>
                      </a:tcPr>
                    </a:tc>
                    <a:tc>
                      <a:txBody>
                        <a:bodyPr/>
                        <a:lstStyle/>
                        <a:p>
                          <a:endParaRPr lang="en-US"/>
                        </a:p>
                      </a:txBody>
                      <a:tcPr>
                        <a:blipFill>
                          <a:blip r:embed="rId2"/>
                          <a:stretch>
                            <a:fillRect l="-155294" t="-3846" r="-301765" b="-763462"/>
                          </a:stretch>
                        </a:blipFill>
                      </a:tcPr>
                    </a:tc>
                    <a:tc>
                      <a:txBody>
                        <a:bodyPr/>
                        <a:lstStyle/>
                        <a:p>
                          <a:r>
                            <a:rPr lang="en-US" dirty="0"/>
                            <a:t>Discount factor</a:t>
                          </a:r>
                        </a:p>
                        <a:p>
                          <a:r>
                            <a:rPr lang="en-US" dirty="0"/>
                            <a:t>(3)</a:t>
                          </a:r>
                        </a:p>
                      </a:txBody>
                      <a:tcPr/>
                    </a:tc>
                    <a:tc>
                      <a:txBody>
                        <a:bodyPr/>
                        <a:lstStyle/>
                        <a:p>
                          <a:endParaRPr lang="en-US"/>
                        </a:p>
                      </a:txBody>
                      <a:tcPr>
                        <a:blipFill>
                          <a:blip r:embed="rId2"/>
                          <a:stretch>
                            <a:fillRect l="-353216" t="-3846" r="-100585" b="-763462"/>
                          </a:stretch>
                        </a:blipFill>
                      </a:tcPr>
                    </a:tc>
                    <a:tc>
                      <a:txBody>
                        <a:bodyPr/>
                        <a:lstStyle/>
                        <a:p>
                          <a:endParaRPr lang="en-US"/>
                        </a:p>
                      </a:txBody>
                      <a:tcPr>
                        <a:blipFill>
                          <a:blip r:embed="rId2"/>
                          <a:stretch>
                            <a:fillRect l="-455882" t="-3846" r="-1176" b="-763462"/>
                          </a:stretch>
                        </a:blipFill>
                      </a:tcPr>
                    </a:tc>
                    <a:extLst>
                      <a:ext uri="{0D108BD9-81ED-4DB2-BD59-A6C34878D82A}">
                        <a16:rowId xmlns:a16="http://schemas.microsoft.com/office/drawing/2014/main" val="1748611465"/>
                      </a:ext>
                    </a:extLst>
                  </a:tr>
                  <a:tr h="832104">
                    <a:tc>
                      <a:txBody>
                        <a:bodyPr/>
                        <a:lstStyle/>
                        <a:p>
                          <a:r>
                            <a:rPr lang="en-US" sz="1600" dirty="0"/>
                            <a:t>2/12</a:t>
                          </a:r>
                        </a:p>
                      </a:txBody>
                      <a:tcPr/>
                    </a:tc>
                    <a:tc>
                      <a:txBody>
                        <a:bodyPr/>
                        <a:lstStyle/>
                        <a:p>
                          <a:endParaRPr lang="en-US"/>
                        </a:p>
                      </a:txBody>
                      <a:tcPr>
                        <a:blipFill>
                          <a:blip r:embed="rId2"/>
                          <a:stretch>
                            <a:fillRect l="-54386" t="-81818" r="-399415" b="-501515"/>
                          </a:stretch>
                        </a:blipFill>
                      </a:tcPr>
                    </a:tc>
                    <a:tc>
                      <a:txBody>
                        <a:bodyPr/>
                        <a:lstStyle/>
                        <a:p>
                          <a:endParaRPr lang="en-US"/>
                        </a:p>
                      </a:txBody>
                      <a:tcPr>
                        <a:blipFill>
                          <a:blip r:embed="rId2"/>
                          <a:stretch>
                            <a:fillRect l="-155294" t="-81818" r="-301765" b="-501515"/>
                          </a:stretch>
                        </a:blipFill>
                      </a:tcPr>
                    </a:tc>
                    <a:tc>
                      <a:txBody>
                        <a:bodyPr/>
                        <a:lstStyle/>
                        <a:p>
                          <a:endParaRPr lang="en-US"/>
                        </a:p>
                      </a:txBody>
                      <a:tcPr>
                        <a:blipFill>
                          <a:blip r:embed="rId2"/>
                          <a:stretch>
                            <a:fillRect l="-255294" t="-81818" r="-201765" b="-501515"/>
                          </a:stretch>
                        </a:blipFill>
                      </a:tcPr>
                    </a:tc>
                    <a:tc>
                      <a:txBody>
                        <a:bodyPr/>
                        <a:lstStyle/>
                        <a:p>
                          <a:endParaRPr lang="en-US"/>
                        </a:p>
                      </a:txBody>
                      <a:tcPr>
                        <a:blipFill>
                          <a:blip r:embed="rId2"/>
                          <a:stretch>
                            <a:fillRect l="-353216" t="-81818" r="-100585" b="-501515"/>
                          </a:stretch>
                        </a:blipFill>
                      </a:tcPr>
                    </a:tc>
                    <a:tc>
                      <a:txBody>
                        <a:bodyPr/>
                        <a:lstStyle/>
                        <a:p>
                          <a:endParaRPr lang="en-US"/>
                        </a:p>
                      </a:txBody>
                      <a:tcPr>
                        <a:blipFill>
                          <a:blip r:embed="rId2"/>
                          <a:stretch>
                            <a:fillRect l="-455882" t="-81818" r="-1176" b="-501515"/>
                          </a:stretch>
                        </a:blipFill>
                      </a:tcPr>
                    </a:tc>
                    <a:extLst>
                      <a:ext uri="{0D108BD9-81ED-4DB2-BD59-A6C34878D82A}">
                        <a16:rowId xmlns:a16="http://schemas.microsoft.com/office/drawing/2014/main" val="3461340188"/>
                      </a:ext>
                    </a:extLst>
                  </a:tr>
                  <a:tr h="832104">
                    <a:tc>
                      <a:txBody>
                        <a:bodyPr/>
                        <a:lstStyle/>
                        <a:p>
                          <a:r>
                            <a:rPr lang="en-US" sz="1600" dirty="0"/>
                            <a:t>5/12</a:t>
                          </a:r>
                        </a:p>
                      </a:txBody>
                      <a:tcPr/>
                    </a:tc>
                    <a:tc>
                      <a:txBody>
                        <a:bodyPr/>
                        <a:lstStyle/>
                        <a:p>
                          <a:endParaRPr lang="en-US"/>
                        </a:p>
                      </a:txBody>
                      <a:tcPr>
                        <a:blipFill>
                          <a:blip r:embed="rId2"/>
                          <a:stretch>
                            <a:fillRect l="-54386" t="-181818" r="-399415" b="-401515"/>
                          </a:stretch>
                        </a:blipFill>
                      </a:tcPr>
                    </a:tc>
                    <a:tc>
                      <a:txBody>
                        <a:bodyPr/>
                        <a:lstStyle/>
                        <a:p>
                          <a:endParaRPr lang="en-US"/>
                        </a:p>
                      </a:txBody>
                      <a:tcPr>
                        <a:blipFill>
                          <a:blip r:embed="rId2"/>
                          <a:stretch>
                            <a:fillRect l="-155294" t="-181818" r="-301765" b="-401515"/>
                          </a:stretch>
                        </a:blipFill>
                      </a:tcPr>
                    </a:tc>
                    <a:tc>
                      <a:txBody>
                        <a:bodyPr/>
                        <a:lstStyle/>
                        <a:p>
                          <a:endParaRPr lang="en-US"/>
                        </a:p>
                      </a:txBody>
                      <a:tcPr>
                        <a:blipFill>
                          <a:blip r:embed="rId2"/>
                          <a:stretch>
                            <a:fillRect l="-255294" t="-181818" r="-201765" b="-401515"/>
                          </a:stretch>
                        </a:blipFill>
                      </a:tcPr>
                    </a:tc>
                    <a:tc>
                      <a:txBody>
                        <a:bodyPr/>
                        <a:lstStyle/>
                        <a:p>
                          <a:endParaRPr lang="en-US"/>
                        </a:p>
                      </a:txBody>
                      <a:tcPr>
                        <a:blipFill>
                          <a:blip r:embed="rId2"/>
                          <a:stretch>
                            <a:fillRect l="-353216" t="-181818" r="-100585" b="-401515"/>
                          </a:stretch>
                        </a:blipFill>
                      </a:tcPr>
                    </a:tc>
                    <a:tc>
                      <a:txBody>
                        <a:bodyPr/>
                        <a:lstStyle/>
                        <a:p>
                          <a:endParaRPr lang="en-US"/>
                        </a:p>
                      </a:txBody>
                      <a:tcPr>
                        <a:blipFill>
                          <a:blip r:embed="rId2"/>
                          <a:stretch>
                            <a:fillRect l="-455882" t="-181818" r="-1176" b="-401515"/>
                          </a:stretch>
                        </a:blipFill>
                      </a:tcPr>
                    </a:tc>
                    <a:extLst>
                      <a:ext uri="{0D108BD9-81ED-4DB2-BD59-A6C34878D82A}">
                        <a16:rowId xmlns:a16="http://schemas.microsoft.com/office/drawing/2014/main" val="955542237"/>
                      </a:ext>
                    </a:extLst>
                  </a:tr>
                  <a:tr h="826516">
                    <a:tc>
                      <a:txBody>
                        <a:bodyPr/>
                        <a:lstStyle/>
                        <a:p>
                          <a:r>
                            <a:rPr lang="en-US" sz="1600" dirty="0"/>
                            <a:t>8/12</a:t>
                          </a:r>
                        </a:p>
                      </a:txBody>
                      <a:tcPr/>
                    </a:tc>
                    <a:tc>
                      <a:txBody>
                        <a:bodyPr/>
                        <a:lstStyle/>
                        <a:p>
                          <a:endParaRPr lang="en-US"/>
                        </a:p>
                      </a:txBody>
                      <a:tcPr>
                        <a:blipFill>
                          <a:blip r:embed="rId2"/>
                          <a:stretch>
                            <a:fillRect l="-54386" t="-286154" r="-399415" b="-307692"/>
                          </a:stretch>
                        </a:blipFill>
                      </a:tcPr>
                    </a:tc>
                    <a:tc>
                      <a:txBody>
                        <a:bodyPr/>
                        <a:lstStyle/>
                        <a:p>
                          <a:endParaRPr lang="en-US"/>
                        </a:p>
                      </a:txBody>
                      <a:tcPr>
                        <a:blipFill>
                          <a:blip r:embed="rId2"/>
                          <a:stretch>
                            <a:fillRect l="-155294" t="-286154" r="-301765" b="-307692"/>
                          </a:stretch>
                        </a:blipFill>
                      </a:tcPr>
                    </a:tc>
                    <a:tc>
                      <a:txBody>
                        <a:bodyPr/>
                        <a:lstStyle/>
                        <a:p>
                          <a:endParaRPr lang="en-US"/>
                        </a:p>
                      </a:txBody>
                      <a:tcPr>
                        <a:blipFill>
                          <a:blip r:embed="rId2"/>
                          <a:stretch>
                            <a:fillRect l="-255294" t="-286154" r="-201765" b="-307692"/>
                          </a:stretch>
                        </a:blipFill>
                      </a:tcPr>
                    </a:tc>
                    <a:tc>
                      <a:txBody>
                        <a:bodyPr/>
                        <a:lstStyle/>
                        <a:p>
                          <a:endParaRPr lang="en-US"/>
                        </a:p>
                      </a:txBody>
                      <a:tcPr>
                        <a:blipFill>
                          <a:blip r:embed="rId2"/>
                          <a:stretch>
                            <a:fillRect l="-353216" t="-286154" r="-100585" b="-307692"/>
                          </a:stretch>
                        </a:blipFill>
                      </a:tcPr>
                    </a:tc>
                    <a:tc>
                      <a:txBody>
                        <a:bodyPr/>
                        <a:lstStyle/>
                        <a:p>
                          <a:endParaRPr lang="en-US"/>
                        </a:p>
                      </a:txBody>
                      <a:tcPr>
                        <a:blipFill>
                          <a:blip r:embed="rId2"/>
                          <a:stretch>
                            <a:fillRect l="-455882" t="-286154" r="-1176" b="-307692"/>
                          </a:stretch>
                        </a:blipFill>
                      </a:tcPr>
                    </a:tc>
                    <a:extLst>
                      <a:ext uri="{0D108BD9-81ED-4DB2-BD59-A6C34878D82A}">
                        <a16:rowId xmlns:a16="http://schemas.microsoft.com/office/drawing/2014/main" val="3421536430"/>
                      </a:ext>
                    </a:extLst>
                  </a:tr>
                  <a:tr h="826516">
                    <a:tc>
                      <a:txBody>
                        <a:bodyPr/>
                        <a:lstStyle/>
                        <a:p>
                          <a:r>
                            <a:rPr lang="en-US" sz="1600" dirty="0"/>
                            <a:t>11/12</a:t>
                          </a:r>
                        </a:p>
                      </a:txBody>
                      <a:tcPr/>
                    </a:tc>
                    <a:tc>
                      <a:txBody>
                        <a:bodyPr/>
                        <a:lstStyle/>
                        <a:p>
                          <a:endParaRPr lang="en-US"/>
                        </a:p>
                      </a:txBody>
                      <a:tcPr>
                        <a:blipFill>
                          <a:blip r:embed="rId2"/>
                          <a:stretch>
                            <a:fillRect l="-54386" t="-386154" r="-399415" b="-207692"/>
                          </a:stretch>
                        </a:blipFill>
                      </a:tcPr>
                    </a:tc>
                    <a:tc>
                      <a:txBody>
                        <a:bodyPr/>
                        <a:lstStyle/>
                        <a:p>
                          <a:endParaRPr lang="en-US"/>
                        </a:p>
                      </a:txBody>
                      <a:tcPr>
                        <a:blipFill>
                          <a:blip r:embed="rId2"/>
                          <a:stretch>
                            <a:fillRect l="-155294" t="-386154" r="-301765" b="-207692"/>
                          </a:stretch>
                        </a:blipFill>
                      </a:tcPr>
                    </a:tc>
                    <a:tc>
                      <a:txBody>
                        <a:bodyPr/>
                        <a:lstStyle/>
                        <a:p>
                          <a:endParaRPr lang="en-US"/>
                        </a:p>
                      </a:txBody>
                      <a:tcPr>
                        <a:blipFill>
                          <a:blip r:embed="rId2"/>
                          <a:stretch>
                            <a:fillRect l="-255294" t="-386154" r="-201765" b="-207692"/>
                          </a:stretch>
                        </a:blipFill>
                      </a:tcPr>
                    </a:tc>
                    <a:tc>
                      <a:txBody>
                        <a:bodyPr/>
                        <a:lstStyle/>
                        <a:p>
                          <a:endParaRPr lang="en-US"/>
                        </a:p>
                      </a:txBody>
                      <a:tcPr>
                        <a:blipFill>
                          <a:blip r:embed="rId2"/>
                          <a:stretch>
                            <a:fillRect l="-353216" t="-386154" r="-100585" b="-207692"/>
                          </a:stretch>
                        </a:blipFill>
                      </a:tcPr>
                    </a:tc>
                    <a:tc>
                      <a:txBody>
                        <a:bodyPr/>
                        <a:lstStyle/>
                        <a:p>
                          <a:endParaRPr lang="en-US"/>
                        </a:p>
                      </a:txBody>
                      <a:tcPr>
                        <a:blipFill>
                          <a:blip r:embed="rId2"/>
                          <a:stretch>
                            <a:fillRect l="-455882" t="-386154" r="-1176" b="-207692"/>
                          </a:stretch>
                        </a:blipFill>
                      </a:tcPr>
                    </a:tc>
                    <a:extLst>
                      <a:ext uri="{0D108BD9-81ED-4DB2-BD59-A6C34878D82A}">
                        <a16:rowId xmlns:a16="http://schemas.microsoft.com/office/drawing/2014/main" val="3683376922"/>
                      </a:ext>
                    </a:extLst>
                  </a:tr>
                  <a:tr h="1064768">
                    <a:tc>
                      <a:txBody>
                        <a:bodyPr/>
                        <a:lstStyle/>
                        <a:p>
                          <a:r>
                            <a:rPr lang="en-US" sz="1600" dirty="0"/>
                            <a:t>14/12</a:t>
                          </a:r>
                        </a:p>
                      </a:txBody>
                      <a:tcPr/>
                    </a:tc>
                    <a:tc>
                      <a:txBody>
                        <a:bodyPr/>
                        <a:lstStyle/>
                        <a:p>
                          <a:endParaRPr lang="en-US"/>
                        </a:p>
                      </a:txBody>
                      <a:tcPr>
                        <a:blipFill>
                          <a:blip r:embed="rId2"/>
                          <a:stretch>
                            <a:fillRect l="-54386" t="-376190" r="-399415" b="-60714"/>
                          </a:stretch>
                        </a:blipFill>
                      </a:tcPr>
                    </a:tc>
                    <a:tc>
                      <a:txBody>
                        <a:bodyPr/>
                        <a:lstStyle/>
                        <a:p>
                          <a:endParaRPr lang="en-US"/>
                        </a:p>
                      </a:txBody>
                      <a:tcPr>
                        <a:blipFill>
                          <a:blip r:embed="rId2"/>
                          <a:stretch>
                            <a:fillRect l="-155294" t="-376190" r="-301765" b="-60714"/>
                          </a:stretch>
                        </a:blipFill>
                      </a:tcPr>
                    </a:tc>
                    <a:tc>
                      <a:txBody>
                        <a:bodyPr/>
                        <a:lstStyle/>
                        <a:p>
                          <a:endParaRPr lang="en-US"/>
                        </a:p>
                      </a:txBody>
                      <a:tcPr>
                        <a:blipFill>
                          <a:blip r:embed="rId2"/>
                          <a:stretch>
                            <a:fillRect l="-255294" t="-376190" r="-201765" b="-60714"/>
                          </a:stretch>
                        </a:blipFill>
                      </a:tcPr>
                    </a:tc>
                    <a:tc>
                      <a:txBody>
                        <a:bodyPr/>
                        <a:lstStyle/>
                        <a:p>
                          <a:endParaRPr lang="en-US"/>
                        </a:p>
                      </a:txBody>
                      <a:tcPr>
                        <a:blipFill>
                          <a:blip r:embed="rId2"/>
                          <a:stretch>
                            <a:fillRect l="-353216" t="-376190" r="-100585" b="-60714"/>
                          </a:stretch>
                        </a:blipFill>
                      </a:tcPr>
                    </a:tc>
                    <a:tc>
                      <a:txBody>
                        <a:bodyPr/>
                        <a:lstStyle/>
                        <a:p>
                          <a:endParaRPr lang="en-US"/>
                        </a:p>
                      </a:txBody>
                      <a:tcPr>
                        <a:blipFill>
                          <a:blip r:embed="rId2"/>
                          <a:stretch>
                            <a:fillRect l="-455882" t="-376190" r="-1176" b="-60714"/>
                          </a:stretch>
                        </a:blipFill>
                      </a:tcPr>
                    </a:tc>
                    <a:extLst>
                      <a:ext uri="{0D108BD9-81ED-4DB2-BD59-A6C34878D82A}">
                        <a16:rowId xmlns:a16="http://schemas.microsoft.com/office/drawing/2014/main" val="4138633012"/>
                      </a:ext>
                    </a:extLst>
                  </a:tr>
                  <a:tr h="632274">
                    <a:tc>
                      <a:txBody>
                        <a:bodyPr/>
                        <a:lstStyle/>
                        <a:p>
                          <a:r>
                            <a:rPr lang="en-US" sz="1600" dirty="0"/>
                            <a:t>Total</a:t>
                          </a:r>
                        </a:p>
                      </a:txBody>
                      <a:tcPr/>
                    </a:tc>
                    <a:tc>
                      <a:txBody>
                        <a:bodyPr/>
                        <a:lstStyle/>
                        <a:p>
                          <a:endParaRPr lang="en-US" sz="1600" dirty="0"/>
                        </a:p>
                      </a:txBody>
                      <a:tcPr/>
                    </a:tc>
                    <a:tc>
                      <a:txBody>
                        <a:bodyPr/>
                        <a:lstStyle/>
                        <a:p>
                          <a:endParaRPr lang="en-US" sz="1600" dirty="0"/>
                        </a:p>
                      </a:txBody>
                      <a:tcPr/>
                    </a:tc>
                    <a:tc>
                      <a:txBody>
                        <a:bodyPr/>
                        <a:lstStyle/>
                        <a:p>
                          <a:endParaRPr lang="en-US" sz="1600" dirty="0"/>
                        </a:p>
                      </a:txBody>
                      <a:tcPr/>
                    </a:tc>
                    <a:tc>
                      <a:txBody>
                        <a:bodyPr/>
                        <a:lstStyle/>
                        <a:p>
                          <a:r>
                            <a:rPr lang="en-US" sz="1600" b="1" dirty="0"/>
                            <a:t>98.678</a:t>
                          </a:r>
                        </a:p>
                      </a:txBody>
                      <a:tcPr/>
                    </a:tc>
                    <a:tc>
                      <a:txBody>
                        <a:bodyPr/>
                        <a:lstStyle/>
                        <a:p>
                          <a:r>
                            <a:rPr lang="en-US" sz="1600" b="1" dirty="0"/>
                            <a:t>100.941</a:t>
                          </a:r>
                        </a:p>
                      </a:txBody>
                      <a:tcPr/>
                    </a:tc>
                    <a:extLst>
                      <a:ext uri="{0D108BD9-81ED-4DB2-BD59-A6C34878D82A}">
                        <a16:rowId xmlns:a16="http://schemas.microsoft.com/office/drawing/2014/main" val="4176972528"/>
                      </a:ext>
                    </a:extLst>
                  </a:tr>
                </a:tbl>
              </a:graphicData>
            </a:graphic>
          </p:graphicFrame>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CF59228B-E3D3-C112-47F1-4A929E40F536}"/>
                  </a:ext>
                </a:extLst>
              </p:cNvPr>
              <p:cNvSpPr txBox="1"/>
              <p:nvPr/>
            </p:nvSpPr>
            <p:spPr>
              <a:xfrm>
                <a:off x="2371241" y="5941798"/>
                <a:ext cx="7857640"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AU" sz="2800" b="0" i="1" smtClean="0">
                          <a:solidFill>
                            <a:srgbClr val="FF0000"/>
                          </a:solidFill>
                          <a:latin typeface="Cambria Math" panose="02040503050406030204" pitchFamily="18" charset="0"/>
                          <a:ea typeface="Cambria Math" panose="02040503050406030204" pitchFamily="18" charset="0"/>
                        </a:rPr>
                        <m:t>𝐼𝑚𝑝𝑙𝑖𝑒𝑑</m:t>
                      </m:r>
                      <m:r>
                        <a:rPr lang="en-AU" sz="2800" b="0" i="1" smtClean="0">
                          <a:solidFill>
                            <a:srgbClr val="FF0000"/>
                          </a:solidFill>
                          <a:latin typeface="Cambria Math" panose="02040503050406030204" pitchFamily="18" charset="0"/>
                          <a:ea typeface="Cambria Math" panose="02040503050406030204" pitchFamily="18" charset="0"/>
                        </a:rPr>
                        <m:t> 3−</m:t>
                      </m:r>
                      <m:r>
                        <a:rPr lang="en-AU" altLang="zh-CN" sz="2800" b="0" i="1" smtClean="0">
                          <a:solidFill>
                            <a:srgbClr val="FF0000"/>
                          </a:solidFill>
                          <a:latin typeface="Cambria Math" panose="02040503050406030204" pitchFamily="18" charset="0"/>
                          <a:ea typeface="Cambria Math" panose="02040503050406030204" pitchFamily="18" charset="0"/>
                        </a:rPr>
                        <m:t>𝑚𝑜𝑛𝑡h</m:t>
                      </m:r>
                      <m:r>
                        <a:rPr lang="en-AU" altLang="zh-CN" sz="2800" b="0" i="1" smtClean="0">
                          <a:solidFill>
                            <a:srgbClr val="FF0000"/>
                          </a:solidFill>
                          <a:latin typeface="Cambria Math" panose="02040503050406030204" pitchFamily="18" charset="0"/>
                          <a:ea typeface="Cambria Math" panose="02040503050406030204" pitchFamily="18" charset="0"/>
                        </a:rPr>
                        <m:t> </m:t>
                      </m:r>
                      <m:r>
                        <a:rPr lang="en-AU" altLang="zh-CN" sz="2800" b="0" i="1" smtClean="0">
                          <a:solidFill>
                            <a:srgbClr val="FF0000"/>
                          </a:solidFill>
                          <a:latin typeface="Cambria Math" panose="02040503050406030204" pitchFamily="18" charset="0"/>
                          <a:ea typeface="Cambria Math" panose="02040503050406030204" pitchFamily="18" charset="0"/>
                        </a:rPr>
                        <m:t>𝑓𝑜𝑟𝑤𝑎𝑟𝑑</m:t>
                      </m:r>
                      <m:r>
                        <a:rPr lang="en-AU" altLang="zh-CN" sz="2800" b="0" i="1" smtClean="0">
                          <a:solidFill>
                            <a:srgbClr val="FF0000"/>
                          </a:solidFill>
                          <a:latin typeface="Cambria Math" panose="02040503050406030204" pitchFamily="18" charset="0"/>
                          <a:ea typeface="Cambria Math" panose="02040503050406030204" pitchFamily="18" charset="0"/>
                        </a:rPr>
                        <m:t> </m:t>
                      </m:r>
                      <m:r>
                        <a:rPr lang="en-AU" altLang="zh-CN" sz="2800" b="0" i="1" smtClean="0">
                          <a:solidFill>
                            <a:srgbClr val="FF0000"/>
                          </a:solidFill>
                          <a:latin typeface="Cambria Math" panose="02040503050406030204" pitchFamily="18" charset="0"/>
                          <a:ea typeface="Cambria Math" panose="02040503050406030204" pitchFamily="18" charset="0"/>
                        </a:rPr>
                        <m:t>𝐵𝐵𝑆𝑊</m:t>
                      </m:r>
                      <m:r>
                        <a:rPr lang="en-AU" altLang="zh-CN" sz="2800" b="0" i="1" smtClean="0">
                          <a:solidFill>
                            <a:srgbClr val="FF0000"/>
                          </a:solidFill>
                          <a:latin typeface="Cambria Math" panose="02040503050406030204" pitchFamily="18" charset="0"/>
                          <a:ea typeface="Cambria Math" panose="02040503050406030204" pitchFamily="18" charset="0"/>
                        </a:rPr>
                        <m:t>=12%</m:t>
                      </m:r>
                    </m:oMath>
                  </m:oMathPara>
                </a14:m>
                <a:endParaRPr lang="en-US" sz="2800" dirty="0">
                  <a:solidFill>
                    <a:srgbClr val="FF0000"/>
                  </a:solidFill>
                </a:endParaRPr>
              </a:p>
            </p:txBody>
          </p:sp>
        </mc:Choice>
        <mc:Fallback xmlns="">
          <p:sp>
            <p:nvSpPr>
              <p:cNvPr id="9" name="TextBox 8">
                <a:extLst>
                  <a:ext uri="{FF2B5EF4-FFF2-40B4-BE49-F238E27FC236}">
                    <a16:creationId xmlns:a16="http://schemas.microsoft.com/office/drawing/2014/main" id="{CF59228B-E3D3-C112-47F1-4A929E40F536}"/>
                  </a:ext>
                </a:extLst>
              </p:cNvPr>
              <p:cNvSpPr txBox="1">
                <a:spLocks noRot="1" noChangeAspect="1" noMove="1" noResize="1" noEditPoints="1" noAdjustHandles="1" noChangeArrowheads="1" noChangeShapeType="1" noTextEdit="1"/>
              </p:cNvSpPr>
              <p:nvPr/>
            </p:nvSpPr>
            <p:spPr>
              <a:xfrm>
                <a:off x="2371241" y="5941798"/>
                <a:ext cx="7857640" cy="523220"/>
              </a:xfrm>
              <a:prstGeom prst="rect">
                <a:avLst/>
              </a:prstGeom>
              <a:blipFill>
                <a:blip r:embed="rId3"/>
                <a:stretch>
                  <a:fillRect b="-19048"/>
                </a:stretch>
              </a:blipFill>
            </p:spPr>
            <p:txBody>
              <a:bodyPr/>
              <a:lstStyle/>
              <a:p>
                <a:r>
                  <a:rPr lang="en-US">
                    <a:noFill/>
                  </a:rPr>
                  <a:t> </a:t>
                </a:r>
              </a:p>
            </p:txBody>
          </p:sp>
        </mc:Fallback>
      </mc:AlternateContent>
    </p:spTree>
    <p:extLst>
      <p:ext uri="{BB962C8B-B14F-4D97-AF65-F5344CB8AC3E}">
        <p14:creationId xmlns:p14="http://schemas.microsoft.com/office/powerpoint/2010/main" val="335156131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6A940C-AFD3-1F0F-B1AE-0C16A3A78820}"/>
              </a:ext>
            </a:extLst>
          </p:cNvPr>
          <p:cNvSpPr>
            <a:spLocks noGrp="1"/>
          </p:cNvSpPr>
          <p:nvPr>
            <p:ph type="title"/>
          </p:nvPr>
        </p:nvSpPr>
        <p:spPr/>
        <p:txBody>
          <a:bodyPr/>
          <a:lstStyle/>
          <a:p>
            <a:r>
              <a:rPr lang="en-US" dirty="0"/>
              <a:t>Answer 7.23</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8DB5F67-F3F5-6A70-CD16-577221E681FE}"/>
                  </a:ext>
                </a:extLst>
              </p:cNvPr>
              <p:cNvSpPr>
                <a:spLocks noGrp="1"/>
              </p:cNvSpPr>
              <p:nvPr>
                <p:ph idx="1"/>
              </p:nvPr>
            </p:nvSpPr>
            <p:spPr/>
            <p:txBody>
              <a:bodyPr/>
              <a:lstStyle/>
              <a:p>
                <a:r>
                  <a:rPr lang="en-US" dirty="0"/>
                  <a:t>The value of the swap </a:t>
                </a:r>
                <a:r>
                  <a:rPr lang="en-US" b="1" dirty="0"/>
                  <a:t>to the party paying fixed </a:t>
                </a:r>
                <a:r>
                  <a:rPr lang="en-US" dirty="0"/>
                  <a:t>is therefore</a:t>
                </a:r>
              </a:p>
              <a:p>
                <a:pPr marL="0" indent="0">
                  <a:buNone/>
                </a:pPr>
                <a14:m>
                  <m:oMathPara xmlns:m="http://schemas.openxmlformats.org/officeDocument/2006/math">
                    <m:oMathParaPr>
                      <m:jc m:val="centerGroup"/>
                    </m:oMathParaPr>
                    <m:oMath xmlns:m="http://schemas.openxmlformats.org/officeDocument/2006/math">
                      <m:sSub>
                        <m:sSubPr>
                          <m:ctrlPr>
                            <a:rPr lang="en-AU" b="1" i="1">
                              <a:latin typeface="Cambria Math" panose="02040503050406030204" pitchFamily="18" charset="0"/>
                            </a:rPr>
                          </m:ctrlPr>
                        </m:sSubPr>
                        <m:e>
                          <m:sSub>
                            <m:sSubPr>
                              <m:ctrlPr>
                                <a:rPr lang="en-AU" b="1" i="1">
                                  <a:latin typeface="Cambria Math" panose="02040503050406030204" pitchFamily="18" charset="0"/>
                                </a:rPr>
                              </m:ctrlPr>
                            </m:sSubPr>
                            <m:e>
                              <m:r>
                                <a:rPr lang="en-AU" b="1" i="1">
                                  <a:latin typeface="Cambria Math" panose="02040503050406030204" pitchFamily="18" charset="0"/>
                                </a:rPr>
                                <m:t>𝑽</m:t>
                              </m:r>
                            </m:e>
                            <m:sub>
                              <m:r>
                                <a:rPr lang="en-AU" b="1" i="1">
                                  <a:latin typeface="Cambria Math" panose="02040503050406030204" pitchFamily="18" charset="0"/>
                                </a:rPr>
                                <m:t>𝒔𝒘𝒂𝒑</m:t>
                              </m:r>
                            </m:sub>
                          </m:sSub>
                          <m:r>
                            <a:rPr lang="en-AU" b="1" i="1">
                              <a:latin typeface="Cambria Math" panose="02040503050406030204" pitchFamily="18" charset="0"/>
                            </a:rPr>
                            <m:t>=</m:t>
                          </m:r>
                          <m:sSub>
                            <m:sSubPr>
                              <m:ctrlPr>
                                <a:rPr lang="en-AU" b="1" i="1">
                                  <a:latin typeface="Cambria Math" panose="02040503050406030204" pitchFamily="18" charset="0"/>
                                </a:rPr>
                              </m:ctrlPr>
                            </m:sSubPr>
                            <m:e>
                              <m:r>
                                <a:rPr lang="en-AU" b="1" i="1">
                                  <a:latin typeface="Cambria Math" panose="02040503050406030204" pitchFamily="18" charset="0"/>
                                </a:rPr>
                                <m:t>𝑩</m:t>
                              </m:r>
                            </m:e>
                            <m:sub>
                              <m:r>
                                <a:rPr lang="en-AU" b="1" i="1">
                                  <a:latin typeface="Cambria Math" panose="02040503050406030204" pitchFamily="18" charset="0"/>
                                </a:rPr>
                                <m:t>𝒇𝒍</m:t>
                              </m:r>
                            </m:sub>
                          </m:sSub>
                          <m:r>
                            <a:rPr lang="en-AU" b="1" i="1">
                              <a:latin typeface="Cambria Math" panose="02040503050406030204" pitchFamily="18" charset="0"/>
                            </a:rPr>
                            <m:t>−</m:t>
                          </m:r>
                          <m:r>
                            <a:rPr lang="en-AU" b="1" i="1">
                              <a:latin typeface="Cambria Math" panose="02040503050406030204" pitchFamily="18" charset="0"/>
                            </a:rPr>
                            <m:t>𝑩</m:t>
                          </m:r>
                        </m:e>
                        <m:sub>
                          <m:r>
                            <a:rPr lang="en-AU" b="1" i="1">
                              <a:latin typeface="Cambria Math" panose="02040503050406030204" pitchFamily="18" charset="0"/>
                            </a:rPr>
                            <m:t>𝒇𝒊𝒙</m:t>
                          </m:r>
                        </m:sub>
                      </m:sSub>
                    </m:oMath>
                  </m:oMathPara>
                </a14:m>
                <a:endParaRPr lang="en-US" dirty="0"/>
              </a:p>
              <a:p>
                <a:pPr marL="0" indent="0">
                  <a:buNone/>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AU" b="0" i="1" smtClean="0">
                              <a:latin typeface="Cambria Math" panose="02040503050406030204" pitchFamily="18" charset="0"/>
                            </a:rPr>
                            <m:t>𝑉</m:t>
                          </m:r>
                        </m:e>
                        <m:sub>
                          <m:r>
                            <a:rPr lang="en-AU" b="0" i="1" smtClean="0">
                              <a:latin typeface="Cambria Math" panose="02040503050406030204" pitchFamily="18" charset="0"/>
                            </a:rPr>
                            <m:t>𝑏𝑢𝑦𝑒𝑟</m:t>
                          </m:r>
                        </m:sub>
                      </m:sSub>
                      <m:r>
                        <a:rPr lang="en-AU" b="0" i="1" smtClean="0">
                          <a:latin typeface="Cambria Math" panose="02040503050406030204" pitchFamily="18" charset="0"/>
                        </a:rPr>
                        <m:t>=100.941−98.678=$2.263</m:t>
                      </m:r>
                      <m:r>
                        <a:rPr lang="en-AU" b="0" i="1" smtClean="0">
                          <a:latin typeface="Cambria Math" panose="02040503050406030204" pitchFamily="18" charset="0"/>
                        </a:rPr>
                        <m:t>𝑚</m:t>
                      </m:r>
                    </m:oMath>
                  </m:oMathPara>
                </a14:m>
                <a:endParaRPr lang="en-US" dirty="0"/>
              </a:p>
            </p:txBody>
          </p:sp>
        </mc:Choice>
        <mc:Fallback xmlns="">
          <p:sp>
            <p:nvSpPr>
              <p:cNvPr id="3" name="Content Placeholder 2">
                <a:extLst>
                  <a:ext uri="{FF2B5EF4-FFF2-40B4-BE49-F238E27FC236}">
                    <a16:creationId xmlns:a16="http://schemas.microsoft.com/office/drawing/2014/main" id="{E8DB5F67-F3F5-6A70-CD16-577221E681FE}"/>
                  </a:ext>
                </a:extLst>
              </p:cNvPr>
              <p:cNvSpPr>
                <a:spLocks noGrp="1" noRot="1" noChangeAspect="1" noMove="1" noResize="1" noEditPoints="1" noAdjustHandles="1" noChangeArrowheads="1" noChangeShapeType="1" noTextEdit="1"/>
              </p:cNvSpPr>
              <p:nvPr>
                <p:ph idx="1"/>
              </p:nvPr>
            </p:nvSpPr>
            <p:spPr>
              <a:blipFill>
                <a:blip r:embed="rId2"/>
                <a:stretch>
                  <a:fillRect l="-1086" t="-2326"/>
                </a:stretch>
              </a:blipFill>
            </p:spPr>
            <p:txBody>
              <a:bodyPr/>
              <a:lstStyle/>
              <a:p>
                <a:r>
                  <a:rPr lang="en-US">
                    <a:noFill/>
                  </a:rPr>
                  <a:t> </a:t>
                </a:r>
              </a:p>
            </p:txBody>
          </p:sp>
        </mc:Fallback>
      </mc:AlternateContent>
      <p:sp>
        <p:nvSpPr>
          <p:cNvPr id="4" name="Date Placeholder 3">
            <a:extLst>
              <a:ext uri="{FF2B5EF4-FFF2-40B4-BE49-F238E27FC236}">
                <a16:creationId xmlns:a16="http://schemas.microsoft.com/office/drawing/2014/main" id="{B4F43B4F-9057-68FF-A008-AE31D3F40E72}"/>
              </a:ext>
            </a:extLst>
          </p:cNvPr>
          <p:cNvSpPr>
            <a:spLocks noGrp="1"/>
          </p:cNvSpPr>
          <p:nvPr>
            <p:ph type="dt" sz="half" idx="10"/>
          </p:nvPr>
        </p:nvSpPr>
        <p:spPr/>
        <p:txBody>
          <a:bodyPr/>
          <a:lstStyle/>
          <a:p>
            <a:fld id="{1E0143D5-6313-2C49-82FE-29B3DB061566}" type="datetime1">
              <a:rPr lang="en-AU" smtClean="0"/>
              <a:t>28/8/2026</a:t>
            </a:fld>
            <a:endParaRPr lang="en-US"/>
          </a:p>
        </p:txBody>
      </p:sp>
      <p:sp>
        <p:nvSpPr>
          <p:cNvPr id="5" name="Footer Placeholder 4">
            <a:extLst>
              <a:ext uri="{FF2B5EF4-FFF2-40B4-BE49-F238E27FC236}">
                <a16:creationId xmlns:a16="http://schemas.microsoft.com/office/drawing/2014/main" id="{720AFBCA-9E35-EAB1-B957-183E2B2F7610}"/>
              </a:ext>
            </a:extLst>
          </p:cNvPr>
          <p:cNvSpPr>
            <a:spLocks noGrp="1"/>
          </p:cNvSpPr>
          <p:nvPr>
            <p:ph type="ftr" sz="quarter" idx="11"/>
          </p:nvPr>
        </p:nvSpPr>
        <p:spPr/>
        <p:txBody>
          <a:bodyPr/>
          <a:lstStyle/>
          <a:p>
            <a:r>
              <a:rPr lang="en-US"/>
              <a:t>FINA2204 - Tutorial 5</a:t>
            </a:r>
          </a:p>
        </p:txBody>
      </p:sp>
      <p:sp>
        <p:nvSpPr>
          <p:cNvPr id="6" name="Slide Number Placeholder 5">
            <a:extLst>
              <a:ext uri="{FF2B5EF4-FFF2-40B4-BE49-F238E27FC236}">
                <a16:creationId xmlns:a16="http://schemas.microsoft.com/office/drawing/2014/main" id="{D540E514-333A-B67D-BD65-3FCF5D611C7B}"/>
              </a:ext>
            </a:extLst>
          </p:cNvPr>
          <p:cNvSpPr>
            <a:spLocks noGrp="1"/>
          </p:cNvSpPr>
          <p:nvPr>
            <p:ph type="sldNum" sz="quarter" idx="12"/>
          </p:nvPr>
        </p:nvSpPr>
        <p:spPr/>
        <p:txBody>
          <a:bodyPr/>
          <a:lstStyle/>
          <a:p>
            <a:fld id="{9855740F-6ECD-274F-B089-6B266B6B07F9}" type="slidenum">
              <a:rPr lang="en-US" smtClean="0"/>
              <a:t>43</a:t>
            </a:fld>
            <a:endParaRPr lang="en-US"/>
          </a:p>
        </p:txBody>
      </p:sp>
    </p:spTree>
    <p:extLst>
      <p:ext uri="{BB962C8B-B14F-4D97-AF65-F5344CB8AC3E}">
        <p14:creationId xmlns:p14="http://schemas.microsoft.com/office/powerpoint/2010/main" val="72275500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DCD399-30EE-32BE-F4AF-C34B47F48325}"/>
              </a:ext>
            </a:extLst>
          </p:cNvPr>
          <p:cNvSpPr>
            <a:spLocks noGrp="1"/>
          </p:cNvSpPr>
          <p:nvPr>
            <p:ph type="title"/>
          </p:nvPr>
        </p:nvSpPr>
        <p:spPr/>
        <p:txBody>
          <a:bodyPr/>
          <a:lstStyle/>
          <a:p>
            <a:r>
              <a:rPr lang="en-US" dirty="0"/>
              <a:t>Recap: Valuation of currency swaps</a:t>
            </a:r>
          </a:p>
        </p:txBody>
      </p:sp>
      <p:sp>
        <p:nvSpPr>
          <p:cNvPr id="3" name="Content Placeholder 2">
            <a:extLst>
              <a:ext uri="{FF2B5EF4-FFF2-40B4-BE49-F238E27FC236}">
                <a16:creationId xmlns:a16="http://schemas.microsoft.com/office/drawing/2014/main" id="{26F3A35E-ACE3-FF7F-C0D7-049B4C5D915B}"/>
              </a:ext>
            </a:extLst>
          </p:cNvPr>
          <p:cNvSpPr>
            <a:spLocks noGrp="1"/>
          </p:cNvSpPr>
          <p:nvPr>
            <p:ph idx="1"/>
          </p:nvPr>
        </p:nvSpPr>
        <p:spPr/>
        <p:txBody>
          <a:bodyPr/>
          <a:lstStyle/>
          <a:p>
            <a:r>
              <a:rPr lang="en-US" dirty="0"/>
              <a:t>Unlike interest rate swap, the fixed-for-fixed currency swap exchanges cash flows in </a:t>
            </a:r>
            <a:r>
              <a:rPr lang="en-US" b="1" dirty="0"/>
              <a:t>different currencies</a:t>
            </a:r>
            <a:r>
              <a:rPr lang="en-US" dirty="0"/>
              <a:t>;</a:t>
            </a:r>
          </a:p>
          <a:p>
            <a:r>
              <a:rPr lang="en-US" dirty="0"/>
              <a:t>In an interest rate swap, the principal is only a notional amount and is not exchanged</a:t>
            </a:r>
            <a:r>
              <a:rPr lang="en-AU" dirty="0"/>
              <a:t>;</a:t>
            </a:r>
            <a:endParaRPr lang="en-US" dirty="0"/>
          </a:p>
          <a:p>
            <a:r>
              <a:rPr lang="en-US" dirty="0"/>
              <a:t>In a currency swap, a </a:t>
            </a:r>
            <a:r>
              <a:rPr lang="en-US" b="1" dirty="0"/>
              <a:t>separate </a:t>
            </a:r>
            <a:r>
              <a:rPr lang="en-US" dirty="0"/>
              <a:t>principal amount is specified for each currency and the principals are typically exchanged at inception and re-exchanged at maturity.</a:t>
            </a: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2A47BBB5-EED9-6FD2-7051-683A14F2F7E0}"/>
                  </a:ext>
                </a:extLst>
              </p:cNvPr>
              <p:cNvSpPr txBox="1"/>
              <p:nvPr/>
            </p:nvSpPr>
            <p:spPr>
              <a:xfrm>
                <a:off x="2897913" y="4895635"/>
                <a:ext cx="1862561" cy="1262974"/>
              </a:xfrm>
              <a:prstGeom prst="rect">
                <a:avLst/>
              </a:prstGeom>
              <a:noFill/>
            </p:spPr>
            <p:txBody>
              <a:bodyPr wrap="none" rtlCol="0">
                <a:spAutoFit/>
              </a:bodyPr>
              <a:lstStyle/>
              <a:p>
                <a:r>
                  <a:rPr lang="en-US" dirty="0"/>
                  <a:t>Currency Swap</a:t>
                </a:r>
              </a:p>
              <a:p>
                <a:pPr/>
                <a14:m>
                  <m:oMathPara xmlns:m="http://schemas.openxmlformats.org/officeDocument/2006/math">
                    <m:oMathParaPr>
                      <m:jc m:val="centerGroup"/>
                    </m:oMathParaPr>
                    <m:oMath xmlns:m="http://schemas.openxmlformats.org/officeDocument/2006/math">
                      <m:sSubSup>
                        <m:sSubSupPr>
                          <m:ctrlPr>
                            <a:rPr lang="en-US" i="1" smtClean="0">
                              <a:latin typeface="Cambria Math" panose="02040503050406030204" pitchFamily="18" charset="0"/>
                              <a:ea typeface="Cambria Math" panose="02040503050406030204" pitchFamily="18" charset="0"/>
                            </a:rPr>
                          </m:ctrlPr>
                        </m:sSubSupPr>
                        <m:e>
                          <m:r>
                            <a:rPr lang="en-AU" b="0" i="1" smtClean="0">
                              <a:latin typeface="Cambria Math" panose="02040503050406030204" pitchFamily="18" charset="0"/>
                              <a:ea typeface="Cambria Math" panose="02040503050406030204" pitchFamily="18" charset="0"/>
                            </a:rPr>
                            <m:t>𝐵</m:t>
                          </m:r>
                        </m:e>
                        <m:sub>
                          <m:r>
                            <a:rPr lang="en-AU" b="0" i="1" smtClean="0">
                              <a:latin typeface="Cambria Math" panose="02040503050406030204" pitchFamily="18" charset="0"/>
                              <a:ea typeface="Cambria Math" panose="02040503050406030204" pitchFamily="18" charset="0"/>
                            </a:rPr>
                            <m:t>𝐺𝐵𝑃</m:t>
                          </m:r>
                        </m:sub>
                        <m:sup>
                          <m:r>
                            <a:rPr lang="en-AU" b="0" i="1" smtClean="0">
                              <a:latin typeface="Cambria Math" panose="02040503050406030204" pitchFamily="18" charset="0"/>
                              <a:ea typeface="Cambria Math" panose="02040503050406030204" pitchFamily="18" charset="0"/>
                            </a:rPr>
                            <m:t>𝑓𝑖𝑥𝑒𝑑</m:t>
                          </m:r>
                        </m:sup>
                      </m:sSubSup>
                      <m:r>
                        <a:rPr lang="en-US" i="1" smtClean="0">
                          <a:latin typeface="Cambria Math" panose="02040503050406030204" pitchFamily="18" charset="0"/>
                          <a:ea typeface="Cambria Math" panose="02040503050406030204" pitchFamily="18" charset="0"/>
                        </a:rPr>
                        <m:t>↔</m:t>
                      </m:r>
                      <m:sSubSup>
                        <m:sSubSupPr>
                          <m:ctrlPr>
                            <a:rPr lang="en-US" i="1" smtClean="0">
                              <a:latin typeface="Cambria Math" panose="02040503050406030204" pitchFamily="18" charset="0"/>
                              <a:ea typeface="Cambria Math" panose="02040503050406030204" pitchFamily="18" charset="0"/>
                            </a:rPr>
                          </m:ctrlPr>
                        </m:sSubSupPr>
                        <m:e>
                          <m:r>
                            <a:rPr lang="en-AU" b="0" i="1" smtClean="0">
                              <a:latin typeface="Cambria Math" panose="02040503050406030204" pitchFamily="18" charset="0"/>
                              <a:ea typeface="Cambria Math" panose="02040503050406030204" pitchFamily="18" charset="0"/>
                            </a:rPr>
                            <m:t>𝐵</m:t>
                          </m:r>
                        </m:e>
                        <m:sub>
                          <m:r>
                            <a:rPr lang="en-AU" b="0" i="1" smtClean="0">
                              <a:latin typeface="Cambria Math" panose="02040503050406030204" pitchFamily="18" charset="0"/>
                              <a:ea typeface="Cambria Math" panose="02040503050406030204" pitchFamily="18" charset="0"/>
                            </a:rPr>
                            <m:t>𝐴𝑈𝐷</m:t>
                          </m:r>
                        </m:sub>
                        <m:sup>
                          <m:r>
                            <a:rPr lang="en-AU" b="0" i="1" smtClean="0">
                              <a:latin typeface="Cambria Math" panose="02040503050406030204" pitchFamily="18" charset="0"/>
                              <a:ea typeface="Cambria Math" panose="02040503050406030204" pitchFamily="18" charset="0"/>
                            </a:rPr>
                            <m:t>𝑓𝑖𝑥𝑒𝑑</m:t>
                          </m:r>
                        </m:sup>
                      </m:sSubSup>
                    </m:oMath>
                  </m:oMathPara>
                </a14:m>
                <a:endParaRPr lang="en-AU" dirty="0">
                  <a:ea typeface="Cambria Math" panose="02040503050406030204" pitchFamily="18" charset="0"/>
                </a:endParaRPr>
              </a:p>
              <a:p>
                <a:endParaRPr lang="en-US" dirty="0"/>
              </a:p>
              <a:p>
                <a:r>
                  <a:rPr lang="en-US" dirty="0"/>
                  <a:t>  GBP         AUD</a:t>
                </a:r>
              </a:p>
            </p:txBody>
          </p:sp>
        </mc:Choice>
        <mc:Fallback xmlns="">
          <p:sp>
            <p:nvSpPr>
              <p:cNvPr id="4" name="TextBox 3">
                <a:extLst>
                  <a:ext uri="{FF2B5EF4-FFF2-40B4-BE49-F238E27FC236}">
                    <a16:creationId xmlns:a16="http://schemas.microsoft.com/office/drawing/2014/main" id="{2A47BBB5-EED9-6FD2-7051-683A14F2F7E0}"/>
                  </a:ext>
                </a:extLst>
              </p:cNvPr>
              <p:cNvSpPr txBox="1">
                <a:spLocks noRot="1" noChangeAspect="1" noMove="1" noResize="1" noEditPoints="1" noAdjustHandles="1" noChangeArrowheads="1" noChangeShapeType="1" noTextEdit="1"/>
              </p:cNvSpPr>
              <p:nvPr/>
            </p:nvSpPr>
            <p:spPr>
              <a:xfrm>
                <a:off x="2897913" y="4895635"/>
                <a:ext cx="1862561" cy="1262974"/>
              </a:xfrm>
              <a:prstGeom prst="rect">
                <a:avLst/>
              </a:prstGeom>
              <a:blipFill>
                <a:blip r:embed="rId3"/>
                <a:stretch>
                  <a:fillRect l="-2721" t="-2000" b="-7000"/>
                </a:stretch>
              </a:blipFill>
            </p:spPr>
            <p:txBody>
              <a:bodyPr/>
              <a:lstStyle/>
              <a:p>
                <a:r>
                  <a:rPr lang="en-US">
                    <a:noFill/>
                  </a:rPr>
                  <a:t> </a:t>
                </a:r>
              </a:p>
            </p:txBody>
          </p:sp>
        </mc:Fallback>
      </mc:AlternateContent>
      <p:sp>
        <p:nvSpPr>
          <p:cNvPr id="5" name="Left Brace 4">
            <a:extLst>
              <a:ext uri="{FF2B5EF4-FFF2-40B4-BE49-F238E27FC236}">
                <a16:creationId xmlns:a16="http://schemas.microsoft.com/office/drawing/2014/main" id="{48EB1959-C1B2-DF08-5EC2-B5C640627608}"/>
              </a:ext>
            </a:extLst>
          </p:cNvPr>
          <p:cNvSpPr/>
          <p:nvPr/>
        </p:nvSpPr>
        <p:spPr>
          <a:xfrm rot="16200000">
            <a:off x="3201749" y="5463837"/>
            <a:ext cx="202557" cy="358815"/>
          </a:xfrm>
          <a:prstGeom prst="leftBrace">
            <a:avLst/>
          </a:prstGeom>
        </p:spPr>
        <p:style>
          <a:lnRef idx="2">
            <a:schemeClr val="dk1"/>
          </a:lnRef>
          <a:fillRef idx="0">
            <a:schemeClr val="dk1"/>
          </a:fillRef>
          <a:effectRef idx="1">
            <a:schemeClr val="dk1"/>
          </a:effectRef>
          <a:fontRef idx="minor">
            <a:schemeClr val="tx1"/>
          </a:fontRef>
        </p:style>
        <p:txBody>
          <a:bodyPr rtlCol="0" anchor="ctr"/>
          <a:lstStyle/>
          <a:p>
            <a:pPr algn="ctr"/>
            <a:endParaRPr lang="en-US" dirty="0"/>
          </a:p>
        </p:txBody>
      </p:sp>
      <p:sp>
        <p:nvSpPr>
          <p:cNvPr id="6" name="Left Brace 5">
            <a:extLst>
              <a:ext uri="{FF2B5EF4-FFF2-40B4-BE49-F238E27FC236}">
                <a16:creationId xmlns:a16="http://schemas.microsoft.com/office/drawing/2014/main" id="{2EB7F4AE-97B4-7B36-3360-BFF22C618AEA}"/>
              </a:ext>
            </a:extLst>
          </p:cNvPr>
          <p:cNvSpPr/>
          <p:nvPr/>
        </p:nvSpPr>
        <p:spPr>
          <a:xfrm rot="16200000">
            <a:off x="4025481" y="5463837"/>
            <a:ext cx="202557" cy="358815"/>
          </a:xfrm>
          <a:prstGeom prst="leftBrace">
            <a:avLst/>
          </a:prstGeom>
        </p:spPr>
        <p:style>
          <a:lnRef idx="2">
            <a:schemeClr val="dk1"/>
          </a:lnRef>
          <a:fillRef idx="0">
            <a:schemeClr val="dk1"/>
          </a:fillRef>
          <a:effectRef idx="1">
            <a:schemeClr val="dk1"/>
          </a:effectRef>
          <a:fontRef idx="minor">
            <a:schemeClr val="tx1"/>
          </a:fontRef>
        </p:style>
        <p:txBody>
          <a:bodyPr rtlCol="0" anchor="ctr"/>
          <a:lstStyle/>
          <a:p>
            <a:pPr algn="ctr"/>
            <a:endParaRPr lang="en-US" dirty="0"/>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74504C0F-9475-64F5-65BB-8EE25EA40821}"/>
                  </a:ext>
                </a:extLst>
              </p:cNvPr>
              <p:cNvSpPr txBox="1"/>
              <p:nvPr/>
            </p:nvSpPr>
            <p:spPr>
              <a:xfrm>
                <a:off x="1509531" y="6095964"/>
                <a:ext cx="4756615" cy="63998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i="1" dirty="0" smtClean="0">
                          <a:latin typeface="Cambria Math" panose="02040503050406030204" pitchFamily="18" charset="0"/>
                        </a:rPr>
                        <m:t>𝐷𝑖𝑓𝑓𝑒𝑟𝑒𝑛𝑡</m:t>
                      </m:r>
                      <m:r>
                        <a:rPr lang="en-US" i="1" dirty="0" smtClean="0">
                          <a:latin typeface="Cambria Math" panose="02040503050406030204" pitchFamily="18" charset="0"/>
                        </a:rPr>
                        <m:t> </m:t>
                      </m:r>
                      <m:r>
                        <a:rPr lang="en-US" i="1" dirty="0" smtClean="0">
                          <a:latin typeface="Cambria Math" panose="02040503050406030204" pitchFamily="18" charset="0"/>
                        </a:rPr>
                        <m:t>𝑐𝑢𝑟𝑟𝑒𝑛𝑐𝑖𝑒𝑠</m:t>
                      </m:r>
                      <m:r>
                        <a:rPr lang="en-US" i="1" dirty="0" smtClean="0">
                          <a:latin typeface="Cambria Math" panose="02040503050406030204" pitchFamily="18" charset="0"/>
                          <a:ea typeface="Cambria Math" panose="02040503050406030204" pitchFamily="18" charset="0"/>
                        </a:rPr>
                        <m:t>→</m:t>
                      </m:r>
                      <m:r>
                        <a:rPr lang="en-AU" b="0" i="1" dirty="0" smtClean="0">
                          <a:latin typeface="Cambria Math" panose="02040503050406030204" pitchFamily="18" charset="0"/>
                          <a:ea typeface="Cambria Math" panose="02040503050406030204" pitchFamily="18" charset="0"/>
                        </a:rPr>
                        <m:t>𝑑𝑖𝑠𝑐𝑜𝑢𝑛𝑡</m:t>
                      </m:r>
                      <m:r>
                        <a:rPr lang="en-AU" b="0" i="1" dirty="0" smtClean="0">
                          <a:latin typeface="Cambria Math" panose="02040503050406030204" pitchFamily="18" charset="0"/>
                          <a:ea typeface="Cambria Math" panose="02040503050406030204" pitchFamily="18" charset="0"/>
                        </a:rPr>
                        <m:t> </m:t>
                      </m:r>
                      <m:r>
                        <a:rPr lang="en-AU" b="0" i="1" dirty="0" smtClean="0">
                          <a:latin typeface="Cambria Math" panose="02040503050406030204" pitchFamily="18" charset="0"/>
                          <a:ea typeface="Cambria Math" panose="02040503050406030204" pitchFamily="18" charset="0"/>
                        </a:rPr>
                        <m:t>𝑠𝑒𝑝𝑎𝑟𝑎𝑡𝑒𝑙𝑦</m:t>
                      </m:r>
                      <m:r>
                        <a:rPr lang="en-AU" b="0" i="1" dirty="0" smtClean="0">
                          <a:latin typeface="Cambria Math" panose="02040503050406030204" pitchFamily="18" charset="0"/>
                          <a:ea typeface="Cambria Math" panose="02040503050406030204" pitchFamily="18" charset="0"/>
                        </a:rPr>
                        <m:t>+</m:t>
                      </m:r>
                      <m:r>
                        <a:rPr lang="en-AU" b="0" i="1" dirty="0" smtClean="0">
                          <a:latin typeface="Cambria Math" panose="02040503050406030204" pitchFamily="18" charset="0"/>
                          <a:ea typeface="Cambria Math" panose="02040503050406030204" pitchFamily="18" charset="0"/>
                        </a:rPr>
                        <m:t>𝐹𝑋</m:t>
                      </m:r>
                      <m:r>
                        <a:rPr lang="en-AU" b="0" i="1" dirty="0" smtClean="0">
                          <a:latin typeface="Cambria Math" panose="02040503050406030204" pitchFamily="18" charset="0"/>
                          <a:ea typeface="Cambria Math" panose="02040503050406030204" pitchFamily="18" charset="0"/>
                        </a:rPr>
                        <m:t> </m:t>
                      </m:r>
                      <m:r>
                        <a:rPr lang="en-AU" b="0" i="1" dirty="0" smtClean="0">
                          <a:latin typeface="Cambria Math" panose="02040503050406030204" pitchFamily="18" charset="0"/>
                          <a:ea typeface="Cambria Math" panose="02040503050406030204" pitchFamily="18" charset="0"/>
                        </a:rPr>
                        <m:t>𝑐𝑜𝑛𝑣𝑒𝑟𝑠𝑖𝑜𝑛</m:t>
                      </m:r>
                    </m:oMath>
                  </m:oMathPara>
                </a14:m>
                <a:endParaRPr lang="en-US" dirty="0"/>
              </a:p>
            </p:txBody>
          </p:sp>
        </mc:Choice>
        <mc:Fallback xmlns="">
          <p:sp>
            <p:nvSpPr>
              <p:cNvPr id="7" name="TextBox 6">
                <a:extLst>
                  <a:ext uri="{FF2B5EF4-FFF2-40B4-BE49-F238E27FC236}">
                    <a16:creationId xmlns:a16="http://schemas.microsoft.com/office/drawing/2014/main" id="{74504C0F-9475-64F5-65BB-8EE25EA40821}"/>
                  </a:ext>
                </a:extLst>
              </p:cNvPr>
              <p:cNvSpPr txBox="1">
                <a:spLocks noRot="1" noChangeAspect="1" noMove="1" noResize="1" noEditPoints="1" noAdjustHandles="1" noChangeArrowheads="1" noChangeShapeType="1" noTextEdit="1"/>
              </p:cNvSpPr>
              <p:nvPr/>
            </p:nvSpPr>
            <p:spPr>
              <a:xfrm>
                <a:off x="1509531" y="6095964"/>
                <a:ext cx="4756615" cy="639983"/>
              </a:xfrm>
              <a:prstGeom prst="rect">
                <a:avLst/>
              </a:prstGeom>
              <a:blipFill>
                <a:blip r:embed="rId4"/>
                <a:stretch>
                  <a:fillRect b="-784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5120A966-46B5-C413-AE6A-5EE71FA3368F}"/>
                  </a:ext>
                </a:extLst>
              </p:cNvPr>
              <p:cNvSpPr txBox="1"/>
              <p:nvPr/>
            </p:nvSpPr>
            <p:spPr>
              <a:xfrm>
                <a:off x="7738993" y="4895635"/>
                <a:ext cx="2049279" cy="1222579"/>
              </a:xfrm>
              <a:prstGeom prst="rect">
                <a:avLst/>
              </a:prstGeom>
              <a:noFill/>
            </p:spPr>
            <p:txBody>
              <a:bodyPr wrap="none" rtlCol="0">
                <a:spAutoFit/>
              </a:bodyPr>
              <a:lstStyle/>
              <a:p>
                <a:r>
                  <a:rPr lang="en-US" dirty="0"/>
                  <a:t>Interest Rate Swap</a:t>
                </a:r>
              </a:p>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AU" b="0" i="1" smtClean="0">
                              <a:latin typeface="Cambria Math" panose="02040503050406030204" pitchFamily="18" charset="0"/>
                            </a:rPr>
                            <m:t>𝐵</m:t>
                          </m:r>
                        </m:e>
                        <m:sub>
                          <m:r>
                            <a:rPr lang="en-AU" b="0" i="1" smtClean="0">
                              <a:latin typeface="Cambria Math" panose="02040503050406030204" pitchFamily="18" charset="0"/>
                            </a:rPr>
                            <m:t>𝑓𝑖𝑥</m:t>
                          </m:r>
                        </m:sub>
                      </m:sSub>
                      <m:r>
                        <a:rPr lang="en-US" i="1" smtClean="0">
                          <a:latin typeface="Cambria Math" panose="02040503050406030204" pitchFamily="18" charset="0"/>
                          <a:ea typeface="Cambria Math" panose="02040503050406030204" pitchFamily="18" charset="0"/>
                        </a:rPr>
                        <m:t>↔</m:t>
                      </m:r>
                      <m:sSub>
                        <m:sSubPr>
                          <m:ctrlPr>
                            <a:rPr lang="en-US" i="1" smtClean="0">
                              <a:latin typeface="Cambria Math" panose="02040503050406030204" pitchFamily="18" charset="0"/>
                              <a:ea typeface="Cambria Math" panose="02040503050406030204" pitchFamily="18" charset="0"/>
                            </a:rPr>
                          </m:ctrlPr>
                        </m:sSubPr>
                        <m:e>
                          <m:r>
                            <a:rPr lang="en-AU" b="0" i="1" smtClean="0">
                              <a:latin typeface="Cambria Math" panose="02040503050406030204" pitchFamily="18" charset="0"/>
                              <a:ea typeface="Cambria Math" panose="02040503050406030204" pitchFamily="18" charset="0"/>
                            </a:rPr>
                            <m:t>𝐵</m:t>
                          </m:r>
                        </m:e>
                        <m:sub>
                          <m:r>
                            <a:rPr lang="en-AU" b="0" i="1" smtClean="0">
                              <a:latin typeface="Cambria Math" panose="02040503050406030204" pitchFamily="18" charset="0"/>
                              <a:ea typeface="Cambria Math" panose="02040503050406030204" pitchFamily="18" charset="0"/>
                            </a:rPr>
                            <m:t>𝑓𝑙</m:t>
                          </m:r>
                        </m:sub>
                      </m:sSub>
                    </m:oMath>
                  </m:oMathPara>
                </a14:m>
                <a:endParaRPr lang="en-AU" dirty="0">
                  <a:ea typeface="Cambria Math" panose="02040503050406030204" pitchFamily="18" charset="0"/>
                </a:endParaRPr>
              </a:p>
              <a:p>
                <a:endParaRPr lang="en-US" dirty="0"/>
              </a:p>
              <a:p>
                <a:r>
                  <a:rPr lang="en-US" dirty="0"/>
                  <a:t>        AUD      AUD</a:t>
                </a:r>
              </a:p>
            </p:txBody>
          </p:sp>
        </mc:Choice>
        <mc:Fallback xmlns="">
          <p:sp>
            <p:nvSpPr>
              <p:cNvPr id="8" name="TextBox 7">
                <a:extLst>
                  <a:ext uri="{FF2B5EF4-FFF2-40B4-BE49-F238E27FC236}">
                    <a16:creationId xmlns:a16="http://schemas.microsoft.com/office/drawing/2014/main" id="{5120A966-46B5-C413-AE6A-5EE71FA3368F}"/>
                  </a:ext>
                </a:extLst>
              </p:cNvPr>
              <p:cNvSpPr txBox="1">
                <a:spLocks noRot="1" noChangeAspect="1" noMove="1" noResize="1" noEditPoints="1" noAdjustHandles="1" noChangeArrowheads="1" noChangeShapeType="1" noTextEdit="1"/>
              </p:cNvSpPr>
              <p:nvPr/>
            </p:nvSpPr>
            <p:spPr>
              <a:xfrm>
                <a:off x="7738993" y="4895635"/>
                <a:ext cx="2049279" cy="1222579"/>
              </a:xfrm>
              <a:prstGeom prst="rect">
                <a:avLst/>
              </a:prstGeom>
              <a:blipFill>
                <a:blip r:embed="rId5"/>
                <a:stretch>
                  <a:fillRect l="-2469" t="-2062" r="-1852" b="-7216"/>
                </a:stretch>
              </a:blipFill>
            </p:spPr>
            <p:txBody>
              <a:bodyPr/>
              <a:lstStyle/>
              <a:p>
                <a:r>
                  <a:rPr lang="en-US">
                    <a:noFill/>
                  </a:rPr>
                  <a:t> </a:t>
                </a:r>
              </a:p>
            </p:txBody>
          </p:sp>
        </mc:Fallback>
      </mc:AlternateContent>
      <p:sp>
        <p:nvSpPr>
          <p:cNvPr id="9" name="Left Brace 8">
            <a:extLst>
              <a:ext uri="{FF2B5EF4-FFF2-40B4-BE49-F238E27FC236}">
                <a16:creationId xmlns:a16="http://schemas.microsoft.com/office/drawing/2014/main" id="{6A5FE517-4C76-F15E-4421-07DB3FD32F56}"/>
              </a:ext>
            </a:extLst>
          </p:cNvPr>
          <p:cNvSpPr/>
          <p:nvPr/>
        </p:nvSpPr>
        <p:spPr>
          <a:xfrm rot="16200000">
            <a:off x="8319689" y="5463837"/>
            <a:ext cx="202557" cy="358815"/>
          </a:xfrm>
          <a:prstGeom prst="leftBrace">
            <a:avLst/>
          </a:prstGeom>
        </p:spPr>
        <p:style>
          <a:lnRef idx="2">
            <a:schemeClr val="dk1"/>
          </a:lnRef>
          <a:fillRef idx="0">
            <a:schemeClr val="dk1"/>
          </a:fillRef>
          <a:effectRef idx="1">
            <a:schemeClr val="dk1"/>
          </a:effectRef>
          <a:fontRef idx="minor">
            <a:schemeClr val="tx1"/>
          </a:fontRef>
        </p:style>
        <p:txBody>
          <a:bodyPr rtlCol="0" anchor="ctr"/>
          <a:lstStyle/>
          <a:p>
            <a:pPr algn="ctr"/>
            <a:endParaRPr lang="en-US" dirty="0"/>
          </a:p>
        </p:txBody>
      </p:sp>
      <p:sp>
        <p:nvSpPr>
          <p:cNvPr id="10" name="Left Brace 9">
            <a:extLst>
              <a:ext uri="{FF2B5EF4-FFF2-40B4-BE49-F238E27FC236}">
                <a16:creationId xmlns:a16="http://schemas.microsoft.com/office/drawing/2014/main" id="{D4B24464-B74D-5060-FECB-53C70181F9D8}"/>
              </a:ext>
            </a:extLst>
          </p:cNvPr>
          <p:cNvSpPr/>
          <p:nvPr/>
        </p:nvSpPr>
        <p:spPr>
          <a:xfrm rot="16200000">
            <a:off x="9001663" y="5463837"/>
            <a:ext cx="202557" cy="358815"/>
          </a:xfrm>
          <a:prstGeom prst="leftBrace">
            <a:avLst/>
          </a:prstGeom>
        </p:spPr>
        <p:style>
          <a:lnRef idx="2">
            <a:schemeClr val="dk1"/>
          </a:lnRef>
          <a:fillRef idx="0">
            <a:schemeClr val="dk1"/>
          </a:fillRef>
          <a:effectRef idx="1">
            <a:schemeClr val="dk1"/>
          </a:effectRef>
          <a:fontRef idx="minor">
            <a:schemeClr val="tx1"/>
          </a:fontRef>
        </p:style>
        <p:txBody>
          <a:bodyPr rtlCol="0" anchor="ctr"/>
          <a:lstStyle/>
          <a:p>
            <a:pPr algn="ctr"/>
            <a:endParaRPr lang="en-US" dirty="0"/>
          </a:p>
        </p:txBody>
      </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3B0084C7-67C0-9B72-AB2D-8065C096767F}"/>
                  </a:ext>
                </a:extLst>
              </p:cNvPr>
              <p:cNvSpPr txBox="1"/>
              <p:nvPr/>
            </p:nvSpPr>
            <p:spPr>
              <a:xfrm>
                <a:off x="6385324" y="6095963"/>
                <a:ext cx="4756615"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AU" b="0" i="1" dirty="0" smtClean="0">
                          <a:latin typeface="Cambria Math" panose="02040503050406030204" pitchFamily="18" charset="0"/>
                        </a:rPr>
                        <m:t>𝑆𝑎𝑚𝑒</m:t>
                      </m:r>
                      <m:r>
                        <a:rPr lang="en-US" i="1" dirty="0" smtClean="0">
                          <a:latin typeface="Cambria Math" panose="02040503050406030204" pitchFamily="18" charset="0"/>
                        </a:rPr>
                        <m:t> </m:t>
                      </m:r>
                      <m:r>
                        <a:rPr lang="en-US" i="1" dirty="0" smtClean="0">
                          <a:latin typeface="Cambria Math" panose="02040503050406030204" pitchFamily="18" charset="0"/>
                        </a:rPr>
                        <m:t>𝑐𝑢𝑟𝑟𝑒𝑛𝑐𝑖𝑒𝑠</m:t>
                      </m:r>
                      <m:r>
                        <a:rPr lang="en-US" i="1" dirty="0" smtClean="0">
                          <a:latin typeface="Cambria Math" panose="02040503050406030204" pitchFamily="18" charset="0"/>
                          <a:ea typeface="Cambria Math" panose="02040503050406030204" pitchFamily="18" charset="0"/>
                        </a:rPr>
                        <m:t>→</m:t>
                      </m:r>
                      <m:r>
                        <a:rPr lang="en-AU" b="0" i="1" dirty="0" smtClean="0">
                          <a:latin typeface="Cambria Math" panose="02040503050406030204" pitchFamily="18" charset="0"/>
                          <a:ea typeface="Cambria Math" panose="02040503050406030204" pitchFamily="18" charset="0"/>
                        </a:rPr>
                        <m:t>𝑐𝑜𝑚𝑝𝑎𝑟𝑒𝑑</m:t>
                      </m:r>
                      <m:r>
                        <a:rPr lang="en-AU" b="0" i="1" dirty="0" smtClean="0">
                          <a:latin typeface="Cambria Math" panose="02040503050406030204" pitchFamily="18" charset="0"/>
                          <a:ea typeface="Cambria Math" panose="02040503050406030204" pitchFamily="18" charset="0"/>
                        </a:rPr>
                        <m:t> </m:t>
                      </m:r>
                      <m:r>
                        <a:rPr lang="en-AU" b="0" i="1" dirty="0" smtClean="0">
                          <a:latin typeface="Cambria Math" panose="02040503050406030204" pitchFamily="18" charset="0"/>
                          <a:ea typeface="Cambria Math" panose="02040503050406030204" pitchFamily="18" charset="0"/>
                        </a:rPr>
                        <m:t>𝑑𝑖𝑟𝑒𝑐𝑡𝑙𝑦</m:t>
                      </m:r>
                    </m:oMath>
                  </m:oMathPara>
                </a14:m>
                <a:endParaRPr lang="en-US" dirty="0"/>
              </a:p>
            </p:txBody>
          </p:sp>
        </mc:Choice>
        <mc:Fallback xmlns="">
          <p:sp>
            <p:nvSpPr>
              <p:cNvPr id="11" name="TextBox 10">
                <a:extLst>
                  <a:ext uri="{FF2B5EF4-FFF2-40B4-BE49-F238E27FC236}">
                    <a16:creationId xmlns:a16="http://schemas.microsoft.com/office/drawing/2014/main" id="{3B0084C7-67C0-9B72-AB2D-8065C096767F}"/>
                  </a:ext>
                </a:extLst>
              </p:cNvPr>
              <p:cNvSpPr txBox="1">
                <a:spLocks noRot="1" noChangeAspect="1" noMove="1" noResize="1" noEditPoints="1" noAdjustHandles="1" noChangeArrowheads="1" noChangeShapeType="1" noTextEdit="1"/>
              </p:cNvSpPr>
              <p:nvPr/>
            </p:nvSpPr>
            <p:spPr>
              <a:xfrm>
                <a:off x="6385324" y="6095963"/>
                <a:ext cx="4756615" cy="369332"/>
              </a:xfrm>
              <a:prstGeom prst="rect">
                <a:avLst/>
              </a:prstGeom>
              <a:blipFill>
                <a:blip r:embed="rId6"/>
                <a:stretch>
                  <a:fillRect b="-13333"/>
                </a:stretch>
              </a:blipFill>
            </p:spPr>
            <p:txBody>
              <a:bodyPr/>
              <a:lstStyle/>
              <a:p>
                <a:r>
                  <a:rPr lang="en-US">
                    <a:noFill/>
                  </a:rPr>
                  <a:t> </a:t>
                </a:r>
              </a:p>
            </p:txBody>
          </p:sp>
        </mc:Fallback>
      </mc:AlternateContent>
      <p:sp>
        <p:nvSpPr>
          <p:cNvPr id="13" name="Date Placeholder 12">
            <a:extLst>
              <a:ext uri="{FF2B5EF4-FFF2-40B4-BE49-F238E27FC236}">
                <a16:creationId xmlns:a16="http://schemas.microsoft.com/office/drawing/2014/main" id="{89942CBA-433A-D367-589D-BB41B2001DF9}"/>
              </a:ext>
            </a:extLst>
          </p:cNvPr>
          <p:cNvSpPr>
            <a:spLocks noGrp="1"/>
          </p:cNvSpPr>
          <p:nvPr>
            <p:ph type="dt" sz="half" idx="10"/>
          </p:nvPr>
        </p:nvSpPr>
        <p:spPr/>
        <p:txBody>
          <a:bodyPr/>
          <a:lstStyle/>
          <a:p>
            <a:fld id="{F544E6B7-4388-4448-B0D3-126F184CD737}" type="datetime1">
              <a:rPr lang="en-AU" smtClean="0"/>
              <a:t>28/8/2026</a:t>
            </a:fld>
            <a:endParaRPr lang="en-US"/>
          </a:p>
        </p:txBody>
      </p:sp>
      <p:sp>
        <p:nvSpPr>
          <p:cNvPr id="14" name="Footer Placeholder 13">
            <a:extLst>
              <a:ext uri="{FF2B5EF4-FFF2-40B4-BE49-F238E27FC236}">
                <a16:creationId xmlns:a16="http://schemas.microsoft.com/office/drawing/2014/main" id="{7CBD7F11-E1F9-6AC6-21E4-4087421A35B6}"/>
              </a:ext>
            </a:extLst>
          </p:cNvPr>
          <p:cNvSpPr>
            <a:spLocks noGrp="1"/>
          </p:cNvSpPr>
          <p:nvPr>
            <p:ph type="ftr" sz="quarter" idx="11"/>
          </p:nvPr>
        </p:nvSpPr>
        <p:spPr/>
        <p:txBody>
          <a:bodyPr/>
          <a:lstStyle/>
          <a:p>
            <a:r>
              <a:rPr lang="en-US"/>
              <a:t>FINA2204 - Tutorial 5</a:t>
            </a:r>
          </a:p>
        </p:txBody>
      </p:sp>
      <p:sp>
        <p:nvSpPr>
          <p:cNvPr id="15" name="Slide Number Placeholder 14">
            <a:extLst>
              <a:ext uri="{FF2B5EF4-FFF2-40B4-BE49-F238E27FC236}">
                <a16:creationId xmlns:a16="http://schemas.microsoft.com/office/drawing/2014/main" id="{C1D78054-D719-25F7-FAC5-0116A91ECDF7}"/>
              </a:ext>
            </a:extLst>
          </p:cNvPr>
          <p:cNvSpPr>
            <a:spLocks noGrp="1"/>
          </p:cNvSpPr>
          <p:nvPr>
            <p:ph type="sldNum" sz="quarter" idx="12"/>
          </p:nvPr>
        </p:nvSpPr>
        <p:spPr/>
        <p:txBody>
          <a:bodyPr/>
          <a:lstStyle/>
          <a:p>
            <a:fld id="{9855740F-6ECD-274F-B089-6B266B6B07F9}" type="slidenum">
              <a:rPr lang="en-US" smtClean="0"/>
              <a:t>44</a:t>
            </a:fld>
            <a:endParaRPr lang="en-US"/>
          </a:p>
        </p:txBody>
      </p:sp>
    </p:spTree>
    <p:extLst>
      <p:ext uri="{BB962C8B-B14F-4D97-AF65-F5344CB8AC3E}">
        <p14:creationId xmlns:p14="http://schemas.microsoft.com/office/powerpoint/2010/main" val="145574943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056767-EB74-41F9-46C0-56A77CF75316}"/>
              </a:ext>
            </a:extLst>
          </p:cNvPr>
          <p:cNvSpPr>
            <a:spLocks noGrp="1"/>
          </p:cNvSpPr>
          <p:nvPr>
            <p:ph type="title"/>
          </p:nvPr>
        </p:nvSpPr>
        <p:spPr/>
        <p:txBody>
          <a:bodyPr/>
          <a:lstStyle/>
          <a:p>
            <a:r>
              <a:rPr lang="en-US" dirty="0"/>
              <a:t>Recap: Valuation of currency swaps</a:t>
            </a:r>
          </a:p>
        </p:txBody>
      </p:sp>
      <p:sp>
        <p:nvSpPr>
          <p:cNvPr id="3" name="Content Placeholder 2">
            <a:extLst>
              <a:ext uri="{FF2B5EF4-FFF2-40B4-BE49-F238E27FC236}">
                <a16:creationId xmlns:a16="http://schemas.microsoft.com/office/drawing/2014/main" id="{28A0E84E-0991-9A8E-F5C7-4C648A91FD06}"/>
              </a:ext>
            </a:extLst>
          </p:cNvPr>
          <p:cNvSpPr>
            <a:spLocks noGrp="1"/>
          </p:cNvSpPr>
          <p:nvPr>
            <p:ph idx="1"/>
          </p:nvPr>
        </p:nvSpPr>
        <p:spPr/>
        <p:txBody>
          <a:bodyPr/>
          <a:lstStyle/>
          <a:p>
            <a:r>
              <a:rPr lang="en-AU" dirty="0"/>
              <a:t>For example, imagine an Australian company wants to build a factory in the UK. They need British Pounds to pay the construction workers. However, because they are an Australian company, they can get a much cheaper loan from an Australian bank in AUD.</a:t>
            </a:r>
          </a:p>
          <a:p>
            <a:r>
              <a:rPr lang="en-AU" dirty="0"/>
              <a:t>They will borrow the AUD 30m, enter a currency swap to physically exchange that AUD 30m for GBP 20m today, use the GBP 20m to build their factory, and then swap the principals back at the end of the contract.</a:t>
            </a:r>
          </a:p>
          <a:p>
            <a:endParaRPr lang="en-US" dirty="0"/>
          </a:p>
        </p:txBody>
      </p:sp>
      <p:sp>
        <p:nvSpPr>
          <p:cNvPr id="4" name="Date Placeholder 3">
            <a:extLst>
              <a:ext uri="{FF2B5EF4-FFF2-40B4-BE49-F238E27FC236}">
                <a16:creationId xmlns:a16="http://schemas.microsoft.com/office/drawing/2014/main" id="{13F30A8B-B440-7548-1B33-B39ACABB57D9}"/>
              </a:ext>
            </a:extLst>
          </p:cNvPr>
          <p:cNvSpPr>
            <a:spLocks noGrp="1"/>
          </p:cNvSpPr>
          <p:nvPr>
            <p:ph type="dt" sz="half" idx="10"/>
          </p:nvPr>
        </p:nvSpPr>
        <p:spPr/>
        <p:txBody>
          <a:bodyPr/>
          <a:lstStyle/>
          <a:p>
            <a:fld id="{B0E461D4-3839-3748-8B1E-E90BB3DA99FF}" type="datetime1">
              <a:rPr lang="en-AU" smtClean="0"/>
              <a:t>28/8/2026</a:t>
            </a:fld>
            <a:endParaRPr lang="en-US"/>
          </a:p>
        </p:txBody>
      </p:sp>
      <p:sp>
        <p:nvSpPr>
          <p:cNvPr id="5" name="Footer Placeholder 4">
            <a:extLst>
              <a:ext uri="{FF2B5EF4-FFF2-40B4-BE49-F238E27FC236}">
                <a16:creationId xmlns:a16="http://schemas.microsoft.com/office/drawing/2014/main" id="{6F71AE80-2EEA-0CEA-8A4E-9BBB2EC7B8DE}"/>
              </a:ext>
            </a:extLst>
          </p:cNvPr>
          <p:cNvSpPr>
            <a:spLocks noGrp="1"/>
          </p:cNvSpPr>
          <p:nvPr>
            <p:ph type="ftr" sz="quarter" idx="11"/>
          </p:nvPr>
        </p:nvSpPr>
        <p:spPr/>
        <p:txBody>
          <a:bodyPr/>
          <a:lstStyle/>
          <a:p>
            <a:r>
              <a:rPr lang="en-US"/>
              <a:t>FINA2204 - Tutorial 5</a:t>
            </a:r>
          </a:p>
        </p:txBody>
      </p:sp>
      <p:sp>
        <p:nvSpPr>
          <p:cNvPr id="6" name="Slide Number Placeholder 5">
            <a:extLst>
              <a:ext uri="{FF2B5EF4-FFF2-40B4-BE49-F238E27FC236}">
                <a16:creationId xmlns:a16="http://schemas.microsoft.com/office/drawing/2014/main" id="{854EA4E7-7B36-127F-ED8E-81A7FE11A681}"/>
              </a:ext>
            </a:extLst>
          </p:cNvPr>
          <p:cNvSpPr>
            <a:spLocks noGrp="1"/>
          </p:cNvSpPr>
          <p:nvPr>
            <p:ph type="sldNum" sz="quarter" idx="12"/>
          </p:nvPr>
        </p:nvSpPr>
        <p:spPr/>
        <p:txBody>
          <a:bodyPr/>
          <a:lstStyle/>
          <a:p>
            <a:fld id="{9855740F-6ECD-274F-B089-6B266B6B07F9}" type="slidenum">
              <a:rPr lang="en-US" smtClean="0"/>
              <a:t>45</a:t>
            </a:fld>
            <a:endParaRPr lang="en-US"/>
          </a:p>
        </p:txBody>
      </p:sp>
    </p:spTree>
    <p:extLst>
      <p:ext uri="{BB962C8B-B14F-4D97-AF65-F5344CB8AC3E}">
        <p14:creationId xmlns:p14="http://schemas.microsoft.com/office/powerpoint/2010/main" val="326772165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F9677D-01F5-0E41-0AE9-F8EE74846AC5}"/>
              </a:ext>
            </a:extLst>
          </p:cNvPr>
          <p:cNvSpPr>
            <a:spLocks noGrp="1"/>
          </p:cNvSpPr>
          <p:nvPr>
            <p:ph type="title"/>
          </p:nvPr>
        </p:nvSpPr>
        <p:spPr/>
        <p:txBody>
          <a:bodyPr/>
          <a:lstStyle/>
          <a:p>
            <a:r>
              <a:rPr lang="en-US" dirty="0"/>
              <a:t>Recap: Valuation of currency swaps</a:t>
            </a:r>
          </a:p>
        </p:txBody>
      </p:sp>
      <p:sp>
        <p:nvSpPr>
          <p:cNvPr id="3" name="Content Placeholder 2">
            <a:extLst>
              <a:ext uri="{FF2B5EF4-FFF2-40B4-BE49-F238E27FC236}">
                <a16:creationId xmlns:a16="http://schemas.microsoft.com/office/drawing/2014/main" id="{B83F10F7-B21C-501B-747E-331A76F4483D}"/>
              </a:ext>
            </a:extLst>
          </p:cNvPr>
          <p:cNvSpPr>
            <a:spLocks noGrp="1"/>
          </p:cNvSpPr>
          <p:nvPr>
            <p:ph idx="1"/>
          </p:nvPr>
        </p:nvSpPr>
        <p:spPr/>
        <p:txBody>
          <a:bodyPr/>
          <a:lstStyle/>
          <a:p>
            <a:pPr marL="0" indent="0">
              <a:buNone/>
            </a:pPr>
            <a:r>
              <a:rPr lang="en-US" b="1" dirty="0"/>
              <a:t>Valuation in terms of a bond</a:t>
            </a:r>
          </a:p>
          <a:p>
            <a:pPr marL="514350" indent="-514350">
              <a:buFont typeface="+mj-lt"/>
              <a:buAutoNum type="arabicPeriod"/>
            </a:pPr>
            <a:r>
              <a:rPr lang="en-AU" dirty="0"/>
              <a:t>We literally have one stream of cash flows in one currency and another stream of cash flows in another currency, including principal repayment. </a:t>
            </a:r>
            <a:endParaRPr lang="en-US" dirty="0"/>
          </a:p>
          <a:p>
            <a:pPr marL="514350" indent="-514350">
              <a:buFont typeface="+mj-lt"/>
              <a:buAutoNum type="arabicPeriod"/>
            </a:pPr>
            <a:r>
              <a:rPr lang="en-US" dirty="0"/>
              <a:t>Treat the cash flows in each currency as a bond;</a:t>
            </a:r>
          </a:p>
          <a:p>
            <a:pPr marL="514350" indent="-514350">
              <a:buFont typeface="+mj-lt"/>
              <a:buAutoNum type="arabicPeriod"/>
            </a:pPr>
            <a:r>
              <a:rPr lang="en-US" dirty="0"/>
              <a:t>Discount each bond using the interest rate for that currency;</a:t>
            </a:r>
          </a:p>
          <a:p>
            <a:pPr marL="514350" indent="-514350">
              <a:buFont typeface="+mj-lt"/>
              <a:buAutoNum type="arabicPeriod"/>
            </a:pPr>
            <a:r>
              <a:rPr lang="en-US" dirty="0"/>
              <a:t>Convert one bond value into the other currency using the spot exchange rate. </a:t>
            </a:r>
          </a:p>
        </p:txBody>
      </p:sp>
      <p:sp>
        <p:nvSpPr>
          <p:cNvPr id="6" name="Date Placeholder 5">
            <a:extLst>
              <a:ext uri="{FF2B5EF4-FFF2-40B4-BE49-F238E27FC236}">
                <a16:creationId xmlns:a16="http://schemas.microsoft.com/office/drawing/2014/main" id="{B8E28EAD-E644-BCBB-1324-E999C08FDFF6}"/>
              </a:ext>
            </a:extLst>
          </p:cNvPr>
          <p:cNvSpPr>
            <a:spLocks noGrp="1"/>
          </p:cNvSpPr>
          <p:nvPr>
            <p:ph type="dt" sz="half" idx="10"/>
          </p:nvPr>
        </p:nvSpPr>
        <p:spPr/>
        <p:txBody>
          <a:bodyPr/>
          <a:lstStyle/>
          <a:p>
            <a:fld id="{8FCA388A-E8D9-004E-8DEC-0C3FFDCF907E}" type="datetime1">
              <a:rPr lang="en-AU" smtClean="0"/>
              <a:t>28/8/2026</a:t>
            </a:fld>
            <a:endParaRPr lang="en-US"/>
          </a:p>
        </p:txBody>
      </p:sp>
      <p:sp>
        <p:nvSpPr>
          <p:cNvPr id="7" name="Footer Placeholder 6">
            <a:extLst>
              <a:ext uri="{FF2B5EF4-FFF2-40B4-BE49-F238E27FC236}">
                <a16:creationId xmlns:a16="http://schemas.microsoft.com/office/drawing/2014/main" id="{E54D5C5D-55E3-08C0-8C2B-19484A851B18}"/>
              </a:ext>
            </a:extLst>
          </p:cNvPr>
          <p:cNvSpPr>
            <a:spLocks noGrp="1"/>
          </p:cNvSpPr>
          <p:nvPr>
            <p:ph type="ftr" sz="quarter" idx="11"/>
          </p:nvPr>
        </p:nvSpPr>
        <p:spPr/>
        <p:txBody>
          <a:bodyPr/>
          <a:lstStyle/>
          <a:p>
            <a:r>
              <a:rPr lang="en-US"/>
              <a:t>FINA2204 - Tutorial 5</a:t>
            </a:r>
          </a:p>
        </p:txBody>
      </p:sp>
      <p:sp>
        <p:nvSpPr>
          <p:cNvPr id="8" name="Slide Number Placeholder 7">
            <a:extLst>
              <a:ext uri="{FF2B5EF4-FFF2-40B4-BE49-F238E27FC236}">
                <a16:creationId xmlns:a16="http://schemas.microsoft.com/office/drawing/2014/main" id="{AF6B99A1-4079-6B30-2218-75F926411BF1}"/>
              </a:ext>
            </a:extLst>
          </p:cNvPr>
          <p:cNvSpPr>
            <a:spLocks noGrp="1"/>
          </p:cNvSpPr>
          <p:nvPr>
            <p:ph type="sldNum" sz="quarter" idx="12"/>
          </p:nvPr>
        </p:nvSpPr>
        <p:spPr/>
        <p:txBody>
          <a:bodyPr/>
          <a:lstStyle/>
          <a:p>
            <a:fld id="{9855740F-6ECD-274F-B089-6B266B6B07F9}" type="slidenum">
              <a:rPr lang="en-US" smtClean="0"/>
              <a:t>46</a:t>
            </a:fld>
            <a:endParaRPr lang="en-US"/>
          </a:p>
        </p:txBody>
      </p:sp>
    </p:spTree>
    <p:extLst>
      <p:ext uri="{BB962C8B-B14F-4D97-AF65-F5344CB8AC3E}">
        <p14:creationId xmlns:p14="http://schemas.microsoft.com/office/powerpoint/2010/main" val="240909233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8424C9-7BC9-9EBA-A9BE-3DDCCFD7535B}"/>
              </a:ext>
            </a:extLst>
          </p:cNvPr>
          <p:cNvSpPr>
            <a:spLocks noGrp="1"/>
          </p:cNvSpPr>
          <p:nvPr>
            <p:ph type="title"/>
          </p:nvPr>
        </p:nvSpPr>
        <p:spPr/>
        <p:txBody>
          <a:bodyPr/>
          <a:lstStyle/>
          <a:p>
            <a:r>
              <a:rPr lang="en-US" dirty="0"/>
              <a:t>Recap: Valuation of currency swaps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8DE97AC-8CE8-DF8D-12D0-1095938D0937}"/>
                  </a:ext>
                </a:extLst>
              </p:cNvPr>
              <p:cNvSpPr>
                <a:spLocks noGrp="1"/>
              </p:cNvSpPr>
              <p:nvPr>
                <p:ph idx="1"/>
              </p:nvPr>
            </p:nvSpPr>
            <p:spPr/>
            <p:txBody>
              <a:bodyPr/>
              <a:lstStyle/>
              <a:p>
                <a:r>
                  <a:rPr lang="en-US" dirty="0"/>
                  <a:t>The value of a swap where domestic currency is received and a foreign currency is paid is:</a:t>
                </a:r>
              </a:p>
              <a:p>
                <a:pPr marL="0" indent="0">
                  <a:buNone/>
                </a:pPr>
                <a14:m>
                  <m:oMathPara xmlns:m="http://schemas.openxmlformats.org/officeDocument/2006/math">
                    <m:oMathParaPr>
                      <m:jc m:val="centerGroup"/>
                    </m:oMathParaPr>
                    <m:oMath xmlns:m="http://schemas.openxmlformats.org/officeDocument/2006/math">
                      <m:sSub>
                        <m:sSubPr>
                          <m:ctrlPr>
                            <a:rPr lang="en-US" b="1" i="1">
                              <a:latin typeface="Cambria Math" panose="02040503050406030204" pitchFamily="18" charset="0"/>
                            </a:rPr>
                          </m:ctrlPr>
                        </m:sSubPr>
                        <m:e>
                          <m:r>
                            <a:rPr lang="en-AU" b="1" i="1">
                              <a:latin typeface="Cambria Math" panose="02040503050406030204" pitchFamily="18" charset="0"/>
                            </a:rPr>
                            <m:t>𝑽</m:t>
                          </m:r>
                        </m:e>
                        <m:sub>
                          <m:r>
                            <a:rPr lang="en-AU" b="1" i="1">
                              <a:latin typeface="Cambria Math" panose="02040503050406030204" pitchFamily="18" charset="0"/>
                            </a:rPr>
                            <m:t>𝒔𝒘𝒂𝒑</m:t>
                          </m:r>
                        </m:sub>
                      </m:sSub>
                      <m:r>
                        <a:rPr lang="en-AU" b="1" i="1">
                          <a:latin typeface="Cambria Math" panose="02040503050406030204" pitchFamily="18" charset="0"/>
                        </a:rPr>
                        <m:t>=</m:t>
                      </m:r>
                      <m:sSub>
                        <m:sSubPr>
                          <m:ctrlPr>
                            <a:rPr lang="en-AU" b="1" i="1">
                              <a:latin typeface="Cambria Math" panose="02040503050406030204" pitchFamily="18" charset="0"/>
                            </a:rPr>
                          </m:ctrlPr>
                        </m:sSubPr>
                        <m:e>
                          <m:r>
                            <a:rPr lang="en-AU" b="1" i="1">
                              <a:latin typeface="Cambria Math" panose="02040503050406030204" pitchFamily="18" charset="0"/>
                            </a:rPr>
                            <m:t>𝑩</m:t>
                          </m:r>
                        </m:e>
                        <m:sub>
                          <m:r>
                            <a:rPr lang="en-AU" b="1" i="1">
                              <a:latin typeface="Cambria Math" panose="02040503050406030204" pitchFamily="18" charset="0"/>
                            </a:rPr>
                            <m:t>𝒅𝒐𝒎𝒆𝒔𝒕𝒊𝒄</m:t>
                          </m:r>
                        </m:sub>
                      </m:sSub>
                      <m:r>
                        <a:rPr lang="en-AU" b="1" i="1">
                          <a:latin typeface="Cambria Math" panose="02040503050406030204" pitchFamily="18" charset="0"/>
                        </a:rPr>
                        <m:t>−</m:t>
                      </m:r>
                      <m:sSub>
                        <m:sSubPr>
                          <m:ctrlPr>
                            <a:rPr lang="en-AU" b="1" i="1">
                              <a:latin typeface="Cambria Math" panose="02040503050406030204" pitchFamily="18" charset="0"/>
                            </a:rPr>
                          </m:ctrlPr>
                        </m:sSubPr>
                        <m:e>
                          <m:r>
                            <a:rPr lang="en-AU" b="1" i="1">
                              <a:latin typeface="Cambria Math" panose="02040503050406030204" pitchFamily="18" charset="0"/>
                            </a:rPr>
                            <m:t>𝑺</m:t>
                          </m:r>
                        </m:e>
                        <m:sub>
                          <m:r>
                            <a:rPr lang="en-AU" b="1" i="1">
                              <a:latin typeface="Cambria Math" panose="02040503050406030204" pitchFamily="18" charset="0"/>
                            </a:rPr>
                            <m:t>𝟎</m:t>
                          </m:r>
                        </m:sub>
                      </m:sSub>
                      <m:sSub>
                        <m:sSubPr>
                          <m:ctrlPr>
                            <a:rPr lang="en-AU" b="1" i="1">
                              <a:latin typeface="Cambria Math" panose="02040503050406030204" pitchFamily="18" charset="0"/>
                            </a:rPr>
                          </m:ctrlPr>
                        </m:sSubPr>
                        <m:e>
                          <m:r>
                            <a:rPr lang="en-AU" b="1" i="1">
                              <a:latin typeface="Cambria Math" panose="02040503050406030204" pitchFamily="18" charset="0"/>
                            </a:rPr>
                            <m:t>𝑩</m:t>
                          </m:r>
                        </m:e>
                        <m:sub>
                          <m:r>
                            <a:rPr lang="en-AU" b="1" i="1">
                              <a:latin typeface="Cambria Math" panose="02040503050406030204" pitchFamily="18" charset="0"/>
                            </a:rPr>
                            <m:t>𝒇𝒐𝒓𝒆𝒊𝒈𝒏</m:t>
                          </m:r>
                        </m:sub>
                      </m:sSub>
                    </m:oMath>
                  </m:oMathPara>
                </a14:m>
                <a:endParaRPr lang="en-US" dirty="0"/>
              </a:p>
              <a:p>
                <a:r>
                  <a:rPr lang="en-US" dirty="0"/>
                  <a:t>Similarly, the value of a swap where the foreign currency is received and domestic currency is paid is:</a:t>
                </a:r>
              </a:p>
              <a:p>
                <a:pPr marL="0" indent="0">
                  <a:buNone/>
                </a:pPr>
                <a14:m>
                  <m:oMathPara xmlns:m="http://schemas.openxmlformats.org/officeDocument/2006/math">
                    <m:oMathParaPr>
                      <m:jc m:val="centerGroup"/>
                    </m:oMathParaPr>
                    <m:oMath xmlns:m="http://schemas.openxmlformats.org/officeDocument/2006/math">
                      <m:sSub>
                        <m:sSubPr>
                          <m:ctrlPr>
                            <a:rPr lang="en-US" b="1" i="1">
                              <a:latin typeface="Cambria Math" panose="02040503050406030204" pitchFamily="18" charset="0"/>
                            </a:rPr>
                          </m:ctrlPr>
                        </m:sSubPr>
                        <m:e>
                          <m:r>
                            <a:rPr lang="en-AU" b="1" i="1">
                              <a:latin typeface="Cambria Math" panose="02040503050406030204" pitchFamily="18" charset="0"/>
                            </a:rPr>
                            <m:t>𝑽</m:t>
                          </m:r>
                        </m:e>
                        <m:sub>
                          <m:r>
                            <a:rPr lang="en-AU" b="1" i="1">
                              <a:latin typeface="Cambria Math" panose="02040503050406030204" pitchFamily="18" charset="0"/>
                            </a:rPr>
                            <m:t>𝒔𝒘𝒂𝒑</m:t>
                          </m:r>
                        </m:sub>
                      </m:sSub>
                      <m:r>
                        <a:rPr lang="en-AU" b="1" i="1" smtClean="0">
                          <a:latin typeface="Cambria Math" panose="02040503050406030204" pitchFamily="18" charset="0"/>
                        </a:rPr>
                        <m:t>=</m:t>
                      </m:r>
                      <m:sSub>
                        <m:sSubPr>
                          <m:ctrlPr>
                            <a:rPr lang="en-AU" b="1" i="1">
                              <a:latin typeface="Cambria Math" panose="02040503050406030204" pitchFamily="18" charset="0"/>
                            </a:rPr>
                          </m:ctrlPr>
                        </m:sSubPr>
                        <m:e>
                          <m:r>
                            <a:rPr lang="en-AU" b="1" i="1">
                              <a:latin typeface="Cambria Math" panose="02040503050406030204" pitchFamily="18" charset="0"/>
                            </a:rPr>
                            <m:t>𝑺</m:t>
                          </m:r>
                        </m:e>
                        <m:sub>
                          <m:r>
                            <a:rPr lang="en-AU" b="1" i="1">
                              <a:latin typeface="Cambria Math" panose="02040503050406030204" pitchFamily="18" charset="0"/>
                            </a:rPr>
                            <m:t>𝟎</m:t>
                          </m:r>
                        </m:sub>
                      </m:sSub>
                      <m:sSub>
                        <m:sSubPr>
                          <m:ctrlPr>
                            <a:rPr lang="en-AU" b="1" i="1">
                              <a:latin typeface="Cambria Math" panose="02040503050406030204" pitchFamily="18" charset="0"/>
                            </a:rPr>
                          </m:ctrlPr>
                        </m:sSubPr>
                        <m:e>
                          <m:r>
                            <a:rPr lang="en-AU" b="1" i="1">
                              <a:latin typeface="Cambria Math" panose="02040503050406030204" pitchFamily="18" charset="0"/>
                            </a:rPr>
                            <m:t>𝑩</m:t>
                          </m:r>
                        </m:e>
                        <m:sub>
                          <m:r>
                            <a:rPr lang="en-AU" b="1" i="1">
                              <a:latin typeface="Cambria Math" panose="02040503050406030204" pitchFamily="18" charset="0"/>
                            </a:rPr>
                            <m:t>𝒇𝒐𝒓𝒆𝒊𝒈𝒏</m:t>
                          </m:r>
                        </m:sub>
                      </m:sSub>
                      <m:sSub>
                        <m:sSubPr>
                          <m:ctrlPr>
                            <a:rPr lang="en-AU" b="1" i="1">
                              <a:latin typeface="Cambria Math" panose="02040503050406030204" pitchFamily="18" charset="0"/>
                            </a:rPr>
                          </m:ctrlPr>
                        </m:sSubPr>
                        <m:e>
                          <m:r>
                            <a:rPr lang="en-AU" b="1" i="1" smtClean="0">
                              <a:latin typeface="Cambria Math" panose="02040503050406030204" pitchFamily="18" charset="0"/>
                            </a:rPr>
                            <m:t>−</m:t>
                          </m:r>
                          <m:r>
                            <a:rPr lang="en-AU" b="1" i="1">
                              <a:latin typeface="Cambria Math" panose="02040503050406030204" pitchFamily="18" charset="0"/>
                            </a:rPr>
                            <m:t>𝑩</m:t>
                          </m:r>
                        </m:e>
                        <m:sub>
                          <m:r>
                            <a:rPr lang="en-AU" b="1" i="1">
                              <a:latin typeface="Cambria Math" panose="02040503050406030204" pitchFamily="18" charset="0"/>
                            </a:rPr>
                            <m:t>𝒅𝒐𝒎𝒆𝒔𝒕𝒊𝒄</m:t>
                          </m:r>
                        </m:sub>
                      </m:sSub>
                    </m:oMath>
                  </m:oMathPara>
                </a14:m>
                <a:endParaRPr lang="en-US" dirty="0"/>
              </a:p>
              <a:p>
                <a:pPr marL="0" indent="0">
                  <a:buNone/>
                </a:pPr>
                <a:r>
                  <a:rPr lang="en-US" dirty="0"/>
                  <a:t>where </a:t>
                </a:r>
                <a14:m>
                  <m:oMath xmlns:m="http://schemas.openxmlformats.org/officeDocument/2006/math">
                    <m:sSub>
                      <m:sSubPr>
                        <m:ctrlPr>
                          <a:rPr lang="en-AU" b="1" i="1">
                            <a:latin typeface="Cambria Math" panose="02040503050406030204" pitchFamily="18" charset="0"/>
                          </a:rPr>
                        </m:ctrlPr>
                      </m:sSubPr>
                      <m:e>
                        <m:r>
                          <a:rPr lang="en-AU" b="1" i="1">
                            <a:latin typeface="Cambria Math" panose="02040503050406030204" pitchFamily="18" charset="0"/>
                          </a:rPr>
                          <m:t>𝑺</m:t>
                        </m:r>
                      </m:e>
                      <m:sub>
                        <m:r>
                          <a:rPr lang="en-AU" b="1" i="1">
                            <a:latin typeface="Cambria Math" panose="02040503050406030204" pitchFamily="18" charset="0"/>
                          </a:rPr>
                          <m:t>𝟎</m:t>
                        </m:r>
                      </m:sub>
                    </m:sSub>
                  </m:oMath>
                </a14:m>
                <a:r>
                  <a:rPr lang="en-US" dirty="0"/>
                  <a:t> represents domestic currency per unit of foreign currency.</a:t>
                </a:r>
              </a:p>
            </p:txBody>
          </p:sp>
        </mc:Choice>
        <mc:Fallback xmlns="">
          <p:sp>
            <p:nvSpPr>
              <p:cNvPr id="3" name="Content Placeholder 2">
                <a:extLst>
                  <a:ext uri="{FF2B5EF4-FFF2-40B4-BE49-F238E27FC236}">
                    <a16:creationId xmlns:a16="http://schemas.microsoft.com/office/drawing/2014/main" id="{08DE97AC-8CE8-DF8D-12D0-1095938D0937}"/>
                  </a:ext>
                </a:extLst>
              </p:cNvPr>
              <p:cNvSpPr>
                <a:spLocks noGrp="1" noRot="1" noChangeAspect="1" noMove="1" noResize="1" noEditPoints="1" noAdjustHandles="1" noChangeArrowheads="1" noChangeShapeType="1" noTextEdit="1"/>
              </p:cNvSpPr>
              <p:nvPr>
                <p:ph idx="1"/>
              </p:nvPr>
            </p:nvSpPr>
            <p:spPr>
              <a:blipFill>
                <a:blip r:embed="rId3"/>
                <a:stretch>
                  <a:fillRect l="-1206" t="-2326" r="-724"/>
                </a:stretch>
              </a:blipFill>
            </p:spPr>
            <p:txBody>
              <a:bodyPr/>
              <a:lstStyle/>
              <a:p>
                <a:r>
                  <a:rPr lang="en-US">
                    <a:noFill/>
                  </a:rPr>
                  <a:t> </a:t>
                </a:r>
              </a:p>
            </p:txBody>
          </p:sp>
        </mc:Fallback>
      </mc:AlternateContent>
      <p:sp>
        <p:nvSpPr>
          <p:cNvPr id="4" name="Date Placeholder 3">
            <a:extLst>
              <a:ext uri="{FF2B5EF4-FFF2-40B4-BE49-F238E27FC236}">
                <a16:creationId xmlns:a16="http://schemas.microsoft.com/office/drawing/2014/main" id="{60FC8CC2-207F-B7AF-07A2-2BC910980A2B}"/>
              </a:ext>
            </a:extLst>
          </p:cNvPr>
          <p:cNvSpPr>
            <a:spLocks noGrp="1"/>
          </p:cNvSpPr>
          <p:nvPr>
            <p:ph type="dt" sz="half" idx="10"/>
          </p:nvPr>
        </p:nvSpPr>
        <p:spPr/>
        <p:txBody>
          <a:bodyPr/>
          <a:lstStyle/>
          <a:p>
            <a:fld id="{1D749AEE-7AD7-FC4A-B921-362D009BAC51}" type="datetime1">
              <a:rPr lang="en-AU" smtClean="0"/>
              <a:t>28/8/2026</a:t>
            </a:fld>
            <a:endParaRPr lang="en-US"/>
          </a:p>
        </p:txBody>
      </p:sp>
      <p:sp>
        <p:nvSpPr>
          <p:cNvPr id="5" name="Footer Placeholder 4">
            <a:extLst>
              <a:ext uri="{FF2B5EF4-FFF2-40B4-BE49-F238E27FC236}">
                <a16:creationId xmlns:a16="http://schemas.microsoft.com/office/drawing/2014/main" id="{FC33EE9F-FFD3-8FA1-AA28-C5C19E47CDF8}"/>
              </a:ext>
            </a:extLst>
          </p:cNvPr>
          <p:cNvSpPr>
            <a:spLocks noGrp="1"/>
          </p:cNvSpPr>
          <p:nvPr>
            <p:ph type="ftr" sz="quarter" idx="11"/>
          </p:nvPr>
        </p:nvSpPr>
        <p:spPr/>
        <p:txBody>
          <a:bodyPr/>
          <a:lstStyle/>
          <a:p>
            <a:r>
              <a:rPr lang="en-US"/>
              <a:t>FINA2204 - Tutorial 5</a:t>
            </a:r>
          </a:p>
        </p:txBody>
      </p:sp>
      <p:sp>
        <p:nvSpPr>
          <p:cNvPr id="6" name="Slide Number Placeholder 5">
            <a:extLst>
              <a:ext uri="{FF2B5EF4-FFF2-40B4-BE49-F238E27FC236}">
                <a16:creationId xmlns:a16="http://schemas.microsoft.com/office/drawing/2014/main" id="{F700D82D-CE56-A5B6-6062-4F13124FFAB9}"/>
              </a:ext>
            </a:extLst>
          </p:cNvPr>
          <p:cNvSpPr>
            <a:spLocks noGrp="1"/>
          </p:cNvSpPr>
          <p:nvPr>
            <p:ph type="sldNum" sz="quarter" idx="12"/>
          </p:nvPr>
        </p:nvSpPr>
        <p:spPr/>
        <p:txBody>
          <a:bodyPr/>
          <a:lstStyle/>
          <a:p>
            <a:fld id="{9855740F-6ECD-274F-B089-6B266B6B07F9}" type="slidenum">
              <a:rPr lang="en-US" smtClean="0"/>
              <a:t>47</a:t>
            </a:fld>
            <a:endParaRPr lang="en-US"/>
          </a:p>
        </p:txBody>
      </p:sp>
    </p:spTree>
    <p:extLst>
      <p:ext uri="{BB962C8B-B14F-4D97-AF65-F5344CB8AC3E}">
        <p14:creationId xmlns:p14="http://schemas.microsoft.com/office/powerpoint/2010/main" val="34528024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AF6E3E-09E4-9CA7-EC5D-C657D84E1E88}"/>
              </a:ext>
            </a:extLst>
          </p:cNvPr>
          <p:cNvSpPr>
            <a:spLocks noGrp="1"/>
          </p:cNvSpPr>
          <p:nvPr>
            <p:ph type="title"/>
          </p:nvPr>
        </p:nvSpPr>
        <p:spPr/>
        <p:txBody>
          <a:bodyPr/>
          <a:lstStyle/>
          <a:p>
            <a:r>
              <a:rPr lang="en-US" dirty="0"/>
              <a:t>Problem </a:t>
            </a:r>
            <a:r>
              <a:rPr lang="en-US" altLang="zh-CN" dirty="0"/>
              <a:t>7.5</a:t>
            </a:r>
            <a:endParaRPr lang="en-US" dirty="0"/>
          </a:p>
        </p:txBody>
      </p:sp>
      <p:sp>
        <p:nvSpPr>
          <p:cNvPr id="3" name="Content Placeholder 2">
            <a:extLst>
              <a:ext uri="{FF2B5EF4-FFF2-40B4-BE49-F238E27FC236}">
                <a16:creationId xmlns:a16="http://schemas.microsoft.com/office/drawing/2014/main" id="{81CF31B7-C2F8-6044-5ABC-C7B9C20AF8D0}"/>
              </a:ext>
            </a:extLst>
          </p:cNvPr>
          <p:cNvSpPr>
            <a:spLocks noGrp="1"/>
          </p:cNvSpPr>
          <p:nvPr>
            <p:ph idx="1"/>
          </p:nvPr>
        </p:nvSpPr>
        <p:spPr/>
        <p:txBody>
          <a:bodyPr>
            <a:normAutofit/>
          </a:bodyPr>
          <a:lstStyle/>
          <a:p>
            <a:r>
              <a:rPr lang="en-AU" i="1" dirty="0"/>
              <a:t>A currency swap has a remaining life of 15 months. It involves exchanging interest at 10% on GBP20 million for interest at 6% on AUD30 million once a year. The term structure of interest rates in both</a:t>
            </a:r>
            <a:r>
              <a:rPr lang="en-AU" dirty="0"/>
              <a:t> </a:t>
            </a:r>
            <a:r>
              <a:rPr lang="en-AU" i="1" dirty="0"/>
              <a:t>the United Kingdom and Australia is currently flat and if the swap were</a:t>
            </a:r>
            <a:r>
              <a:rPr lang="en-AU" dirty="0"/>
              <a:t> </a:t>
            </a:r>
            <a:r>
              <a:rPr lang="en-AU" i="1" dirty="0"/>
              <a:t>negotiated today the interest rates would be 4% in dollars and 7% in</a:t>
            </a:r>
            <a:r>
              <a:rPr lang="en-AU" dirty="0"/>
              <a:t> </a:t>
            </a:r>
            <a:r>
              <a:rPr lang="en-AU" i="1" dirty="0"/>
              <a:t>sterling. All interest rates are quoted with annual compounding. The current exchange rate (dollars per pound sterling) is 1.8500. </a:t>
            </a:r>
          </a:p>
          <a:p>
            <a:r>
              <a:rPr lang="en-AU" i="1" dirty="0"/>
              <a:t>What is the value of the swap to the party paying sterling? What is the value of the</a:t>
            </a:r>
            <a:r>
              <a:rPr lang="en-AU" dirty="0"/>
              <a:t> </a:t>
            </a:r>
            <a:r>
              <a:rPr lang="en-AU" i="1" dirty="0"/>
              <a:t>swap to the party paying dollars?</a:t>
            </a:r>
            <a:endParaRPr lang="en-AU" dirty="0"/>
          </a:p>
          <a:p>
            <a:pPr marL="0" indent="0">
              <a:buNone/>
            </a:pPr>
            <a:endParaRPr lang="en-US" dirty="0"/>
          </a:p>
        </p:txBody>
      </p:sp>
      <p:cxnSp>
        <p:nvCxnSpPr>
          <p:cNvPr id="5" name="Straight Connector 4">
            <a:extLst>
              <a:ext uri="{FF2B5EF4-FFF2-40B4-BE49-F238E27FC236}">
                <a16:creationId xmlns:a16="http://schemas.microsoft.com/office/drawing/2014/main" id="{20A985B3-1D53-D560-F64D-19A1D400648F}"/>
              </a:ext>
            </a:extLst>
          </p:cNvPr>
          <p:cNvCxnSpPr>
            <a:cxnSpLocks/>
          </p:cNvCxnSpPr>
          <p:nvPr/>
        </p:nvCxnSpPr>
        <p:spPr>
          <a:xfrm>
            <a:off x="5173884" y="4143737"/>
            <a:ext cx="6018835" cy="0"/>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7" name="Straight Connector 6">
            <a:extLst>
              <a:ext uri="{FF2B5EF4-FFF2-40B4-BE49-F238E27FC236}">
                <a16:creationId xmlns:a16="http://schemas.microsoft.com/office/drawing/2014/main" id="{33AFD9ED-3D7B-7225-47F2-F4949075634E}"/>
              </a:ext>
            </a:extLst>
          </p:cNvPr>
          <p:cNvCxnSpPr/>
          <p:nvPr/>
        </p:nvCxnSpPr>
        <p:spPr>
          <a:xfrm>
            <a:off x="1226916" y="4525702"/>
            <a:ext cx="2071869" cy="0"/>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9" name="Date Placeholder 8">
            <a:extLst>
              <a:ext uri="{FF2B5EF4-FFF2-40B4-BE49-F238E27FC236}">
                <a16:creationId xmlns:a16="http://schemas.microsoft.com/office/drawing/2014/main" id="{1C7AFB60-27B6-8C98-8000-77506C2E84D6}"/>
              </a:ext>
            </a:extLst>
          </p:cNvPr>
          <p:cNvSpPr>
            <a:spLocks noGrp="1"/>
          </p:cNvSpPr>
          <p:nvPr>
            <p:ph type="dt" sz="half" idx="10"/>
          </p:nvPr>
        </p:nvSpPr>
        <p:spPr/>
        <p:txBody>
          <a:bodyPr/>
          <a:lstStyle/>
          <a:p>
            <a:fld id="{E8B70CDD-1061-4948-9AE5-D6C8A23881BB}" type="datetime1">
              <a:rPr lang="en-AU" smtClean="0"/>
              <a:t>28/8/2026</a:t>
            </a:fld>
            <a:endParaRPr lang="en-US"/>
          </a:p>
        </p:txBody>
      </p:sp>
      <p:sp>
        <p:nvSpPr>
          <p:cNvPr id="10" name="Footer Placeholder 9">
            <a:extLst>
              <a:ext uri="{FF2B5EF4-FFF2-40B4-BE49-F238E27FC236}">
                <a16:creationId xmlns:a16="http://schemas.microsoft.com/office/drawing/2014/main" id="{1389F0AB-8C3B-DD8E-357E-69868DFA5D3B}"/>
              </a:ext>
            </a:extLst>
          </p:cNvPr>
          <p:cNvSpPr>
            <a:spLocks noGrp="1"/>
          </p:cNvSpPr>
          <p:nvPr>
            <p:ph type="ftr" sz="quarter" idx="11"/>
          </p:nvPr>
        </p:nvSpPr>
        <p:spPr/>
        <p:txBody>
          <a:bodyPr/>
          <a:lstStyle/>
          <a:p>
            <a:r>
              <a:rPr lang="en-US"/>
              <a:t>FINA2204 - Tutorial 5</a:t>
            </a:r>
          </a:p>
        </p:txBody>
      </p:sp>
      <p:sp>
        <p:nvSpPr>
          <p:cNvPr id="11" name="Slide Number Placeholder 10">
            <a:extLst>
              <a:ext uri="{FF2B5EF4-FFF2-40B4-BE49-F238E27FC236}">
                <a16:creationId xmlns:a16="http://schemas.microsoft.com/office/drawing/2014/main" id="{8C128B9E-08AD-90F2-B7D7-1CF4C34926D8}"/>
              </a:ext>
            </a:extLst>
          </p:cNvPr>
          <p:cNvSpPr>
            <a:spLocks noGrp="1"/>
          </p:cNvSpPr>
          <p:nvPr>
            <p:ph type="sldNum" sz="quarter" idx="12"/>
          </p:nvPr>
        </p:nvSpPr>
        <p:spPr/>
        <p:txBody>
          <a:bodyPr/>
          <a:lstStyle/>
          <a:p>
            <a:fld id="{9855740F-6ECD-274F-B089-6B266B6B07F9}" type="slidenum">
              <a:rPr lang="en-US" smtClean="0"/>
              <a:t>48</a:t>
            </a:fld>
            <a:endParaRPr lang="en-US"/>
          </a:p>
        </p:txBody>
      </p:sp>
    </p:spTree>
    <p:extLst>
      <p:ext uri="{BB962C8B-B14F-4D97-AF65-F5344CB8AC3E}">
        <p14:creationId xmlns:p14="http://schemas.microsoft.com/office/powerpoint/2010/main" val="212665459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D8AB90-C3B7-345E-6455-FA9C2CA5C27F}"/>
              </a:ext>
            </a:extLst>
          </p:cNvPr>
          <p:cNvSpPr>
            <a:spLocks noGrp="1"/>
          </p:cNvSpPr>
          <p:nvPr>
            <p:ph type="title"/>
          </p:nvPr>
        </p:nvSpPr>
        <p:spPr/>
        <p:txBody>
          <a:bodyPr/>
          <a:lstStyle/>
          <a:p>
            <a:r>
              <a:rPr lang="en-US" dirty="0"/>
              <a:t>Answer 7.</a:t>
            </a:r>
            <a:r>
              <a:rPr lang="en-US" altLang="zh-CN" dirty="0"/>
              <a:t>5</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7C3D167-9DE2-BC48-95BD-391E8B910EA5}"/>
                  </a:ext>
                </a:extLst>
              </p:cNvPr>
              <p:cNvSpPr>
                <a:spLocks noGrp="1"/>
              </p:cNvSpPr>
              <p:nvPr>
                <p:ph idx="1"/>
              </p:nvPr>
            </p:nvSpPr>
            <p:spPr/>
            <p:txBody>
              <a:bodyPr/>
              <a:lstStyle/>
              <a:p>
                <a:pPr marL="0" indent="0">
                  <a:buNone/>
                </a:pPr>
                <a:r>
                  <a:rPr lang="en-US" b="1" dirty="0"/>
                  <a:t>Setup</a:t>
                </a:r>
              </a:p>
              <a:p>
                <a:r>
                  <a:rPr lang="en-US" dirty="0"/>
                  <a:t>Principal</a:t>
                </a:r>
                <a:r>
                  <a:rPr lang="en-US" b="1" dirty="0"/>
                  <a:t>s</a:t>
                </a:r>
                <a:r>
                  <a:rPr lang="en-US" dirty="0"/>
                  <a:t>: GBP20m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AUD30m</a:t>
                </a:r>
              </a:p>
              <a:p>
                <a:r>
                  <a:rPr lang="en-US" dirty="0"/>
                  <a:t>Fixed rate: GBP 10% </a:t>
                </a:r>
                <a14:m>
                  <m:oMath xmlns:m="http://schemas.openxmlformats.org/officeDocument/2006/math">
                    <m:r>
                      <a:rPr lang="en-US" i="1">
                        <a:latin typeface="Cambria Math" panose="02040503050406030204" pitchFamily="18" charset="0"/>
                        <a:ea typeface="Cambria Math" panose="02040503050406030204" pitchFamily="18" charset="0"/>
                      </a:rPr>
                      <m:t>↔</m:t>
                    </m:r>
                  </m:oMath>
                </a14:m>
                <a:r>
                  <a:rPr lang="en-US" dirty="0"/>
                  <a:t> AUD 6%</a:t>
                </a:r>
              </a:p>
              <a:p>
                <a:r>
                  <a:rPr lang="en-US" dirty="0"/>
                  <a:t>Discount rates: GBP 7%, AUD 4% </a:t>
                </a:r>
                <a:r>
                  <a:rPr lang="en-US" dirty="0">
                    <a:solidFill>
                      <a:srgbClr val="FF0000"/>
                    </a:solidFill>
                  </a:rPr>
                  <a:t>(annually compounded!)</a:t>
                </a:r>
              </a:p>
              <a:p>
                <a:r>
                  <a:rPr lang="en-US" dirty="0"/>
                  <a:t>Payment frequency: Annual</a:t>
                </a:r>
              </a:p>
              <a:p>
                <a:r>
                  <a:rPr lang="en-US" dirty="0"/>
                  <a:t>Remaining life: 15 months</a:t>
                </a:r>
              </a:p>
              <a:p>
                <a:r>
                  <a:rPr lang="en-US" dirty="0"/>
                  <a:t>Payment dates: month 15, month (15-12)</a:t>
                </a:r>
              </a:p>
            </p:txBody>
          </p:sp>
        </mc:Choice>
        <mc:Fallback xmlns="">
          <p:sp>
            <p:nvSpPr>
              <p:cNvPr id="3" name="Content Placeholder 2">
                <a:extLst>
                  <a:ext uri="{FF2B5EF4-FFF2-40B4-BE49-F238E27FC236}">
                    <a16:creationId xmlns:a16="http://schemas.microsoft.com/office/drawing/2014/main" id="{E7C3D167-9DE2-BC48-95BD-391E8B910EA5}"/>
                  </a:ext>
                </a:extLst>
              </p:cNvPr>
              <p:cNvSpPr>
                <a:spLocks noGrp="1" noRot="1" noChangeAspect="1" noMove="1" noResize="1" noEditPoints="1" noAdjustHandles="1" noChangeArrowheads="1" noChangeShapeType="1" noTextEdit="1"/>
              </p:cNvSpPr>
              <p:nvPr>
                <p:ph idx="1"/>
              </p:nvPr>
            </p:nvSpPr>
            <p:spPr>
              <a:blipFill>
                <a:blip r:embed="rId3"/>
                <a:stretch>
                  <a:fillRect l="-1206" t="-2326"/>
                </a:stretch>
              </a:blipFill>
            </p:spPr>
            <p:txBody>
              <a:bodyPr/>
              <a:lstStyle/>
              <a:p>
                <a:r>
                  <a:rPr lang="en-US">
                    <a:noFill/>
                  </a:rPr>
                  <a:t> </a:t>
                </a:r>
              </a:p>
            </p:txBody>
          </p:sp>
        </mc:Fallback>
      </mc:AlternateContent>
      <p:sp>
        <p:nvSpPr>
          <p:cNvPr id="4" name="Date Placeholder 3">
            <a:extLst>
              <a:ext uri="{FF2B5EF4-FFF2-40B4-BE49-F238E27FC236}">
                <a16:creationId xmlns:a16="http://schemas.microsoft.com/office/drawing/2014/main" id="{65A63B33-8CB0-1F9E-33A6-3146C20F72E2}"/>
              </a:ext>
            </a:extLst>
          </p:cNvPr>
          <p:cNvSpPr>
            <a:spLocks noGrp="1"/>
          </p:cNvSpPr>
          <p:nvPr>
            <p:ph type="dt" sz="half" idx="10"/>
          </p:nvPr>
        </p:nvSpPr>
        <p:spPr/>
        <p:txBody>
          <a:bodyPr/>
          <a:lstStyle/>
          <a:p>
            <a:fld id="{779F002A-B9B4-CE4D-B8F9-1FF3931C9200}" type="datetime1">
              <a:rPr lang="en-AU" smtClean="0"/>
              <a:t>28/8/2026</a:t>
            </a:fld>
            <a:endParaRPr lang="en-US"/>
          </a:p>
        </p:txBody>
      </p:sp>
      <p:sp>
        <p:nvSpPr>
          <p:cNvPr id="5" name="Footer Placeholder 4">
            <a:extLst>
              <a:ext uri="{FF2B5EF4-FFF2-40B4-BE49-F238E27FC236}">
                <a16:creationId xmlns:a16="http://schemas.microsoft.com/office/drawing/2014/main" id="{32B49466-E227-5A0B-43DD-2971DCD50D17}"/>
              </a:ext>
            </a:extLst>
          </p:cNvPr>
          <p:cNvSpPr>
            <a:spLocks noGrp="1"/>
          </p:cNvSpPr>
          <p:nvPr>
            <p:ph type="ftr" sz="quarter" idx="11"/>
          </p:nvPr>
        </p:nvSpPr>
        <p:spPr/>
        <p:txBody>
          <a:bodyPr/>
          <a:lstStyle/>
          <a:p>
            <a:r>
              <a:rPr lang="en-US"/>
              <a:t>FINA2204 - Tutorial 5</a:t>
            </a:r>
          </a:p>
        </p:txBody>
      </p:sp>
      <p:sp>
        <p:nvSpPr>
          <p:cNvPr id="6" name="Slide Number Placeholder 5">
            <a:extLst>
              <a:ext uri="{FF2B5EF4-FFF2-40B4-BE49-F238E27FC236}">
                <a16:creationId xmlns:a16="http://schemas.microsoft.com/office/drawing/2014/main" id="{BE411CEF-C5B7-098E-FC64-5CD7418AB85E}"/>
              </a:ext>
            </a:extLst>
          </p:cNvPr>
          <p:cNvSpPr>
            <a:spLocks noGrp="1"/>
          </p:cNvSpPr>
          <p:nvPr>
            <p:ph type="sldNum" sz="quarter" idx="12"/>
          </p:nvPr>
        </p:nvSpPr>
        <p:spPr/>
        <p:txBody>
          <a:bodyPr/>
          <a:lstStyle/>
          <a:p>
            <a:fld id="{9855740F-6ECD-274F-B089-6B266B6B07F9}" type="slidenum">
              <a:rPr lang="en-US" smtClean="0"/>
              <a:t>49</a:t>
            </a:fld>
            <a:endParaRPr lang="en-US"/>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A2952833-4D99-E046-AE2C-E15DE162FFE7}"/>
                  </a:ext>
                </a:extLst>
              </p:cNvPr>
              <p:cNvSpPr txBox="1"/>
              <p:nvPr/>
            </p:nvSpPr>
            <p:spPr>
              <a:xfrm>
                <a:off x="7743463" y="4899723"/>
                <a:ext cx="3342190" cy="610873"/>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AU" b="0" i="1" smtClean="0">
                          <a:latin typeface="Cambria Math" panose="02040503050406030204" pitchFamily="18" charset="0"/>
                          <a:ea typeface="Cambria Math" panose="02040503050406030204" pitchFamily="18" charset="0"/>
                        </a:rPr>
                        <m:t>→</m:t>
                      </m:r>
                      <m:r>
                        <a:rPr lang="en-AU" b="0" i="1" smtClean="0">
                          <a:latin typeface="Cambria Math" panose="02040503050406030204" pitchFamily="18" charset="0"/>
                        </a:rPr>
                        <m:t>𝑃𝑉</m:t>
                      </m:r>
                      <m:r>
                        <a:rPr lang="en-AU" b="0" i="1" smtClean="0">
                          <a:latin typeface="Cambria Math" panose="02040503050406030204" pitchFamily="18" charset="0"/>
                        </a:rPr>
                        <m:t>=</m:t>
                      </m:r>
                      <m:r>
                        <a:rPr lang="en-AU" b="0" i="1" smtClean="0">
                          <a:latin typeface="Cambria Math" panose="02040503050406030204" pitchFamily="18" charset="0"/>
                        </a:rPr>
                        <m:t>𝐹𝑉</m:t>
                      </m:r>
                      <m:r>
                        <a:rPr lang="en-AU" b="0" i="1" smtClean="0">
                          <a:solidFill>
                            <a:srgbClr val="7030A0"/>
                          </a:solidFill>
                          <a:latin typeface="Cambria Math" panose="02040503050406030204" pitchFamily="18" charset="0"/>
                        </a:rPr>
                        <m:t>(1+</m:t>
                      </m:r>
                      <m:f>
                        <m:fPr>
                          <m:ctrlPr>
                            <a:rPr lang="en-AU" b="0" i="1" smtClean="0">
                              <a:solidFill>
                                <a:srgbClr val="7030A0"/>
                              </a:solidFill>
                              <a:latin typeface="Cambria Math" panose="02040503050406030204" pitchFamily="18" charset="0"/>
                            </a:rPr>
                          </m:ctrlPr>
                        </m:fPr>
                        <m:num>
                          <m:sSub>
                            <m:sSubPr>
                              <m:ctrlPr>
                                <a:rPr lang="en-AU" i="1" smtClean="0">
                                  <a:solidFill>
                                    <a:srgbClr val="7030A0"/>
                                  </a:solidFill>
                                  <a:latin typeface="Cambria Math" panose="02040503050406030204" pitchFamily="18" charset="0"/>
                                </a:rPr>
                              </m:ctrlPr>
                            </m:sSubPr>
                            <m:e>
                              <m:r>
                                <a:rPr lang="en-AU" i="1">
                                  <a:solidFill>
                                    <a:srgbClr val="7030A0"/>
                                  </a:solidFill>
                                  <a:latin typeface="Cambria Math" panose="02040503050406030204" pitchFamily="18" charset="0"/>
                                </a:rPr>
                                <m:t>𝑅</m:t>
                              </m:r>
                            </m:e>
                            <m:sub>
                              <m:r>
                                <a:rPr lang="en-AU" i="1" smtClean="0">
                                  <a:solidFill>
                                    <a:srgbClr val="7030A0"/>
                                  </a:solidFill>
                                  <a:latin typeface="Cambria Math" panose="02040503050406030204" pitchFamily="18" charset="0"/>
                                </a:rPr>
                                <m:t>𝑚</m:t>
                              </m:r>
                            </m:sub>
                          </m:sSub>
                        </m:num>
                        <m:den>
                          <m:r>
                            <a:rPr lang="en-AU" b="0" i="1" smtClean="0">
                              <a:solidFill>
                                <a:srgbClr val="7030A0"/>
                              </a:solidFill>
                              <a:latin typeface="Cambria Math" panose="02040503050406030204" pitchFamily="18" charset="0"/>
                            </a:rPr>
                            <m:t>1</m:t>
                          </m:r>
                        </m:den>
                      </m:f>
                      <m:sSup>
                        <m:sSupPr>
                          <m:ctrlPr>
                            <a:rPr lang="en-AU" b="0" i="1" smtClean="0">
                              <a:solidFill>
                                <a:srgbClr val="7030A0"/>
                              </a:solidFill>
                              <a:latin typeface="Cambria Math" panose="02040503050406030204" pitchFamily="18" charset="0"/>
                            </a:rPr>
                          </m:ctrlPr>
                        </m:sSupPr>
                        <m:e>
                          <m:r>
                            <a:rPr lang="en-AU" b="0" i="1" smtClean="0">
                              <a:solidFill>
                                <a:srgbClr val="7030A0"/>
                              </a:solidFill>
                              <a:latin typeface="Cambria Math" panose="02040503050406030204" pitchFamily="18" charset="0"/>
                            </a:rPr>
                            <m:t>)</m:t>
                          </m:r>
                        </m:e>
                        <m:sup>
                          <m:r>
                            <a:rPr lang="en-AU" b="0" i="1" smtClean="0">
                              <a:solidFill>
                                <a:srgbClr val="7030A0"/>
                              </a:solidFill>
                              <a:latin typeface="Cambria Math" panose="02040503050406030204" pitchFamily="18" charset="0"/>
                            </a:rPr>
                            <m:t>−</m:t>
                          </m:r>
                          <m:r>
                            <a:rPr lang="en-AU" b="0" i="1" smtClean="0">
                              <a:solidFill>
                                <a:srgbClr val="7030A0"/>
                              </a:solidFill>
                              <a:latin typeface="Cambria Math" panose="02040503050406030204" pitchFamily="18" charset="0"/>
                            </a:rPr>
                            <m:t>𝑇</m:t>
                          </m:r>
                        </m:sup>
                      </m:sSup>
                    </m:oMath>
                  </m:oMathPara>
                </a14:m>
                <a:endParaRPr lang="en-US" dirty="0"/>
              </a:p>
            </p:txBody>
          </p:sp>
        </mc:Choice>
        <mc:Fallback xmlns="">
          <p:sp>
            <p:nvSpPr>
              <p:cNvPr id="7" name="TextBox 6">
                <a:extLst>
                  <a:ext uri="{FF2B5EF4-FFF2-40B4-BE49-F238E27FC236}">
                    <a16:creationId xmlns:a16="http://schemas.microsoft.com/office/drawing/2014/main" id="{A2952833-4D99-E046-AE2C-E15DE162FFE7}"/>
                  </a:ext>
                </a:extLst>
              </p:cNvPr>
              <p:cNvSpPr txBox="1">
                <a:spLocks noRot="1" noChangeAspect="1" noMove="1" noResize="1" noEditPoints="1" noAdjustHandles="1" noChangeArrowheads="1" noChangeShapeType="1" noTextEdit="1"/>
              </p:cNvSpPr>
              <p:nvPr/>
            </p:nvSpPr>
            <p:spPr>
              <a:xfrm>
                <a:off x="7743463" y="4899723"/>
                <a:ext cx="3342190" cy="610873"/>
              </a:xfrm>
              <a:prstGeom prst="rect">
                <a:avLst/>
              </a:prstGeom>
              <a:blipFill>
                <a:blip r:embed="rId4"/>
                <a:stretch>
                  <a:fillRect b="-4082"/>
                </a:stretch>
              </a:blipFill>
            </p:spPr>
            <p:txBody>
              <a:bodyPr/>
              <a:lstStyle/>
              <a:p>
                <a:r>
                  <a:rPr lang="en-US">
                    <a:noFill/>
                  </a:rPr>
                  <a:t> </a:t>
                </a:r>
              </a:p>
            </p:txBody>
          </p:sp>
        </mc:Fallback>
      </mc:AlternateContent>
      <p:sp>
        <p:nvSpPr>
          <p:cNvPr id="8" name="Oval 7">
            <a:extLst>
              <a:ext uri="{FF2B5EF4-FFF2-40B4-BE49-F238E27FC236}">
                <a16:creationId xmlns:a16="http://schemas.microsoft.com/office/drawing/2014/main" id="{1C198A46-09DB-C612-4B7F-8FFB5815CE16}"/>
              </a:ext>
            </a:extLst>
          </p:cNvPr>
          <p:cNvSpPr/>
          <p:nvPr/>
        </p:nvSpPr>
        <p:spPr>
          <a:xfrm>
            <a:off x="9363919" y="4899723"/>
            <a:ext cx="1388962" cy="566694"/>
          </a:xfrm>
          <a:prstGeom prst="ellipse">
            <a:avLst/>
          </a:prstGeom>
          <a:no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9" name="Straight Connector 8">
            <a:extLst>
              <a:ext uri="{FF2B5EF4-FFF2-40B4-BE49-F238E27FC236}">
                <a16:creationId xmlns:a16="http://schemas.microsoft.com/office/drawing/2014/main" id="{1DDD3AA4-2270-FF70-DF3C-D13A7BFD6E53}"/>
              </a:ext>
            </a:extLst>
          </p:cNvPr>
          <p:cNvCxnSpPr/>
          <p:nvPr/>
        </p:nvCxnSpPr>
        <p:spPr>
          <a:xfrm flipH="1" flipV="1">
            <a:off x="9745883" y="4414652"/>
            <a:ext cx="370390" cy="350134"/>
          </a:xfrm>
          <a:prstGeom prst="line">
            <a:avLst/>
          </a:prstGeom>
        </p:spPr>
        <p:style>
          <a:lnRef idx="2">
            <a:schemeClr val="accent1"/>
          </a:lnRef>
          <a:fillRef idx="0">
            <a:schemeClr val="accent1"/>
          </a:fillRef>
          <a:effectRef idx="1">
            <a:schemeClr val="accent1"/>
          </a:effectRef>
          <a:fontRef idx="minor">
            <a:schemeClr val="tx1"/>
          </a:fontRef>
        </p:style>
      </p:cxnSp>
      <p:sp>
        <p:nvSpPr>
          <p:cNvPr id="10" name="TextBox 9">
            <a:extLst>
              <a:ext uri="{FF2B5EF4-FFF2-40B4-BE49-F238E27FC236}">
                <a16:creationId xmlns:a16="http://schemas.microsoft.com/office/drawing/2014/main" id="{B18973C4-4C96-553D-2091-FE8996E2B63C}"/>
              </a:ext>
            </a:extLst>
          </p:cNvPr>
          <p:cNvSpPr txBox="1"/>
          <p:nvPr/>
        </p:nvSpPr>
        <p:spPr>
          <a:xfrm>
            <a:off x="8184941" y="3998474"/>
            <a:ext cx="4007059" cy="338554"/>
          </a:xfrm>
          <a:prstGeom prst="rect">
            <a:avLst/>
          </a:prstGeom>
          <a:noFill/>
        </p:spPr>
        <p:txBody>
          <a:bodyPr wrap="none" rtlCol="0">
            <a:spAutoFit/>
          </a:bodyPr>
          <a:lstStyle/>
          <a:p>
            <a:r>
              <a:rPr lang="en-US" sz="1600" dirty="0">
                <a:solidFill>
                  <a:srgbClr val="0070C0"/>
                </a:solidFill>
              </a:rPr>
              <a:t>Discount factor with discrete compounding</a:t>
            </a:r>
          </a:p>
        </p:txBody>
      </p:sp>
    </p:spTree>
    <p:extLst>
      <p:ext uri="{BB962C8B-B14F-4D97-AF65-F5344CB8AC3E}">
        <p14:creationId xmlns:p14="http://schemas.microsoft.com/office/powerpoint/2010/main" val="34591904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0"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C3B0D0-D6AE-7E25-EADB-C9CEE6364650}"/>
              </a:ext>
            </a:extLst>
          </p:cNvPr>
          <p:cNvSpPr>
            <a:spLocks noGrp="1"/>
          </p:cNvSpPr>
          <p:nvPr>
            <p:ph type="title"/>
          </p:nvPr>
        </p:nvSpPr>
        <p:spPr/>
        <p:txBody>
          <a:bodyPr/>
          <a:lstStyle/>
          <a:p>
            <a:r>
              <a:rPr lang="en-US" dirty="0"/>
              <a:t>Answer 7.</a:t>
            </a:r>
            <a:r>
              <a:rPr lang="en-US" altLang="zh-CN" dirty="0"/>
              <a:t>5</a:t>
            </a:r>
            <a:endParaRPr lang="en-US" dirty="0"/>
          </a:p>
        </p:txBody>
      </p:sp>
      <mc:AlternateContent xmlns:mc="http://schemas.openxmlformats.org/markup-compatibility/2006" xmlns:a14="http://schemas.microsoft.com/office/drawing/2010/main">
        <mc:Choice Requires="a14">
          <p:graphicFrame>
            <p:nvGraphicFramePr>
              <p:cNvPr id="4" name="Content Placeholder 3">
                <a:extLst>
                  <a:ext uri="{FF2B5EF4-FFF2-40B4-BE49-F238E27FC236}">
                    <a16:creationId xmlns:a16="http://schemas.microsoft.com/office/drawing/2014/main" id="{67D3C004-D70C-7A51-55DA-899E725F09A7}"/>
                  </a:ext>
                </a:extLst>
              </p:cNvPr>
              <p:cNvGraphicFramePr>
                <a:graphicFrameLocks noGrp="1"/>
              </p:cNvGraphicFramePr>
              <p:nvPr>
                <p:ph idx="1"/>
                <p:extLst>
                  <p:ext uri="{D42A27DB-BD31-4B8C-83A1-F6EECF244321}">
                    <p14:modId xmlns:p14="http://schemas.microsoft.com/office/powerpoint/2010/main" val="205396008"/>
                  </p:ext>
                </p:extLst>
              </p:nvPr>
            </p:nvGraphicFramePr>
            <p:xfrm>
              <a:off x="528570" y="1860349"/>
              <a:ext cx="11134857" cy="3005464"/>
            </p:xfrm>
            <a:graphic>
              <a:graphicData uri="http://schemas.openxmlformats.org/drawingml/2006/table">
                <a:tbl>
                  <a:tblPr firstRow="1" bandRow="1">
                    <a:tableStyleId>{5C22544A-7EE6-4342-B048-85BDC9FD1C3A}</a:tableStyleId>
                  </a:tblPr>
                  <a:tblGrid>
                    <a:gridCol w="941415">
                      <a:extLst>
                        <a:ext uri="{9D8B030D-6E8A-4147-A177-3AD203B41FA5}">
                          <a16:colId xmlns:a16="http://schemas.microsoft.com/office/drawing/2014/main" val="3866973023"/>
                        </a:ext>
                      </a:extLst>
                    </a:gridCol>
                    <a:gridCol w="1698907">
                      <a:extLst>
                        <a:ext uri="{9D8B030D-6E8A-4147-A177-3AD203B41FA5}">
                          <a16:colId xmlns:a16="http://schemas.microsoft.com/office/drawing/2014/main" val="4224960964"/>
                        </a:ext>
                      </a:extLst>
                    </a:gridCol>
                    <a:gridCol w="1698907">
                      <a:extLst>
                        <a:ext uri="{9D8B030D-6E8A-4147-A177-3AD203B41FA5}">
                          <a16:colId xmlns:a16="http://schemas.microsoft.com/office/drawing/2014/main" val="1696470038"/>
                        </a:ext>
                      </a:extLst>
                    </a:gridCol>
                    <a:gridCol w="1698907">
                      <a:extLst>
                        <a:ext uri="{9D8B030D-6E8A-4147-A177-3AD203B41FA5}">
                          <a16:colId xmlns:a16="http://schemas.microsoft.com/office/drawing/2014/main" val="906141829"/>
                        </a:ext>
                      </a:extLst>
                    </a:gridCol>
                    <a:gridCol w="1698907">
                      <a:extLst>
                        <a:ext uri="{9D8B030D-6E8A-4147-A177-3AD203B41FA5}">
                          <a16:colId xmlns:a16="http://schemas.microsoft.com/office/drawing/2014/main" val="2339168854"/>
                        </a:ext>
                      </a:extLst>
                    </a:gridCol>
                    <a:gridCol w="1698907">
                      <a:extLst>
                        <a:ext uri="{9D8B030D-6E8A-4147-A177-3AD203B41FA5}">
                          <a16:colId xmlns:a16="http://schemas.microsoft.com/office/drawing/2014/main" val="3481424411"/>
                        </a:ext>
                      </a:extLst>
                    </a:gridCol>
                    <a:gridCol w="1698907">
                      <a:extLst>
                        <a:ext uri="{9D8B030D-6E8A-4147-A177-3AD203B41FA5}">
                          <a16:colId xmlns:a16="http://schemas.microsoft.com/office/drawing/2014/main" val="905996002"/>
                        </a:ext>
                      </a:extLst>
                    </a:gridCol>
                  </a:tblGrid>
                  <a:tr h="661182">
                    <a:tc>
                      <a:txBody>
                        <a:bodyPr/>
                        <a:lstStyle/>
                        <a:p>
                          <a:r>
                            <a:rPr lang="en-US" dirty="0"/>
                            <a:t>Time</a:t>
                          </a:r>
                        </a:p>
                      </a:txBody>
                      <a:tcPr/>
                    </a:tc>
                    <a:tc>
                      <a:txBody>
                        <a:bodyPr/>
                        <a:lstStyle/>
                        <a:p>
                          <a:pPr/>
                          <a14:m>
                            <m:oMathPara xmlns:m="http://schemas.openxmlformats.org/officeDocument/2006/math">
                              <m:oMathParaPr>
                                <m:jc m:val="centerGroup"/>
                              </m:oMathParaPr>
                              <m:oMath xmlns:m="http://schemas.openxmlformats.org/officeDocument/2006/math">
                                <m:sSub>
                                  <m:sSubPr>
                                    <m:ctrlPr>
                                      <a:rPr lang="en-AU" i="1" smtClean="0">
                                        <a:latin typeface="Cambria Math" panose="02040503050406030204" pitchFamily="18" charset="0"/>
                                      </a:rPr>
                                    </m:ctrlPr>
                                  </m:sSubPr>
                                  <m:e>
                                    <m:r>
                                      <a:rPr lang="en-AU" i="1">
                                        <a:latin typeface="Cambria Math" panose="02040503050406030204" pitchFamily="18" charset="0"/>
                                      </a:rPr>
                                      <m:t>𝐵</m:t>
                                    </m:r>
                                  </m:e>
                                  <m:sub>
                                    <m:r>
                                      <a:rPr lang="en-AU" b="0" i="1" smtClean="0">
                                        <a:latin typeface="Cambria Math" panose="02040503050406030204" pitchFamily="18" charset="0"/>
                                      </a:rPr>
                                      <m:t>𝐺𝐵𝑃</m:t>
                                    </m:r>
                                  </m:sub>
                                </m:sSub>
                                <m:r>
                                  <a:rPr lang="en-AU" b="1" i="0" smtClean="0">
                                    <a:latin typeface="Cambria Math" panose="02040503050406030204" pitchFamily="18" charset="0"/>
                                  </a:rPr>
                                  <m:t> </m:t>
                                </m:r>
                                <m:r>
                                  <a:rPr lang="en-AU" b="1" i="1" smtClean="0">
                                    <a:latin typeface="Cambria Math" panose="02040503050406030204" pitchFamily="18" charset="0"/>
                                  </a:rPr>
                                  <m:t>𝒄𝒂𝒔𝒉</m:t>
                                </m:r>
                                <m:r>
                                  <a:rPr lang="en-AU" b="1" i="1" smtClean="0">
                                    <a:latin typeface="Cambria Math" panose="02040503050406030204" pitchFamily="18" charset="0"/>
                                  </a:rPr>
                                  <m:t> </m:t>
                                </m:r>
                                <m:r>
                                  <a:rPr lang="en-AU" b="1" i="1" smtClean="0">
                                    <a:latin typeface="Cambria Math" panose="02040503050406030204" pitchFamily="18" charset="0"/>
                                  </a:rPr>
                                  <m:t>𝒇𝒍𝒐𝒘</m:t>
                                </m:r>
                              </m:oMath>
                            </m:oMathPara>
                          </a14:m>
                          <a:endParaRPr lang="en-US" dirty="0"/>
                        </a:p>
                        <a:p>
                          <a:r>
                            <a:rPr lang="en-US" dirty="0"/>
                            <a:t>(1)</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AU" i="1" smtClean="0">
                                        <a:latin typeface="Cambria Math" panose="02040503050406030204" pitchFamily="18" charset="0"/>
                                      </a:rPr>
                                    </m:ctrlPr>
                                  </m:sSubPr>
                                  <m:e>
                                    <m:r>
                                      <a:rPr lang="en-AU" i="1">
                                        <a:latin typeface="Cambria Math" panose="02040503050406030204" pitchFamily="18" charset="0"/>
                                      </a:rPr>
                                      <m:t>𝐵</m:t>
                                    </m:r>
                                  </m:e>
                                  <m:sub>
                                    <m:r>
                                      <a:rPr lang="en-AU" b="0" i="1" smtClean="0">
                                        <a:latin typeface="Cambria Math" panose="02040503050406030204" pitchFamily="18" charset="0"/>
                                      </a:rPr>
                                      <m:t>𝐴𝑈𝐷</m:t>
                                    </m:r>
                                  </m:sub>
                                </m:sSub>
                                <m:r>
                                  <a:rPr lang="en-AU" b="1" i="0" smtClean="0">
                                    <a:latin typeface="Cambria Math" panose="02040503050406030204" pitchFamily="18" charset="0"/>
                                  </a:rPr>
                                  <m:t> </m:t>
                                </m:r>
                                <m:r>
                                  <a:rPr lang="en-AU" b="1" i="1" smtClean="0">
                                    <a:latin typeface="Cambria Math" panose="02040503050406030204" pitchFamily="18" charset="0"/>
                                  </a:rPr>
                                  <m:t>𝒄𝒂𝒔𝒉</m:t>
                                </m:r>
                                <m:r>
                                  <a:rPr lang="en-AU" b="1" i="1" smtClean="0">
                                    <a:latin typeface="Cambria Math" panose="02040503050406030204" pitchFamily="18" charset="0"/>
                                  </a:rPr>
                                  <m:t> </m:t>
                                </m:r>
                                <m:r>
                                  <a:rPr lang="en-AU" b="1" i="1" smtClean="0">
                                    <a:latin typeface="Cambria Math" panose="02040503050406030204" pitchFamily="18" charset="0"/>
                                  </a:rPr>
                                  <m:t>𝒇𝒍𝒐𝒘</m:t>
                                </m:r>
                              </m:oMath>
                            </m:oMathPara>
                          </a14:m>
                          <a:endParaRPr lang="en-US" dirty="0"/>
                        </a:p>
                        <a:p>
                          <a:r>
                            <a:rPr lang="en-US" dirty="0"/>
                            <a:t>(2)</a:t>
                          </a:r>
                        </a:p>
                      </a:txBody>
                      <a:tcPr/>
                    </a:tc>
                    <a:tc>
                      <a:txBody>
                        <a:bodyPr/>
                        <a:lstStyle/>
                        <a:p>
                          <a:r>
                            <a:rPr lang="en-US" dirty="0"/>
                            <a:t>GBP Discount factor</a:t>
                          </a:r>
                        </a:p>
                        <a:p>
                          <a:r>
                            <a:rPr lang="en-US" dirty="0"/>
                            <a:t>(3)</a:t>
                          </a:r>
                        </a:p>
                      </a:txBody>
                      <a:tcPr/>
                    </a:tc>
                    <a:tc>
                      <a:txBody>
                        <a:bodyPr/>
                        <a:lstStyle/>
                        <a:p>
                          <a:r>
                            <a:rPr lang="en-US" dirty="0"/>
                            <a:t>AUD Discount factor</a:t>
                          </a:r>
                        </a:p>
                        <a:p>
                          <a:r>
                            <a:rPr lang="en-US" dirty="0"/>
                            <a:t>(4)</a:t>
                          </a:r>
                        </a:p>
                      </a:txBody>
                      <a:tcPr/>
                    </a:tc>
                    <a:tc>
                      <a:txBody>
                        <a:bodyPr/>
                        <a:lstStyle/>
                        <a:p>
                          <a:pPr/>
                          <a14:m>
                            <m:oMathPara xmlns:m="http://schemas.openxmlformats.org/officeDocument/2006/math">
                              <m:oMathParaPr>
                                <m:jc m:val="centerGroup"/>
                              </m:oMathParaPr>
                              <m:oMath xmlns:m="http://schemas.openxmlformats.org/officeDocument/2006/math">
                                <m:sSub>
                                  <m:sSubPr>
                                    <m:ctrlPr>
                                      <a:rPr lang="en-AU" i="1" smtClean="0">
                                        <a:latin typeface="Cambria Math" panose="02040503050406030204" pitchFamily="18" charset="0"/>
                                      </a:rPr>
                                    </m:ctrlPr>
                                  </m:sSubPr>
                                  <m:e>
                                    <m:r>
                                      <a:rPr lang="en-AU" b="1" i="1" smtClean="0">
                                        <a:latin typeface="Cambria Math" panose="02040503050406030204" pitchFamily="18" charset="0"/>
                                      </a:rPr>
                                      <m:t>𝑷𝑽</m:t>
                                    </m:r>
                                    <m:r>
                                      <a:rPr lang="en-AU" b="1" i="1" smtClean="0">
                                        <a:latin typeface="Cambria Math" panose="02040503050406030204" pitchFamily="18" charset="0"/>
                                      </a:rPr>
                                      <m:t> </m:t>
                                    </m:r>
                                    <m:r>
                                      <a:rPr lang="en-AU" b="1" i="1" smtClean="0">
                                        <a:latin typeface="Cambria Math" panose="02040503050406030204" pitchFamily="18" charset="0"/>
                                      </a:rPr>
                                      <m:t>𝒐𝒇</m:t>
                                    </m:r>
                                    <m:r>
                                      <a:rPr lang="en-AU" b="1" i="1" smtClean="0">
                                        <a:latin typeface="Cambria Math" panose="02040503050406030204" pitchFamily="18" charset="0"/>
                                      </a:rPr>
                                      <m:t> </m:t>
                                    </m:r>
                                    <m:r>
                                      <a:rPr lang="en-AU" i="1">
                                        <a:latin typeface="Cambria Math" panose="02040503050406030204" pitchFamily="18" charset="0"/>
                                      </a:rPr>
                                      <m:t>𝐵</m:t>
                                    </m:r>
                                  </m:e>
                                  <m:sub>
                                    <m:r>
                                      <a:rPr lang="en-AU" b="0" i="1" smtClean="0">
                                        <a:latin typeface="Cambria Math" panose="02040503050406030204" pitchFamily="18" charset="0"/>
                                      </a:rPr>
                                      <m:t>𝐺𝐵𝑃</m:t>
                                    </m:r>
                                  </m:sub>
                                </m:sSub>
                              </m:oMath>
                            </m:oMathPara>
                          </a14:m>
                          <a:endParaRPr lang="en-US" dirty="0"/>
                        </a:p>
                        <a:p>
                          <a:r>
                            <a:rPr lang="en-US" dirty="0"/>
                            <a:t>(1)*(3)</a:t>
                          </a:r>
                        </a:p>
                      </a:txBody>
                      <a:tcPr/>
                    </a:tc>
                    <a:tc>
                      <a:txBody>
                        <a:bodyPr/>
                        <a:lstStyle/>
                        <a:p>
                          <a:pPr/>
                          <a14:m>
                            <m:oMathPara xmlns:m="http://schemas.openxmlformats.org/officeDocument/2006/math">
                              <m:oMathParaPr>
                                <m:jc m:val="centerGroup"/>
                              </m:oMathParaPr>
                              <m:oMath xmlns:m="http://schemas.openxmlformats.org/officeDocument/2006/math">
                                <m:sSub>
                                  <m:sSubPr>
                                    <m:ctrlPr>
                                      <a:rPr lang="en-AU" i="1" smtClean="0">
                                        <a:latin typeface="Cambria Math" panose="02040503050406030204" pitchFamily="18" charset="0"/>
                                      </a:rPr>
                                    </m:ctrlPr>
                                  </m:sSubPr>
                                  <m:e>
                                    <m:r>
                                      <a:rPr lang="en-AU" b="1" i="1" smtClean="0">
                                        <a:latin typeface="Cambria Math" panose="02040503050406030204" pitchFamily="18" charset="0"/>
                                      </a:rPr>
                                      <m:t>𝑷𝑽</m:t>
                                    </m:r>
                                    <m:r>
                                      <a:rPr lang="en-AU" b="1" i="1" smtClean="0">
                                        <a:latin typeface="Cambria Math" panose="02040503050406030204" pitchFamily="18" charset="0"/>
                                      </a:rPr>
                                      <m:t> </m:t>
                                    </m:r>
                                    <m:r>
                                      <a:rPr lang="en-AU" b="1" i="1" smtClean="0">
                                        <a:latin typeface="Cambria Math" panose="02040503050406030204" pitchFamily="18" charset="0"/>
                                      </a:rPr>
                                      <m:t>𝒐𝒇</m:t>
                                    </m:r>
                                    <m:r>
                                      <a:rPr lang="en-AU" b="1" i="1" smtClean="0">
                                        <a:latin typeface="Cambria Math" panose="02040503050406030204" pitchFamily="18" charset="0"/>
                                      </a:rPr>
                                      <m:t> </m:t>
                                    </m:r>
                                    <m:r>
                                      <a:rPr lang="en-AU" i="1">
                                        <a:latin typeface="Cambria Math" panose="02040503050406030204" pitchFamily="18" charset="0"/>
                                      </a:rPr>
                                      <m:t>𝐵</m:t>
                                    </m:r>
                                  </m:e>
                                  <m:sub>
                                    <m:r>
                                      <a:rPr lang="en-AU" b="0" i="1" smtClean="0">
                                        <a:latin typeface="Cambria Math" panose="02040503050406030204" pitchFamily="18" charset="0"/>
                                      </a:rPr>
                                      <m:t>𝐴𝑈𝐷</m:t>
                                    </m:r>
                                  </m:sub>
                                </m:sSub>
                              </m:oMath>
                            </m:oMathPara>
                          </a14:m>
                          <a:endParaRPr lang="en-US" dirty="0"/>
                        </a:p>
                        <a:p>
                          <a:r>
                            <a:rPr lang="en-US" dirty="0"/>
                            <a:t>(2)*(4)</a:t>
                          </a:r>
                        </a:p>
                      </a:txBody>
                      <a:tcPr/>
                    </a:tc>
                    <a:extLst>
                      <a:ext uri="{0D108BD9-81ED-4DB2-BD59-A6C34878D82A}">
                        <a16:rowId xmlns:a16="http://schemas.microsoft.com/office/drawing/2014/main" val="739956772"/>
                      </a:ext>
                    </a:extLst>
                  </a:tr>
                  <a:tr h="632274">
                    <a:tc>
                      <a:txBody>
                        <a:bodyPr/>
                        <a:lstStyle/>
                        <a:p>
                          <a:r>
                            <a:rPr lang="en-US" sz="1600" dirty="0"/>
                            <a:t>3/12</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AU" sz="1600" b="0" i="1" smtClean="0">
                                    <a:latin typeface="Cambria Math" panose="02040503050406030204" pitchFamily="18" charset="0"/>
                                    <a:ea typeface="Cambria Math" panose="02040503050406030204" pitchFamily="18" charset="0"/>
                                  </a:rPr>
                                  <m:t>20×10%×1</m:t>
                                </m:r>
                              </m:oMath>
                            </m:oMathPara>
                          </a14:m>
                          <a:endParaRPr lang="en-US" sz="1600" dirty="0"/>
                        </a:p>
                        <a:p>
                          <a:endParaRPr lang="en-US" sz="16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AU" sz="1600" b="0" i="1" smtClean="0">
                                    <a:latin typeface="Cambria Math" panose="02040503050406030204" pitchFamily="18" charset="0"/>
                                    <a:ea typeface="Cambria Math" panose="02040503050406030204" pitchFamily="18" charset="0"/>
                                  </a:rPr>
                                  <m:t>30×6%×1</m:t>
                                </m:r>
                              </m:oMath>
                            </m:oMathPara>
                          </a14:m>
                          <a:endParaRPr lang="en-US" sz="1600" dirty="0"/>
                        </a:p>
                      </a:txBody>
                      <a:tcPr/>
                    </a:tc>
                    <a:tc>
                      <a:txBody>
                        <a:bodyPr/>
                        <a:lstStyle/>
                        <a:p>
                          <a:pPr/>
                          <a14:m>
                            <m:oMathPara xmlns:m="http://schemas.openxmlformats.org/officeDocument/2006/math">
                              <m:oMathParaPr>
                                <m:jc m:val="centerGroup"/>
                              </m:oMathParaPr>
                              <m:oMath xmlns:m="http://schemas.openxmlformats.org/officeDocument/2006/math">
                                <m:r>
                                  <a:rPr lang="en-AU" sz="1600" i="1" smtClean="0">
                                    <a:latin typeface="Cambria Math" panose="02040503050406030204" pitchFamily="18" charset="0"/>
                                  </a:rPr>
                                  <m:t>(</m:t>
                                </m:r>
                                <m:r>
                                  <a:rPr lang="en-AU" sz="1600" b="0" i="1" smtClean="0">
                                    <a:latin typeface="Cambria Math" panose="02040503050406030204" pitchFamily="18" charset="0"/>
                                  </a:rPr>
                                  <m:t>1+7%</m:t>
                                </m:r>
                                <m:sSup>
                                  <m:sSupPr>
                                    <m:ctrlPr>
                                      <a:rPr lang="en-AU" sz="1600" b="0" i="1" smtClean="0">
                                        <a:latin typeface="Cambria Math" panose="02040503050406030204" pitchFamily="18" charset="0"/>
                                      </a:rPr>
                                    </m:ctrlPr>
                                  </m:sSupPr>
                                  <m:e>
                                    <m:r>
                                      <a:rPr lang="en-AU" sz="1600" b="0" i="1" smtClean="0">
                                        <a:latin typeface="Cambria Math" panose="02040503050406030204" pitchFamily="18" charset="0"/>
                                      </a:rPr>
                                      <m:t>)</m:t>
                                    </m:r>
                                  </m:e>
                                  <m:sup>
                                    <m:r>
                                      <a:rPr lang="en-AU" sz="1600" b="0" i="1" smtClean="0">
                                        <a:latin typeface="Cambria Math" panose="02040503050406030204" pitchFamily="18" charset="0"/>
                                      </a:rPr>
                                      <m:t>−3/12</m:t>
                                    </m:r>
                                  </m:sup>
                                </m:sSup>
                              </m:oMath>
                            </m:oMathPara>
                          </a14:m>
                          <a:endParaRPr lang="en-US" sz="16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AU" sz="1600" i="1" smtClean="0">
                                    <a:latin typeface="Cambria Math" panose="02040503050406030204" pitchFamily="18" charset="0"/>
                                  </a:rPr>
                                  <m:t>(</m:t>
                                </m:r>
                                <m:r>
                                  <a:rPr lang="en-AU" sz="1600" b="0" i="1" smtClean="0">
                                    <a:latin typeface="Cambria Math" panose="02040503050406030204" pitchFamily="18" charset="0"/>
                                  </a:rPr>
                                  <m:t>1+4%</m:t>
                                </m:r>
                                <m:sSup>
                                  <m:sSupPr>
                                    <m:ctrlPr>
                                      <a:rPr lang="en-AU" sz="1600" b="0" i="1" smtClean="0">
                                        <a:latin typeface="Cambria Math" panose="02040503050406030204" pitchFamily="18" charset="0"/>
                                      </a:rPr>
                                    </m:ctrlPr>
                                  </m:sSupPr>
                                  <m:e>
                                    <m:r>
                                      <a:rPr lang="en-AU" sz="1600" b="0" i="1" smtClean="0">
                                        <a:latin typeface="Cambria Math" panose="02040503050406030204" pitchFamily="18" charset="0"/>
                                      </a:rPr>
                                      <m:t>)</m:t>
                                    </m:r>
                                  </m:e>
                                  <m:sup>
                                    <m:r>
                                      <a:rPr lang="en-AU" sz="1600" b="0" i="1" smtClean="0">
                                        <a:latin typeface="Cambria Math" panose="02040503050406030204" pitchFamily="18" charset="0"/>
                                      </a:rPr>
                                      <m:t>−3/12</m:t>
                                    </m:r>
                                  </m:sup>
                                </m:sSup>
                              </m:oMath>
                            </m:oMathPara>
                          </a14:m>
                          <a:endParaRPr lang="en-US" sz="16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AU" sz="1600" b="0" i="1" smtClean="0">
                                    <a:latin typeface="Cambria Math" panose="02040503050406030204" pitchFamily="18" charset="0"/>
                                  </a:rPr>
                                  <m:t>(</m:t>
                                </m:r>
                                <m:r>
                                  <a:rPr lang="en-AU" sz="1600" b="0" i="1" smtClean="0">
                                    <a:latin typeface="Cambria Math" panose="02040503050406030204" pitchFamily="18" charset="0"/>
                                    <a:ea typeface="Cambria Math" panose="02040503050406030204" pitchFamily="18" charset="0"/>
                                  </a:rPr>
                                  <m:t>20×10%)×</m:t>
                                </m:r>
                                <m:r>
                                  <a:rPr lang="en-AU" sz="1600" i="1" smtClean="0">
                                    <a:latin typeface="Cambria Math" panose="02040503050406030204" pitchFamily="18" charset="0"/>
                                  </a:rPr>
                                  <m:t>(</m:t>
                                </m:r>
                                <m:r>
                                  <a:rPr lang="en-AU" sz="1600" b="0" i="1" smtClean="0">
                                    <a:latin typeface="Cambria Math" panose="02040503050406030204" pitchFamily="18" charset="0"/>
                                  </a:rPr>
                                  <m:t>1+7%</m:t>
                                </m:r>
                                <m:sSup>
                                  <m:sSupPr>
                                    <m:ctrlPr>
                                      <a:rPr lang="en-AU" sz="1600" b="0" i="1" smtClean="0">
                                        <a:latin typeface="Cambria Math" panose="02040503050406030204" pitchFamily="18" charset="0"/>
                                      </a:rPr>
                                    </m:ctrlPr>
                                  </m:sSupPr>
                                  <m:e>
                                    <m:r>
                                      <a:rPr lang="en-AU" sz="1600" b="0" i="1" smtClean="0">
                                        <a:latin typeface="Cambria Math" panose="02040503050406030204" pitchFamily="18" charset="0"/>
                                      </a:rPr>
                                      <m:t>)</m:t>
                                    </m:r>
                                  </m:e>
                                  <m:sup>
                                    <m:r>
                                      <a:rPr lang="en-AU" sz="1600" b="0" i="1" smtClean="0">
                                        <a:latin typeface="Cambria Math" panose="02040503050406030204" pitchFamily="18" charset="0"/>
                                      </a:rPr>
                                      <m:t>−3/12</m:t>
                                    </m:r>
                                  </m:sup>
                                </m:sSup>
                              </m:oMath>
                            </m:oMathPara>
                          </a14:m>
                          <a:endParaRPr lang="en-US" sz="16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AU" sz="1600" b="0" i="1" smtClean="0">
                                    <a:latin typeface="Cambria Math" panose="02040503050406030204" pitchFamily="18" charset="0"/>
                                    <a:ea typeface="Cambria Math" panose="02040503050406030204" pitchFamily="18" charset="0"/>
                                  </a:rPr>
                                  <m:t>(30×6%)×</m:t>
                                </m:r>
                                <m:r>
                                  <a:rPr lang="en-AU" sz="1600" i="1" smtClean="0">
                                    <a:latin typeface="Cambria Math" panose="02040503050406030204" pitchFamily="18" charset="0"/>
                                  </a:rPr>
                                  <m:t>(</m:t>
                                </m:r>
                                <m:r>
                                  <a:rPr lang="en-AU" sz="1600" b="0" i="1" smtClean="0">
                                    <a:latin typeface="Cambria Math" panose="02040503050406030204" pitchFamily="18" charset="0"/>
                                  </a:rPr>
                                  <m:t>1+4%</m:t>
                                </m:r>
                                <m:sSup>
                                  <m:sSupPr>
                                    <m:ctrlPr>
                                      <a:rPr lang="en-AU" sz="1600" b="0" i="1" smtClean="0">
                                        <a:latin typeface="Cambria Math" panose="02040503050406030204" pitchFamily="18" charset="0"/>
                                      </a:rPr>
                                    </m:ctrlPr>
                                  </m:sSupPr>
                                  <m:e>
                                    <m:r>
                                      <a:rPr lang="en-AU" sz="1600" b="0" i="1" smtClean="0">
                                        <a:latin typeface="Cambria Math" panose="02040503050406030204" pitchFamily="18" charset="0"/>
                                      </a:rPr>
                                      <m:t>)</m:t>
                                    </m:r>
                                  </m:e>
                                  <m:sup>
                                    <m:r>
                                      <a:rPr lang="en-AU" sz="1600" b="0" i="1" smtClean="0">
                                        <a:latin typeface="Cambria Math" panose="02040503050406030204" pitchFamily="18" charset="0"/>
                                      </a:rPr>
                                      <m:t>−3/12</m:t>
                                    </m:r>
                                  </m:sup>
                                </m:sSup>
                              </m:oMath>
                            </m:oMathPara>
                          </a14:m>
                          <a:endParaRPr lang="en-US" sz="1600" dirty="0"/>
                        </a:p>
                      </a:txBody>
                      <a:tcPr/>
                    </a:tc>
                    <a:extLst>
                      <a:ext uri="{0D108BD9-81ED-4DB2-BD59-A6C34878D82A}">
                        <a16:rowId xmlns:a16="http://schemas.microsoft.com/office/drawing/2014/main" val="2246916794"/>
                      </a:ext>
                    </a:extLst>
                  </a:tr>
                  <a:tr h="632274">
                    <a:tc>
                      <a:txBody>
                        <a:bodyPr/>
                        <a:lstStyle/>
                        <a:p>
                          <a:r>
                            <a:rPr lang="en-US" sz="1600" dirty="0"/>
                            <a:t>15/12</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AU" sz="1600" b="0" i="1" smtClean="0">
                                    <a:latin typeface="Cambria Math" panose="02040503050406030204" pitchFamily="18" charset="0"/>
                                    <a:ea typeface="Cambria Math" panose="02040503050406030204" pitchFamily="18" charset="0"/>
                                  </a:rPr>
                                  <m:t>20+(20×10%)</m:t>
                                </m:r>
                              </m:oMath>
                            </m:oMathPara>
                          </a14:m>
                          <a:endParaRPr lang="en-US" sz="1600" dirty="0"/>
                        </a:p>
                        <a:p>
                          <a:endParaRPr lang="en-US" sz="16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AU" sz="1600" b="0" i="1" smtClean="0">
                                    <a:latin typeface="Cambria Math" panose="02040503050406030204" pitchFamily="18" charset="0"/>
                                    <a:ea typeface="Cambria Math" panose="02040503050406030204" pitchFamily="18" charset="0"/>
                                  </a:rPr>
                                  <m:t>30+30×6%</m:t>
                                </m:r>
                              </m:oMath>
                            </m:oMathPara>
                          </a14:m>
                          <a:endParaRPr lang="en-US" sz="1600" dirty="0"/>
                        </a:p>
                        <a:p>
                          <a:endParaRPr lang="en-US" sz="1600" dirty="0"/>
                        </a:p>
                      </a:txBody>
                      <a:tcPr/>
                    </a:tc>
                    <a:tc>
                      <a:txBody>
                        <a:bodyPr/>
                        <a:lstStyle/>
                        <a:p>
                          <a:pPr/>
                          <a14:m>
                            <m:oMathPara xmlns:m="http://schemas.openxmlformats.org/officeDocument/2006/math">
                              <m:oMathParaPr>
                                <m:jc m:val="centerGroup"/>
                              </m:oMathParaPr>
                              <m:oMath xmlns:m="http://schemas.openxmlformats.org/officeDocument/2006/math">
                                <m:r>
                                  <a:rPr lang="en-AU" sz="1600" i="1" smtClean="0">
                                    <a:latin typeface="Cambria Math" panose="02040503050406030204" pitchFamily="18" charset="0"/>
                                  </a:rPr>
                                  <m:t>(</m:t>
                                </m:r>
                                <m:r>
                                  <a:rPr lang="en-AU" sz="1600" b="0" i="1" smtClean="0">
                                    <a:latin typeface="Cambria Math" panose="02040503050406030204" pitchFamily="18" charset="0"/>
                                  </a:rPr>
                                  <m:t>1+7%</m:t>
                                </m:r>
                                <m:sSup>
                                  <m:sSupPr>
                                    <m:ctrlPr>
                                      <a:rPr lang="en-AU" sz="1600" b="0" i="1" smtClean="0">
                                        <a:latin typeface="Cambria Math" panose="02040503050406030204" pitchFamily="18" charset="0"/>
                                      </a:rPr>
                                    </m:ctrlPr>
                                  </m:sSupPr>
                                  <m:e>
                                    <m:r>
                                      <a:rPr lang="en-AU" sz="1600" b="0" i="1" smtClean="0">
                                        <a:latin typeface="Cambria Math" panose="02040503050406030204" pitchFamily="18" charset="0"/>
                                      </a:rPr>
                                      <m:t>)</m:t>
                                    </m:r>
                                  </m:e>
                                  <m:sup>
                                    <m:r>
                                      <a:rPr lang="en-AU" sz="1600" b="0" i="1" smtClean="0">
                                        <a:latin typeface="Cambria Math" panose="02040503050406030204" pitchFamily="18" charset="0"/>
                                      </a:rPr>
                                      <m:t>−15/12</m:t>
                                    </m:r>
                                  </m:sup>
                                </m:sSup>
                              </m:oMath>
                            </m:oMathPara>
                          </a14:m>
                          <a:endParaRPr lang="en-US" sz="16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AU" sz="1600" i="1" smtClean="0">
                                    <a:latin typeface="Cambria Math" panose="02040503050406030204" pitchFamily="18" charset="0"/>
                                  </a:rPr>
                                  <m:t>(</m:t>
                                </m:r>
                                <m:r>
                                  <a:rPr lang="en-AU" sz="1600" b="0" i="1" smtClean="0">
                                    <a:latin typeface="Cambria Math" panose="02040503050406030204" pitchFamily="18" charset="0"/>
                                  </a:rPr>
                                  <m:t>1+4%</m:t>
                                </m:r>
                                <m:sSup>
                                  <m:sSupPr>
                                    <m:ctrlPr>
                                      <a:rPr lang="en-AU" sz="1600" b="0" i="1" smtClean="0">
                                        <a:latin typeface="Cambria Math" panose="02040503050406030204" pitchFamily="18" charset="0"/>
                                      </a:rPr>
                                    </m:ctrlPr>
                                  </m:sSupPr>
                                  <m:e>
                                    <m:r>
                                      <a:rPr lang="en-AU" sz="1600" b="0" i="1" smtClean="0">
                                        <a:latin typeface="Cambria Math" panose="02040503050406030204" pitchFamily="18" charset="0"/>
                                      </a:rPr>
                                      <m:t>)</m:t>
                                    </m:r>
                                  </m:e>
                                  <m:sup>
                                    <m:r>
                                      <a:rPr lang="en-AU" sz="1600" b="0" i="1" smtClean="0">
                                        <a:latin typeface="Cambria Math" panose="02040503050406030204" pitchFamily="18" charset="0"/>
                                      </a:rPr>
                                      <m:t>−15/12</m:t>
                                    </m:r>
                                  </m:sup>
                                </m:sSup>
                              </m:oMath>
                            </m:oMathPara>
                          </a14:m>
                          <a:endParaRPr lang="en-US" sz="16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AU" sz="1600" b="0" i="1" smtClean="0">
                                    <a:latin typeface="Cambria Math" panose="02040503050406030204" pitchFamily="18" charset="0"/>
                                  </a:rPr>
                                  <m:t>(</m:t>
                                </m:r>
                                <m:r>
                                  <a:rPr lang="en-AU" sz="1600" b="0" i="1" smtClean="0">
                                    <a:latin typeface="Cambria Math" panose="02040503050406030204" pitchFamily="18" charset="0"/>
                                    <a:ea typeface="Cambria Math" panose="02040503050406030204" pitchFamily="18" charset="0"/>
                                  </a:rPr>
                                  <m:t>20+(20×10%)</m:t>
                                </m:r>
                              </m:oMath>
                            </m:oMathPara>
                          </a14:m>
                          <a:endParaRPr lang="en-US" sz="1600" dirty="0"/>
                        </a:p>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AU" sz="1600" b="0" i="1" smtClean="0">
                                    <a:latin typeface="Cambria Math" panose="02040503050406030204" pitchFamily="18" charset="0"/>
                                    <a:ea typeface="Cambria Math" panose="02040503050406030204" pitchFamily="18" charset="0"/>
                                  </a:rPr>
                                  <m:t>)×</m:t>
                                </m:r>
                                <m:r>
                                  <a:rPr lang="en-AU" sz="1600" i="1" smtClean="0">
                                    <a:latin typeface="Cambria Math" panose="02040503050406030204" pitchFamily="18" charset="0"/>
                                  </a:rPr>
                                  <m:t>(</m:t>
                                </m:r>
                                <m:r>
                                  <a:rPr lang="en-AU" sz="1600" b="0" i="1" smtClean="0">
                                    <a:latin typeface="Cambria Math" panose="02040503050406030204" pitchFamily="18" charset="0"/>
                                  </a:rPr>
                                  <m:t>1+7%</m:t>
                                </m:r>
                                <m:sSup>
                                  <m:sSupPr>
                                    <m:ctrlPr>
                                      <a:rPr lang="en-AU" sz="1600" b="0" i="1" smtClean="0">
                                        <a:latin typeface="Cambria Math" panose="02040503050406030204" pitchFamily="18" charset="0"/>
                                      </a:rPr>
                                    </m:ctrlPr>
                                  </m:sSupPr>
                                  <m:e>
                                    <m:r>
                                      <a:rPr lang="en-AU" sz="1600" b="0" i="1" smtClean="0">
                                        <a:latin typeface="Cambria Math" panose="02040503050406030204" pitchFamily="18" charset="0"/>
                                      </a:rPr>
                                      <m:t>)</m:t>
                                    </m:r>
                                  </m:e>
                                  <m:sup>
                                    <m:r>
                                      <a:rPr lang="en-AU" sz="1600" b="0" i="1" smtClean="0">
                                        <a:latin typeface="Cambria Math" panose="02040503050406030204" pitchFamily="18" charset="0"/>
                                      </a:rPr>
                                      <m:t>−15/12</m:t>
                                    </m:r>
                                  </m:sup>
                                </m:sSup>
                              </m:oMath>
                            </m:oMathPara>
                          </a14:m>
                          <a:endParaRPr lang="en-US" sz="16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AU" sz="1600" b="0" i="1" smtClean="0">
                                    <a:latin typeface="Cambria Math" panose="02040503050406030204" pitchFamily="18" charset="0"/>
                                    <a:ea typeface="Cambria Math" panose="02040503050406030204" pitchFamily="18" charset="0"/>
                                  </a:rPr>
                                  <m:t>(30+30×6%)×</m:t>
                                </m:r>
                                <m:r>
                                  <a:rPr lang="en-AU" sz="1600" i="1" smtClean="0">
                                    <a:latin typeface="Cambria Math" panose="02040503050406030204" pitchFamily="18" charset="0"/>
                                  </a:rPr>
                                  <m:t>(</m:t>
                                </m:r>
                                <m:r>
                                  <a:rPr lang="en-AU" sz="1600" b="0" i="1" smtClean="0">
                                    <a:latin typeface="Cambria Math" panose="02040503050406030204" pitchFamily="18" charset="0"/>
                                  </a:rPr>
                                  <m:t>1+4%</m:t>
                                </m:r>
                                <m:sSup>
                                  <m:sSupPr>
                                    <m:ctrlPr>
                                      <a:rPr lang="en-AU" sz="1600" b="0" i="1" smtClean="0">
                                        <a:latin typeface="Cambria Math" panose="02040503050406030204" pitchFamily="18" charset="0"/>
                                      </a:rPr>
                                    </m:ctrlPr>
                                  </m:sSupPr>
                                  <m:e>
                                    <m:r>
                                      <a:rPr lang="en-AU" sz="1600" b="0" i="1" smtClean="0">
                                        <a:latin typeface="Cambria Math" panose="02040503050406030204" pitchFamily="18" charset="0"/>
                                      </a:rPr>
                                      <m:t>)</m:t>
                                    </m:r>
                                  </m:e>
                                  <m:sup>
                                    <m:r>
                                      <a:rPr lang="en-AU" sz="1600" b="0" i="1" smtClean="0">
                                        <a:latin typeface="Cambria Math" panose="02040503050406030204" pitchFamily="18" charset="0"/>
                                      </a:rPr>
                                      <m:t>−15/12</m:t>
                                    </m:r>
                                  </m:sup>
                                </m:sSup>
                              </m:oMath>
                            </m:oMathPara>
                          </a14:m>
                          <a:endParaRPr lang="en-US" sz="1600" dirty="0"/>
                        </a:p>
                      </a:txBody>
                      <a:tcPr/>
                    </a:tc>
                    <a:extLst>
                      <a:ext uri="{0D108BD9-81ED-4DB2-BD59-A6C34878D82A}">
                        <a16:rowId xmlns:a16="http://schemas.microsoft.com/office/drawing/2014/main" val="293071978"/>
                      </a:ext>
                    </a:extLst>
                  </a:tr>
                  <a:tr h="632274">
                    <a:tc>
                      <a:txBody>
                        <a:bodyPr/>
                        <a:lstStyle/>
                        <a:p>
                          <a:r>
                            <a:rPr lang="en-US" sz="1600" dirty="0"/>
                            <a:t>Total</a:t>
                          </a:r>
                        </a:p>
                      </a:txBody>
                      <a:tcPr/>
                    </a:tc>
                    <a:tc>
                      <a:txBody>
                        <a:bodyPr/>
                        <a:lstStyle/>
                        <a:p>
                          <a:endParaRPr lang="en-US" sz="1600" dirty="0"/>
                        </a:p>
                      </a:txBody>
                      <a:tcPr/>
                    </a:tc>
                    <a:tc>
                      <a:txBody>
                        <a:bodyPr/>
                        <a:lstStyle/>
                        <a:p>
                          <a:endParaRPr lang="en-US" sz="1600" dirty="0"/>
                        </a:p>
                      </a:txBody>
                      <a:tcPr/>
                    </a:tc>
                    <a:tc>
                      <a:txBody>
                        <a:bodyPr/>
                        <a:lstStyle/>
                        <a:p>
                          <a:endParaRPr lang="en-US" sz="16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6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600" i="1" smtClean="0">
                                    <a:latin typeface="Cambria Math" panose="02040503050406030204" pitchFamily="18" charset="0"/>
                                  </a:rPr>
                                  <m:t>£</m:t>
                                </m:r>
                                <m:r>
                                  <a:rPr lang="en-AU" sz="1600" b="0" i="1" smtClean="0">
                                    <a:latin typeface="Cambria Math" panose="02040503050406030204" pitchFamily="18" charset="0"/>
                                  </a:rPr>
                                  <m:t>22.182</m:t>
                                </m:r>
                                <m:r>
                                  <a:rPr lang="en-AU" sz="1600" b="0" i="1" smtClean="0">
                                    <a:latin typeface="Cambria Math" panose="02040503050406030204" pitchFamily="18" charset="0"/>
                                  </a:rPr>
                                  <m:t>𝑚</m:t>
                                </m:r>
                              </m:oMath>
                            </m:oMathPara>
                          </a14:m>
                          <a:endParaRPr lang="en-US" sz="16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𝐴</m:t>
                                </m:r>
                                <m:r>
                                  <a:rPr lang="en-AU" sz="1600" b="0" i="1" smtClean="0">
                                    <a:latin typeface="Cambria Math" panose="02040503050406030204" pitchFamily="18" charset="0"/>
                                  </a:rPr>
                                  <m:t>$32.061</m:t>
                                </m:r>
                                <m:r>
                                  <a:rPr lang="en-AU" sz="1600" b="0" i="1" smtClean="0">
                                    <a:latin typeface="Cambria Math" panose="02040503050406030204" pitchFamily="18" charset="0"/>
                                  </a:rPr>
                                  <m:t>𝑚</m:t>
                                </m:r>
                              </m:oMath>
                            </m:oMathPara>
                          </a14:m>
                          <a:endParaRPr lang="en-US" sz="160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600" dirty="0"/>
                        </a:p>
                      </a:txBody>
                      <a:tcPr/>
                    </a:tc>
                    <a:extLst>
                      <a:ext uri="{0D108BD9-81ED-4DB2-BD59-A6C34878D82A}">
                        <a16:rowId xmlns:a16="http://schemas.microsoft.com/office/drawing/2014/main" val="770922924"/>
                      </a:ext>
                    </a:extLst>
                  </a:tr>
                </a:tbl>
              </a:graphicData>
            </a:graphic>
          </p:graphicFrame>
        </mc:Choice>
        <mc:Fallback xmlns="">
          <p:graphicFrame>
            <p:nvGraphicFramePr>
              <p:cNvPr id="4" name="Content Placeholder 3">
                <a:extLst>
                  <a:ext uri="{FF2B5EF4-FFF2-40B4-BE49-F238E27FC236}">
                    <a16:creationId xmlns:a16="http://schemas.microsoft.com/office/drawing/2014/main" id="{67D3C004-D70C-7A51-55DA-899E725F09A7}"/>
                  </a:ext>
                </a:extLst>
              </p:cNvPr>
              <p:cNvGraphicFramePr>
                <a:graphicFrameLocks noGrp="1"/>
              </p:cNvGraphicFramePr>
              <p:nvPr>
                <p:ph idx="1"/>
                <p:extLst>
                  <p:ext uri="{D42A27DB-BD31-4B8C-83A1-F6EECF244321}">
                    <p14:modId xmlns:p14="http://schemas.microsoft.com/office/powerpoint/2010/main" val="205396008"/>
                  </p:ext>
                </p:extLst>
              </p:nvPr>
            </p:nvGraphicFramePr>
            <p:xfrm>
              <a:off x="528570" y="1860349"/>
              <a:ext cx="11134857" cy="3005464"/>
            </p:xfrm>
            <a:graphic>
              <a:graphicData uri="http://schemas.openxmlformats.org/drawingml/2006/table">
                <a:tbl>
                  <a:tblPr firstRow="1" bandRow="1">
                    <a:tableStyleId>{5C22544A-7EE6-4342-B048-85BDC9FD1C3A}</a:tableStyleId>
                  </a:tblPr>
                  <a:tblGrid>
                    <a:gridCol w="941415">
                      <a:extLst>
                        <a:ext uri="{9D8B030D-6E8A-4147-A177-3AD203B41FA5}">
                          <a16:colId xmlns:a16="http://schemas.microsoft.com/office/drawing/2014/main" val="3866973023"/>
                        </a:ext>
                      </a:extLst>
                    </a:gridCol>
                    <a:gridCol w="1698907">
                      <a:extLst>
                        <a:ext uri="{9D8B030D-6E8A-4147-A177-3AD203B41FA5}">
                          <a16:colId xmlns:a16="http://schemas.microsoft.com/office/drawing/2014/main" val="4224960964"/>
                        </a:ext>
                      </a:extLst>
                    </a:gridCol>
                    <a:gridCol w="1698907">
                      <a:extLst>
                        <a:ext uri="{9D8B030D-6E8A-4147-A177-3AD203B41FA5}">
                          <a16:colId xmlns:a16="http://schemas.microsoft.com/office/drawing/2014/main" val="1696470038"/>
                        </a:ext>
                      </a:extLst>
                    </a:gridCol>
                    <a:gridCol w="1698907">
                      <a:extLst>
                        <a:ext uri="{9D8B030D-6E8A-4147-A177-3AD203B41FA5}">
                          <a16:colId xmlns:a16="http://schemas.microsoft.com/office/drawing/2014/main" val="906141829"/>
                        </a:ext>
                      </a:extLst>
                    </a:gridCol>
                    <a:gridCol w="1698907">
                      <a:extLst>
                        <a:ext uri="{9D8B030D-6E8A-4147-A177-3AD203B41FA5}">
                          <a16:colId xmlns:a16="http://schemas.microsoft.com/office/drawing/2014/main" val="2339168854"/>
                        </a:ext>
                      </a:extLst>
                    </a:gridCol>
                    <a:gridCol w="1698907">
                      <a:extLst>
                        <a:ext uri="{9D8B030D-6E8A-4147-A177-3AD203B41FA5}">
                          <a16:colId xmlns:a16="http://schemas.microsoft.com/office/drawing/2014/main" val="3481424411"/>
                        </a:ext>
                      </a:extLst>
                    </a:gridCol>
                    <a:gridCol w="1698907">
                      <a:extLst>
                        <a:ext uri="{9D8B030D-6E8A-4147-A177-3AD203B41FA5}">
                          <a16:colId xmlns:a16="http://schemas.microsoft.com/office/drawing/2014/main" val="905996002"/>
                        </a:ext>
                      </a:extLst>
                    </a:gridCol>
                  </a:tblGrid>
                  <a:tr h="914400">
                    <a:tc>
                      <a:txBody>
                        <a:bodyPr/>
                        <a:lstStyle/>
                        <a:p>
                          <a:r>
                            <a:rPr lang="en-US" dirty="0"/>
                            <a:t>Time</a:t>
                          </a:r>
                        </a:p>
                      </a:txBody>
                      <a:tcPr/>
                    </a:tc>
                    <a:tc>
                      <a:txBody>
                        <a:bodyPr/>
                        <a:lstStyle/>
                        <a:p>
                          <a:endParaRPr lang="en-US"/>
                        </a:p>
                      </a:txBody>
                      <a:tcPr>
                        <a:blipFill>
                          <a:blip r:embed="rId2"/>
                          <a:stretch>
                            <a:fillRect l="-55970" t="-2778" r="-501493" b="-231944"/>
                          </a:stretch>
                        </a:blipFill>
                      </a:tcPr>
                    </a:tc>
                    <a:tc>
                      <a:txBody>
                        <a:bodyPr/>
                        <a:lstStyle/>
                        <a:p>
                          <a:endParaRPr lang="en-US"/>
                        </a:p>
                      </a:txBody>
                      <a:tcPr>
                        <a:blipFill>
                          <a:blip r:embed="rId2"/>
                          <a:stretch>
                            <a:fillRect l="-155970" t="-2778" r="-401493" b="-231944"/>
                          </a:stretch>
                        </a:blipFill>
                      </a:tcPr>
                    </a:tc>
                    <a:tc>
                      <a:txBody>
                        <a:bodyPr/>
                        <a:lstStyle/>
                        <a:p>
                          <a:r>
                            <a:rPr lang="en-US" dirty="0"/>
                            <a:t>GBP Discount factor</a:t>
                          </a:r>
                        </a:p>
                        <a:p>
                          <a:r>
                            <a:rPr lang="en-US" dirty="0"/>
                            <a:t>(3)</a:t>
                          </a:r>
                        </a:p>
                      </a:txBody>
                      <a:tcPr/>
                    </a:tc>
                    <a:tc>
                      <a:txBody>
                        <a:bodyPr/>
                        <a:lstStyle/>
                        <a:p>
                          <a:r>
                            <a:rPr lang="en-US" dirty="0"/>
                            <a:t>AUD Discount factor</a:t>
                          </a:r>
                        </a:p>
                        <a:p>
                          <a:r>
                            <a:rPr lang="en-US" dirty="0"/>
                            <a:t>(4)</a:t>
                          </a:r>
                        </a:p>
                      </a:txBody>
                      <a:tcPr/>
                    </a:tc>
                    <a:tc>
                      <a:txBody>
                        <a:bodyPr/>
                        <a:lstStyle/>
                        <a:p>
                          <a:endParaRPr lang="en-US"/>
                        </a:p>
                      </a:txBody>
                      <a:tcPr>
                        <a:blipFill>
                          <a:blip r:embed="rId2"/>
                          <a:stretch>
                            <a:fillRect l="-455970" t="-2778" r="-101493" b="-231944"/>
                          </a:stretch>
                        </a:blipFill>
                      </a:tcPr>
                    </a:tc>
                    <a:tc>
                      <a:txBody>
                        <a:bodyPr/>
                        <a:lstStyle/>
                        <a:p>
                          <a:endParaRPr lang="en-US"/>
                        </a:p>
                      </a:txBody>
                      <a:tcPr>
                        <a:blipFill>
                          <a:blip r:embed="rId2"/>
                          <a:stretch>
                            <a:fillRect l="-555970" t="-2778" r="-1493" b="-231944"/>
                          </a:stretch>
                        </a:blipFill>
                      </a:tcPr>
                    </a:tc>
                    <a:extLst>
                      <a:ext uri="{0D108BD9-81ED-4DB2-BD59-A6C34878D82A}">
                        <a16:rowId xmlns:a16="http://schemas.microsoft.com/office/drawing/2014/main" val="739956772"/>
                      </a:ext>
                    </a:extLst>
                  </a:tr>
                  <a:tr h="632274">
                    <a:tc>
                      <a:txBody>
                        <a:bodyPr/>
                        <a:lstStyle/>
                        <a:p>
                          <a:r>
                            <a:rPr lang="en-US" sz="1600" dirty="0"/>
                            <a:t>3/12</a:t>
                          </a:r>
                        </a:p>
                      </a:txBody>
                      <a:tcPr/>
                    </a:tc>
                    <a:tc>
                      <a:txBody>
                        <a:bodyPr/>
                        <a:lstStyle/>
                        <a:p>
                          <a:endParaRPr lang="en-US"/>
                        </a:p>
                      </a:txBody>
                      <a:tcPr>
                        <a:blipFill>
                          <a:blip r:embed="rId2"/>
                          <a:stretch>
                            <a:fillRect l="-55970" t="-148000" r="-501493" b="-234000"/>
                          </a:stretch>
                        </a:blipFill>
                      </a:tcPr>
                    </a:tc>
                    <a:tc>
                      <a:txBody>
                        <a:bodyPr/>
                        <a:lstStyle/>
                        <a:p>
                          <a:endParaRPr lang="en-US"/>
                        </a:p>
                      </a:txBody>
                      <a:tcPr>
                        <a:blipFill>
                          <a:blip r:embed="rId2"/>
                          <a:stretch>
                            <a:fillRect l="-155970" t="-148000" r="-401493" b="-234000"/>
                          </a:stretch>
                        </a:blipFill>
                      </a:tcPr>
                    </a:tc>
                    <a:tc>
                      <a:txBody>
                        <a:bodyPr/>
                        <a:lstStyle/>
                        <a:p>
                          <a:endParaRPr lang="en-US"/>
                        </a:p>
                      </a:txBody>
                      <a:tcPr>
                        <a:blipFill>
                          <a:blip r:embed="rId2"/>
                          <a:stretch>
                            <a:fillRect l="-255970" t="-148000" r="-301493" b="-234000"/>
                          </a:stretch>
                        </a:blipFill>
                      </a:tcPr>
                    </a:tc>
                    <a:tc>
                      <a:txBody>
                        <a:bodyPr/>
                        <a:lstStyle/>
                        <a:p>
                          <a:endParaRPr lang="en-US"/>
                        </a:p>
                      </a:txBody>
                      <a:tcPr>
                        <a:blipFill>
                          <a:blip r:embed="rId2"/>
                          <a:stretch>
                            <a:fillRect l="-355970" t="-148000" r="-201493" b="-234000"/>
                          </a:stretch>
                        </a:blipFill>
                      </a:tcPr>
                    </a:tc>
                    <a:tc>
                      <a:txBody>
                        <a:bodyPr/>
                        <a:lstStyle/>
                        <a:p>
                          <a:endParaRPr lang="en-US"/>
                        </a:p>
                      </a:txBody>
                      <a:tcPr>
                        <a:blipFill>
                          <a:blip r:embed="rId2"/>
                          <a:stretch>
                            <a:fillRect l="-455970" t="-148000" r="-101493" b="-234000"/>
                          </a:stretch>
                        </a:blipFill>
                      </a:tcPr>
                    </a:tc>
                    <a:tc>
                      <a:txBody>
                        <a:bodyPr/>
                        <a:lstStyle/>
                        <a:p>
                          <a:endParaRPr lang="en-US"/>
                        </a:p>
                      </a:txBody>
                      <a:tcPr>
                        <a:blipFill>
                          <a:blip r:embed="rId2"/>
                          <a:stretch>
                            <a:fillRect l="-555970" t="-148000" r="-1493" b="-234000"/>
                          </a:stretch>
                        </a:blipFill>
                      </a:tcPr>
                    </a:tc>
                    <a:extLst>
                      <a:ext uri="{0D108BD9-81ED-4DB2-BD59-A6C34878D82A}">
                        <a16:rowId xmlns:a16="http://schemas.microsoft.com/office/drawing/2014/main" val="2246916794"/>
                      </a:ext>
                    </a:extLst>
                  </a:tr>
                  <a:tr h="826516">
                    <a:tc>
                      <a:txBody>
                        <a:bodyPr/>
                        <a:lstStyle/>
                        <a:p>
                          <a:r>
                            <a:rPr lang="en-US" sz="1600" dirty="0"/>
                            <a:t>15/12</a:t>
                          </a:r>
                        </a:p>
                      </a:txBody>
                      <a:tcPr/>
                    </a:tc>
                    <a:tc>
                      <a:txBody>
                        <a:bodyPr/>
                        <a:lstStyle/>
                        <a:p>
                          <a:endParaRPr lang="en-US"/>
                        </a:p>
                      </a:txBody>
                      <a:tcPr>
                        <a:blipFill>
                          <a:blip r:embed="rId2"/>
                          <a:stretch>
                            <a:fillRect l="-55970" t="-187879" r="-501493" b="-77273"/>
                          </a:stretch>
                        </a:blipFill>
                      </a:tcPr>
                    </a:tc>
                    <a:tc>
                      <a:txBody>
                        <a:bodyPr/>
                        <a:lstStyle/>
                        <a:p>
                          <a:endParaRPr lang="en-US"/>
                        </a:p>
                      </a:txBody>
                      <a:tcPr>
                        <a:blipFill>
                          <a:blip r:embed="rId2"/>
                          <a:stretch>
                            <a:fillRect l="-155970" t="-187879" r="-401493" b="-77273"/>
                          </a:stretch>
                        </a:blipFill>
                      </a:tcPr>
                    </a:tc>
                    <a:tc>
                      <a:txBody>
                        <a:bodyPr/>
                        <a:lstStyle/>
                        <a:p>
                          <a:endParaRPr lang="en-US"/>
                        </a:p>
                      </a:txBody>
                      <a:tcPr>
                        <a:blipFill>
                          <a:blip r:embed="rId2"/>
                          <a:stretch>
                            <a:fillRect l="-255970" t="-187879" r="-301493" b="-77273"/>
                          </a:stretch>
                        </a:blipFill>
                      </a:tcPr>
                    </a:tc>
                    <a:tc>
                      <a:txBody>
                        <a:bodyPr/>
                        <a:lstStyle/>
                        <a:p>
                          <a:endParaRPr lang="en-US"/>
                        </a:p>
                      </a:txBody>
                      <a:tcPr>
                        <a:blipFill>
                          <a:blip r:embed="rId2"/>
                          <a:stretch>
                            <a:fillRect l="-355970" t="-187879" r="-201493" b="-77273"/>
                          </a:stretch>
                        </a:blipFill>
                      </a:tcPr>
                    </a:tc>
                    <a:tc>
                      <a:txBody>
                        <a:bodyPr/>
                        <a:lstStyle/>
                        <a:p>
                          <a:endParaRPr lang="en-US"/>
                        </a:p>
                      </a:txBody>
                      <a:tcPr>
                        <a:blipFill>
                          <a:blip r:embed="rId2"/>
                          <a:stretch>
                            <a:fillRect l="-455970" t="-187879" r="-101493" b="-77273"/>
                          </a:stretch>
                        </a:blipFill>
                      </a:tcPr>
                    </a:tc>
                    <a:tc>
                      <a:txBody>
                        <a:bodyPr/>
                        <a:lstStyle/>
                        <a:p>
                          <a:endParaRPr lang="en-US"/>
                        </a:p>
                      </a:txBody>
                      <a:tcPr>
                        <a:blipFill>
                          <a:blip r:embed="rId2"/>
                          <a:stretch>
                            <a:fillRect l="-555970" t="-187879" r="-1493" b="-77273"/>
                          </a:stretch>
                        </a:blipFill>
                      </a:tcPr>
                    </a:tc>
                    <a:extLst>
                      <a:ext uri="{0D108BD9-81ED-4DB2-BD59-A6C34878D82A}">
                        <a16:rowId xmlns:a16="http://schemas.microsoft.com/office/drawing/2014/main" val="293071978"/>
                      </a:ext>
                    </a:extLst>
                  </a:tr>
                  <a:tr h="632274">
                    <a:tc>
                      <a:txBody>
                        <a:bodyPr/>
                        <a:lstStyle/>
                        <a:p>
                          <a:r>
                            <a:rPr lang="en-US" sz="1600" dirty="0"/>
                            <a:t>Total</a:t>
                          </a:r>
                        </a:p>
                      </a:txBody>
                      <a:tcPr/>
                    </a:tc>
                    <a:tc>
                      <a:txBody>
                        <a:bodyPr/>
                        <a:lstStyle/>
                        <a:p>
                          <a:endParaRPr lang="en-US" sz="1600" dirty="0"/>
                        </a:p>
                      </a:txBody>
                      <a:tcPr/>
                    </a:tc>
                    <a:tc>
                      <a:txBody>
                        <a:bodyPr/>
                        <a:lstStyle/>
                        <a:p>
                          <a:endParaRPr lang="en-US" sz="1600" dirty="0"/>
                        </a:p>
                      </a:txBody>
                      <a:tcPr/>
                    </a:tc>
                    <a:tc>
                      <a:txBody>
                        <a:bodyPr/>
                        <a:lstStyle/>
                        <a:p>
                          <a:pPr/>
                          <a:endParaRPr lang="en-US" sz="16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600" dirty="0"/>
                        </a:p>
                      </a:txBody>
                      <a:tcPr/>
                    </a:tc>
                    <a:tc>
                      <a:txBody>
                        <a:bodyPr/>
                        <a:lstStyle/>
                        <a:p>
                          <a:endParaRPr lang="en-US"/>
                        </a:p>
                      </a:txBody>
                      <a:tcPr>
                        <a:blipFill>
                          <a:blip r:embed="rId2"/>
                          <a:stretch>
                            <a:fillRect l="-455970" t="-380000" r="-101493" b="-2000"/>
                          </a:stretch>
                        </a:blipFill>
                      </a:tcPr>
                    </a:tc>
                    <a:tc>
                      <a:txBody>
                        <a:bodyPr/>
                        <a:lstStyle/>
                        <a:p>
                          <a:endParaRPr lang="en-US"/>
                        </a:p>
                      </a:txBody>
                      <a:tcPr>
                        <a:blipFill>
                          <a:blip r:embed="rId2"/>
                          <a:stretch>
                            <a:fillRect l="-555970" t="-380000" r="-1493" b="-2000"/>
                          </a:stretch>
                        </a:blipFill>
                      </a:tcPr>
                    </a:tc>
                    <a:extLst>
                      <a:ext uri="{0D108BD9-81ED-4DB2-BD59-A6C34878D82A}">
                        <a16:rowId xmlns:a16="http://schemas.microsoft.com/office/drawing/2014/main" val="770922924"/>
                      </a:ext>
                    </a:extLst>
                  </a:tr>
                </a:tbl>
              </a:graphicData>
            </a:graphic>
          </p:graphicFrame>
        </mc:Fallback>
      </mc:AlternateContent>
      <p:sp>
        <p:nvSpPr>
          <p:cNvPr id="5" name="Oval 4">
            <a:extLst>
              <a:ext uri="{FF2B5EF4-FFF2-40B4-BE49-F238E27FC236}">
                <a16:creationId xmlns:a16="http://schemas.microsoft.com/office/drawing/2014/main" id="{7689D27F-4441-9F5B-67A1-0831566E0E65}"/>
              </a:ext>
            </a:extLst>
          </p:cNvPr>
          <p:cNvSpPr/>
          <p:nvPr/>
        </p:nvSpPr>
        <p:spPr>
          <a:xfrm>
            <a:off x="4815068" y="1690687"/>
            <a:ext cx="3495555" cy="1098811"/>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5A3B1B2E-9E53-00F3-B03A-56F1D152CE81}"/>
              </a:ext>
            </a:extLst>
          </p:cNvPr>
          <p:cNvSpPr txBox="1"/>
          <p:nvPr/>
        </p:nvSpPr>
        <p:spPr>
          <a:xfrm>
            <a:off x="4404593" y="1110410"/>
            <a:ext cx="4316503" cy="400110"/>
          </a:xfrm>
          <a:prstGeom prst="rect">
            <a:avLst/>
          </a:prstGeom>
          <a:noFill/>
        </p:spPr>
        <p:txBody>
          <a:bodyPr wrap="none" rtlCol="0">
            <a:spAutoFit/>
          </a:bodyPr>
          <a:lstStyle/>
          <a:p>
            <a:r>
              <a:rPr lang="en-US" sz="2000" b="1" dirty="0">
                <a:solidFill>
                  <a:srgbClr val="FF0000"/>
                </a:solidFill>
              </a:rPr>
              <a:t>Discount each currency separately!</a:t>
            </a: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65842452-551C-32CB-6126-EDB6F3C056FB}"/>
                  </a:ext>
                </a:extLst>
              </p:cNvPr>
              <p:cNvSpPr txBox="1"/>
              <p:nvPr/>
            </p:nvSpPr>
            <p:spPr>
              <a:xfrm>
                <a:off x="3048963" y="5035474"/>
                <a:ext cx="6094070"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1800" i="1" smtClean="0">
                          <a:latin typeface="Cambria Math" panose="02040503050406030204" pitchFamily="18" charset="0"/>
                        </a:rPr>
                        <m:t>£</m:t>
                      </m:r>
                      <m:r>
                        <a:rPr lang="en-AU" sz="1800" b="0" i="1" smtClean="0">
                          <a:latin typeface="Cambria Math" panose="02040503050406030204" pitchFamily="18" charset="0"/>
                        </a:rPr>
                        <m:t>1=</m:t>
                      </m:r>
                      <m:r>
                        <a:rPr lang="en-AU" sz="1800" b="0" i="1" smtClean="0">
                          <a:latin typeface="Cambria Math" panose="02040503050406030204" pitchFamily="18" charset="0"/>
                        </a:rPr>
                        <m:t>𝐴</m:t>
                      </m:r>
                      <m:r>
                        <a:rPr lang="en-AU" sz="1800" b="0" i="1" smtClean="0">
                          <a:latin typeface="Cambria Math" panose="02040503050406030204" pitchFamily="18" charset="0"/>
                        </a:rPr>
                        <m:t>$1.85</m:t>
                      </m:r>
                    </m:oMath>
                  </m:oMathPara>
                </a14:m>
                <a:endParaRPr lang="en-US" dirty="0"/>
              </a:p>
            </p:txBody>
          </p:sp>
        </mc:Choice>
        <mc:Fallback xmlns="">
          <p:sp>
            <p:nvSpPr>
              <p:cNvPr id="8" name="TextBox 7">
                <a:extLst>
                  <a:ext uri="{FF2B5EF4-FFF2-40B4-BE49-F238E27FC236}">
                    <a16:creationId xmlns:a16="http://schemas.microsoft.com/office/drawing/2014/main" id="{65842452-551C-32CB-6126-EDB6F3C056FB}"/>
                  </a:ext>
                </a:extLst>
              </p:cNvPr>
              <p:cNvSpPr txBox="1">
                <a:spLocks noRot="1" noChangeAspect="1" noMove="1" noResize="1" noEditPoints="1" noAdjustHandles="1" noChangeArrowheads="1" noChangeShapeType="1" noTextEdit="1"/>
              </p:cNvSpPr>
              <p:nvPr/>
            </p:nvSpPr>
            <p:spPr>
              <a:xfrm>
                <a:off x="3048963" y="5035474"/>
                <a:ext cx="6094070" cy="369332"/>
              </a:xfrm>
              <a:prstGeom prst="rect">
                <a:avLst/>
              </a:prstGeom>
              <a:blipFill>
                <a:blip r:embed="rId3"/>
                <a:stretch>
                  <a:fillRect/>
                </a:stretch>
              </a:blipFill>
            </p:spPr>
            <p:txBody>
              <a:bodyPr/>
              <a:lstStyle/>
              <a:p>
                <a:r>
                  <a:rPr lang="en-US">
                    <a:noFill/>
                  </a:rPr>
                  <a:t> </a:t>
                </a:r>
              </a:p>
            </p:txBody>
          </p:sp>
        </mc:Fallback>
      </mc:AlternateContent>
      <p:cxnSp>
        <p:nvCxnSpPr>
          <p:cNvPr id="10" name="Straight Arrow Connector 9">
            <a:extLst>
              <a:ext uri="{FF2B5EF4-FFF2-40B4-BE49-F238E27FC236}">
                <a16:creationId xmlns:a16="http://schemas.microsoft.com/office/drawing/2014/main" id="{B93382E5-957D-A210-25C9-DDAA4B6F573F}"/>
              </a:ext>
            </a:extLst>
          </p:cNvPr>
          <p:cNvCxnSpPr>
            <a:cxnSpLocks/>
          </p:cNvCxnSpPr>
          <p:nvPr/>
        </p:nvCxnSpPr>
        <p:spPr>
          <a:xfrm>
            <a:off x="6860436" y="5310279"/>
            <a:ext cx="593660" cy="14386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1" name="TextBox 10">
            <a:extLst>
              <a:ext uri="{FF2B5EF4-FFF2-40B4-BE49-F238E27FC236}">
                <a16:creationId xmlns:a16="http://schemas.microsoft.com/office/drawing/2014/main" id="{6664693E-8BEE-D89C-E459-12F427D49FE4}"/>
              </a:ext>
            </a:extLst>
          </p:cNvPr>
          <p:cNvSpPr txBox="1"/>
          <p:nvPr/>
        </p:nvSpPr>
        <p:spPr>
          <a:xfrm>
            <a:off x="7157266" y="5494945"/>
            <a:ext cx="2633285" cy="369332"/>
          </a:xfrm>
          <a:prstGeom prst="rect">
            <a:avLst/>
          </a:prstGeom>
          <a:noFill/>
        </p:spPr>
        <p:txBody>
          <a:bodyPr wrap="none" rtlCol="0">
            <a:spAutoFit/>
          </a:bodyPr>
          <a:lstStyle/>
          <a:p>
            <a:r>
              <a:rPr lang="en-US" dirty="0"/>
              <a:t>AUD: Domestic currency</a:t>
            </a:r>
          </a:p>
        </p:txBody>
      </p:sp>
      <p:sp>
        <p:nvSpPr>
          <p:cNvPr id="12" name="TextBox 11">
            <a:extLst>
              <a:ext uri="{FF2B5EF4-FFF2-40B4-BE49-F238E27FC236}">
                <a16:creationId xmlns:a16="http://schemas.microsoft.com/office/drawing/2014/main" id="{740C2290-1CB7-17E1-754A-84282318F431}"/>
              </a:ext>
            </a:extLst>
          </p:cNvPr>
          <p:cNvSpPr txBox="1"/>
          <p:nvPr/>
        </p:nvSpPr>
        <p:spPr>
          <a:xfrm>
            <a:off x="3372387" y="5495486"/>
            <a:ext cx="2388603" cy="369332"/>
          </a:xfrm>
          <a:prstGeom prst="rect">
            <a:avLst/>
          </a:prstGeom>
          <a:noFill/>
        </p:spPr>
        <p:txBody>
          <a:bodyPr wrap="none" rtlCol="0">
            <a:spAutoFit/>
          </a:bodyPr>
          <a:lstStyle/>
          <a:p>
            <a:r>
              <a:rPr lang="en-US" dirty="0"/>
              <a:t>GBP: Foreign currency</a:t>
            </a:r>
          </a:p>
        </p:txBody>
      </p:sp>
      <p:cxnSp>
        <p:nvCxnSpPr>
          <p:cNvPr id="13" name="Straight Arrow Connector 12">
            <a:extLst>
              <a:ext uri="{FF2B5EF4-FFF2-40B4-BE49-F238E27FC236}">
                <a16:creationId xmlns:a16="http://schemas.microsoft.com/office/drawing/2014/main" id="{232C20EF-C9CE-F3F4-A29B-F754C00DFA7E}"/>
              </a:ext>
            </a:extLst>
          </p:cNvPr>
          <p:cNvCxnSpPr>
            <a:cxnSpLocks/>
          </p:cNvCxnSpPr>
          <p:nvPr/>
        </p:nvCxnSpPr>
        <p:spPr>
          <a:xfrm flipH="1">
            <a:off x="4885473" y="5288074"/>
            <a:ext cx="461877" cy="16606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D853F4BF-F687-7E5D-B6FF-38BD7196E758}"/>
                  </a:ext>
                </a:extLst>
              </p:cNvPr>
              <p:cNvSpPr txBox="1"/>
              <p:nvPr/>
            </p:nvSpPr>
            <p:spPr>
              <a:xfrm>
                <a:off x="325352" y="5953458"/>
                <a:ext cx="6094070" cy="6726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b="1" i="1" smtClean="0">
                              <a:latin typeface="Cambria Math" panose="02040503050406030204" pitchFamily="18" charset="0"/>
                            </a:rPr>
                          </m:ctrlPr>
                        </m:sSubPr>
                        <m:e>
                          <m:r>
                            <a:rPr lang="en-AU" b="1" i="1" smtClean="0">
                              <a:latin typeface="Cambria Math" panose="02040503050406030204" pitchFamily="18" charset="0"/>
                            </a:rPr>
                            <m:t>𝑮𝑩𝑷</m:t>
                          </m:r>
                          <m:r>
                            <a:rPr lang="en-AU" b="1" i="1" smtClean="0">
                              <a:latin typeface="Cambria Math" panose="02040503050406030204" pitchFamily="18" charset="0"/>
                            </a:rPr>
                            <m:t> </m:t>
                          </m:r>
                          <m:r>
                            <a:rPr lang="en-AU" b="1" i="1" smtClean="0">
                              <a:latin typeface="Cambria Math" panose="02040503050406030204" pitchFamily="18" charset="0"/>
                            </a:rPr>
                            <m:t>𝒑𝒂𝒚𝒆𝒓</m:t>
                          </m:r>
                          <m:r>
                            <a:rPr lang="en-AU" b="1" i="1" smtClean="0">
                              <a:latin typeface="Cambria Math" panose="02040503050406030204" pitchFamily="18" charset="0"/>
                            </a:rPr>
                            <m:t>: </m:t>
                          </m:r>
                          <m:r>
                            <a:rPr lang="en-AU" b="1" i="1">
                              <a:latin typeface="Cambria Math" panose="02040503050406030204" pitchFamily="18" charset="0"/>
                            </a:rPr>
                            <m:t>𝑽</m:t>
                          </m:r>
                        </m:e>
                        <m:sub>
                          <m:r>
                            <a:rPr lang="en-AU" b="1" i="1">
                              <a:latin typeface="Cambria Math" panose="02040503050406030204" pitchFamily="18" charset="0"/>
                            </a:rPr>
                            <m:t>𝒔𝒘𝒂𝒑</m:t>
                          </m:r>
                        </m:sub>
                      </m:sSub>
                      <m:r>
                        <a:rPr lang="en-AU" b="1" i="1">
                          <a:latin typeface="Cambria Math" panose="02040503050406030204" pitchFamily="18" charset="0"/>
                        </a:rPr>
                        <m:t>=</m:t>
                      </m:r>
                      <m:sSub>
                        <m:sSubPr>
                          <m:ctrlPr>
                            <a:rPr lang="en-AU" b="1" i="1">
                              <a:latin typeface="Cambria Math" panose="02040503050406030204" pitchFamily="18" charset="0"/>
                            </a:rPr>
                          </m:ctrlPr>
                        </m:sSubPr>
                        <m:e>
                          <m:r>
                            <a:rPr lang="en-AU" b="1" i="1">
                              <a:latin typeface="Cambria Math" panose="02040503050406030204" pitchFamily="18" charset="0"/>
                            </a:rPr>
                            <m:t>𝑩</m:t>
                          </m:r>
                        </m:e>
                        <m:sub>
                          <m:r>
                            <a:rPr lang="en-AU" b="1" i="1">
                              <a:latin typeface="Cambria Math" panose="02040503050406030204" pitchFamily="18" charset="0"/>
                            </a:rPr>
                            <m:t>𝒅𝒐𝒎𝒆𝒔𝒕𝒊𝒄</m:t>
                          </m:r>
                        </m:sub>
                      </m:sSub>
                      <m:r>
                        <a:rPr lang="en-AU" b="1" i="1">
                          <a:latin typeface="Cambria Math" panose="02040503050406030204" pitchFamily="18" charset="0"/>
                        </a:rPr>
                        <m:t>−</m:t>
                      </m:r>
                      <m:sSub>
                        <m:sSubPr>
                          <m:ctrlPr>
                            <a:rPr lang="en-AU" b="1" i="1">
                              <a:latin typeface="Cambria Math" panose="02040503050406030204" pitchFamily="18" charset="0"/>
                            </a:rPr>
                          </m:ctrlPr>
                        </m:sSubPr>
                        <m:e>
                          <m:r>
                            <a:rPr lang="en-AU" b="1" i="1">
                              <a:latin typeface="Cambria Math" panose="02040503050406030204" pitchFamily="18" charset="0"/>
                            </a:rPr>
                            <m:t>𝑺</m:t>
                          </m:r>
                        </m:e>
                        <m:sub>
                          <m:r>
                            <a:rPr lang="en-AU" b="1" i="1">
                              <a:latin typeface="Cambria Math" panose="02040503050406030204" pitchFamily="18" charset="0"/>
                            </a:rPr>
                            <m:t>𝟎</m:t>
                          </m:r>
                        </m:sub>
                      </m:sSub>
                      <m:sSub>
                        <m:sSubPr>
                          <m:ctrlPr>
                            <a:rPr lang="en-AU" b="1" i="1">
                              <a:latin typeface="Cambria Math" panose="02040503050406030204" pitchFamily="18" charset="0"/>
                            </a:rPr>
                          </m:ctrlPr>
                        </m:sSubPr>
                        <m:e>
                          <m:r>
                            <a:rPr lang="en-AU" b="1" i="1">
                              <a:latin typeface="Cambria Math" panose="02040503050406030204" pitchFamily="18" charset="0"/>
                            </a:rPr>
                            <m:t>𝑩</m:t>
                          </m:r>
                        </m:e>
                        <m:sub>
                          <m:r>
                            <a:rPr lang="en-AU" b="1" i="1">
                              <a:latin typeface="Cambria Math" panose="02040503050406030204" pitchFamily="18" charset="0"/>
                            </a:rPr>
                            <m:t>𝒇𝒐𝒓𝒆𝒊𝒈𝒏</m:t>
                          </m:r>
                        </m:sub>
                      </m:sSub>
                      <m:r>
                        <a:rPr lang="en-AU" b="1" i="1" smtClean="0">
                          <a:latin typeface="Cambria Math" panose="02040503050406030204" pitchFamily="18" charset="0"/>
                        </a:rPr>
                        <m:t>=</m:t>
                      </m:r>
                      <m:r>
                        <a:rPr lang="en-AU" b="1" i="1" smtClean="0">
                          <a:latin typeface="Cambria Math" panose="02040503050406030204" pitchFamily="18" charset="0"/>
                        </a:rPr>
                        <m:t>𝟑𝟐</m:t>
                      </m:r>
                      <m:r>
                        <a:rPr lang="en-AU" b="1" i="1" smtClean="0">
                          <a:latin typeface="Cambria Math" panose="02040503050406030204" pitchFamily="18" charset="0"/>
                        </a:rPr>
                        <m:t>.</m:t>
                      </m:r>
                      <m:r>
                        <a:rPr lang="en-AU" b="1" i="1" smtClean="0">
                          <a:latin typeface="Cambria Math" panose="02040503050406030204" pitchFamily="18" charset="0"/>
                        </a:rPr>
                        <m:t>𝟎𝟔𝟏</m:t>
                      </m:r>
                      <m:r>
                        <a:rPr lang="en-AU" b="1" i="1" smtClean="0">
                          <a:latin typeface="Cambria Math" panose="02040503050406030204" pitchFamily="18" charset="0"/>
                        </a:rPr>
                        <m:t>−</m:t>
                      </m:r>
                      <m:r>
                        <a:rPr lang="en-AU" b="1" i="1" smtClean="0">
                          <a:latin typeface="Cambria Math" panose="02040503050406030204" pitchFamily="18" charset="0"/>
                        </a:rPr>
                        <m:t>𝟐𝟐</m:t>
                      </m:r>
                      <m:r>
                        <a:rPr lang="en-AU" b="1" i="1" smtClean="0">
                          <a:latin typeface="Cambria Math" panose="02040503050406030204" pitchFamily="18" charset="0"/>
                        </a:rPr>
                        <m:t>.</m:t>
                      </m:r>
                      <m:r>
                        <a:rPr lang="en-AU" b="1" i="1" smtClean="0">
                          <a:latin typeface="Cambria Math" panose="02040503050406030204" pitchFamily="18" charset="0"/>
                        </a:rPr>
                        <m:t>𝟏𝟖𝟐</m:t>
                      </m:r>
                      <m:r>
                        <a:rPr lang="en-AU" b="1" i="1" smtClean="0">
                          <a:latin typeface="Cambria Math" panose="02040503050406030204" pitchFamily="18" charset="0"/>
                          <a:ea typeface="Cambria Math" panose="02040503050406030204" pitchFamily="18" charset="0"/>
                        </a:rPr>
                        <m:t>×</m:t>
                      </m:r>
                      <m:r>
                        <a:rPr lang="en-AU" b="1" i="1" smtClean="0">
                          <a:latin typeface="Cambria Math" panose="02040503050406030204" pitchFamily="18" charset="0"/>
                          <a:ea typeface="Cambria Math" panose="02040503050406030204" pitchFamily="18" charset="0"/>
                        </a:rPr>
                        <m:t>𝟏</m:t>
                      </m:r>
                      <m:r>
                        <a:rPr lang="en-AU" b="1" i="1" smtClean="0">
                          <a:latin typeface="Cambria Math" panose="02040503050406030204" pitchFamily="18" charset="0"/>
                          <a:ea typeface="Cambria Math" panose="02040503050406030204" pitchFamily="18" charset="0"/>
                        </a:rPr>
                        <m:t>.</m:t>
                      </m:r>
                      <m:r>
                        <a:rPr lang="en-AU" b="1" i="1" smtClean="0">
                          <a:latin typeface="Cambria Math" panose="02040503050406030204" pitchFamily="18" charset="0"/>
                          <a:ea typeface="Cambria Math" panose="02040503050406030204" pitchFamily="18" charset="0"/>
                        </a:rPr>
                        <m:t>𝟖𝟓</m:t>
                      </m:r>
                      <m:r>
                        <a:rPr lang="en-AU" b="1" i="1" smtClean="0">
                          <a:latin typeface="Cambria Math" panose="02040503050406030204" pitchFamily="18" charset="0"/>
                          <a:ea typeface="Cambria Math" panose="02040503050406030204" pitchFamily="18" charset="0"/>
                        </a:rPr>
                        <m:t>=−$</m:t>
                      </m:r>
                      <m:r>
                        <a:rPr lang="en-AU" b="1" i="1" smtClean="0">
                          <a:latin typeface="Cambria Math" panose="02040503050406030204" pitchFamily="18" charset="0"/>
                          <a:ea typeface="Cambria Math" panose="02040503050406030204" pitchFamily="18" charset="0"/>
                        </a:rPr>
                        <m:t>𝟖</m:t>
                      </m:r>
                      <m:r>
                        <a:rPr lang="en-AU" b="1" i="1" smtClean="0">
                          <a:latin typeface="Cambria Math" panose="02040503050406030204" pitchFamily="18" charset="0"/>
                          <a:ea typeface="Cambria Math" panose="02040503050406030204" pitchFamily="18" charset="0"/>
                        </a:rPr>
                        <m:t>.</m:t>
                      </m:r>
                      <m:r>
                        <a:rPr lang="en-AU" b="1" i="1" smtClean="0">
                          <a:latin typeface="Cambria Math" panose="02040503050406030204" pitchFamily="18" charset="0"/>
                          <a:ea typeface="Cambria Math" panose="02040503050406030204" pitchFamily="18" charset="0"/>
                        </a:rPr>
                        <m:t>𝟗𝟕𝟔</m:t>
                      </m:r>
                      <m:r>
                        <a:rPr lang="en-AU" b="1" i="1" smtClean="0">
                          <a:latin typeface="Cambria Math" panose="02040503050406030204" pitchFamily="18" charset="0"/>
                          <a:ea typeface="Cambria Math" panose="02040503050406030204" pitchFamily="18" charset="0"/>
                        </a:rPr>
                        <m:t>𝒎</m:t>
                      </m:r>
                    </m:oMath>
                  </m:oMathPara>
                </a14:m>
                <a:endParaRPr lang="en-US" dirty="0"/>
              </a:p>
            </p:txBody>
          </p:sp>
        </mc:Choice>
        <mc:Fallback xmlns="">
          <p:sp>
            <p:nvSpPr>
              <p:cNvPr id="19" name="TextBox 18">
                <a:extLst>
                  <a:ext uri="{FF2B5EF4-FFF2-40B4-BE49-F238E27FC236}">
                    <a16:creationId xmlns:a16="http://schemas.microsoft.com/office/drawing/2014/main" id="{D853F4BF-F687-7E5D-B6FF-38BD7196E758}"/>
                  </a:ext>
                </a:extLst>
              </p:cNvPr>
              <p:cNvSpPr txBox="1">
                <a:spLocks noRot="1" noChangeAspect="1" noMove="1" noResize="1" noEditPoints="1" noAdjustHandles="1" noChangeArrowheads="1" noChangeShapeType="1" noTextEdit="1"/>
              </p:cNvSpPr>
              <p:nvPr/>
            </p:nvSpPr>
            <p:spPr>
              <a:xfrm>
                <a:off x="325352" y="5953458"/>
                <a:ext cx="6094070" cy="672620"/>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6D07E972-6886-010E-0C62-253FBAAC4B36}"/>
                  </a:ext>
                </a:extLst>
              </p:cNvPr>
              <p:cNvSpPr txBox="1"/>
              <p:nvPr/>
            </p:nvSpPr>
            <p:spPr>
              <a:xfrm>
                <a:off x="5905981" y="5953458"/>
                <a:ext cx="6094070" cy="39562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b="1" i="1" smtClean="0">
                              <a:latin typeface="Cambria Math" panose="02040503050406030204" pitchFamily="18" charset="0"/>
                            </a:rPr>
                          </m:ctrlPr>
                        </m:sSubPr>
                        <m:e>
                          <m:r>
                            <a:rPr lang="en-AU" b="1" i="1" smtClean="0">
                              <a:latin typeface="Cambria Math" panose="02040503050406030204" pitchFamily="18" charset="0"/>
                            </a:rPr>
                            <m:t>𝑨𝑼𝑫</m:t>
                          </m:r>
                          <m:r>
                            <a:rPr lang="en-AU" b="1" i="1" smtClean="0">
                              <a:latin typeface="Cambria Math" panose="02040503050406030204" pitchFamily="18" charset="0"/>
                            </a:rPr>
                            <m:t> </m:t>
                          </m:r>
                          <m:r>
                            <a:rPr lang="en-AU" b="1" i="1" smtClean="0">
                              <a:latin typeface="Cambria Math" panose="02040503050406030204" pitchFamily="18" charset="0"/>
                            </a:rPr>
                            <m:t>𝒑𝒂𝒚𝒆𝒓</m:t>
                          </m:r>
                          <m:r>
                            <a:rPr lang="en-AU" b="1" i="1" smtClean="0">
                              <a:latin typeface="Cambria Math" panose="02040503050406030204" pitchFamily="18" charset="0"/>
                            </a:rPr>
                            <m:t>: </m:t>
                          </m:r>
                          <m:r>
                            <a:rPr lang="en-AU" b="1" i="1">
                              <a:latin typeface="Cambria Math" panose="02040503050406030204" pitchFamily="18" charset="0"/>
                            </a:rPr>
                            <m:t>𝑽</m:t>
                          </m:r>
                        </m:e>
                        <m:sub>
                          <m:r>
                            <a:rPr lang="en-AU" b="1" i="1">
                              <a:latin typeface="Cambria Math" panose="02040503050406030204" pitchFamily="18" charset="0"/>
                            </a:rPr>
                            <m:t>𝒔𝒘𝒂𝒑</m:t>
                          </m:r>
                        </m:sub>
                      </m:sSub>
                      <m:r>
                        <a:rPr lang="en-AU" b="1" i="1">
                          <a:latin typeface="Cambria Math" panose="02040503050406030204" pitchFamily="18" charset="0"/>
                        </a:rPr>
                        <m:t>=</m:t>
                      </m:r>
                      <m:sSub>
                        <m:sSubPr>
                          <m:ctrlPr>
                            <a:rPr lang="en-AU" b="1" i="1">
                              <a:latin typeface="Cambria Math" panose="02040503050406030204" pitchFamily="18" charset="0"/>
                            </a:rPr>
                          </m:ctrlPr>
                        </m:sSubPr>
                        <m:e>
                          <m:r>
                            <a:rPr lang="en-AU" b="1" i="1">
                              <a:latin typeface="Cambria Math" panose="02040503050406030204" pitchFamily="18" charset="0"/>
                            </a:rPr>
                            <m:t>𝑺</m:t>
                          </m:r>
                        </m:e>
                        <m:sub>
                          <m:r>
                            <a:rPr lang="en-AU" b="1" i="1">
                              <a:latin typeface="Cambria Math" panose="02040503050406030204" pitchFamily="18" charset="0"/>
                            </a:rPr>
                            <m:t>𝟎</m:t>
                          </m:r>
                        </m:sub>
                      </m:sSub>
                      <m:sSub>
                        <m:sSubPr>
                          <m:ctrlPr>
                            <a:rPr lang="en-AU" b="1" i="1">
                              <a:latin typeface="Cambria Math" panose="02040503050406030204" pitchFamily="18" charset="0"/>
                            </a:rPr>
                          </m:ctrlPr>
                        </m:sSubPr>
                        <m:e>
                          <m:r>
                            <a:rPr lang="en-AU" b="1" i="1">
                              <a:latin typeface="Cambria Math" panose="02040503050406030204" pitchFamily="18" charset="0"/>
                            </a:rPr>
                            <m:t>𝑩</m:t>
                          </m:r>
                        </m:e>
                        <m:sub>
                          <m:r>
                            <a:rPr lang="en-AU" b="1" i="1">
                              <a:latin typeface="Cambria Math" panose="02040503050406030204" pitchFamily="18" charset="0"/>
                            </a:rPr>
                            <m:t>𝒇𝒐𝒓𝒆𝒊𝒈𝒏</m:t>
                          </m:r>
                        </m:sub>
                      </m:sSub>
                      <m:r>
                        <a:rPr lang="en-AU" b="1" i="1" smtClean="0">
                          <a:latin typeface="Cambria Math" panose="02040503050406030204" pitchFamily="18" charset="0"/>
                        </a:rPr>
                        <m:t>−</m:t>
                      </m:r>
                      <m:sSub>
                        <m:sSubPr>
                          <m:ctrlPr>
                            <a:rPr lang="en-AU" b="1" i="1">
                              <a:latin typeface="Cambria Math" panose="02040503050406030204" pitchFamily="18" charset="0"/>
                            </a:rPr>
                          </m:ctrlPr>
                        </m:sSubPr>
                        <m:e>
                          <m:r>
                            <a:rPr lang="en-AU" b="1" i="1">
                              <a:latin typeface="Cambria Math" panose="02040503050406030204" pitchFamily="18" charset="0"/>
                            </a:rPr>
                            <m:t>𝑩</m:t>
                          </m:r>
                        </m:e>
                        <m:sub>
                          <m:r>
                            <a:rPr lang="en-AU" b="1" i="1">
                              <a:latin typeface="Cambria Math" panose="02040503050406030204" pitchFamily="18" charset="0"/>
                            </a:rPr>
                            <m:t>𝒅𝒐𝒎𝒆𝒔𝒕𝒊𝒄</m:t>
                          </m:r>
                        </m:sub>
                      </m:sSub>
                      <m:r>
                        <a:rPr lang="en-AU" b="1" i="1" smtClean="0">
                          <a:latin typeface="Cambria Math" panose="02040503050406030204" pitchFamily="18" charset="0"/>
                        </a:rPr>
                        <m:t>=</m:t>
                      </m:r>
                      <m:r>
                        <a:rPr lang="en-AU" b="1" i="1" smtClean="0">
                          <a:latin typeface="Cambria Math" panose="02040503050406030204" pitchFamily="18" charset="0"/>
                          <a:ea typeface="Cambria Math" panose="02040503050406030204" pitchFamily="18" charset="0"/>
                        </a:rPr>
                        <m:t>$</m:t>
                      </m:r>
                      <m:r>
                        <a:rPr lang="en-AU" b="1" i="1" smtClean="0">
                          <a:latin typeface="Cambria Math" panose="02040503050406030204" pitchFamily="18" charset="0"/>
                          <a:ea typeface="Cambria Math" panose="02040503050406030204" pitchFamily="18" charset="0"/>
                        </a:rPr>
                        <m:t>𝟖</m:t>
                      </m:r>
                      <m:r>
                        <a:rPr lang="en-AU" b="1" i="1" smtClean="0">
                          <a:latin typeface="Cambria Math" panose="02040503050406030204" pitchFamily="18" charset="0"/>
                          <a:ea typeface="Cambria Math" panose="02040503050406030204" pitchFamily="18" charset="0"/>
                        </a:rPr>
                        <m:t>.</m:t>
                      </m:r>
                      <m:r>
                        <a:rPr lang="en-AU" b="1" i="1" smtClean="0">
                          <a:latin typeface="Cambria Math" panose="02040503050406030204" pitchFamily="18" charset="0"/>
                          <a:ea typeface="Cambria Math" panose="02040503050406030204" pitchFamily="18" charset="0"/>
                        </a:rPr>
                        <m:t>𝟗𝟕𝟔</m:t>
                      </m:r>
                      <m:r>
                        <a:rPr lang="en-AU" b="1" i="1" smtClean="0">
                          <a:latin typeface="Cambria Math" panose="02040503050406030204" pitchFamily="18" charset="0"/>
                          <a:ea typeface="Cambria Math" panose="02040503050406030204" pitchFamily="18" charset="0"/>
                        </a:rPr>
                        <m:t>𝒎</m:t>
                      </m:r>
                    </m:oMath>
                  </m:oMathPara>
                </a14:m>
                <a:endParaRPr lang="en-US" dirty="0"/>
              </a:p>
            </p:txBody>
          </p:sp>
        </mc:Choice>
        <mc:Fallback xmlns="">
          <p:sp>
            <p:nvSpPr>
              <p:cNvPr id="20" name="TextBox 19">
                <a:extLst>
                  <a:ext uri="{FF2B5EF4-FFF2-40B4-BE49-F238E27FC236}">
                    <a16:creationId xmlns:a16="http://schemas.microsoft.com/office/drawing/2014/main" id="{6D07E972-6886-010E-0C62-253FBAAC4B36}"/>
                  </a:ext>
                </a:extLst>
              </p:cNvPr>
              <p:cNvSpPr txBox="1">
                <a:spLocks noRot="1" noChangeAspect="1" noMove="1" noResize="1" noEditPoints="1" noAdjustHandles="1" noChangeArrowheads="1" noChangeShapeType="1" noTextEdit="1"/>
              </p:cNvSpPr>
              <p:nvPr/>
            </p:nvSpPr>
            <p:spPr>
              <a:xfrm>
                <a:off x="5905981" y="5953458"/>
                <a:ext cx="6094070" cy="395621"/>
              </a:xfrm>
              <a:prstGeom prst="rect">
                <a:avLst/>
              </a:prstGeom>
              <a:blipFill>
                <a:blip r:embed="rId5"/>
                <a:stretch>
                  <a:fillRect b="-6061"/>
                </a:stretch>
              </a:blipFill>
            </p:spPr>
            <p:txBody>
              <a:bodyPr/>
              <a:lstStyle/>
              <a:p>
                <a:r>
                  <a:rPr lang="en-US">
                    <a:noFill/>
                  </a:rPr>
                  <a:t> </a:t>
                </a:r>
              </a:p>
            </p:txBody>
          </p:sp>
        </mc:Fallback>
      </mc:AlternateContent>
      <p:sp>
        <p:nvSpPr>
          <p:cNvPr id="21" name="Date Placeholder 20">
            <a:extLst>
              <a:ext uri="{FF2B5EF4-FFF2-40B4-BE49-F238E27FC236}">
                <a16:creationId xmlns:a16="http://schemas.microsoft.com/office/drawing/2014/main" id="{8DA62249-C38C-8D0E-C090-A9BAEA4BE828}"/>
              </a:ext>
            </a:extLst>
          </p:cNvPr>
          <p:cNvSpPr>
            <a:spLocks noGrp="1"/>
          </p:cNvSpPr>
          <p:nvPr>
            <p:ph type="dt" sz="half" idx="10"/>
          </p:nvPr>
        </p:nvSpPr>
        <p:spPr/>
        <p:txBody>
          <a:bodyPr/>
          <a:lstStyle/>
          <a:p>
            <a:fld id="{179CCF05-AEC9-034F-8054-F029AADC8E28}" type="datetime1">
              <a:rPr lang="en-AU" smtClean="0"/>
              <a:t>28/8/2026</a:t>
            </a:fld>
            <a:endParaRPr lang="en-US"/>
          </a:p>
        </p:txBody>
      </p:sp>
      <p:sp>
        <p:nvSpPr>
          <p:cNvPr id="22" name="Footer Placeholder 21">
            <a:extLst>
              <a:ext uri="{FF2B5EF4-FFF2-40B4-BE49-F238E27FC236}">
                <a16:creationId xmlns:a16="http://schemas.microsoft.com/office/drawing/2014/main" id="{87F57495-3BEB-8875-72C1-9E8BCBA1FA99}"/>
              </a:ext>
            </a:extLst>
          </p:cNvPr>
          <p:cNvSpPr>
            <a:spLocks noGrp="1"/>
          </p:cNvSpPr>
          <p:nvPr>
            <p:ph type="ftr" sz="quarter" idx="11"/>
          </p:nvPr>
        </p:nvSpPr>
        <p:spPr/>
        <p:txBody>
          <a:bodyPr/>
          <a:lstStyle/>
          <a:p>
            <a:r>
              <a:rPr lang="en-US"/>
              <a:t>FINA2204 - Tutorial 5</a:t>
            </a:r>
          </a:p>
        </p:txBody>
      </p:sp>
      <p:sp>
        <p:nvSpPr>
          <p:cNvPr id="23" name="Slide Number Placeholder 22">
            <a:extLst>
              <a:ext uri="{FF2B5EF4-FFF2-40B4-BE49-F238E27FC236}">
                <a16:creationId xmlns:a16="http://schemas.microsoft.com/office/drawing/2014/main" id="{441CCFDE-9D57-4F66-4EA0-6ACDE9E88507}"/>
              </a:ext>
            </a:extLst>
          </p:cNvPr>
          <p:cNvSpPr>
            <a:spLocks noGrp="1"/>
          </p:cNvSpPr>
          <p:nvPr>
            <p:ph type="sldNum" sz="quarter" idx="12"/>
          </p:nvPr>
        </p:nvSpPr>
        <p:spPr/>
        <p:txBody>
          <a:bodyPr/>
          <a:lstStyle/>
          <a:p>
            <a:fld id="{9855740F-6ECD-274F-B089-6B266B6B07F9}" type="slidenum">
              <a:rPr lang="en-US" smtClean="0"/>
              <a:t>50</a:t>
            </a:fld>
            <a:endParaRPr lang="en-US"/>
          </a:p>
        </p:txBody>
      </p:sp>
    </p:spTree>
    <p:extLst>
      <p:ext uri="{BB962C8B-B14F-4D97-AF65-F5344CB8AC3E}">
        <p14:creationId xmlns:p14="http://schemas.microsoft.com/office/powerpoint/2010/main" val="12335853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43CBFF-A16A-BF7E-DF2D-17558D7E1031}"/>
              </a:ext>
            </a:extLst>
          </p:cNvPr>
          <p:cNvSpPr>
            <a:spLocks noGrp="1"/>
          </p:cNvSpPr>
          <p:nvPr>
            <p:ph type="title"/>
          </p:nvPr>
        </p:nvSpPr>
        <p:spPr/>
        <p:txBody>
          <a:bodyPr/>
          <a:lstStyle/>
          <a:p>
            <a:r>
              <a:rPr lang="en-US" dirty="0"/>
              <a:t>Problem </a:t>
            </a:r>
            <a:r>
              <a:rPr lang="en-US" altLang="zh-CN" dirty="0"/>
              <a:t>7.24</a:t>
            </a:r>
            <a:endParaRPr lang="en-US" dirty="0"/>
          </a:p>
        </p:txBody>
      </p:sp>
      <p:sp>
        <p:nvSpPr>
          <p:cNvPr id="3" name="Content Placeholder 2">
            <a:extLst>
              <a:ext uri="{FF2B5EF4-FFF2-40B4-BE49-F238E27FC236}">
                <a16:creationId xmlns:a16="http://schemas.microsoft.com/office/drawing/2014/main" id="{35119F79-3B4A-77B4-BF03-EDD85D64A9D6}"/>
              </a:ext>
            </a:extLst>
          </p:cNvPr>
          <p:cNvSpPr>
            <a:spLocks noGrp="1"/>
          </p:cNvSpPr>
          <p:nvPr>
            <p:ph idx="1"/>
          </p:nvPr>
        </p:nvSpPr>
        <p:spPr/>
        <p:txBody>
          <a:bodyPr>
            <a:normAutofit/>
          </a:bodyPr>
          <a:lstStyle/>
          <a:p>
            <a:r>
              <a:rPr lang="en-AU" i="1" dirty="0"/>
              <a:t>For all maturities, the US dollar (USD) interest rate is 7% per annum and</a:t>
            </a:r>
            <a:r>
              <a:rPr lang="zh-CN" altLang="en-US" i="1" dirty="0"/>
              <a:t> </a:t>
            </a:r>
            <a:r>
              <a:rPr lang="en-AU" i="1" dirty="0"/>
              <a:t>the Australian dollar (AUD) rate is 9% per annum. The current value of</a:t>
            </a:r>
            <a:r>
              <a:rPr lang="zh-CN" altLang="en-US" dirty="0"/>
              <a:t> </a:t>
            </a:r>
            <a:r>
              <a:rPr lang="en-AU" i="1" dirty="0"/>
              <a:t>the AUD is 0.62 USD. In a swap agreement, a financial institution pays</a:t>
            </a:r>
            <a:r>
              <a:rPr lang="zh-CN" altLang="en-US" dirty="0"/>
              <a:t> </a:t>
            </a:r>
            <a:r>
              <a:rPr lang="en-AU" i="1" dirty="0"/>
              <a:t>8% per annum in AUD and receives 4% per annum in USD. The principals</a:t>
            </a:r>
            <a:r>
              <a:rPr lang="zh-CN" altLang="en-US" dirty="0"/>
              <a:t> </a:t>
            </a:r>
            <a:r>
              <a:rPr lang="en-AU" i="1" dirty="0"/>
              <a:t>in the two currencies are USD 12 million and AUD 20 million. Payments</a:t>
            </a:r>
            <a:r>
              <a:rPr lang="zh-CN" altLang="en-US" i="1" dirty="0"/>
              <a:t> </a:t>
            </a:r>
            <a:r>
              <a:rPr lang="en-AU" i="1" dirty="0"/>
              <a:t>are exchanged every year, with one exchange having just taken place.</a:t>
            </a:r>
            <a:r>
              <a:rPr lang="zh-CN" altLang="en-US" i="1" dirty="0"/>
              <a:t> </a:t>
            </a:r>
            <a:r>
              <a:rPr lang="en-AU" i="1" dirty="0"/>
              <a:t>The swap will last two more years. </a:t>
            </a:r>
          </a:p>
          <a:p>
            <a:r>
              <a:rPr lang="en-AU" i="1" dirty="0"/>
              <a:t>What is the value of the swap to the</a:t>
            </a:r>
            <a:r>
              <a:rPr lang="zh-CN" altLang="en-US" dirty="0"/>
              <a:t> </a:t>
            </a:r>
            <a:r>
              <a:rPr lang="en-AU" i="1" dirty="0"/>
              <a:t>financial institution? Assume all interest rates are continuously</a:t>
            </a:r>
            <a:r>
              <a:rPr lang="zh-CN" altLang="en-US" dirty="0"/>
              <a:t> </a:t>
            </a:r>
            <a:r>
              <a:rPr lang="en-AU" i="1" dirty="0"/>
              <a:t>compounded.</a:t>
            </a:r>
            <a:endParaRPr lang="en-AU" dirty="0"/>
          </a:p>
          <a:p>
            <a:endParaRPr lang="en-US" dirty="0"/>
          </a:p>
        </p:txBody>
      </p:sp>
      <p:sp>
        <p:nvSpPr>
          <p:cNvPr id="5" name="Date Placeholder 4">
            <a:extLst>
              <a:ext uri="{FF2B5EF4-FFF2-40B4-BE49-F238E27FC236}">
                <a16:creationId xmlns:a16="http://schemas.microsoft.com/office/drawing/2014/main" id="{E2AA54EE-91DB-962E-FE37-A0588242F5DE}"/>
              </a:ext>
            </a:extLst>
          </p:cNvPr>
          <p:cNvSpPr>
            <a:spLocks noGrp="1"/>
          </p:cNvSpPr>
          <p:nvPr>
            <p:ph type="dt" sz="half" idx="10"/>
          </p:nvPr>
        </p:nvSpPr>
        <p:spPr/>
        <p:txBody>
          <a:bodyPr/>
          <a:lstStyle/>
          <a:p>
            <a:fld id="{24C37648-BFDF-0245-98EF-788C9DA642EB}" type="datetime1">
              <a:rPr lang="en-AU" smtClean="0"/>
              <a:t>28/8/2026</a:t>
            </a:fld>
            <a:endParaRPr lang="en-US"/>
          </a:p>
        </p:txBody>
      </p:sp>
      <p:sp>
        <p:nvSpPr>
          <p:cNvPr id="6" name="Footer Placeholder 5">
            <a:extLst>
              <a:ext uri="{FF2B5EF4-FFF2-40B4-BE49-F238E27FC236}">
                <a16:creationId xmlns:a16="http://schemas.microsoft.com/office/drawing/2014/main" id="{179819A5-B08B-529A-2709-89E13012F5E1}"/>
              </a:ext>
            </a:extLst>
          </p:cNvPr>
          <p:cNvSpPr>
            <a:spLocks noGrp="1"/>
          </p:cNvSpPr>
          <p:nvPr>
            <p:ph type="ftr" sz="quarter" idx="11"/>
          </p:nvPr>
        </p:nvSpPr>
        <p:spPr/>
        <p:txBody>
          <a:bodyPr/>
          <a:lstStyle/>
          <a:p>
            <a:r>
              <a:rPr lang="en-US"/>
              <a:t>FINA2204 - Tutorial 5</a:t>
            </a:r>
          </a:p>
        </p:txBody>
      </p:sp>
      <p:sp>
        <p:nvSpPr>
          <p:cNvPr id="7" name="Slide Number Placeholder 6">
            <a:extLst>
              <a:ext uri="{FF2B5EF4-FFF2-40B4-BE49-F238E27FC236}">
                <a16:creationId xmlns:a16="http://schemas.microsoft.com/office/drawing/2014/main" id="{68242A7F-BEE7-58B3-0DDE-AF52E0878BB3}"/>
              </a:ext>
            </a:extLst>
          </p:cNvPr>
          <p:cNvSpPr>
            <a:spLocks noGrp="1"/>
          </p:cNvSpPr>
          <p:nvPr>
            <p:ph type="sldNum" sz="quarter" idx="12"/>
          </p:nvPr>
        </p:nvSpPr>
        <p:spPr/>
        <p:txBody>
          <a:bodyPr/>
          <a:lstStyle/>
          <a:p>
            <a:fld id="{9855740F-6ECD-274F-B089-6B266B6B07F9}" type="slidenum">
              <a:rPr lang="en-US" smtClean="0"/>
              <a:t>51</a:t>
            </a:fld>
            <a:endParaRPr lang="en-US"/>
          </a:p>
        </p:txBody>
      </p:sp>
      <p:cxnSp>
        <p:nvCxnSpPr>
          <p:cNvPr id="8" name="Straight Connector 7">
            <a:extLst>
              <a:ext uri="{FF2B5EF4-FFF2-40B4-BE49-F238E27FC236}">
                <a16:creationId xmlns:a16="http://schemas.microsoft.com/office/drawing/2014/main" id="{C5E2433A-9EC1-5A5F-0839-123DD2D73E3E}"/>
              </a:ext>
            </a:extLst>
          </p:cNvPr>
          <p:cNvCxnSpPr/>
          <p:nvPr/>
        </p:nvCxnSpPr>
        <p:spPr>
          <a:xfrm>
            <a:off x="9996407" y="5470902"/>
            <a:ext cx="914400" cy="0"/>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891E0238-7952-7015-79D7-F05A1D4226EA}"/>
              </a:ext>
            </a:extLst>
          </p:cNvPr>
          <p:cNvCxnSpPr/>
          <p:nvPr/>
        </p:nvCxnSpPr>
        <p:spPr>
          <a:xfrm>
            <a:off x="1317356" y="5858359"/>
            <a:ext cx="6958739" cy="0"/>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8414102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20D189-C4F1-E75A-FC21-8EBC74A3A67D}"/>
              </a:ext>
            </a:extLst>
          </p:cNvPr>
          <p:cNvSpPr>
            <a:spLocks noGrp="1"/>
          </p:cNvSpPr>
          <p:nvPr>
            <p:ph type="title"/>
          </p:nvPr>
        </p:nvSpPr>
        <p:spPr/>
        <p:txBody>
          <a:bodyPr/>
          <a:lstStyle/>
          <a:p>
            <a:r>
              <a:rPr lang="en-US" dirty="0"/>
              <a:t>Answer 7.</a:t>
            </a:r>
            <a:r>
              <a:rPr lang="en-US" altLang="zh-CN" dirty="0"/>
              <a:t>24</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F99371B-78EB-1E2F-A8FC-A5280903D7FF}"/>
                  </a:ext>
                </a:extLst>
              </p:cNvPr>
              <p:cNvSpPr>
                <a:spLocks noGrp="1"/>
              </p:cNvSpPr>
              <p:nvPr>
                <p:ph idx="1"/>
              </p:nvPr>
            </p:nvSpPr>
            <p:spPr/>
            <p:txBody>
              <a:bodyPr/>
              <a:lstStyle/>
              <a:p>
                <a:pPr marL="0" indent="0">
                  <a:buNone/>
                </a:pPr>
                <a:r>
                  <a:rPr lang="en-US" b="1" dirty="0"/>
                  <a:t>Setup</a:t>
                </a:r>
              </a:p>
              <a:p>
                <a:r>
                  <a:rPr lang="en-US" dirty="0"/>
                  <a:t>Principal</a:t>
                </a:r>
                <a:r>
                  <a:rPr lang="en-US" b="1" dirty="0"/>
                  <a:t>s</a:t>
                </a:r>
                <a:r>
                  <a:rPr lang="en-US" dirty="0"/>
                  <a:t>: USD12m </a:t>
                </a:r>
                <a14:m>
                  <m:oMath xmlns:m="http://schemas.openxmlformats.org/officeDocument/2006/math">
                    <m:r>
                      <a:rPr lang="en-US" i="1">
                        <a:latin typeface="Cambria Math" panose="02040503050406030204" pitchFamily="18" charset="0"/>
                        <a:ea typeface="Cambria Math" panose="02040503050406030204" pitchFamily="18" charset="0"/>
                      </a:rPr>
                      <m:t>↔</m:t>
                    </m:r>
                  </m:oMath>
                </a14:m>
                <a:r>
                  <a:rPr lang="en-US" dirty="0"/>
                  <a:t> AUD20m</a:t>
                </a:r>
              </a:p>
              <a:p>
                <a:r>
                  <a:rPr lang="en-US" dirty="0"/>
                  <a:t>Fixed rates: USD 4% </a:t>
                </a:r>
                <a14:m>
                  <m:oMath xmlns:m="http://schemas.openxmlformats.org/officeDocument/2006/math">
                    <m:r>
                      <a:rPr lang="en-US" i="1">
                        <a:latin typeface="Cambria Math" panose="02040503050406030204" pitchFamily="18" charset="0"/>
                        <a:ea typeface="Cambria Math" panose="02040503050406030204" pitchFamily="18" charset="0"/>
                      </a:rPr>
                      <m:t>↔</m:t>
                    </m:r>
                  </m:oMath>
                </a14:m>
                <a:r>
                  <a:rPr lang="en-US" dirty="0"/>
                  <a:t> AUD 8%</a:t>
                </a:r>
              </a:p>
              <a:p>
                <a:r>
                  <a:rPr lang="en-US" dirty="0"/>
                  <a:t>Discount rates: GBP 7%, AUD 9% </a:t>
                </a:r>
                <a:r>
                  <a:rPr lang="en-US" dirty="0">
                    <a:solidFill>
                      <a:srgbClr val="FF0000"/>
                    </a:solidFill>
                  </a:rPr>
                  <a:t>(</a:t>
                </a:r>
                <a:r>
                  <a:rPr lang="en-US" dirty="0" err="1">
                    <a:solidFill>
                      <a:srgbClr val="FF0000"/>
                    </a:solidFill>
                  </a:rPr>
                  <a:t>c.c</a:t>
                </a:r>
                <a:r>
                  <a:rPr lang="en-US" dirty="0">
                    <a:solidFill>
                      <a:srgbClr val="FF0000"/>
                    </a:solidFill>
                  </a:rPr>
                  <a:t>)</a:t>
                </a:r>
                <a:endParaRPr lang="en-US" dirty="0"/>
              </a:p>
              <a:p>
                <a:r>
                  <a:rPr lang="en-US" dirty="0"/>
                  <a:t>Payment frequency: Annual</a:t>
                </a:r>
              </a:p>
              <a:p>
                <a:r>
                  <a:rPr lang="en-US" dirty="0"/>
                  <a:t>Remaining life: 24 months</a:t>
                </a:r>
              </a:p>
              <a:p>
                <a:r>
                  <a:rPr lang="en-US" dirty="0"/>
                  <a:t>Payment dates: month 24, month (24-12)</a:t>
                </a:r>
              </a:p>
              <a:p>
                <a:endParaRPr lang="en-US" dirty="0"/>
              </a:p>
              <a:p>
                <a:endParaRPr lang="en-US" dirty="0"/>
              </a:p>
              <a:p>
                <a:endParaRPr lang="en-US" dirty="0"/>
              </a:p>
            </p:txBody>
          </p:sp>
        </mc:Choice>
        <mc:Fallback xmlns="">
          <p:sp>
            <p:nvSpPr>
              <p:cNvPr id="3" name="Content Placeholder 2">
                <a:extLst>
                  <a:ext uri="{FF2B5EF4-FFF2-40B4-BE49-F238E27FC236}">
                    <a16:creationId xmlns:a16="http://schemas.microsoft.com/office/drawing/2014/main" id="{5F99371B-78EB-1E2F-A8FC-A5280903D7FF}"/>
                  </a:ext>
                </a:extLst>
              </p:cNvPr>
              <p:cNvSpPr>
                <a:spLocks noGrp="1" noRot="1" noChangeAspect="1" noMove="1" noResize="1" noEditPoints="1" noAdjustHandles="1" noChangeArrowheads="1" noChangeShapeType="1" noTextEdit="1"/>
              </p:cNvSpPr>
              <p:nvPr>
                <p:ph idx="1"/>
              </p:nvPr>
            </p:nvSpPr>
            <p:spPr>
              <a:blipFill>
                <a:blip r:embed="rId2"/>
                <a:stretch>
                  <a:fillRect l="-1206" t="-2326"/>
                </a:stretch>
              </a:blipFill>
            </p:spPr>
            <p:txBody>
              <a:bodyPr/>
              <a:lstStyle/>
              <a:p>
                <a:r>
                  <a:rPr lang="en-US">
                    <a:noFill/>
                  </a:rPr>
                  <a:t> </a:t>
                </a:r>
              </a:p>
            </p:txBody>
          </p:sp>
        </mc:Fallback>
      </mc:AlternateContent>
      <p:sp>
        <p:nvSpPr>
          <p:cNvPr id="5" name="Date Placeholder 4">
            <a:extLst>
              <a:ext uri="{FF2B5EF4-FFF2-40B4-BE49-F238E27FC236}">
                <a16:creationId xmlns:a16="http://schemas.microsoft.com/office/drawing/2014/main" id="{EB6E3BC9-4916-7000-6AE3-559E80CF48FA}"/>
              </a:ext>
            </a:extLst>
          </p:cNvPr>
          <p:cNvSpPr>
            <a:spLocks noGrp="1"/>
          </p:cNvSpPr>
          <p:nvPr>
            <p:ph type="dt" sz="half" idx="10"/>
          </p:nvPr>
        </p:nvSpPr>
        <p:spPr/>
        <p:txBody>
          <a:bodyPr/>
          <a:lstStyle/>
          <a:p>
            <a:fld id="{688F957D-A44D-6441-AFBE-8ABD2FD113C3}" type="datetime1">
              <a:rPr lang="en-AU" smtClean="0"/>
              <a:t>28/8/2026</a:t>
            </a:fld>
            <a:endParaRPr lang="en-US"/>
          </a:p>
        </p:txBody>
      </p:sp>
      <p:sp>
        <p:nvSpPr>
          <p:cNvPr id="6" name="Footer Placeholder 5">
            <a:extLst>
              <a:ext uri="{FF2B5EF4-FFF2-40B4-BE49-F238E27FC236}">
                <a16:creationId xmlns:a16="http://schemas.microsoft.com/office/drawing/2014/main" id="{FC711861-DE39-624A-A2C6-6DB104835247}"/>
              </a:ext>
            </a:extLst>
          </p:cNvPr>
          <p:cNvSpPr>
            <a:spLocks noGrp="1"/>
          </p:cNvSpPr>
          <p:nvPr>
            <p:ph type="ftr" sz="quarter" idx="11"/>
          </p:nvPr>
        </p:nvSpPr>
        <p:spPr/>
        <p:txBody>
          <a:bodyPr/>
          <a:lstStyle/>
          <a:p>
            <a:r>
              <a:rPr lang="en-US"/>
              <a:t>FINA2204 - Tutorial 5</a:t>
            </a:r>
          </a:p>
        </p:txBody>
      </p:sp>
      <p:sp>
        <p:nvSpPr>
          <p:cNvPr id="7" name="Slide Number Placeholder 6">
            <a:extLst>
              <a:ext uri="{FF2B5EF4-FFF2-40B4-BE49-F238E27FC236}">
                <a16:creationId xmlns:a16="http://schemas.microsoft.com/office/drawing/2014/main" id="{CC7D4D32-66C8-4BC3-0073-293428367CA6}"/>
              </a:ext>
            </a:extLst>
          </p:cNvPr>
          <p:cNvSpPr>
            <a:spLocks noGrp="1"/>
          </p:cNvSpPr>
          <p:nvPr>
            <p:ph type="sldNum" sz="quarter" idx="12"/>
          </p:nvPr>
        </p:nvSpPr>
        <p:spPr/>
        <p:txBody>
          <a:bodyPr/>
          <a:lstStyle/>
          <a:p>
            <a:fld id="{9855740F-6ECD-274F-B089-6B266B6B07F9}" type="slidenum">
              <a:rPr lang="en-US" smtClean="0"/>
              <a:t>52</a:t>
            </a:fld>
            <a:endParaRPr lang="en-US"/>
          </a:p>
        </p:txBody>
      </p:sp>
    </p:spTree>
    <p:extLst>
      <p:ext uri="{BB962C8B-B14F-4D97-AF65-F5344CB8AC3E}">
        <p14:creationId xmlns:p14="http://schemas.microsoft.com/office/powerpoint/2010/main" val="29183696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729218-9130-E0B5-5D47-D80001272DA6}"/>
              </a:ext>
            </a:extLst>
          </p:cNvPr>
          <p:cNvSpPr>
            <a:spLocks noGrp="1"/>
          </p:cNvSpPr>
          <p:nvPr>
            <p:ph type="title"/>
          </p:nvPr>
        </p:nvSpPr>
        <p:spPr/>
        <p:txBody>
          <a:bodyPr/>
          <a:lstStyle/>
          <a:p>
            <a:r>
              <a:rPr lang="en-US" dirty="0"/>
              <a:t>Answer 7.</a:t>
            </a:r>
            <a:r>
              <a:rPr lang="en-US" altLang="zh-CN" dirty="0"/>
              <a:t>24</a:t>
            </a:r>
            <a:endParaRPr lang="en-US" dirty="0"/>
          </a:p>
        </p:txBody>
      </p:sp>
      <mc:AlternateContent xmlns:mc="http://schemas.openxmlformats.org/markup-compatibility/2006" xmlns:a14="http://schemas.microsoft.com/office/drawing/2010/main">
        <mc:Choice Requires="a14">
          <p:graphicFrame>
            <p:nvGraphicFramePr>
              <p:cNvPr id="6" name="Content Placeholder 3">
                <a:extLst>
                  <a:ext uri="{FF2B5EF4-FFF2-40B4-BE49-F238E27FC236}">
                    <a16:creationId xmlns:a16="http://schemas.microsoft.com/office/drawing/2014/main" id="{F460E92F-1D7E-F7C1-E4FA-E3D9F05BC7CD}"/>
                  </a:ext>
                </a:extLst>
              </p:cNvPr>
              <p:cNvGraphicFramePr>
                <a:graphicFrameLocks noGrp="1"/>
              </p:cNvGraphicFramePr>
              <p:nvPr>
                <p:ph idx="1"/>
                <p:extLst>
                  <p:ext uri="{D42A27DB-BD31-4B8C-83A1-F6EECF244321}">
                    <p14:modId xmlns:p14="http://schemas.microsoft.com/office/powerpoint/2010/main" val="2034715828"/>
                  </p:ext>
                </p:extLst>
              </p:nvPr>
            </p:nvGraphicFramePr>
            <p:xfrm>
              <a:off x="528570" y="1860349"/>
              <a:ext cx="11134857" cy="2990732"/>
            </p:xfrm>
            <a:graphic>
              <a:graphicData uri="http://schemas.openxmlformats.org/drawingml/2006/table">
                <a:tbl>
                  <a:tblPr firstRow="1" bandRow="1">
                    <a:tableStyleId>{5C22544A-7EE6-4342-B048-85BDC9FD1C3A}</a:tableStyleId>
                  </a:tblPr>
                  <a:tblGrid>
                    <a:gridCol w="941415">
                      <a:extLst>
                        <a:ext uri="{9D8B030D-6E8A-4147-A177-3AD203B41FA5}">
                          <a16:colId xmlns:a16="http://schemas.microsoft.com/office/drawing/2014/main" val="3866973023"/>
                        </a:ext>
                      </a:extLst>
                    </a:gridCol>
                    <a:gridCol w="1698907">
                      <a:extLst>
                        <a:ext uri="{9D8B030D-6E8A-4147-A177-3AD203B41FA5}">
                          <a16:colId xmlns:a16="http://schemas.microsoft.com/office/drawing/2014/main" val="4224960964"/>
                        </a:ext>
                      </a:extLst>
                    </a:gridCol>
                    <a:gridCol w="1698907">
                      <a:extLst>
                        <a:ext uri="{9D8B030D-6E8A-4147-A177-3AD203B41FA5}">
                          <a16:colId xmlns:a16="http://schemas.microsoft.com/office/drawing/2014/main" val="1696470038"/>
                        </a:ext>
                      </a:extLst>
                    </a:gridCol>
                    <a:gridCol w="1698907">
                      <a:extLst>
                        <a:ext uri="{9D8B030D-6E8A-4147-A177-3AD203B41FA5}">
                          <a16:colId xmlns:a16="http://schemas.microsoft.com/office/drawing/2014/main" val="906141829"/>
                        </a:ext>
                      </a:extLst>
                    </a:gridCol>
                    <a:gridCol w="1698907">
                      <a:extLst>
                        <a:ext uri="{9D8B030D-6E8A-4147-A177-3AD203B41FA5}">
                          <a16:colId xmlns:a16="http://schemas.microsoft.com/office/drawing/2014/main" val="2339168854"/>
                        </a:ext>
                      </a:extLst>
                    </a:gridCol>
                    <a:gridCol w="1698907">
                      <a:extLst>
                        <a:ext uri="{9D8B030D-6E8A-4147-A177-3AD203B41FA5}">
                          <a16:colId xmlns:a16="http://schemas.microsoft.com/office/drawing/2014/main" val="3481424411"/>
                        </a:ext>
                      </a:extLst>
                    </a:gridCol>
                    <a:gridCol w="1698907">
                      <a:extLst>
                        <a:ext uri="{9D8B030D-6E8A-4147-A177-3AD203B41FA5}">
                          <a16:colId xmlns:a16="http://schemas.microsoft.com/office/drawing/2014/main" val="905996002"/>
                        </a:ext>
                      </a:extLst>
                    </a:gridCol>
                  </a:tblGrid>
                  <a:tr h="661182">
                    <a:tc>
                      <a:txBody>
                        <a:bodyPr/>
                        <a:lstStyle/>
                        <a:p>
                          <a:r>
                            <a:rPr lang="en-US" dirty="0"/>
                            <a:t>Time</a:t>
                          </a:r>
                        </a:p>
                      </a:txBody>
                      <a:tcPr/>
                    </a:tc>
                    <a:tc>
                      <a:txBody>
                        <a:bodyPr/>
                        <a:lstStyle/>
                        <a:p>
                          <a:pPr/>
                          <a14:m>
                            <m:oMathPara xmlns:m="http://schemas.openxmlformats.org/officeDocument/2006/math">
                              <m:oMathParaPr>
                                <m:jc m:val="centerGroup"/>
                              </m:oMathParaPr>
                              <m:oMath xmlns:m="http://schemas.openxmlformats.org/officeDocument/2006/math">
                                <m:sSub>
                                  <m:sSubPr>
                                    <m:ctrlPr>
                                      <a:rPr lang="en-AU" i="1" smtClean="0">
                                        <a:latin typeface="Cambria Math" panose="02040503050406030204" pitchFamily="18" charset="0"/>
                                      </a:rPr>
                                    </m:ctrlPr>
                                  </m:sSubPr>
                                  <m:e>
                                    <m:r>
                                      <a:rPr lang="en-AU" i="1">
                                        <a:latin typeface="Cambria Math" panose="02040503050406030204" pitchFamily="18" charset="0"/>
                                      </a:rPr>
                                      <m:t>𝐵</m:t>
                                    </m:r>
                                  </m:e>
                                  <m:sub>
                                    <m:r>
                                      <a:rPr lang="en-AU" b="0" i="1" smtClean="0">
                                        <a:latin typeface="Cambria Math" panose="02040503050406030204" pitchFamily="18" charset="0"/>
                                      </a:rPr>
                                      <m:t>𝑈𝑆𝐷</m:t>
                                    </m:r>
                                  </m:sub>
                                </m:sSub>
                                <m:r>
                                  <a:rPr lang="en-AU" b="1" i="0" smtClean="0">
                                    <a:latin typeface="Cambria Math" panose="02040503050406030204" pitchFamily="18" charset="0"/>
                                  </a:rPr>
                                  <m:t> </m:t>
                                </m:r>
                                <m:r>
                                  <a:rPr lang="en-AU" b="1" i="1" smtClean="0">
                                    <a:latin typeface="Cambria Math" panose="02040503050406030204" pitchFamily="18" charset="0"/>
                                  </a:rPr>
                                  <m:t>𝒄𝒂𝒔𝒉</m:t>
                                </m:r>
                                <m:r>
                                  <a:rPr lang="en-AU" b="1" i="1" smtClean="0">
                                    <a:latin typeface="Cambria Math" panose="02040503050406030204" pitchFamily="18" charset="0"/>
                                  </a:rPr>
                                  <m:t> </m:t>
                                </m:r>
                                <m:r>
                                  <a:rPr lang="en-AU" b="1" i="1" smtClean="0">
                                    <a:latin typeface="Cambria Math" panose="02040503050406030204" pitchFamily="18" charset="0"/>
                                  </a:rPr>
                                  <m:t>𝒇𝒍𝒐𝒘</m:t>
                                </m:r>
                              </m:oMath>
                            </m:oMathPara>
                          </a14:m>
                          <a:endParaRPr lang="en-US" dirty="0"/>
                        </a:p>
                        <a:p>
                          <a:r>
                            <a:rPr lang="en-US" dirty="0"/>
                            <a:t>(1)</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AU" i="1" smtClean="0">
                                        <a:latin typeface="Cambria Math" panose="02040503050406030204" pitchFamily="18" charset="0"/>
                                      </a:rPr>
                                    </m:ctrlPr>
                                  </m:sSubPr>
                                  <m:e>
                                    <m:r>
                                      <a:rPr lang="en-AU" i="1">
                                        <a:latin typeface="Cambria Math" panose="02040503050406030204" pitchFamily="18" charset="0"/>
                                      </a:rPr>
                                      <m:t>𝐵</m:t>
                                    </m:r>
                                  </m:e>
                                  <m:sub>
                                    <m:r>
                                      <a:rPr lang="en-AU" b="0" i="1" smtClean="0">
                                        <a:latin typeface="Cambria Math" panose="02040503050406030204" pitchFamily="18" charset="0"/>
                                      </a:rPr>
                                      <m:t>𝐴𝑈𝐷</m:t>
                                    </m:r>
                                  </m:sub>
                                </m:sSub>
                                <m:r>
                                  <a:rPr lang="en-AU" b="1" i="0" smtClean="0">
                                    <a:latin typeface="Cambria Math" panose="02040503050406030204" pitchFamily="18" charset="0"/>
                                  </a:rPr>
                                  <m:t> </m:t>
                                </m:r>
                                <m:r>
                                  <a:rPr lang="en-AU" b="1" i="1" smtClean="0">
                                    <a:latin typeface="Cambria Math" panose="02040503050406030204" pitchFamily="18" charset="0"/>
                                  </a:rPr>
                                  <m:t>𝒄𝒂𝒔𝒉</m:t>
                                </m:r>
                                <m:r>
                                  <a:rPr lang="en-AU" b="1" i="1" smtClean="0">
                                    <a:latin typeface="Cambria Math" panose="02040503050406030204" pitchFamily="18" charset="0"/>
                                  </a:rPr>
                                  <m:t> </m:t>
                                </m:r>
                                <m:r>
                                  <a:rPr lang="en-AU" b="1" i="1" smtClean="0">
                                    <a:latin typeface="Cambria Math" panose="02040503050406030204" pitchFamily="18" charset="0"/>
                                  </a:rPr>
                                  <m:t>𝒇𝒍𝒐𝒘</m:t>
                                </m:r>
                              </m:oMath>
                            </m:oMathPara>
                          </a14:m>
                          <a:endParaRPr lang="en-US" dirty="0"/>
                        </a:p>
                        <a:p>
                          <a:r>
                            <a:rPr lang="en-US" dirty="0"/>
                            <a:t>(2)</a:t>
                          </a:r>
                        </a:p>
                      </a:txBody>
                      <a:tcPr/>
                    </a:tc>
                    <a:tc>
                      <a:txBody>
                        <a:bodyPr/>
                        <a:lstStyle/>
                        <a:p>
                          <a:r>
                            <a:rPr lang="en-US" dirty="0"/>
                            <a:t>USD Discount factor</a:t>
                          </a:r>
                        </a:p>
                        <a:p>
                          <a:r>
                            <a:rPr lang="en-US" dirty="0"/>
                            <a:t>(3)</a:t>
                          </a:r>
                        </a:p>
                      </a:txBody>
                      <a:tcPr/>
                    </a:tc>
                    <a:tc>
                      <a:txBody>
                        <a:bodyPr/>
                        <a:lstStyle/>
                        <a:p>
                          <a:r>
                            <a:rPr lang="en-US" dirty="0"/>
                            <a:t>AUD Discount factor</a:t>
                          </a:r>
                        </a:p>
                        <a:p>
                          <a:r>
                            <a:rPr lang="en-US" dirty="0"/>
                            <a:t>(4)</a:t>
                          </a:r>
                        </a:p>
                      </a:txBody>
                      <a:tcPr/>
                    </a:tc>
                    <a:tc>
                      <a:txBody>
                        <a:bodyPr/>
                        <a:lstStyle/>
                        <a:p>
                          <a:pPr/>
                          <a14:m>
                            <m:oMathPara xmlns:m="http://schemas.openxmlformats.org/officeDocument/2006/math">
                              <m:oMathParaPr>
                                <m:jc m:val="centerGroup"/>
                              </m:oMathParaPr>
                              <m:oMath xmlns:m="http://schemas.openxmlformats.org/officeDocument/2006/math">
                                <m:sSub>
                                  <m:sSubPr>
                                    <m:ctrlPr>
                                      <a:rPr lang="en-AU" i="1" smtClean="0">
                                        <a:latin typeface="Cambria Math" panose="02040503050406030204" pitchFamily="18" charset="0"/>
                                      </a:rPr>
                                    </m:ctrlPr>
                                  </m:sSubPr>
                                  <m:e>
                                    <m:r>
                                      <a:rPr lang="en-AU" b="1" i="1" smtClean="0">
                                        <a:latin typeface="Cambria Math" panose="02040503050406030204" pitchFamily="18" charset="0"/>
                                      </a:rPr>
                                      <m:t>𝑷𝑽</m:t>
                                    </m:r>
                                    <m:r>
                                      <a:rPr lang="en-AU" b="1" i="1" smtClean="0">
                                        <a:latin typeface="Cambria Math" panose="02040503050406030204" pitchFamily="18" charset="0"/>
                                      </a:rPr>
                                      <m:t> </m:t>
                                    </m:r>
                                    <m:r>
                                      <a:rPr lang="en-AU" b="1" i="1" smtClean="0">
                                        <a:latin typeface="Cambria Math" panose="02040503050406030204" pitchFamily="18" charset="0"/>
                                      </a:rPr>
                                      <m:t>𝒐𝒇</m:t>
                                    </m:r>
                                    <m:r>
                                      <a:rPr lang="en-AU" b="1" i="1" smtClean="0">
                                        <a:latin typeface="Cambria Math" panose="02040503050406030204" pitchFamily="18" charset="0"/>
                                      </a:rPr>
                                      <m:t> </m:t>
                                    </m:r>
                                    <m:r>
                                      <a:rPr lang="en-AU" i="1">
                                        <a:latin typeface="Cambria Math" panose="02040503050406030204" pitchFamily="18" charset="0"/>
                                      </a:rPr>
                                      <m:t>𝐵</m:t>
                                    </m:r>
                                  </m:e>
                                  <m:sub>
                                    <m:r>
                                      <a:rPr lang="en-AU" b="0" i="1" smtClean="0">
                                        <a:latin typeface="Cambria Math" panose="02040503050406030204" pitchFamily="18" charset="0"/>
                                      </a:rPr>
                                      <m:t>𝑈𝑆𝐷</m:t>
                                    </m:r>
                                  </m:sub>
                                </m:sSub>
                              </m:oMath>
                            </m:oMathPara>
                          </a14:m>
                          <a:endParaRPr lang="en-US" dirty="0"/>
                        </a:p>
                        <a:p>
                          <a:r>
                            <a:rPr lang="en-US" dirty="0"/>
                            <a:t>(1)*(3)</a:t>
                          </a:r>
                        </a:p>
                      </a:txBody>
                      <a:tcPr/>
                    </a:tc>
                    <a:tc>
                      <a:txBody>
                        <a:bodyPr/>
                        <a:lstStyle/>
                        <a:p>
                          <a:pPr/>
                          <a14:m>
                            <m:oMathPara xmlns:m="http://schemas.openxmlformats.org/officeDocument/2006/math">
                              <m:oMathParaPr>
                                <m:jc m:val="centerGroup"/>
                              </m:oMathParaPr>
                              <m:oMath xmlns:m="http://schemas.openxmlformats.org/officeDocument/2006/math">
                                <m:sSub>
                                  <m:sSubPr>
                                    <m:ctrlPr>
                                      <a:rPr lang="en-AU" i="1" smtClean="0">
                                        <a:latin typeface="Cambria Math" panose="02040503050406030204" pitchFamily="18" charset="0"/>
                                      </a:rPr>
                                    </m:ctrlPr>
                                  </m:sSubPr>
                                  <m:e>
                                    <m:r>
                                      <a:rPr lang="en-AU" b="1" i="1" smtClean="0">
                                        <a:latin typeface="Cambria Math" panose="02040503050406030204" pitchFamily="18" charset="0"/>
                                      </a:rPr>
                                      <m:t>𝑷𝑽</m:t>
                                    </m:r>
                                    <m:r>
                                      <a:rPr lang="en-AU" b="1" i="1" smtClean="0">
                                        <a:latin typeface="Cambria Math" panose="02040503050406030204" pitchFamily="18" charset="0"/>
                                      </a:rPr>
                                      <m:t> </m:t>
                                    </m:r>
                                    <m:r>
                                      <a:rPr lang="en-AU" b="1" i="1" smtClean="0">
                                        <a:latin typeface="Cambria Math" panose="02040503050406030204" pitchFamily="18" charset="0"/>
                                      </a:rPr>
                                      <m:t>𝒐𝒇</m:t>
                                    </m:r>
                                    <m:r>
                                      <a:rPr lang="en-AU" b="1" i="1" smtClean="0">
                                        <a:latin typeface="Cambria Math" panose="02040503050406030204" pitchFamily="18" charset="0"/>
                                      </a:rPr>
                                      <m:t> </m:t>
                                    </m:r>
                                    <m:r>
                                      <a:rPr lang="en-AU" i="1">
                                        <a:latin typeface="Cambria Math" panose="02040503050406030204" pitchFamily="18" charset="0"/>
                                      </a:rPr>
                                      <m:t>𝐵</m:t>
                                    </m:r>
                                  </m:e>
                                  <m:sub>
                                    <m:r>
                                      <a:rPr lang="en-AU" b="0" i="1" smtClean="0">
                                        <a:latin typeface="Cambria Math" panose="02040503050406030204" pitchFamily="18" charset="0"/>
                                      </a:rPr>
                                      <m:t>𝐴𝑈𝐷</m:t>
                                    </m:r>
                                  </m:sub>
                                </m:sSub>
                              </m:oMath>
                            </m:oMathPara>
                          </a14:m>
                          <a:endParaRPr lang="en-US" dirty="0"/>
                        </a:p>
                        <a:p>
                          <a:r>
                            <a:rPr lang="en-US" dirty="0"/>
                            <a:t>(2)*(4)</a:t>
                          </a:r>
                        </a:p>
                      </a:txBody>
                      <a:tcPr/>
                    </a:tc>
                    <a:extLst>
                      <a:ext uri="{0D108BD9-81ED-4DB2-BD59-A6C34878D82A}">
                        <a16:rowId xmlns:a16="http://schemas.microsoft.com/office/drawing/2014/main" val="739956772"/>
                      </a:ext>
                    </a:extLst>
                  </a:tr>
                  <a:tr h="632274">
                    <a:tc>
                      <a:txBody>
                        <a:bodyPr/>
                        <a:lstStyle/>
                        <a:p>
                          <a:r>
                            <a:rPr lang="en-US" sz="1600" dirty="0"/>
                            <a:t>1</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AU" sz="1600" b="0" i="1" smtClean="0">
                                    <a:latin typeface="Cambria Math" panose="02040503050406030204" pitchFamily="18" charset="0"/>
                                    <a:ea typeface="Cambria Math" panose="02040503050406030204" pitchFamily="18" charset="0"/>
                                  </a:rPr>
                                  <m:t>12×4%×1</m:t>
                                </m:r>
                              </m:oMath>
                            </m:oMathPara>
                          </a14:m>
                          <a:endParaRPr lang="en-US" sz="1600" dirty="0"/>
                        </a:p>
                        <a:p>
                          <a:endParaRPr lang="en-US" sz="16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AU" sz="1600" b="0" i="1" smtClean="0">
                                    <a:latin typeface="Cambria Math" panose="02040503050406030204" pitchFamily="18" charset="0"/>
                                    <a:ea typeface="Cambria Math" panose="02040503050406030204" pitchFamily="18" charset="0"/>
                                  </a:rPr>
                                  <m:t>20×8%×1</m:t>
                                </m:r>
                              </m:oMath>
                            </m:oMathPara>
                          </a14:m>
                          <a:endParaRPr lang="en-US" sz="1600" dirty="0"/>
                        </a:p>
                      </a:txBody>
                      <a:tcPr/>
                    </a:tc>
                    <a:tc>
                      <a:txBody>
                        <a:bodyPr/>
                        <a:lstStyle/>
                        <a:p>
                          <a:pPr/>
                          <a14:m>
                            <m:oMathPara xmlns:m="http://schemas.openxmlformats.org/officeDocument/2006/math">
                              <m:oMathParaPr>
                                <m:jc m:val="centerGroup"/>
                              </m:oMathParaPr>
                              <m:oMath xmlns:m="http://schemas.openxmlformats.org/officeDocument/2006/math">
                                <m:sSup>
                                  <m:sSupPr>
                                    <m:ctrlPr>
                                      <a:rPr lang="en-AU" sz="1600" b="0" i="1" smtClean="0">
                                        <a:latin typeface="Cambria Math" panose="02040503050406030204" pitchFamily="18" charset="0"/>
                                      </a:rPr>
                                    </m:ctrlPr>
                                  </m:sSupPr>
                                  <m:e>
                                    <m:r>
                                      <a:rPr lang="en-AU" sz="1600" b="0" i="1" smtClean="0">
                                        <a:latin typeface="Cambria Math" panose="02040503050406030204" pitchFamily="18" charset="0"/>
                                      </a:rPr>
                                      <m:t>𝑒</m:t>
                                    </m:r>
                                  </m:e>
                                  <m:sup>
                                    <m:r>
                                      <a:rPr lang="en-AU" sz="1600" b="0" i="1" smtClean="0">
                                        <a:latin typeface="Cambria Math" panose="02040503050406030204" pitchFamily="18" charset="0"/>
                                      </a:rPr>
                                      <m:t>−0.07</m:t>
                                    </m:r>
                                  </m:sup>
                                </m:sSup>
                              </m:oMath>
                            </m:oMathPara>
                          </a14:m>
                          <a:endParaRPr lang="en-US" sz="16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p>
                                  <m:sSupPr>
                                    <m:ctrlPr>
                                      <a:rPr lang="en-AU" sz="1600" b="0" i="1" smtClean="0">
                                        <a:latin typeface="Cambria Math" panose="02040503050406030204" pitchFamily="18" charset="0"/>
                                      </a:rPr>
                                    </m:ctrlPr>
                                  </m:sSupPr>
                                  <m:e>
                                    <m:r>
                                      <a:rPr lang="en-AU" sz="1600" b="0" i="1" smtClean="0">
                                        <a:latin typeface="Cambria Math" panose="02040503050406030204" pitchFamily="18" charset="0"/>
                                      </a:rPr>
                                      <m:t>𝑒</m:t>
                                    </m:r>
                                  </m:e>
                                  <m:sup>
                                    <m:r>
                                      <a:rPr lang="en-AU" sz="1600" b="0" i="1" smtClean="0">
                                        <a:latin typeface="Cambria Math" panose="02040503050406030204" pitchFamily="18" charset="0"/>
                                      </a:rPr>
                                      <m:t>−0.09</m:t>
                                    </m:r>
                                  </m:sup>
                                </m:sSup>
                              </m:oMath>
                            </m:oMathPara>
                          </a14:m>
                          <a:endParaRPr lang="en-US" sz="16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AU" sz="1600" b="0" i="1" smtClean="0">
                                    <a:latin typeface="Cambria Math" panose="02040503050406030204" pitchFamily="18" charset="0"/>
                                  </a:rPr>
                                  <m:t>(</m:t>
                                </m:r>
                                <m:r>
                                  <a:rPr lang="en-AU" sz="1600" b="0" i="1" smtClean="0">
                                    <a:latin typeface="Cambria Math" panose="02040503050406030204" pitchFamily="18" charset="0"/>
                                    <a:ea typeface="Cambria Math" panose="02040503050406030204" pitchFamily="18" charset="0"/>
                                  </a:rPr>
                                  <m:t>12×4%×1</m:t>
                                </m:r>
                              </m:oMath>
                            </m:oMathPara>
                          </a14:m>
                          <a:endParaRPr lang="en-US" sz="1600" dirty="0"/>
                        </a:p>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AU" sz="1600" b="0" i="1" smtClean="0">
                                    <a:latin typeface="Cambria Math" panose="02040503050406030204" pitchFamily="18" charset="0"/>
                                    <a:ea typeface="Cambria Math" panose="02040503050406030204" pitchFamily="18" charset="0"/>
                                  </a:rPr>
                                  <m:t>)×</m:t>
                                </m:r>
                                <m:sSup>
                                  <m:sSupPr>
                                    <m:ctrlPr>
                                      <a:rPr lang="en-AU" sz="1600" b="0" i="1" smtClean="0">
                                        <a:latin typeface="Cambria Math" panose="02040503050406030204" pitchFamily="18" charset="0"/>
                                      </a:rPr>
                                    </m:ctrlPr>
                                  </m:sSupPr>
                                  <m:e>
                                    <m:r>
                                      <a:rPr lang="en-AU" sz="1600" b="0" i="1" smtClean="0">
                                        <a:latin typeface="Cambria Math" panose="02040503050406030204" pitchFamily="18" charset="0"/>
                                      </a:rPr>
                                      <m:t>𝑒</m:t>
                                    </m:r>
                                  </m:e>
                                  <m:sup>
                                    <m:r>
                                      <a:rPr lang="en-AU" sz="1600" b="0" i="1" smtClean="0">
                                        <a:latin typeface="Cambria Math" panose="02040503050406030204" pitchFamily="18" charset="0"/>
                                      </a:rPr>
                                      <m:t>−0.07</m:t>
                                    </m:r>
                                  </m:sup>
                                </m:sSup>
                              </m:oMath>
                            </m:oMathPara>
                          </a14:m>
                          <a:endParaRPr lang="en-US" sz="16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AU" sz="1600" b="0" i="1" smtClean="0">
                                    <a:latin typeface="Cambria Math" panose="02040503050406030204" pitchFamily="18" charset="0"/>
                                    <a:ea typeface="Cambria Math" panose="02040503050406030204" pitchFamily="18" charset="0"/>
                                  </a:rPr>
                                  <m:t>(20×8%×1</m:t>
                                </m:r>
                              </m:oMath>
                            </m:oMathPara>
                          </a14:m>
                          <a:endParaRPr lang="en-US" sz="1600" dirty="0"/>
                        </a:p>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AU" sz="1600" b="0" i="1" smtClean="0">
                                    <a:latin typeface="Cambria Math" panose="02040503050406030204" pitchFamily="18" charset="0"/>
                                    <a:ea typeface="Cambria Math" panose="02040503050406030204" pitchFamily="18" charset="0"/>
                                  </a:rPr>
                                  <m:t>)×</m:t>
                                </m:r>
                                <m:sSup>
                                  <m:sSupPr>
                                    <m:ctrlPr>
                                      <a:rPr lang="en-AU" sz="1600" b="0" i="1" smtClean="0">
                                        <a:latin typeface="Cambria Math" panose="02040503050406030204" pitchFamily="18" charset="0"/>
                                      </a:rPr>
                                    </m:ctrlPr>
                                  </m:sSupPr>
                                  <m:e>
                                    <m:r>
                                      <a:rPr lang="en-AU" sz="1600" b="0" i="1" smtClean="0">
                                        <a:latin typeface="Cambria Math" panose="02040503050406030204" pitchFamily="18" charset="0"/>
                                      </a:rPr>
                                      <m:t>𝑒</m:t>
                                    </m:r>
                                  </m:e>
                                  <m:sup>
                                    <m:r>
                                      <a:rPr lang="en-AU" sz="1600" b="0" i="1" smtClean="0">
                                        <a:latin typeface="Cambria Math" panose="02040503050406030204" pitchFamily="18" charset="0"/>
                                      </a:rPr>
                                      <m:t>−0.09</m:t>
                                    </m:r>
                                  </m:sup>
                                </m:sSup>
                              </m:oMath>
                            </m:oMathPara>
                          </a14:m>
                          <a:endParaRPr lang="en-US" sz="1600" dirty="0"/>
                        </a:p>
                      </a:txBody>
                      <a:tcPr/>
                    </a:tc>
                    <a:extLst>
                      <a:ext uri="{0D108BD9-81ED-4DB2-BD59-A6C34878D82A}">
                        <a16:rowId xmlns:a16="http://schemas.microsoft.com/office/drawing/2014/main" val="2246916794"/>
                      </a:ext>
                    </a:extLst>
                  </a:tr>
                  <a:tr h="632274">
                    <a:tc>
                      <a:txBody>
                        <a:bodyPr/>
                        <a:lstStyle/>
                        <a:p>
                          <a:r>
                            <a:rPr lang="en-US" sz="1600" dirty="0"/>
                            <a:t>2</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AU" sz="1600" b="0" i="1" smtClean="0">
                                    <a:latin typeface="Cambria Math" panose="02040503050406030204" pitchFamily="18" charset="0"/>
                                    <a:ea typeface="Cambria Math" panose="02040503050406030204" pitchFamily="18" charset="0"/>
                                  </a:rPr>
                                  <m:t>12+(12×4%)</m:t>
                                </m:r>
                              </m:oMath>
                            </m:oMathPara>
                          </a14:m>
                          <a:endParaRPr lang="en-US" sz="1600" dirty="0"/>
                        </a:p>
                        <a:p>
                          <a:endParaRPr lang="en-US" sz="16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AU" sz="1600" b="0" i="1" smtClean="0">
                                    <a:latin typeface="Cambria Math" panose="02040503050406030204" pitchFamily="18" charset="0"/>
                                    <a:ea typeface="Cambria Math" panose="02040503050406030204" pitchFamily="18" charset="0"/>
                                  </a:rPr>
                                  <m:t>20+20×8%</m:t>
                                </m:r>
                              </m:oMath>
                            </m:oMathPara>
                          </a14:m>
                          <a:endParaRPr lang="en-US" sz="1600" dirty="0"/>
                        </a:p>
                        <a:p>
                          <a:endParaRPr lang="en-US" sz="1600" dirty="0"/>
                        </a:p>
                      </a:txBody>
                      <a:tcPr/>
                    </a:tc>
                    <a:tc>
                      <a:txBody>
                        <a:bodyPr/>
                        <a:lstStyle/>
                        <a:p>
                          <a:pPr/>
                          <a14:m>
                            <m:oMathPara xmlns:m="http://schemas.openxmlformats.org/officeDocument/2006/math">
                              <m:oMathParaPr>
                                <m:jc m:val="centerGroup"/>
                              </m:oMathParaPr>
                              <m:oMath xmlns:m="http://schemas.openxmlformats.org/officeDocument/2006/math">
                                <m:sSup>
                                  <m:sSupPr>
                                    <m:ctrlPr>
                                      <a:rPr lang="en-AU" sz="1600" b="0" i="1" smtClean="0">
                                        <a:latin typeface="Cambria Math" panose="02040503050406030204" pitchFamily="18" charset="0"/>
                                      </a:rPr>
                                    </m:ctrlPr>
                                  </m:sSupPr>
                                  <m:e>
                                    <m:r>
                                      <a:rPr lang="en-AU" sz="1600" b="0" i="1" smtClean="0">
                                        <a:latin typeface="Cambria Math" panose="02040503050406030204" pitchFamily="18" charset="0"/>
                                      </a:rPr>
                                      <m:t>𝑒</m:t>
                                    </m:r>
                                  </m:e>
                                  <m:sup>
                                    <m:r>
                                      <a:rPr lang="en-AU" sz="1600" b="0" i="1" smtClean="0">
                                        <a:latin typeface="Cambria Math" panose="02040503050406030204" pitchFamily="18" charset="0"/>
                                      </a:rPr>
                                      <m:t>−0.07</m:t>
                                    </m:r>
                                    <m:r>
                                      <a:rPr lang="en-AU" sz="1600" b="0" i="1" smtClean="0">
                                        <a:latin typeface="Cambria Math" panose="02040503050406030204" pitchFamily="18" charset="0"/>
                                        <a:ea typeface="Cambria Math" panose="02040503050406030204" pitchFamily="18" charset="0"/>
                                      </a:rPr>
                                      <m:t>×2</m:t>
                                    </m:r>
                                  </m:sup>
                                </m:sSup>
                              </m:oMath>
                            </m:oMathPara>
                          </a14:m>
                          <a:endParaRPr lang="en-US" sz="16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p>
                                  <m:sSupPr>
                                    <m:ctrlPr>
                                      <a:rPr lang="en-AU" sz="1600" b="0" i="1" smtClean="0">
                                        <a:latin typeface="Cambria Math" panose="02040503050406030204" pitchFamily="18" charset="0"/>
                                      </a:rPr>
                                    </m:ctrlPr>
                                  </m:sSupPr>
                                  <m:e>
                                    <m:r>
                                      <a:rPr lang="en-AU" sz="1600" b="0" i="1" smtClean="0">
                                        <a:latin typeface="Cambria Math" panose="02040503050406030204" pitchFamily="18" charset="0"/>
                                      </a:rPr>
                                      <m:t>𝑒</m:t>
                                    </m:r>
                                  </m:e>
                                  <m:sup>
                                    <m:r>
                                      <a:rPr lang="en-AU" sz="1600" b="0" i="1" smtClean="0">
                                        <a:latin typeface="Cambria Math" panose="02040503050406030204" pitchFamily="18" charset="0"/>
                                      </a:rPr>
                                      <m:t>−0.09</m:t>
                                    </m:r>
                                    <m:r>
                                      <a:rPr lang="en-AU" sz="1600" b="0" i="1" smtClean="0">
                                        <a:latin typeface="Cambria Math" panose="02040503050406030204" pitchFamily="18" charset="0"/>
                                        <a:ea typeface="Cambria Math" panose="02040503050406030204" pitchFamily="18" charset="0"/>
                                      </a:rPr>
                                      <m:t>×2</m:t>
                                    </m:r>
                                  </m:sup>
                                </m:sSup>
                              </m:oMath>
                            </m:oMathPara>
                          </a14:m>
                          <a:endParaRPr lang="en-US" sz="16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AU" sz="1600" b="0" i="1" smtClean="0">
                                    <a:latin typeface="Cambria Math" panose="02040503050406030204" pitchFamily="18" charset="0"/>
                                  </a:rPr>
                                  <m:t>(</m:t>
                                </m:r>
                                <m:r>
                                  <a:rPr lang="en-AU" sz="1600" b="0" i="1" smtClean="0">
                                    <a:latin typeface="Cambria Math" panose="02040503050406030204" pitchFamily="18" charset="0"/>
                                    <a:ea typeface="Cambria Math" panose="02040503050406030204" pitchFamily="18" charset="0"/>
                                  </a:rPr>
                                  <m:t>12+(12×4%)×</m:t>
                                </m:r>
                                <m:sSup>
                                  <m:sSupPr>
                                    <m:ctrlPr>
                                      <a:rPr lang="en-AU" sz="1600" b="0" i="1" smtClean="0">
                                        <a:latin typeface="Cambria Math" panose="02040503050406030204" pitchFamily="18" charset="0"/>
                                      </a:rPr>
                                    </m:ctrlPr>
                                  </m:sSupPr>
                                  <m:e>
                                    <m:r>
                                      <a:rPr lang="en-AU" sz="1600" b="0" i="1" smtClean="0">
                                        <a:latin typeface="Cambria Math" panose="02040503050406030204" pitchFamily="18" charset="0"/>
                                      </a:rPr>
                                      <m:t>𝑒</m:t>
                                    </m:r>
                                  </m:e>
                                  <m:sup>
                                    <m:r>
                                      <a:rPr lang="en-AU" sz="1600" b="0" i="1" smtClean="0">
                                        <a:latin typeface="Cambria Math" panose="02040503050406030204" pitchFamily="18" charset="0"/>
                                      </a:rPr>
                                      <m:t>−0.07</m:t>
                                    </m:r>
                                    <m:r>
                                      <a:rPr lang="en-AU" sz="1600" b="0" i="1" smtClean="0">
                                        <a:latin typeface="Cambria Math" panose="02040503050406030204" pitchFamily="18" charset="0"/>
                                        <a:ea typeface="Cambria Math" panose="02040503050406030204" pitchFamily="18" charset="0"/>
                                      </a:rPr>
                                      <m:t>×2</m:t>
                                    </m:r>
                                  </m:sup>
                                </m:sSup>
                              </m:oMath>
                            </m:oMathPara>
                          </a14:m>
                          <a:endParaRPr lang="en-US" sz="16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AU" sz="1600" b="0" i="1" smtClean="0">
                                    <a:latin typeface="Cambria Math" panose="02040503050406030204" pitchFamily="18" charset="0"/>
                                    <a:ea typeface="Cambria Math" panose="02040503050406030204" pitchFamily="18" charset="0"/>
                                  </a:rPr>
                                  <m:t>(20+20×8%)</m:t>
                                </m:r>
                              </m:oMath>
                            </m:oMathPara>
                          </a14:m>
                          <a:endParaRPr lang="en-US" sz="1600" dirty="0"/>
                        </a:p>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AU" sz="1600" b="0" i="1" smtClean="0">
                                    <a:latin typeface="Cambria Math" panose="02040503050406030204" pitchFamily="18" charset="0"/>
                                    <a:ea typeface="Cambria Math" panose="02040503050406030204" pitchFamily="18" charset="0"/>
                                  </a:rPr>
                                  <m:t>×</m:t>
                                </m:r>
                                <m:sSup>
                                  <m:sSupPr>
                                    <m:ctrlPr>
                                      <a:rPr lang="en-AU" sz="1600" b="0" i="1" smtClean="0">
                                        <a:latin typeface="Cambria Math" panose="02040503050406030204" pitchFamily="18" charset="0"/>
                                      </a:rPr>
                                    </m:ctrlPr>
                                  </m:sSupPr>
                                  <m:e>
                                    <m:r>
                                      <a:rPr lang="en-AU" sz="1600" b="0" i="1" smtClean="0">
                                        <a:latin typeface="Cambria Math" panose="02040503050406030204" pitchFamily="18" charset="0"/>
                                      </a:rPr>
                                      <m:t>𝑒</m:t>
                                    </m:r>
                                  </m:e>
                                  <m:sup>
                                    <m:r>
                                      <a:rPr lang="en-AU" sz="1600" b="0" i="1" smtClean="0">
                                        <a:latin typeface="Cambria Math" panose="02040503050406030204" pitchFamily="18" charset="0"/>
                                      </a:rPr>
                                      <m:t>−0.09</m:t>
                                    </m:r>
                                    <m:r>
                                      <a:rPr lang="en-AU" sz="1600" b="0" i="1" smtClean="0">
                                        <a:latin typeface="Cambria Math" panose="02040503050406030204" pitchFamily="18" charset="0"/>
                                        <a:ea typeface="Cambria Math" panose="02040503050406030204" pitchFamily="18" charset="0"/>
                                      </a:rPr>
                                      <m:t>×2</m:t>
                                    </m:r>
                                  </m:sup>
                                </m:sSup>
                              </m:oMath>
                            </m:oMathPara>
                          </a14:m>
                          <a:endParaRPr lang="en-US" sz="1600" dirty="0"/>
                        </a:p>
                      </a:txBody>
                      <a:tcPr/>
                    </a:tc>
                    <a:extLst>
                      <a:ext uri="{0D108BD9-81ED-4DB2-BD59-A6C34878D82A}">
                        <a16:rowId xmlns:a16="http://schemas.microsoft.com/office/drawing/2014/main" val="293071978"/>
                      </a:ext>
                    </a:extLst>
                  </a:tr>
                  <a:tr h="632274">
                    <a:tc>
                      <a:txBody>
                        <a:bodyPr/>
                        <a:lstStyle/>
                        <a:p>
                          <a:r>
                            <a:rPr lang="en-US" sz="1600" dirty="0"/>
                            <a:t>Total</a:t>
                          </a:r>
                        </a:p>
                      </a:txBody>
                      <a:tcPr/>
                    </a:tc>
                    <a:tc>
                      <a:txBody>
                        <a:bodyPr/>
                        <a:lstStyle/>
                        <a:p>
                          <a:endParaRPr lang="en-US" sz="1600" dirty="0"/>
                        </a:p>
                      </a:txBody>
                      <a:tcPr/>
                    </a:tc>
                    <a:tc>
                      <a:txBody>
                        <a:bodyPr/>
                        <a:lstStyle/>
                        <a:p>
                          <a:endParaRPr lang="en-US" sz="1600" dirty="0"/>
                        </a:p>
                      </a:txBody>
                      <a:tcPr/>
                    </a:tc>
                    <a:tc>
                      <a:txBody>
                        <a:bodyPr/>
                        <a:lstStyle/>
                        <a:p>
                          <a:endParaRPr lang="en-US" sz="16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6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AU" sz="1600" i="1" smtClean="0">
                                    <a:latin typeface="Cambria Math" panose="02040503050406030204" pitchFamily="18" charset="0"/>
                                  </a:rPr>
                                  <m:t>𝑈</m:t>
                                </m:r>
                                <m:r>
                                  <a:rPr lang="en-AU" sz="1600" b="0" i="1" smtClean="0">
                                    <a:latin typeface="Cambria Math" panose="02040503050406030204" pitchFamily="18" charset="0"/>
                                  </a:rPr>
                                  <m:t>𝑆</m:t>
                                </m:r>
                                <m:r>
                                  <a:rPr lang="en-AU" sz="1600" b="0" i="1" smtClean="0">
                                    <a:latin typeface="Cambria Math" panose="02040503050406030204" pitchFamily="18" charset="0"/>
                                  </a:rPr>
                                  <m:t>$11.297</m:t>
                                </m:r>
                              </m:oMath>
                            </m:oMathPara>
                          </a14:m>
                          <a:endParaRPr lang="en-US" sz="16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AU" sz="1600" b="0" i="1" smtClean="0">
                                    <a:latin typeface="Cambria Math" panose="02040503050406030204" pitchFamily="18" charset="0"/>
                                  </a:rPr>
                                  <m:t>𝐴</m:t>
                                </m:r>
                                <m:r>
                                  <a:rPr lang="en-AU" sz="1600" b="0" i="1" smtClean="0">
                                    <a:latin typeface="Cambria Math" panose="02040503050406030204" pitchFamily="18" charset="0"/>
                                  </a:rPr>
                                  <m:t>$19.504</m:t>
                                </m:r>
                              </m:oMath>
                            </m:oMathPara>
                          </a14:m>
                          <a:endParaRPr lang="en-US" sz="1600" dirty="0"/>
                        </a:p>
                      </a:txBody>
                      <a:tcPr/>
                    </a:tc>
                    <a:extLst>
                      <a:ext uri="{0D108BD9-81ED-4DB2-BD59-A6C34878D82A}">
                        <a16:rowId xmlns:a16="http://schemas.microsoft.com/office/drawing/2014/main" val="770922924"/>
                      </a:ext>
                    </a:extLst>
                  </a:tr>
                </a:tbl>
              </a:graphicData>
            </a:graphic>
          </p:graphicFrame>
        </mc:Choice>
        <mc:Fallback xmlns="">
          <p:graphicFrame>
            <p:nvGraphicFramePr>
              <p:cNvPr id="6" name="Content Placeholder 3">
                <a:extLst>
                  <a:ext uri="{FF2B5EF4-FFF2-40B4-BE49-F238E27FC236}">
                    <a16:creationId xmlns:a16="http://schemas.microsoft.com/office/drawing/2014/main" id="{F460E92F-1D7E-F7C1-E4FA-E3D9F05BC7CD}"/>
                  </a:ext>
                </a:extLst>
              </p:cNvPr>
              <p:cNvGraphicFramePr>
                <a:graphicFrameLocks noGrp="1"/>
              </p:cNvGraphicFramePr>
              <p:nvPr>
                <p:ph idx="1"/>
                <p:extLst>
                  <p:ext uri="{D42A27DB-BD31-4B8C-83A1-F6EECF244321}">
                    <p14:modId xmlns:p14="http://schemas.microsoft.com/office/powerpoint/2010/main" val="2034715828"/>
                  </p:ext>
                </p:extLst>
              </p:nvPr>
            </p:nvGraphicFramePr>
            <p:xfrm>
              <a:off x="528570" y="1860349"/>
              <a:ext cx="11134857" cy="2990732"/>
            </p:xfrm>
            <a:graphic>
              <a:graphicData uri="http://schemas.openxmlformats.org/drawingml/2006/table">
                <a:tbl>
                  <a:tblPr firstRow="1" bandRow="1">
                    <a:tableStyleId>{5C22544A-7EE6-4342-B048-85BDC9FD1C3A}</a:tableStyleId>
                  </a:tblPr>
                  <a:tblGrid>
                    <a:gridCol w="941415">
                      <a:extLst>
                        <a:ext uri="{9D8B030D-6E8A-4147-A177-3AD203B41FA5}">
                          <a16:colId xmlns:a16="http://schemas.microsoft.com/office/drawing/2014/main" val="3866973023"/>
                        </a:ext>
                      </a:extLst>
                    </a:gridCol>
                    <a:gridCol w="1698907">
                      <a:extLst>
                        <a:ext uri="{9D8B030D-6E8A-4147-A177-3AD203B41FA5}">
                          <a16:colId xmlns:a16="http://schemas.microsoft.com/office/drawing/2014/main" val="4224960964"/>
                        </a:ext>
                      </a:extLst>
                    </a:gridCol>
                    <a:gridCol w="1698907">
                      <a:extLst>
                        <a:ext uri="{9D8B030D-6E8A-4147-A177-3AD203B41FA5}">
                          <a16:colId xmlns:a16="http://schemas.microsoft.com/office/drawing/2014/main" val="1696470038"/>
                        </a:ext>
                      </a:extLst>
                    </a:gridCol>
                    <a:gridCol w="1698907">
                      <a:extLst>
                        <a:ext uri="{9D8B030D-6E8A-4147-A177-3AD203B41FA5}">
                          <a16:colId xmlns:a16="http://schemas.microsoft.com/office/drawing/2014/main" val="906141829"/>
                        </a:ext>
                      </a:extLst>
                    </a:gridCol>
                    <a:gridCol w="1698907">
                      <a:extLst>
                        <a:ext uri="{9D8B030D-6E8A-4147-A177-3AD203B41FA5}">
                          <a16:colId xmlns:a16="http://schemas.microsoft.com/office/drawing/2014/main" val="2339168854"/>
                        </a:ext>
                      </a:extLst>
                    </a:gridCol>
                    <a:gridCol w="1698907">
                      <a:extLst>
                        <a:ext uri="{9D8B030D-6E8A-4147-A177-3AD203B41FA5}">
                          <a16:colId xmlns:a16="http://schemas.microsoft.com/office/drawing/2014/main" val="3481424411"/>
                        </a:ext>
                      </a:extLst>
                    </a:gridCol>
                    <a:gridCol w="1698907">
                      <a:extLst>
                        <a:ext uri="{9D8B030D-6E8A-4147-A177-3AD203B41FA5}">
                          <a16:colId xmlns:a16="http://schemas.microsoft.com/office/drawing/2014/main" val="905996002"/>
                        </a:ext>
                      </a:extLst>
                    </a:gridCol>
                  </a:tblGrid>
                  <a:tr h="914400">
                    <a:tc>
                      <a:txBody>
                        <a:bodyPr/>
                        <a:lstStyle/>
                        <a:p>
                          <a:r>
                            <a:rPr lang="en-US" dirty="0"/>
                            <a:t>Time</a:t>
                          </a:r>
                        </a:p>
                      </a:txBody>
                      <a:tcPr/>
                    </a:tc>
                    <a:tc>
                      <a:txBody>
                        <a:bodyPr/>
                        <a:lstStyle/>
                        <a:p>
                          <a:endParaRPr lang="en-US"/>
                        </a:p>
                      </a:txBody>
                      <a:tcPr>
                        <a:blipFill>
                          <a:blip r:embed="rId2"/>
                          <a:stretch>
                            <a:fillRect l="-55970" t="-2778" r="-501493" b="-230556"/>
                          </a:stretch>
                        </a:blipFill>
                      </a:tcPr>
                    </a:tc>
                    <a:tc>
                      <a:txBody>
                        <a:bodyPr/>
                        <a:lstStyle/>
                        <a:p>
                          <a:endParaRPr lang="en-US"/>
                        </a:p>
                      </a:txBody>
                      <a:tcPr>
                        <a:blipFill>
                          <a:blip r:embed="rId2"/>
                          <a:stretch>
                            <a:fillRect l="-155970" t="-2778" r="-401493" b="-230556"/>
                          </a:stretch>
                        </a:blipFill>
                      </a:tcPr>
                    </a:tc>
                    <a:tc>
                      <a:txBody>
                        <a:bodyPr/>
                        <a:lstStyle/>
                        <a:p>
                          <a:r>
                            <a:rPr lang="en-US" dirty="0"/>
                            <a:t>USD Discount factor</a:t>
                          </a:r>
                        </a:p>
                        <a:p>
                          <a:r>
                            <a:rPr lang="en-US" dirty="0"/>
                            <a:t>(3)</a:t>
                          </a:r>
                        </a:p>
                      </a:txBody>
                      <a:tcPr/>
                    </a:tc>
                    <a:tc>
                      <a:txBody>
                        <a:bodyPr/>
                        <a:lstStyle/>
                        <a:p>
                          <a:r>
                            <a:rPr lang="en-US" dirty="0"/>
                            <a:t>AUD Discount factor</a:t>
                          </a:r>
                        </a:p>
                        <a:p>
                          <a:r>
                            <a:rPr lang="en-US" dirty="0"/>
                            <a:t>(4)</a:t>
                          </a:r>
                        </a:p>
                      </a:txBody>
                      <a:tcPr/>
                    </a:tc>
                    <a:tc>
                      <a:txBody>
                        <a:bodyPr/>
                        <a:lstStyle/>
                        <a:p>
                          <a:endParaRPr lang="en-US"/>
                        </a:p>
                      </a:txBody>
                      <a:tcPr>
                        <a:blipFill>
                          <a:blip r:embed="rId2"/>
                          <a:stretch>
                            <a:fillRect l="-455970" t="-2778" r="-101493" b="-230556"/>
                          </a:stretch>
                        </a:blipFill>
                      </a:tcPr>
                    </a:tc>
                    <a:tc>
                      <a:txBody>
                        <a:bodyPr/>
                        <a:lstStyle/>
                        <a:p>
                          <a:endParaRPr lang="en-US"/>
                        </a:p>
                      </a:txBody>
                      <a:tcPr>
                        <a:blipFill>
                          <a:blip r:embed="rId2"/>
                          <a:stretch>
                            <a:fillRect l="-555970" t="-2778" r="-1493" b="-230556"/>
                          </a:stretch>
                        </a:blipFill>
                      </a:tcPr>
                    </a:tc>
                    <a:extLst>
                      <a:ext uri="{0D108BD9-81ED-4DB2-BD59-A6C34878D82A}">
                        <a16:rowId xmlns:a16="http://schemas.microsoft.com/office/drawing/2014/main" val="739956772"/>
                      </a:ext>
                    </a:extLst>
                  </a:tr>
                  <a:tr h="632274">
                    <a:tc>
                      <a:txBody>
                        <a:bodyPr/>
                        <a:lstStyle/>
                        <a:p>
                          <a:r>
                            <a:rPr lang="en-US" sz="1600" dirty="0"/>
                            <a:t>1</a:t>
                          </a:r>
                        </a:p>
                      </a:txBody>
                      <a:tcPr/>
                    </a:tc>
                    <a:tc>
                      <a:txBody>
                        <a:bodyPr/>
                        <a:lstStyle/>
                        <a:p>
                          <a:endParaRPr lang="en-US"/>
                        </a:p>
                      </a:txBody>
                      <a:tcPr>
                        <a:blipFill>
                          <a:blip r:embed="rId2"/>
                          <a:stretch>
                            <a:fillRect l="-55970" t="-148000" r="-501493" b="-232000"/>
                          </a:stretch>
                        </a:blipFill>
                      </a:tcPr>
                    </a:tc>
                    <a:tc>
                      <a:txBody>
                        <a:bodyPr/>
                        <a:lstStyle/>
                        <a:p>
                          <a:endParaRPr lang="en-US"/>
                        </a:p>
                      </a:txBody>
                      <a:tcPr>
                        <a:blipFill>
                          <a:blip r:embed="rId2"/>
                          <a:stretch>
                            <a:fillRect l="-155970" t="-148000" r="-401493" b="-232000"/>
                          </a:stretch>
                        </a:blipFill>
                      </a:tcPr>
                    </a:tc>
                    <a:tc>
                      <a:txBody>
                        <a:bodyPr/>
                        <a:lstStyle/>
                        <a:p>
                          <a:endParaRPr lang="en-US"/>
                        </a:p>
                      </a:txBody>
                      <a:tcPr>
                        <a:blipFill>
                          <a:blip r:embed="rId2"/>
                          <a:stretch>
                            <a:fillRect l="-255970" t="-148000" r="-301493" b="-232000"/>
                          </a:stretch>
                        </a:blipFill>
                      </a:tcPr>
                    </a:tc>
                    <a:tc>
                      <a:txBody>
                        <a:bodyPr/>
                        <a:lstStyle/>
                        <a:p>
                          <a:endParaRPr lang="en-US"/>
                        </a:p>
                      </a:txBody>
                      <a:tcPr>
                        <a:blipFill>
                          <a:blip r:embed="rId2"/>
                          <a:stretch>
                            <a:fillRect l="-355970" t="-148000" r="-201493" b="-232000"/>
                          </a:stretch>
                        </a:blipFill>
                      </a:tcPr>
                    </a:tc>
                    <a:tc>
                      <a:txBody>
                        <a:bodyPr/>
                        <a:lstStyle/>
                        <a:p>
                          <a:endParaRPr lang="en-US"/>
                        </a:p>
                      </a:txBody>
                      <a:tcPr>
                        <a:blipFill>
                          <a:blip r:embed="rId2"/>
                          <a:stretch>
                            <a:fillRect l="-455970" t="-148000" r="-101493" b="-232000"/>
                          </a:stretch>
                        </a:blipFill>
                      </a:tcPr>
                    </a:tc>
                    <a:tc>
                      <a:txBody>
                        <a:bodyPr/>
                        <a:lstStyle/>
                        <a:p>
                          <a:endParaRPr lang="en-US"/>
                        </a:p>
                      </a:txBody>
                      <a:tcPr>
                        <a:blipFill>
                          <a:blip r:embed="rId2"/>
                          <a:stretch>
                            <a:fillRect l="-555970" t="-148000" r="-1493" b="-232000"/>
                          </a:stretch>
                        </a:blipFill>
                      </a:tcPr>
                    </a:tc>
                    <a:extLst>
                      <a:ext uri="{0D108BD9-81ED-4DB2-BD59-A6C34878D82A}">
                        <a16:rowId xmlns:a16="http://schemas.microsoft.com/office/drawing/2014/main" val="2246916794"/>
                      </a:ext>
                    </a:extLst>
                  </a:tr>
                  <a:tr h="811784">
                    <a:tc>
                      <a:txBody>
                        <a:bodyPr/>
                        <a:lstStyle/>
                        <a:p>
                          <a:r>
                            <a:rPr lang="en-US" sz="1600" dirty="0"/>
                            <a:t>2</a:t>
                          </a:r>
                        </a:p>
                      </a:txBody>
                      <a:tcPr/>
                    </a:tc>
                    <a:tc>
                      <a:txBody>
                        <a:bodyPr/>
                        <a:lstStyle/>
                        <a:p>
                          <a:endParaRPr lang="en-US"/>
                        </a:p>
                      </a:txBody>
                      <a:tcPr>
                        <a:blipFill>
                          <a:blip r:embed="rId2"/>
                          <a:stretch>
                            <a:fillRect l="-55970" t="-193750" r="-501493" b="-81250"/>
                          </a:stretch>
                        </a:blipFill>
                      </a:tcPr>
                    </a:tc>
                    <a:tc>
                      <a:txBody>
                        <a:bodyPr/>
                        <a:lstStyle/>
                        <a:p>
                          <a:endParaRPr lang="en-US"/>
                        </a:p>
                      </a:txBody>
                      <a:tcPr>
                        <a:blipFill>
                          <a:blip r:embed="rId2"/>
                          <a:stretch>
                            <a:fillRect l="-155970" t="-193750" r="-401493" b="-81250"/>
                          </a:stretch>
                        </a:blipFill>
                      </a:tcPr>
                    </a:tc>
                    <a:tc>
                      <a:txBody>
                        <a:bodyPr/>
                        <a:lstStyle/>
                        <a:p>
                          <a:endParaRPr lang="en-US"/>
                        </a:p>
                      </a:txBody>
                      <a:tcPr>
                        <a:blipFill>
                          <a:blip r:embed="rId2"/>
                          <a:stretch>
                            <a:fillRect l="-255970" t="-193750" r="-301493" b="-81250"/>
                          </a:stretch>
                        </a:blipFill>
                      </a:tcPr>
                    </a:tc>
                    <a:tc>
                      <a:txBody>
                        <a:bodyPr/>
                        <a:lstStyle/>
                        <a:p>
                          <a:endParaRPr lang="en-US"/>
                        </a:p>
                      </a:txBody>
                      <a:tcPr>
                        <a:blipFill>
                          <a:blip r:embed="rId2"/>
                          <a:stretch>
                            <a:fillRect l="-355970" t="-193750" r="-201493" b="-81250"/>
                          </a:stretch>
                        </a:blipFill>
                      </a:tcPr>
                    </a:tc>
                    <a:tc>
                      <a:txBody>
                        <a:bodyPr/>
                        <a:lstStyle/>
                        <a:p>
                          <a:endParaRPr lang="en-US"/>
                        </a:p>
                      </a:txBody>
                      <a:tcPr>
                        <a:blipFill>
                          <a:blip r:embed="rId2"/>
                          <a:stretch>
                            <a:fillRect l="-455970" t="-193750" r="-101493" b="-81250"/>
                          </a:stretch>
                        </a:blipFill>
                      </a:tcPr>
                    </a:tc>
                    <a:tc>
                      <a:txBody>
                        <a:bodyPr/>
                        <a:lstStyle/>
                        <a:p>
                          <a:endParaRPr lang="en-US"/>
                        </a:p>
                      </a:txBody>
                      <a:tcPr>
                        <a:blipFill>
                          <a:blip r:embed="rId2"/>
                          <a:stretch>
                            <a:fillRect l="-555970" t="-193750" r="-1493" b="-81250"/>
                          </a:stretch>
                        </a:blipFill>
                      </a:tcPr>
                    </a:tc>
                    <a:extLst>
                      <a:ext uri="{0D108BD9-81ED-4DB2-BD59-A6C34878D82A}">
                        <a16:rowId xmlns:a16="http://schemas.microsoft.com/office/drawing/2014/main" val="293071978"/>
                      </a:ext>
                    </a:extLst>
                  </a:tr>
                  <a:tr h="632274">
                    <a:tc>
                      <a:txBody>
                        <a:bodyPr/>
                        <a:lstStyle/>
                        <a:p>
                          <a:r>
                            <a:rPr lang="en-US" sz="1600" dirty="0"/>
                            <a:t>Total</a:t>
                          </a:r>
                        </a:p>
                      </a:txBody>
                      <a:tcPr/>
                    </a:tc>
                    <a:tc>
                      <a:txBody>
                        <a:bodyPr/>
                        <a:lstStyle/>
                        <a:p>
                          <a:endParaRPr lang="en-US" sz="1600" dirty="0"/>
                        </a:p>
                      </a:txBody>
                      <a:tcPr/>
                    </a:tc>
                    <a:tc>
                      <a:txBody>
                        <a:bodyPr/>
                        <a:lstStyle/>
                        <a:p>
                          <a:endParaRPr lang="en-US" sz="1600" dirty="0"/>
                        </a:p>
                      </a:txBody>
                      <a:tcPr/>
                    </a:tc>
                    <a:tc>
                      <a:txBody>
                        <a:bodyPr/>
                        <a:lstStyle/>
                        <a:p>
                          <a:pPr/>
                          <a:endParaRPr lang="en-US" sz="16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600" dirty="0"/>
                        </a:p>
                      </a:txBody>
                      <a:tcPr/>
                    </a:tc>
                    <a:tc>
                      <a:txBody>
                        <a:bodyPr/>
                        <a:lstStyle/>
                        <a:p>
                          <a:endParaRPr lang="en-US"/>
                        </a:p>
                      </a:txBody>
                      <a:tcPr>
                        <a:blipFill>
                          <a:blip r:embed="rId2"/>
                          <a:stretch>
                            <a:fillRect l="-455970" t="-376000" r="-101493" b="-4000"/>
                          </a:stretch>
                        </a:blipFill>
                      </a:tcPr>
                    </a:tc>
                    <a:tc>
                      <a:txBody>
                        <a:bodyPr/>
                        <a:lstStyle/>
                        <a:p>
                          <a:endParaRPr lang="en-US"/>
                        </a:p>
                      </a:txBody>
                      <a:tcPr>
                        <a:blipFill>
                          <a:blip r:embed="rId2"/>
                          <a:stretch>
                            <a:fillRect l="-555970" t="-376000" r="-1493" b="-4000"/>
                          </a:stretch>
                        </a:blipFill>
                      </a:tcPr>
                    </a:tc>
                    <a:extLst>
                      <a:ext uri="{0D108BD9-81ED-4DB2-BD59-A6C34878D82A}">
                        <a16:rowId xmlns:a16="http://schemas.microsoft.com/office/drawing/2014/main" val="770922924"/>
                      </a:ext>
                    </a:extLst>
                  </a:tr>
                </a:tbl>
              </a:graphicData>
            </a:graphic>
          </p:graphicFrame>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DB94523E-12F8-E068-65B0-E6F331FAC3FF}"/>
                  </a:ext>
                </a:extLst>
              </p:cNvPr>
              <p:cNvSpPr txBox="1"/>
              <p:nvPr/>
            </p:nvSpPr>
            <p:spPr>
              <a:xfrm>
                <a:off x="3048963" y="5035474"/>
                <a:ext cx="6094070"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AU" sz="1800" b="0" i="1" smtClean="0">
                          <a:latin typeface="Cambria Math" panose="02040503050406030204" pitchFamily="18" charset="0"/>
                        </a:rPr>
                        <m:t>𝐴</m:t>
                      </m:r>
                      <m:r>
                        <a:rPr lang="en-AU" sz="1800" b="0" i="1" smtClean="0">
                          <a:latin typeface="Cambria Math" panose="02040503050406030204" pitchFamily="18" charset="0"/>
                        </a:rPr>
                        <m:t>$1=</m:t>
                      </m:r>
                      <m:r>
                        <a:rPr lang="en-AU" sz="1800" b="0" i="1" smtClean="0">
                          <a:latin typeface="Cambria Math" panose="02040503050406030204" pitchFamily="18" charset="0"/>
                        </a:rPr>
                        <m:t>𝑈𝑆</m:t>
                      </m:r>
                      <m:r>
                        <a:rPr lang="en-AU" sz="1800" b="0" i="1" smtClean="0">
                          <a:latin typeface="Cambria Math" panose="02040503050406030204" pitchFamily="18" charset="0"/>
                        </a:rPr>
                        <m:t>$0.62</m:t>
                      </m:r>
                    </m:oMath>
                  </m:oMathPara>
                </a14:m>
                <a:endParaRPr lang="en-US" dirty="0"/>
              </a:p>
            </p:txBody>
          </p:sp>
        </mc:Choice>
        <mc:Fallback xmlns="">
          <p:sp>
            <p:nvSpPr>
              <p:cNvPr id="7" name="TextBox 6">
                <a:extLst>
                  <a:ext uri="{FF2B5EF4-FFF2-40B4-BE49-F238E27FC236}">
                    <a16:creationId xmlns:a16="http://schemas.microsoft.com/office/drawing/2014/main" id="{DB94523E-12F8-E068-65B0-E6F331FAC3FF}"/>
                  </a:ext>
                </a:extLst>
              </p:cNvPr>
              <p:cNvSpPr txBox="1">
                <a:spLocks noRot="1" noChangeAspect="1" noMove="1" noResize="1" noEditPoints="1" noAdjustHandles="1" noChangeArrowheads="1" noChangeShapeType="1" noTextEdit="1"/>
              </p:cNvSpPr>
              <p:nvPr/>
            </p:nvSpPr>
            <p:spPr>
              <a:xfrm>
                <a:off x="3048963" y="5035474"/>
                <a:ext cx="6094070" cy="369332"/>
              </a:xfrm>
              <a:prstGeom prst="rect">
                <a:avLst/>
              </a:prstGeom>
              <a:blipFill>
                <a:blip r:embed="rId3"/>
                <a:stretch>
                  <a:fillRect/>
                </a:stretch>
              </a:blipFill>
            </p:spPr>
            <p:txBody>
              <a:bodyPr/>
              <a:lstStyle/>
              <a:p>
                <a:r>
                  <a:rPr lang="en-US">
                    <a:noFill/>
                  </a:rPr>
                  <a:t> </a:t>
                </a:r>
              </a:p>
            </p:txBody>
          </p:sp>
        </mc:Fallback>
      </mc:AlternateContent>
      <p:cxnSp>
        <p:nvCxnSpPr>
          <p:cNvPr id="8" name="Straight Arrow Connector 7">
            <a:extLst>
              <a:ext uri="{FF2B5EF4-FFF2-40B4-BE49-F238E27FC236}">
                <a16:creationId xmlns:a16="http://schemas.microsoft.com/office/drawing/2014/main" id="{377F78F5-C3A0-03FE-D6E3-9584F75FFD3D}"/>
              </a:ext>
            </a:extLst>
          </p:cNvPr>
          <p:cNvCxnSpPr>
            <a:cxnSpLocks/>
          </p:cNvCxnSpPr>
          <p:nvPr/>
        </p:nvCxnSpPr>
        <p:spPr>
          <a:xfrm>
            <a:off x="6860436" y="5310279"/>
            <a:ext cx="593660" cy="14386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9383B2CC-BFE2-42A2-6584-086485F1640E}"/>
              </a:ext>
            </a:extLst>
          </p:cNvPr>
          <p:cNvSpPr txBox="1"/>
          <p:nvPr/>
        </p:nvSpPr>
        <p:spPr>
          <a:xfrm>
            <a:off x="7581418" y="5404806"/>
            <a:ext cx="2630592" cy="369332"/>
          </a:xfrm>
          <a:prstGeom prst="rect">
            <a:avLst/>
          </a:prstGeom>
          <a:noFill/>
        </p:spPr>
        <p:txBody>
          <a:bodyPr wrap="none" rtlCol="0">
            <a:spAutoFit/>
          </a:bodyPr>
          <a:lstStyle/>
          <a:p>
            <a:r>
              <a:rPr lang="en-US" dirty="0"/>
              <a:t>USD: Domestic currency</a:t>
            </a:r>
          </a:p>
        </p:txBody>
      </p:sp>
      <p:sp>
        <p:nvSpPr>
          <p:cNvPr id="10" name="TextBox 9">
            <a:extLst>
              <a:ext uri="{FF2B5EF4-FFF2-40B4-BE49-F238E27FC236}">
                <a16:creationId xmlns:a16="http://schemas.microsoft.com/office/drawing/2014/main" id="{ACD1EE75-6D21-BD7C-24A8-0E16E1317CB3}"/>
              </a:ext>
            </a:extLst>
          </p:cNvPr>
          <p:cNvSpPr txBox="1"/>
          <p:nvPr/>
        </p:nvSpPr>
        <p:spPr>
          <a:xfrm>
            <a:off x="3048963" y="5452879"/>
            <a:ext cx="2400914" cy="369332"/>
          </a:xfrm>
          <a:prstGeom prst="rect">
            <a:avLst/>
          </a:prstGeom>
          <a:noFill/>
        </p:spPr>
        <p:txBody>
          <a:bodyPr wrap="none" rtlCol="0">
            <a:spAutoFit/>
          </a:bodyPr>
          <a:lstStyle/>
          <a:p>
            <a:r>
              <a:rPr lang="en-US" dirty="0"/>
              <a:t>AUD: Foreign currency</a:t>
            </a:r>
          </a:p>
        </p:txBody>
      </p:sp>
      <p:cxnSp>
        <p:nvCxnSpPr>
          <p:cNvPr id="11" name="Straight Arrow Connector 10">
            <a:extLst>
              <a:ext uri="{FF2B5EF4-FFF2-40B4-BE49-F238E27FC236}">
                <a16:creationId xmlns:a16="http://schemas.microsoft.com/office/drawing/2014/main" id="{D90F6FE4-87E9-92C3-81A2-7CD2284925FF}"/>
              </a:ext>
            </a:extLst>
          </p:cNvPr>
          <p:cNvCxnSpPr>
            <a:cxnSpLocks/>
          </p:cNvCxnSpPr>
          <p:nvPr/>
        </p:nvCxnSpPr>
        <p:spPr>
          <a:xfrm flipH="1">
            <a:off x="4723761" y="5310733"/>
            <a:ext cx="461877" cy="16606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92B912B1-172A-BAA8-2236-2D8258F9D76C}"/>
                  </a:ext>
                </a:extLst>
              </p:cNvPr>
              <p:cNvSpPr txBox="1"/>
              <p:nvPr/>
            </p:nvSpPr>
            <p:spPr>
              <a:xfrm>
                <a:off x="3048963" y="5949387"/>
                <a:ext cx="6094070" cy="6726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b="1" i="1" smtClean="0">
                              <a:latin typeface="Cambria Math" panose="02040503050406030204" pitchFamily="18" charset="0"/>
                            </a:rPr>
                          </m:ctrlPr>
                        </m:sSubPr>
                        <m:e>
                          <m:r>
                            <a:rPr lang="en-AU" b="1" i="1" smtClean="0">
                              <a:latin typeface="Cambria Math" panose="02040503050406030204" pitchFamily="18" charset="0"/>
                            </a:rPr>
                            <m:t>𝑨𝑼𝑫</m:t>
                          </m:r>
                          <m:r>
                            <a:rPr lang="en-AU" b="1" i="1" smtClean="0">
                              <a:latin typeface="Cambria Math" panose="02040503050406030204" pitchFamily="18" charset="0"/>
                            </a:rPr>
                            <m:t> </m:t>
                          </m:r>
                          <m:r>
                            <a:rPr lang="en-AU" b="1" i="1" smtClean="0">
                              <a:latin typeface="Cambria Math" panose="02040503050406030204" pitchFamily="18" charset="0"/>
                            </a:rPr>
                            <m:t>𝒑𝒂𝒚𝒆𝒓</m:t>
                          </m:r>
                          <m:r>
                            <a:rPr lang="en-AU" b="1" i="1" smtClean="0">
                              <a:latin typeface="Cambria Math" panose="02040503050406030204" pitchFamily="18" charset="0"/>
                            </a:rPr>
                            <m:t>: </m:t>
                          </m:r>
                          <m:r>
                            <a:rPr lang="en-AU" b="1" i="1">
                              <a:latin typeface="Cambria Math" panose="02040503050406030204" pitchFamily="18" charset="0"/>
                            </a:rPr>
                            <m:t>𝑽</m:t>
                          </m:r>
                        </m:e>
                        <m:sub>
                          <m:r>
                            <a:rPr lang="en-AU" b="1" i="1">
                              <a:latin typeface="Cambria Math" panose="02040503050406030204" pitchFamily="18" charset="0"/>
                            </a:rPr>
                            <m:t>𝒔𝒘𝒂𝒑</m:t>
                          </m:r>
                        </m:sub>
                      </m:sSub>
                      <m:r>
                        <a:rPr lang="en-AU" b="1" i="1">
                          <a:latin typeface="Cambria Math" panose="02040503050406030204" pitchFamily="18" charset="0"/>
                        </a:rPr>
                        <m:t>=</m:t>
                      </m:r>
                      <m:sSub>
                        <m:sSubPr>
                          <m:ctrlPr>
                            <a:rPr lang="en-AU" b="1" i="1">
                              <a:latin typeface="Cambria Math" panose="02040503050406030204" pitchFamily="18" charset="0"/>
                            </a:rPr>
                          </m:ctrlPr>
                        </m:sSubPr>
                        <m:e>
                          <m:r>
                            <a:rPr lang="en-AU" b="1" i="1">
                              <a:latin typeface="Cambria Math" panose="02040503050406030204" pitchFamily="18" charset="0"/>
                            </a:rPr>
                            <m:t>𝑩</m:t>
                          </m:r>
                        </m:e>
                        <m:sub>
                          <m:r>
                            <a:rPr lang="en-AU" b="1" i="1">
                              <a:latin typeface="Cambria Math" panose="02040503050406030204" pitchFamily="18" charset="0"/>
                            </a:rPr>
                            <m:t>𝒅𝒐𝒎𝒆𝒔𝒕𝒊𝒄</m:t>
                          </m:r>
                        </m:sub>
                      </m:sSub>
                      <m:r>
                        <a:rPr lang="en-AU" b="1" i="1">
                          <a:latin typeface="Cambria Math" panose="02040503050406030204" pitchFamily="18" charset="0"/>
                        </a:rPr>
                        <m:t>−</m:t>
                      </m:r>
                      <m:sSub>
                        <m:sSubPr>
                          <m:ctrlPr>
                            <a:rPr lang="en-AU" b="1" i="1">
                              <a:latin typeface="Cambria Math" panose="02040503050406030204" pitchFamily="18" charset="0"/>
                            </a:rPr>
                          </m:ctrlPr>
                        </m:sSubPr>
                        <m:e>
                          <m:r>
                            <a:rPr lang="en-AU" b="1" i="1">
                              <a:latin typeface="Cambria Math" panose="02040503050406030204" pitchFamily="18" charset="0"/>
                            </a:rPr>
                            <m:t>𝑺</m:t>
                          </m:r>
                        </m:e>
                        <m:sub>
                          <m:r>
                            <a:rPr lang="en-AU" b="1" i="1">
                              <a:latin typeface="Cambria Math" panose="02040503050406030204" pitchFamily="18" charset="0"/>
                            </a:rPr>
                            <m:t>𝟎</m:t>
                          </m:r>
                        </m:sub>
                      </m:sSub>
                      <m:sSub>
                        <m:sSubPr>
                          <m:ctrlPr>
                            <a:rPr lang="en-AU" b="1" i="1">
                              <a:latin typeface="Cambria Math" panose="02040503050406030204" pitchFamily="18" charset="0"/>
                            </a:rPr>
                          </m:ctrlPr>
                        </m:sSubPr>
                        <m:e>
                          <m:r>
                            <a:rPr lang="en-AU" b="1" i="1">
                              <a:latin typeface="Cambria Math" panose="02040503050406030204" pitchFamily="18" charset="0"/>
                            </a:rPr>
                            <m:t>𝑩</m:t>
                          </m:r>
                        </m:e>
                        <m:sub>
                          <m:r>
                            <a:rPr lang="en-AU" b="1" i="1">
                              <a:latin typeface="Cambria Math" panose="02040503050406030204" pitchFamily="18" charset="0"/>
                            </a:rPr>
                            <m:t>𝒇𝒐𝒓𝒆𝒊𝒈𝒏</m:t>
                          </m:r>
                        </m:sub>
                      </m:sSub>
                      <m:r>
                        <a:rPr lang="en-AU" b="1" i="1" smtClean="0">
                          <a:latin typeface="Cambria Math" panose="02040503050406030204" pitchFamily="18" charset="0"/>
                        </a:rPr>
                        <m:t>=</m:t>
                      </m:r>
                      <m:r>
                        <a:rPr lang="en-AU" b="1" i="1" smtClean="0">
                          <a:latin typeface="Cambria Math" panose="02040503050406030204" pitchFamily="18" charset="0"/>
                        </a:rPr>
                        <m:t>𝟏𝟏</m:t>
                      </m:r>
                      <m:r>
                        <a:rPr lang="en-AU" b="1" i="1" smtClean="0">
                          <a:latin typeface="Cambria Math" panose="02040503050406030204" pitchFamily="18" charset="0"/>
                        </a:rPr>
                        <m:t>.</m:t>
                      </m:r>
                      <m:r>
                        <a:rPr lang="en-AU" b="1" i="1" smtClean="0">
                          <a:latin typeface="Cambria Math" panose="02040503050406030204" pitchFamily="18" charset="0"/>
                        </a:rPr>
                        <m:t>𝟐𝟗𝟕</m:t>
                      </m:r>
                      <m:r>
                        <a:rPr lang="en-AU" b="1" i="1" smtClean="0">
                          <a:latin typeface="Cambria Math" panose="02040503050406030204" pitchFamily="18" charset="0"/>
                        </a:rPr>
                        <m:t>−</m:t>
                      </m:r>
                      <m:r>
                        <a:rPr lang="en-AU" b="1" i="1" smtClean="0">
                          <a:latin typeface="Cambria Math" panose="02040503050406030204" pitchFamily="18" charset="0"/>
                        </a:rPr>
                        <m:t>𝟎</m:t>
                      </m:r>
                      <m:r>
                        <a:rPr lang="en-AU" b="1" i="1" smtClean="0">
                          <a:latin typeface="Cambria Math" panose="02040503050406030204" pitchFamily="18" charset="0"/>
                        </a:rPr>
                        <m:t>.</m:t>
                      </m:r>
                      <m:r>
                        <a:rPr lang="en-AU" b="1" i="1" smtClean="0">
                          <a:latin typeface="Cambria Math" panose="02040503050406030204" pitchFamily="18" charset="0"/>
                        </a:rPr>
                        <m:t>𝟔𝟐</m:t>
                      </m:r>
                      <m:r>
                        <a:rPr lang="en-AU" b="1" i="1" smtClean="0">
                          <a:latin typeface="Cambria Math" panose="02040503050406030204" pitchFamily="18" charset="0"/>
                          <a:ea typeface="Cambria Math" panose="02040503050406030204" pitchFamily="18" charset="0"/>
                        </a:rPr>
                        <m:t>×</m:t>
                      </m:r>
                      <m:r>
                        <a:rPr lang="en-AU" b="1" i="1" smtClean="0">
                          <a:latin typeface="Cambria Math" panose="02040503050406030204" pitchFamily="18" charset="0"/>
                          <a:ea typeface="Cambria Math" panose="02040503050406030204" pitchFamily="18" charset="0"/>
                        </a:rPr>
                        <m:t>𝟏𝟗</m:t>
                      </m:r>
                      <m:r>
                        <a:rPr lang="en-AU" b="1" i="1" smtClean="0">
                          <a:latin typeface="Cambria Math" panose="02040503050406030204" pitchFamily="18" charset="0"/>
                          <a:ea typeface="Cambria Math" panose="02040503050406030204" pitchFamily="18" charset="0"/>
                        </a:rPr>
                        <m:t>.</m:t>
                      </m:r>
                      <m:r>
                        <a:rPr lang="en-AU" b="1" i="1" smtClean="0">
                          <a:latin typeface="Cambria Math" panose="02040503050406030204" pitchFamily="18" charset="0"/>
                          <a:ea typeface="Cambria Math" panose="02040503050406030204" pitchFamily="18" charset="0"/>
                        </a:rPr>
                        <m:t>𝟓𝟎𝟒</m:t>
                      </m:r>
                      <m:r>
                        <a:rPr lang="en-AU" b="1" i="1" smtClean="0">
                          <a:latin typeface="Cambria Math" panose="02040503050406030204" pitchFamily="18" charset="0"/>
                          <a:ea typeface="Cambria Math" panose="02040503050406030204" pitchFamily="18" charset="0"/>
                        </a:rPr>
                        <m:t>=−</m:t>
                      </m:r>
                      <m:r>
                        <a:rPr lang="en-AU" b="1" i="1" smtClean="0">
                          <a:latin typeface="Cambria Math" panose="02040503050406030204" pitchFamily="18" charset="0"/>
                          <a:ea typeface="Cambria Math" panose="02040503050406030204" pitchFamily="18" charset="0"/>
                        </a:rPr>
                        <m:t>𝑼𝑺</m:t>
                      </m:r>
                      <m:r>
                        <a:rPr lang="en-AU" b="1" i="1" smtClean="0">
                          <a:latin typeface="Cambria Math" panose="02040503050406030204" pitchFamily="18" charset="0"/>
                          <a:ea typeface="Cambria Math" panose="02040503050406030204" pitchFamily="18" charset="0"/>
                        </a:rPr>
                        <m:t>$</m:t>
                      </m:r>
                      <m:r>
                        <a:rPr lang="en-AU" b="1" i="1" smtClean="0">
                          <a:latin typeface="Cambria Math" panose="02040503050406030204" pitchFamily="18" charset="0"/>
                          <a:ea typeface="Cambria Math" panose="02040503050406030204" pitchFamily="18" charset="0"/>
                        </a:rPr>
                        <m:t>𝟎</m:t>
                      </m:r>
                      <m:r>
                        <a:rPr lang="en-AU" b="1" i="1" smtClean="0">
                          <a:latin typeface="Cambria Math" panose="02040503050406030204" pitchFamily="18" charset="0"/>
                          <a:ea typeface="Cambria Math" panose="02040503050406030204" pitchFamily="18" charset="0"/>
                        </a:rPr>
                        <m:t>.</m:t>
                      </m:r>
                      <m:r>
                        <a:rPr lang="en-AU" b="1" i="1" smtClean="0">
                          <a:latin typeface="Cambria Math" panose="02040503050406030204" pitchFamily="18" charset="0"/>
                          <a:ea typeface="Cambria Math" panose="02040503050406030204" pitchFamily="18" charset="0"/>
                        </a:rPr>
                        <m:t>𝟕𝟗𝟓</m:t>
                      </m:r>
                      <m:r>
                        <a:rPr lang="en-AU" b="1" i="1" smtClean="0">
                          <a:latin typeface="Cambria Math" panose="02040503050406030204" pitchFamily="18" charset="0"/>
                          <a:ea typeface="Cambria Math" panose="02040503050406030204" pitchFamily="18" charset="0"/>
                        </a:rPr>
                        <m:t>𝒎</m:t>
                      </m:r>
                    </m:oMath>
                  </m:oMathPara>
                </a14:m>
                <a:endParaRPr lang="en-US" dirty="0"/>
              </a:p>
            </p:txBody>
          </p:sp>
        </mc:Choice>
        <mc:Fallback xmlns="">
          <p:sp>
            <p:nvSpPr>
              <p:cNvPr id="13" name="TextBox 12">
                <a:extLst>
                  <a:ext uri="{FF2B5EF4-FFF2-40B4-BE49-F238E27FC236}">
                    <a16:creationId xmlns:a16="http://schemas.microsoft.com/office/drawing/2014/main" id="{92B912B1-172A-BAA8-2236-2D8258F9D76C}"/>
                  </a:ext>
                </a:extLst>
              </p:cNvPr>
              <p:cNvSpPr txBox="1">
                <a:spLocks noRot="1" noChangeAspect="1" noMove="1" noResize="1" noEditPoints="1" noAdjustHandles="1" noChangeArrowheads="1" noChangeShapeType="1" noTextEdit="1"/>
              </p:cNvSpPr>
              <p:nvPr/>
            </p:nvSpPr>
            <p:spPr>
              <a:xfrm>
                <a:off x="3048963" y="5949387"/>
                <a:ext cx="6094070" cy="672620"/>
              </a:xfrm>
              <a:prstGeom prst="rect">
                <a:avLst/>
              </a:prstGeom>
              <a:blipFill>
                <a:blip r:embed="rId4"/>
                <a:stretch>
                  <a:fillRect/>
                </a:stretch>
              </a:blipFill>
            </p:spPr>
            <p:txBody>
              <a:bodyPr/>
              <a:lstStyle/>
              <a:p>
                <a:r>
                  <a:rPr lang="en-US">
                    <a:noFill/>
                  </a:rPr>
                  <a:t> </a:t>
                </a:r>
              </a:p>
            </p:txBody>
          </p:sp>
        </mc:Fallback>
      </mc:AlternateContent>
      <p:sp>
        <p:nvSpPr>
          <p:cNvPr id="14" name="Date Placeholder 13">
            <a:extLst>
              <a:ext uri="{FF2B5EF4-FFF2-40B4-BE49-F238E27FC236}">
                <a16:creationId xmlns:a16="http://schemas.microsoft.com/office/drawing/2014/main" id="{8B36BF31-2DA5-BA21-3E9A-1F418583409D}"/>
              </a:ext>
            </a:extLst>
          </p:cNvPr>
          <p:cNvSpPr>
            <a:spLocks noGrp="1"/>
          </p:cNvSpPr>
          <p:nvPr>
            <p:ph type="dt" sz="half" idx="10"/>
          </p:nvPr>
        </p:nvSpPr>
        <p:spPr/>
        <p:txBody>
          <a:bodyPr/>
          <a:lstStyle/>
          <a:p>
            <a:fld id="{88B77AE1-172F-4340-A104-2A0B5B1D0536}" type="datetime1">
              <a:rPr lang="en-AU" smtClean="0"/>
              <a:t>28/8/2026</a:t>
            </a:fld>
            <a:endParaRPr lang="en-US"/>
          </a:p>
        </p:txBody>
      </p:sp>
      <p:sp>
        <p:nvSpPr>
          <p:cNvPr id="15" name="Footer Placeholder 14">
            <a:extLst>
              <a:ext uri="{FF2B5EF4-FFF2-40B4-BE49-F238E27FC236}">
                <a16:creationId xmlns:a16="http://schemas.microsoft.com/office/drawing/2014/main" id="{79AEDAFE-4CB9-9984-EE8E-276D111F4F30}"/>
              </a:ext>
            </a:extLst>
          </p:cNvPr>
          <p:cNvSpPr>
            <a:spLocks noGrp="1"/>
          </p:cNvSpPr>
          <p:nvPr>
            <p:ph type="ftr" sz="quarter" idx="11"/>
          </p:nvPr>
        </p:nvSpPr>
        <p:spPr/>
        <p:txBody>
          <a:bodyPr/>
          <a:lstStyle/>
          <a:p>
            <a:r>
              <a:rPr lang="en-US"/>
              <a:t>FINA2204 - Tutorial 5</a:t>
            </a:r>
          </a:p>
        </p:txBody>
      </p:sp>
      <p:sp>
        <p:nvSpPr>
          <p:cNvPr id="16" name="Slide Number Placeholder 15">
            <a:extLst>
              <a:ext uri="{FF2B5EF4-FFF2-40B4-BE49-F238E27FC236}">
                <a16:creationId xmlns:a16="http://schemas.microsoft.com/office/drawing/2014/main" id="{48E5DC65-9A7E-D665-C995-5F46DAE9E75E}"/>
              </a:ext>
            </a:extLst>
          </p:cNvPr>
          <p:cNvSpPr>
            <a:spLocks noGrp="1"/>
          </p:cNvSpPr>
          <p:nvPr>
            <p:ph type="sldNum" sz="quarter" idx="12"/>
          </p:nvPr>
        </p:nvSpPr>
        <p:spPr/>
        <p:txBody>
          <a:bodyPr/>
          <a:lstStyle/>
          <a:p>
            <a:fld id="{9855740F-6ECD-274F-B089-6B266B6B07F9}" type="slidenum">
              <a:rPr lang="en-US" smtClean="0"/>
              <a:t>53</a:t>
            </a:fld>
            <a:endParaRPr lang="en-US"/>
          </a:p>
        </p:txBody>
      </p:sp>
    </p:spTree>
    <p:extLst>
      <p:ext uri="{BB962C8B-B14F-4D97-AF65-F5344CB8AC3E}">
        <p14:creationId xmlns:p14="http://schemas.microsoft.com/office/powerpoint/2010/main" val="378775128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3838</TotalTime>
  <Words>5158</Words>
  <Application>Microsoft Macintosh PowerPoint</Application>
  <PresentationFormat>Widescreen</PresentationFormat>
  <Paragraphs>878</Paragraphs>
  <Slides>54</Slides>
  <Notes>37</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54</vt:i4>
      </vt:variant>
    </vt:vector>
  </HeadingPairs>
  <TitlesOfParts>
    <vt:vector size="60" baseType="lpstr">
      <vt:lpstr>-webkit-standard</vt:lpstr>
      <vt:lpstr>Aptos</vt:lpstr>
      <vt:lpstr>Aptos Display</vt:lpstr>
      <vt:lpstr>Arial</vt:lpstr>
      <vt:lpstr>Cambria Math</vt:lpstr>
      <vt:lpstr>Office Theme</vt:lpstr>
      <vt:lpstr>FINA2204 Tutorial 5: Swaps</vt:lpstr>
      <vt:lpstr>Agenda</vt:lpstr>
      <vt:lpstr>Recap: Interest rate swaps </vt:lpstr>
      <vt:lpstr>Recap: Interest rate swaps </vt:lpstr>
      <vt:lpstr>Recap: Interest rate swaps </vt:lpstr>
      <vt:lpstr>Recap: Interest rate swaps </vt:lpstr>
      <vt:lpstr>Recap: Transforming liabilities (case 1)</vt:lpstr>
      <vt:lpstr>Recap: Transforming liabilities (case 1)</vt:lpstr>
      <vt:lpstr>Recap: Transforming liabilities (case 2)</vt:lpstr>
      <vt:lpstr>Recap: Transforming assets (case 3)</vt:lpstr>
      <vt:lpstr>Recap: Transforming assets (case 3)</vt:lpstr>
      <vt:lpstr>Recap: Transforming assets (case 4)</vt:lpstr>
      <vt:lpstr>Recap: Transforming assets (case 4)</vt:lpstr>
      <vt:lpstr>Recap: Market makers</vt:lpstr>
      <vt:lpstr>Recap: Market makers</vt:lpstr>
      <vt:lpstr>Problem 7.19</vt:lpstr>
      <vt:lpstr>Answer 7.19</vt:lpstr>
      <vt:lpstr>Problem 7.19</vt:lpstr>
      <vt:lpstr>Answer 7.19</vt:lpstr>
      <vt:lpstr>Problem 7.20</vt:lpstr>
      <vt:lpstr>Answer 7.20</vt:lpstr>
      <vt:lpstr>Problem 7.20</vt:lpstr>
      <vt:lpstr>Answer 7.20</vt:lpstr>
      <vt:lpstr>Recap: Bank lending rates </vt:lpstr>
      <vt:lpstr>Recap: Bank lending rates </vt:lpstr>
      <vt:lpstr>Problem 7.16</vt:lpstr>
      <vt:lpstr>Answer 7.16</vt:lpstr>
      <vt:lpstr>Recap: Valuation of interest rate swaps </vt:lpstr>
      <vt:lpstr>Recap: Valuation of interest rate swaps </vt:lpstr>
      <vt:lpstr>Recap: Valuation of interest rate swaps </vt:lpstr>
      <vt:lpstr>Recap: Valuation of interest rate swaps </vt:lpstr>
      <vt:lpstr>Recap: Valuation of interest rate swaps </vt:lpstr>
      <vt:lpstr>Recap: Valuation of interest rate swaps </vt:lpstr>
      <vt:lpstr>Recap: Valuation of interest rate swaps </vt:lpstr>
      <vt:lpstr>Problem 7.2</vt:lpstr>
      <vt:lpstr>Problem 7.2</vt:lpstr>
      <vt:lpstr>Answer 7.2</vt:lpstr>
      <vt:lpstr>Answer 7.2</vt:lpstr>
      <vt:lpstr>Answer 7.2</vt:lpstr>
      <vt:lpstr>Problem 7.23</vt:lpstr>
      <vt:lpstr>Answer 7.23</vt:lpstr>
      <vt:lpstr>PowerPoint Presentation</vt:lpstr>
      <vt:lpstr>PowerPoint Presentation</vt:lpstr>
      <vt:lpstr>Answer 7.23</vt:lpstr>
      <vt:lpstr>Recap: Valuation of currency swaps</vt:lpstr>
      <vt:lpstr>Recap: Valuation of currency swaps</vt:lpstr>
      <vt:lpstr>Recap: Valuation of currency swaps</vt:lpstr>
      <vt:lpstr>Recap: Valuation of currency swaps</vt:lpstr>
      <vt:lpstr>Problem 7.5</vt:lpstr>
      <vt:lpstr>Answer 7.5</vt:lpstr>
      <vt:lpstr>Answer 7.5</vt:lpstr>
      <vt:lpstr>Problem 7.24</vt:lpstr>
      <vt:lpstr>Answer 7.24</vt:lpstr>
      <vt:lpstr>Answer 7.24</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Zirui Song</dc:creator>
  <cp:lastModifiedBy>Zirui Song (24621989)</cp:lastModifiedBy>
  <cp:revision>92</cp:revision>
  <dcterms:created xsi:type="dcterms:W3CDTF">2025-08-24T05:32:38Z</dcterms:created>
  <dcterms:modified xsi:type="dcterms:W3CDTF">2026-08-28T07:00:53Z</dcterms:modified>
</cp:coreProperties>
</file>